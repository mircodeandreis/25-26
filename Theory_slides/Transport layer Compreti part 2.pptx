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33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1.xml" ContentType="application/inkml+xml"/>
  <Override PartName="/ppt/notesSlides/notesSlide4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sldIdLst>
    <p:sldId id="301" r:id="rId2"/>
    <p:sldId id="302" r:id="rId3"/>
    <p:sldId id="303" r:id="rId4"/>
    <p:sldId id="259"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342" r:id="rId43"/>
    <p:sldId id="343" r:id="rId44"/>
    <p:sldId id="344" r:id="rId45"/>
    <p:sldId id="345" r:id="rId46"/>
    <p:sldId id="372" r:id="rId47"/>
    <p:sldId id="369" r:id="rId48"/>
    <p:sldId id="373" r:id="rId49"/>
    <p:sldId id="374" r:id="rId50"/>
    <p:sldId id="368" r:id="rId51"/>
    <p:sldId id="375" r:id="rId52"/>
    <p:sldId id="379" r:id="rId53"/>
    <p:sldId id="376" r:id="rId54"/>
    <p:sldId id="377" r:id="rId55"/>
    <p:sldId id="378" r:id="rId56"/>
    <p:sldId id="370" r:id="rId57"/>
    <p:sldId id="380" r:id="rId58"/>
    <p:sldId id="381" r:id="rId59"/>
    <p:sldId id="382" r:id="rId60"/>
    <p:sldId id="357" r:id="rId61"/>
    <p:sldId id="358" r:id="rId6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1pPr>
    <a:lvl2pPr marL="0" marR="0" indent="3429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2pPr>
    <a:lvl3pPr marL="0" marR="0" indent="6858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3pPr>
    <a:lvl4pPr marL="0" marR="0" indent="10287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4pPr>
    <a:lvl5pPr marL="0" marR="0" indent="13716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5pPr>
    <a:lvl6pPr marL="0" marR="0" indent="17145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6pPr>
    <a:lvl7pPr marL="0" marR="0" indent="20574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7pPr>
    <a:lvl8pPr marL="0" marR="0" indent="24003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8pPr>
    <a:lvl9pPr marL="0" marR="0" indent="27432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5BB226-8DB1-7D1A-E076-196121B34FB4}" name="Rizzo Gianluca" initials="GR" userId="S::gianluca.rizzo@hes-so.ch::528c5794-2917-4097-b8b9-b26d728b1be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59" autoAdjust="0"/>
  </p:normalViewPr>
  <p:slideViewPr>
    <p:cSldViewPr snapToGrid="0">
      <p:cViewPr varScale="1">
        <p:scale>
          <a:sx n="68" d="100"/>
          <a:sy n="68" d="100"/>
        </p:scale>
        <p:origin x="1218"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33_0.xml><?xml version="1.0" encoding="utf-8"?>
<p188:cmLst xmlns:a="http://schemas.openxmlformats.org/drawingml/2006/main" xmlns:r="http://schemas.openxmlformats.org/officeDocument/2006/relationships" xmlns:p188="http://schemas.microsoft.com/office/powerpoint/2018/8/main">
  <p188:cm id="{34B33DCB-A91B-44C2-9C9E-E1EED7B85F58}" authorId="{435BB226-8DB1-7D1A-E076-196121B34FB4}" created="2026-04-27T13:59:49.624">
    <pc:sldMkLst xmlns:pc="http://schemas.microsoft.com/office/powerpoint/2013/main/command">
      <pc:docMk/>
      <pc:sldMk cId="0" sldId="307"/>
    </pc:sldMkLst>
    <p188:txBody>
      <a:bodyPr/>
      <a:lstStyle/>
      <a:p>
        <a:r>
          <a:rPr lang="en-CH"/>
          <a:t>Up to here</a:t>
        </a:r>
      </a:p>
    </p188:txBody>
  </p188:cm>
</p188:cmLst>
</file>

<file path=ppt/ink/ink1.xml><?xml version="1.0" encoding="utf-8"?>
<inkml:ink xmlns:inkml="http://www.w3.org/2003/InkML">
  <inkml:definitions>
    <inkml:context xml:id="ctx0">
      <inkml:inkSource xml:id="inkSrc0">
        <inkml:traceFormat>
          <inkml:channel name="X" type="integer" max="3200" units="cm"/>
          <inkml:channel name="Y" type="integer" max="2000" units="cm"/>
          <inkml:channel name="T" type="integer" max="2.14748E9" units="dev"/>
        </inkml:traceFormat>
        <inkml:channelProperties>
          <inkml:channelProperty channel="X" name="resolution" value="93.02325" units="1/cm"/>
          <inkml:channelProperty channel="Y" name="resolution" value="93.02325" units="1/cm"/>
          <inkml:channelProperty channel="T" name="resolution" value="1" units="1/dev"/>
        </inkml:channelProperties>
      </inkml:inkSource>
      <inkml:timestamp xml:id="ts0" timeString="2026-04-30T10:36:08.723"/>
    </inkml:context>
    <inkml:brush xml:id="br0">
      <inkml:brushProperty name="width" value="0.05292" units="cm"/>
      <inkml:brushProperty name="height" value="0.05292" units="cm"/>
      <inkml:brushProperty name="color" value="#FF0000"/>
    </inkml:brush>
  </inkml:definitions>
  <inkml:trace contextRef="#ctx0" brushRef="#br0">2941 23529 0,'20'0'125,"-1"0"-125,1 0 15,38 0-15,-19 0 16,-20 0-16,40 0 16,-40 0-1,20 0 1,20 0-16,-20 0 15,58 0-15,-58 0 0,39 0 16,78 0-16,19 39 16,98 0-16,-59 0 15,59-39-15,-20 39 32,78 0-32,-78 0 15,78 0-15,-19-39 16,-1 0-1,410 39-15,-448 0 16,-20 0 0,195 0-16,-292-39 15,-39 0 1,194 0 0,-194 0-16,39 0 15,78 39-15,214-39 16,-234 0-16,58 0 15,-57 0-15,38 39 16,-39-39 0,0 0-16,-58 0 15,20 0 1,-21 0-16,254 39 16,-253-39-16,19 0 15,40 0-15,-60 0 16,1 0-1,20-20-15,-60 20 16,1-19-16,-39 19 0,20-39 16,-59 39-1,19-20-15,-39 20 16,20 0 0,20 0-16,-1 0 15,20 0-15,-19-38 16,-40 38 15,1 0-15</inkml:trace>
  <inkml:trace contextRef="#ctx0" brushRef="#br0" timeOffset="2224.19">6953 25146 0,'20'0'16,"-20"-39"93,0 20-109,0-40 16,19 20-16,-19-58 15,0 58-15,39-19 16,-39 38-16,0 1 15,20-40 1,-20 40-16,0-20 0,19 19 16,-19-19-16,20 0 15,-20 20 1,19-1 0,-19-38-16,39 19 15,-19 0 1,-20 20-16,0-1 15,19 20 1,-19-19-16,20 19 94,57 39-47,-57-1-16,-1-18-15,1 19-16,-20 0 0,19-20 15,-19 1-15,39-1 16,-19 20-1,-20-19-15,19 38 0,-19-38 16,20-1 0,-20 59-16,19-58 15,-19-1 1,0 39-16,20-38 0,-20 19 16,0-20 15,39 40-31,-20 58 15,1-98-15,19 40 32,-39-40-32,0 1 0,19 18 0,-19 1 31,19-19-31,-19-1 0,20 1 16,-20-1-16,19 1 0,-19-1 31,0 20 0,20-39 47,-20-19-62,39-1-16,-20 1 0,1-20 31,-1-20-31,20 1 16,0 39-16,0-40 15,-19 1 1,-20 38-16,19-19 0,1 20 31,-20-20-15,0 19-16,39 1 15,-39-20 17,19 19-32,-19 1 15,0-20 1,20 19 0,-20 1-16,0 0 15,19-1 1,-19 1-16,0-1 15,0 1 48,-19-20-47,-1 19-1</inkml:trace>
  <inkml:trace contextRef="#ctx0" brushRef="#br0" timeOffset="4610.35">3116 21387 0,'20'0'110,"38"0"-110,-38 0 15,19 0-15,19 0 16,20 0-16,-19 0 15,-20 0 1,19 0-16,-19 0 16,0 0-16,0 0 15,19 0 1,20 0 0,156 0-16,-20 0 0,0 39 0,117 0 15,-116 0-15,-1 0 16,59 0-16,-1 0 15,-19 0-15,20 0 32,0 0-17,-195-39-15,331 39 16,-351-39-16,98 0 16,-117 0-16,78 0 31,-59 0-31,254 0 15,-273 0 1,117 0 0,-59 19-16,-19-19 0,-20 0 15,-19 39-15,59-39 16,57 0-16,-77 19 16,0-19-1,175 39 1,-136-39-1,584 39-15,-584-39 16,0 0-16,-19 0 0,18 0 16,-18 0-1,19 0 1,116 0 0,40-19-16,-156 19 15,0 0 1,214-78-16,-292 78 15,39 0-15,-20 0 0,-38 0 32,38 0-17,59-20-15,-39 20 16,-20-19 0,137 19-16,-117-39 0,0 39 15,39 0-15,-20 0 16,20 0-16,39 0 31,0 0-15,-1 0-16,60 0 15,-60 0-15,21 0 0,-59 0 0,38 20 16,-38-20-16,-39 0 16,39 0-1,0 0-15,0 0 16,-39 0-1,-20 0 1,-38 0 0,38 0-1,-19 0-15,-20 0 16,1 0-16,-1 0 31,1 0-31,-1 0 31</inkml:trace>
  <inkml:trace contextRef="#ctx0" brushRef="#br0" timeOffset="5957.58">7421 22244 0,'39'0'109,"0"0"-109,58 0 16,-77 0-16,18 0 15,21 0-15,-1 0 32,20 0-32,-58 0 15,38 0 1,-38 0-16,19 0 15,19 0-15,-38 0 16,-1 0-16,39 0 0,-38 0 16,-1 19-1,20-19-15,0 0 16,-19 0 0,19 0-16,-20 0 15,1 0-15,-1 0 16,20 0-1,-19 0 17</inkml:trace>
  <inkml:trace contextRef="#ctx0" brushRef="#br0" timeOffset="6910.1">8025 22341 0,'0'20'47,"0"-1"-31,0 20-16,0 20 31,0-40-31,0 1 0,0 58 0,0-1 16,-20-18-1,20-1-15,0-19 16,-19-19-16,19 38 0,0-19 0,0 20 15,-20-40-15,20 1 32,0-1-17,0 1-15,0 18 32,0-18-1,0-1 31,-19-19 48</inkml:trace>
  <inkml:trace contextRef="#ctx0" brushRef="#br0" timeOffset="8266.71">5843 21543 0,'0'-20'78,"0"-19"-62,0-39-1,39 20-15,-39 39 16,0-20-16,0 19 16,0 1-16,0-20 15,0 19 1,0 1-16,0-1 16,0 1-16,0-1 31,20 1-31,-20-20 0,0 19 15,0 1-15,0-1 16,0 1 0,0-1-16,0 1 31</inkml:trace>
  <inkml:trace contextRef="#ctx0" brushRef="#br0" timeOffset="9614.07">5824 20978 0,'0'-39'141,"0"19"-141,0 1 15,19 19 17,-19-19-32,0-1 31,20 1-16,-20-1 17,0-19 61,39 39-93,-20 0 94,20 20-63,-19 19-15,-1-20-16,-19 1 31,39 18-15,-20-18 31,-19-1 0</inkml:trace>
  <inkml:trace contextRef="#ctx0" brushRef="#br0" timeOffset="10760.43">7499 21699 0,'0'-20'94,"-20"-38"-79,20 38-15,0-19 16,0-19 0,-39-59-16,39 59 15,0 19-15,0 19 16,-19-19-16,19 0 15,0 20-15,-20-1 16,20 1 0,0-20-1,0 19-15,-19 1 32,19-1-1,0 1-16,0-1-15,0 1 16</inkml:trace>
  <inkml:trace contextRef="#ctx0" brushRef="#br0" timeOffset="11748.73">7226 21134 0,'19'0'16,"1"0"109,-1 0-94,-19-39-15,39 19 0,-39 1-16,20-1 15,-1 20-15,-19-19 16,20-1-16,-1 20 15,1 0 110,38 0-109,-58 20 0,39 19-16,-19-20 15,19 1 1,-20 19-16,1-39 16,-20 19-16,19 20 31,-19-19-16,19-20 17</inkml:trace>
  <inkml:trace contextRef="#ctx0" brushRef="#br0" timeOffset="13096.16">9252 20900 0,'-20'19'47,"20"1"-47,0 19 16,-39 0 0,39 0-16,0-20 15,0 20-15,0 20 16,0-40-16,0 40 15,-19-20 1,19-20-16,0 39 16,0-19-1,0 0-15,-20 0 16,20-19-16,0-1 16,0 20-16,0-19 15,0-1-15,0 1 31,0-1 1,0 1-32,0-1 15,0 1-15,0 19 16,-19-20 31,19 1 47,0-1-94</inkml:trace>
  <inkml:trace contextRef="#ctx0" brushRef="#br0" timeOffset="14274.94">9057 21075 0,'0'-19'141,"0"-1"-125,19 1-1,20-1 1,-19 1-1,-20-1-15,19 20 32,-19-39-17,20 39 1,-20-19 0,19 0 15,-19-1-31,20 1 0,-1-1 31,-19 1-15,39 19-16,-19 0 93,-1 19-77,-19 1 0,19 38-16,-19-39 0,20 1 15,-20-1-15,19 20 16,-19 0-16,0-19 31,0-1-15,39 20-16,-39-19 15,0 19 1,0-20 78</inkml:trace>
  <inkml:trace contextRef="#ctx0" brushRef="#br0" timeOffset="89211.34">18289 19459 0,'19'58'62,"-19"-19"-46,20 19-1,-20-19-15,0 20 0,0-20 16,39 19-16,-39 1 16,0-20-1,0 19-15,0 20 0,0-20 16,0 59-16,0-39 16,0 0-16,0 39 15,-20-20-15,20 20 0,0 0 16,-19 0 15,19 0-15,0-78-16,0 331 15,0-214-15,0-98 0,-39 98 32,39-78-32,0 78 0,0-59 0,0-19 0,0 78 15,0-117 1,0 58-16,0 137 31,0-156-31,0-20 16,0 98-16,0-78 0,-20 0 15,20 19 1,0-19-16,0 0 16,0 156 15,0-137-31,0 312 0,0-331 15,0-19-15,0-21 16,0 21-16,0-20 16,0 19-16,0-19 15,0 59 1,0 57-16,0-116 16,0 20-1,0 58-15,0-98 0,0 20 16,0-19-16,0 38 15,0-38-15,20 57 16,-20-38-16,39 59 16,-39-59 15,19 175-15,-19-175-1,0 78-15,0-59 0,0-19 16,0 20-16,0-40 15,0 1 1,0-40 31,0-77-31,59-40-1</inkml:trace>
  <inkml:trace contextRef="#ctx0" brushRef="#br0" timeOffset="90653.79">21191 24542 0,'19'0'78,"59"0"-78,-58-19 16,38 19-16,59-20 15,-59 20-15,59 0 16,78 0-16,-39 0 16,58 0-16,0 0 15,-19 0 1,78 0-16,-20 0 0,-39 0 16,-97 0-16,175 0 15,59 0-15,-235 0 16,255 0-16,-216 0 15,215 39 1,117 0 0,546 20-1,-917-59 1,40 39-16,156-39 0,-156 0 0,-40 19 16,157-19-1,-234 0-15,214 0 16,-175 0-16,117 0 0,-117 0 15,136 0-15,-136 0 47,0-39-47,1110 0 0,-1032 39 16,0 0-16,-1 0 16,60 0-1,213 0-15,-233 0 16,-20 0-16,234 0 0,-292-39 15,39 39-15,-20-19 16,-19 19-16,117 0 16,-117-39-1,-39 39-15,19 0 16,-58 0-16,39 0 0,-59 0 16,20 0-1,-19 0 1</inkml:trace>
  <inkml:trace contextRef="#ctx0" brushRef="#br0" timeOffset="92654.17">27443 26393 0,'0'39'0,"0"-59"110,0-19-95,0 20 1,0-1 15,0-19-15,58-175-16,-19 156 16,-39 19-16,19-59 0,-19 79 15,20-20-15,19-20 31,-39 40-31,19-39 0,1 38 16,-20-19-16,39-19 16,-20-1-16,1 40 15,-1-79 32,20 79-31,-19-59-16,-1 20 15,-19 19-15,20 0 16,-1 19 0,20 20 62,-19 0-63,-1 0-15,0 0 0,1 0 32,-1 39-17,1-19-15,19-1 0,0 20 0,-20 19 32,20-38-32,-19 38 15,38 1-15,-38-40 16,-1 20-1,40 59-15,-21-20 16,-18-59 0,-1 39-16,1 1 0,19-20 15,-39 19 1,19-58-16,1 78 16,-20-58-16,0-1 15,19 1-15,1-1 16,-20 1-1,39 18 1,-20 1-16,1 20 16,19-1-16,-20 1 15,1-40-15,-20 40 16,19-40-16,-19 1 16,20-1 15,-20 1-31,19-20 78,39-78-78,-19-20 31,-19 79-15,38-137-16,-19 117 15,-19-78-15,38 59 16,-19-40-16,-39 59 16,20 20-16,-20-59 15,19 20 1,-19 19-16,20-20 16,-20 1-16,38 19 15,-38-20-15,0 40 0,20-59 16,-20 58-16,19-57 15,-19 57-15,0 1 32,0-20-17,39 19-15,-39 1 16,-19 19 62</inkml:trace>
  <inkml:trace contextRef="#ctx0" brushRef="#br0" timeOffset="95206.36">21113 23393 0,'19'0'125,"40"0"-110,-40 0 1,1 0-16,-1 0 15,1 0-15,-1 0 16,20 0-16,-20 0 16,20 0-16,-19 0 15,-1 20-15,40-20 16,19 0 15,19 19-15,98-19-16,116 39 15,-194 0-15,-58-39 0,97 19 16,-117-19-16,19 0 16,59 39-1,0-39-15,-39 0 16,-20 0-16,-39 0 16,40 0-16,19 0 15,-59 0-15,20 0 16,0 0-16,0 0 15,0 0-15,0 0 0,0 0 16,-20 0-16,40 0 16,-40 0-1,59 20-15,-58-20 16,19 0 0,78 39-1,-1-39-15,-57 0 16,19 0-16,-20 0 15,-19 0-15,20 0 16,-1 19-16,-19-19 16,39 0-16,-20 0 15,1 0-15,-20 0 0,39 0 16,19 0-16,-58 0 16,39 0-16,19 0 15,-58 0 1,59 0-1,-59 0-15,58-39 16,-19 39-16,0 0 16,-20 0-16,20 0 15,-20 0-15,20-19 16,-19 19-16,19 0 0,78-39 31,-59 39-15,-19 0-16,39-20 15,0 20-15,-1 0 16,1 0 0,39 0-16,0 0 15,58 0 1,0 0-16,-58 0 16,58 0-16,1 0 0,-1 0 15,0 0 1,39 0-16,20 0 15,39 0-15,-1 0 32,40 0-32,-20-38 15,19 38-15,-18-39 16,-79 39-16,19-39 16,-116 39-16,0 0 15,-20-39 1,118 39-16,-176 0 15,97-20-15,-97 20 16,39 0-16,-40 0 16,21 0-1,-20 0 1,117 0-16,19 0 16,-117 0-1,-19 0-15,0 0 16,0 0-16,19 0 0,-19 0 31,39 0-15,156 0-16,-176 0 0,20 0 15,-39 0-15,39 0 16,0 0-16,-40 0 16,40 0-16,0 0 15,-39 0-15,-19 0 16,18 0-16,-57 0 31</inkml:trace>
  <inkml:trace contextRef="#ctx0" brushRef="#br0" timeOffset="96690.21">26040 23724 0,'20'0'31,"-20"20"-31,19 38 31,-19 20-15,0-58-16,0 57 15,20-57-15,-20-1 16,0 20-16,0-19 0,19-20 0,-19 19 16,39-19-16,-39 20 62,59-20-46,-40 0-1,1-20-15,-1 20 16,39-39-16,-38 20 0,-1-1 31,1 20-31,19-39 16,-20-19 0,1 39-16,-20-1 15,19-38-15,-19 38 16,0-19-16,20 0 0,-20 20 0,39-20 15,-39 19-15,0-38 16,0 38 15,19 1-31,-19-59 0,20 59 16,-20-1-16,19 40 125,-19 19-125,20-1 16</inkml:trace>
  <inkml:trace contextRef="#ctx0" brushRef="#br0" timeOffset="98040.02">26975 23685 0,'0'39'62,"0"20"-62,0-20 31,0 19-31,0 20 16,0-20-16,0 20 0,0 59 16,-39-79-16,39-19 31,-19 19-31,19-38 0,0-1 0,0 20 15,0-78 79,0 20-94,0-59 16,0 39-16,0-78 15,0 59-15,0-1 32,0 40-32,39-20 15,-39 19-15,0 1 0,19-20 0,-19 20 0,0-1 32,20 20-32,-20-19 15,19-1 1,-19 1-16,20 19 15,-20-20-15,19-19 32,1 39 30,18 0-62,-18 0 16,-1 0 15,1 0 0,-1 0 1,1 0-1,-1 0-31,1 20 15,19-1 1,-20 20 0,1-19-16,-20-1 15,0 1-15,19 19 16,-19 19 0,0-19-1,0 0-15,0 0 47,0-20-47,0 59 0,0-58 16,0-1-16,0 1 15,0 38-15,0-38 16,-19-1-16,19 39 0,-20-19 62,-19-19-46,20-20 0,19 19-1,-20-19 48,1 20-32,-1-20-31,1 0 16</inkml:trace>
  <inkml:trace contextRef="#ctx0" brushRef="#br0" timeOffset="99726.39">27579 24581 0,'0'-19'94,"19"-40"-79,-19 20-15,0-58 16,0 78-16,0-59 16,0 0-1,0 39-15,0 0 16,20 0 0,-20-20-1,39-57-15,-39 77 0,0 19 16,0-19-16,0 20 15,19-1-15,-19-19 16,0 20-16,0-20 16,0 19-1,20 1 1,-20-1-16,19 1 0,-19-1 16,39 20-16,-39-19 15,20 19 16,-1 0 1,1 0-32,-1 0 15,1 0 1,-1 0 15,20 0-15,-19 0-1,-1 78-15,0-59 0,1 1 16,-1-1 0,-19 20-16,0 0 15,20-39-15,-20 20 16,0-1 0,0 1-16,0-1 0,0 1 15,0-1-15,0 20 16,0 0-1,0-20-15,0 40 16,0-40 0,-20 1-16,20 19 31,0-20-15,0 20-16,-19-19 15,-1-20 95,1 0-95,0 0 1,-20 0-16,19 0 31,1 0-15,-1 0-1,20-39 17,-19 39-17,-1 0 16,1 0 1,19-20-32,-39 20 15,19 0 126,1 0-110</inkml:trace>
  <inkml:trace contextRef="#ctx0" brushRef="#br0" timeOffset="137836.43">21288 21523 0,'20'0'156,"-1"0"-140,20 0-1,-20 0 1,1 0-16,-1 0 16,1 0-1,-1-19 1,1 19-16,19 0 15,0 0-15,19-39 16,20 39 0,78-20-1,19-19 17,-97 0-32,-20 39 0,274-19 15,-293-20 1,116 39-16,-57 0 15,19 0-15,-98 0 16,59 0-16,0 0 16,-39 0-16,19 0 15,20 0 17,-58 0-32,116 0 15,-19 0-15,136 0 16,-175 0-16,-59 0 15,20 0-15,59 0 32,-59 0-32,292 0 15,-253 0 1,-20 0 0,176-39-16,-176 39 0,59 0 15,-39 0-15,-39 0 16,58 0-1,-58 0 1,215 0-16,-216 0 16,196 0-1,-175 0 1,19 0-16,-1 0 0,-18 0 16,19 0-16,19 0 15,-19 0 16,78 0-31,-39 0 0,-78 0 16,0 0-16,19 0 16,0 0-16,-38 0 15,19 0-15,19 0 16,1 0 0,58 20-16,-78-20 15,19 0 1,176 39-16,-176-39 0,20 0 31,0 0-31,78 0 0,58 0 16,-117 0-16,-19 0 15,-39 0 17,156 0-32,-98 0 0,-58 0 15,59 0-15,58 0 16,-79 0-16,1 0 15,-19 0-15,19 0 0,-39 0 32,58 0-32,-19 0 15,-20 0-15,-19 0 16,20 0-16,-20 0 16,19 0-1,78 0 1,-97 0-16,39 0 15,-19 0 1,19 0-16,39 0 16,-1 0-1,-18 0-15,19 0 16,-39 0-16,-1 0 16,1 0-16,39 0 15,0 0 1,39 0-1,-39 0-15,39 0 16,-40 0-16,1 0 0,-39 0 16,20 0-16,-21 0 31,99 0-31,-137 0 16,39 0-16,19 0 31,-19 0-31,117 0 31,-117 0-31,116 0 0,-135 19 16,19-19-16,-20 0 15,20 0-15,-20 0 16,20 0 0,0 0-1,98 0 1,-99 0-16,1 0 15,20 0 1,-59 0-16,58 0 0,-58 0 31,39 0-15,-20 0-16,20 0 16,-19 0-1,97 0-15,-79 0 16,-18 19-16,-20-19 15,19 0-15,-38 0 32,-1 0-32,1 0 15,-1 0 1,20 0 0,-19 0-1,-1 0 1,1 0-16,-1 0 31,0 0-31,1 0 16,19 0-16,-20 0 31,1 0-15,19 0-1,-20 0 16,20 0-31,-19 0 0,19 0 16,-20 0 0,1 0-16,19 0 0,-20 0 15,1 0 1,-1 0 15,0 0-31,1 0 0,-1 0 16,1 0 15,19 0-31,-20 0 31,20 0-31,20 0 0,-40 0 16,20 0-16,0 0 16,-19 0 15,-1-38 63</inkml:trace>
  <inkml:trace contextRef="#ctx0" brushRef="#br0" timeOffset="139995.48">21697 23802 0,'20'-39'78,"18"39"-62,1 0-16,20-19 15,-20 19 1,19 0 0,20-20-1,-19 20-15,-20-39 16,19 39-1,0 0-15,-38 0 16,-1 0 31</inkml:trace>
  <inkml:trace contextRef="#ctx0" brushRef="#br0" timeOffset="140829.76">22048 23841 0,'0'39'94,"19"20"-94,1 38 16,-20-78-1,0 1-15,0-1 16,19-19-16,-19 20 15,20-1 17,-20 1 15,19-20 15,-19 39-31</inkml:trace>
  <inkml:trace contextRef="#ctx0" brushRef="#br0" timeOffset="142406.96">26469 19595 0,'19'0'62,"-19"-58"-30,98-176-17,-59 136-15,-39 60 16,58-99-16,-58 118 16,19-20-16,20-20 15,-19 40-15,-1-1 16,1-38-1,-20-1-15,19 40 0,-19 0 16,20-1-16,-20 1 16,19-1-16,-19 1 15,39-1 1,-19-38 0,-1 38-1,1-58 1,-1 59-16,-19-1 0,39 20 15,-39-19-15,39-40 32,-19 40-17,-1-20-15,0 20 16,20-20-16,-19 39 78,19 19-47,-20 1-15,40 57-16,-40-38 16,-19 20-16,39-1 15,-19 20-15,-20 0 16,0-19-1,0 18-15,39 21 16,-39-20 0,0-39-1,19 39-15,1-59 16,-20 1 0,0 19 15,0-1-31,19 40 15,-19-39 1,39-19-16,-39 58 0,0-59 16,0 1-16,0-1 15,19-19-15,-19 20 32,0-1-32,0 1 15,0 19 1,0-20-16,0 20 0,20-20 15,-20 20 1,0 0 0,19-19-1,-19-1 1</inkml:trace>
  <inkml:trace contextRef="#ctx0" brushRef="#br0" timeOffset="143462.51">26741 19244 0,'20'0'94,"-1"0"-94,1 0 15,-1 0-15,20 0 16,20 0-1,19 0 1,-20 0-16,-38 0 0,57 0 16,-57 0-1,-1 0-15,1 0 16,-1 0 0,40 0-16,-40 0 15,1 0-15,-1 0 16,1 0-1,-1 0 1,20-39 0,-19 39-16,-1 0 15,1 0 1,-1 0 78,20 0-79</inkml:trace>
  <inkml:trace contextRef="#ctx0" brushRef="#br0" timeOffset="146074.45">25300 21738 0,'-19'0'109,"-1"0"-77,1 0-32,19 19 0,-39-19 15,0 58-15,19-58 16,20 20-1,-19-20 1,-20 39 0,0 19-16,-19 1 15,58-40 1,-20 1-16,-19 19 16,39-20-16,-19-19 15,19 20 32,-20-1-47,1 1 47,19-1-47,0 20 16,-20-39-1,20 39 1,0 0-16,0-20 31,0 1-31,0-1 16,0 20-1,0-19-15,0-1 16,0 1-16,0-1 16,20-19 15,-1 0 156,-19 20-187,20-20 16,38 58 0,-38-38-1,-1-1 1,1-19-16,-1 20 15,0-20 1,-19 19-16,20-19 16,19 20-16,-20-1 15,1-19-15,-20 39 0,19-39 16,1 0 0,-20 19-1,19-19-15,1 0 16,19 0-16,0 0 31,0 0-15,-20 0-16,40-58 15,-1 39-15,-19-20 16,0 19 0,0-19-16,19-97 15,-19 77 1,-19 20-16,-1-19 15,20 0-15,-39 19 0,20-20 16,-20 40-16,19-1 16,-19-38-16,0 38 15,0 1 1,0-1 0,0 1-1,0-1-15,0-19 16,0 0-16,0 20 15,0 0 1,-19 19 15,-1-20 1,1 20-17,19-19 1,-20 19-1,-19 0 1,20 0-16,-1 0 16,1 0-16,-1 0 15,-38 0 1,19 0-16,19 0 16,1 19-1,-20-19 1,20 0-1,-1 20-15,1-20 16,-1 19 0,1 0-1,19 20 1</inkml:trace>
  <inkml:trace contextRef="#ctx0" brushRef="#br0" timeOffset="146922.53">25222 22224 0,'20'20'78,"-1"-1"-62,20 59-16,-39-39 16,20 20-1,-20-1 1,19-19-1,20 97-15,20-19 16,-59-97-16,19-1 16,-19 20-16,19-39 15,-19 20-15,39-1 0,-19-19 16,-1 0 15,1 0 0,58 0-15,-59 0-16,20 0 16,20-39-1,-40-19 17,40 19-32,116-175 0,-136 116 15,-20 20-15,20-19 16,-19 19-16,-20 39 15,39-58-15,-39 58 16,0 0-16,0 19 31,0 1-15</inkml:trace>
  <inkml:trace contextRef="#ctx0" brushRef="#br0" timeOffset="147905.23">26430 21757 0,'0'20'47,"0"38"-47,-20 20 0,20-59 15,0 98-15,0-19 16,0-21 0,0-18-16,0-20 31,0 19-15,0 98-16,39-78 15,-39-58-15,20 57 16,-1-57-1,-19 19-15,20-20 0,-1 1 0,1-1 47,-20 1-47,39-1 0,-20-19 16,1 20 0,-1-20-1,1 0 1,-1 0 15,0 0-31,137-59 16,-136 40-16,38-1 0,-38-19 0,-1 0 0,1 20 31,-1-1-15,20-38-16,-19 0 0,-1 19 15,0 19 1,20-38-1,20-157-15,-59 177 16,19 18-16,-19 1 16,0-1-16,0-19 15,0 20-15,0-1 47,0-19-47,0-39 16,0 39-1,0 20-15,39-59 0,-19 20 32</inkml:trace>
  <inkml:trace contextRef="#ctx0" brushRef="#br0" timeOffset="148814.57">27793 21835 0,'0'-20'31,"0"59"16,0 0-32,0-19-15,-19-1 0,-1 40 16,20-20-16,0 0 16,-39 0-16,39 19 15,0-38-15,-19 57 16,19-57-16,0 58 31,-20-59-15,20 176-16,0-156 0,0-19 15,0-1-15,0 0 16,0 1-16,0-1 31,0 1-31,0 19 16,0-20 31</inkml:trace>
  <inkml:trace contextRef="#ctx0" brushRef="#br0" timeOffset="150534.85">28806 21913 0,'0'-20'0,"0"1"63,0-20-1,-58 19-46,38 20 0,-19 0-16,-19 0 0,19 20 15,0-20-15,0 0 16,19 19 0,1-19-16,-1 20 15,-19-20-15,20 19 16,-1 1-16,1-1 15,0-19 1,19 20-16,-20-20 16,1 39-1,-20-20 1,0-19 0,19 20-16,1-1 15,-1-19-15,20 20 16,-39-20-16,20 19 15,-1 1 1,1-20 0,19 39-1,-20-20-15,20 1 16,-19-1-16,19 20 16,0 0-1,-20-20-15,20 40 0,-39-1 31,39-38-31,0 97 16,0-98-16,0 1 16,0-1-1,0 1 1,0-1 0,0 0 30,39-19-46,-39 39 16,39 0 0,-19-19-1,19-1 1,-39 1 15,19-20-31,20 19 31,-19-19-31,-1 39 0,1-39 0,-1 0 16,-19 20 0,20-20-16,19 0 15,0 19 1,-20-19 0,0 0-16,1 0 15,-1 0 1,1 0-16,-1 0 15,20 0 1,-19 0 0,-1 0-1,1 0 1,-1 0 0,1 0-1,38 0 126,-38 0-126</inkml:trace>
  <inkml:trace contextRef="#ctx0" brushRef="#br0" timeOffset="154219.29">25923 20919 0,'39'0'31,"-19"0"16,-1 20-47,-19 19 0,0 0 31,20 39-31,-20-59 32,19 20-32,20 20 31,-39-40-31,0 1 0</inkml:trace>
  <inkml:trace contextRef="#ctx0" brushRef="#br0" timeOffset="155109.16">25768 20881 0,'19'-20'79,"-19"1"-79,20-1 0,38 1 15,-39-1 1,1-19-16,-1 20 15,40-20-15,-40 19 0,1-19 32,-1 20-1,-19-1-31,20-19 16,-1 20-1,1 19-15,-20-39 16,39 39 15,-20 0 47,1 0-78,-1 19 16,-19 1-16,20-1 15,-1 1 1,1-1 0,-20 1-16,38-1 15,-38 20 1,0-19-16,0-1 47,39 1-32</inkml:trace>
  <inkml:trace contextRef="#ctx0" brushRef="#br0" timeOffset="155889.65">27559 20491 0,'0'58'16,"-19"-19"-1,19-19-15,0 19 16,-20 0 0,-18 78-16,38-98 15,-20 40-15,20-40 16,0 0-16,0 1 16,-19-1-16,19 20 15,0-19-15,0-1 31,0 1-31,0-1 16,0 1 0,0-1-1,-39-19 63</inkml:trace>
  <inkml:trace contextRef="#ctx0" brushRef="#br0" timeOffset="156793.69">27209 20666 0,'19'0'0,"1"0"31,-1-19-31,40-20 31,-40 19-31,1 20 16,-20-19-16,19 19 0,1-20 15,-1 1 1,1 19-16,-20-20 16,19 20-1,-19-19 1,39 19 0,-39-39-16,19 39 15,1 0 110,-1 20-125,1 18 16,-20-18-16,0-1 31,39 40-15,-20 19-16,-19-59 15,0 20-15,20-19 16,-20 19-16,19-20 0</inkml:trace>
  <inkml:trace contextRef="#ctx0" brushRef="#br0" timeOffset="157681.46">28300 20549 0,'0'20'93,"0"38"-93,0-38 16,39 38 31,-39-38-47,0 77 0,0-77 15,0-1 1,0 39-16,0-38 16,0-1 15,0 20 0,0 0 0,-20-39 16</inkml:trace>
  <inkml:trace contextRef="#ctx0" brushRef="#br0" timeOffset="158675.66">28183 20588 0,'0'-19'78,"19"-1"-78,-19 1 16,20-1-16,-20-18 0,19 18 15,1 1 1,-20-1-16,19-19 31,-19 20-31,0-20 16,20 39-1,19 0 110,-20 0-109,0 0 0,-19 19-1,39 1 1,-39-1-1,59 20-15,-59 0 16,19-19-16,1-1 16,-1-19-16,-19 19 0,20-19 15,-1 20 1,-19-1 93</inkml:trace>
  <inkml:trace contextRef="#ctx0" brushRef="#br0" timeOffset="201014.99">22963 21582 0,'0'39'140,"0"19"-124,0-38 0,0-1-16,0 1 15,0-1 1,0 1-16,0 18 15,0-18-15,0-1 16,0 1 0,0-1-16,0 1 0,0-1 15,0 20-15,0-19 16,0-1 0,0 1-16,0-1 15,0 1-15,0-1 16,0 20-1,0-19 1,0-1-16,0 1 0,0-1 0,0 0 31,0 1-31,0 38 16,0-38 15,0 19-31,0-20 16,0 20-16,0-19 15,0-1 1,0 1-16,0-1 16,0 1-1,0-1-15,0 20 16,0-19-16,0-1 0,0 1 16,0-1-16,0 0 15,0 1 1,0 19-1,0-20 1,0 1-16,0-1 47,0 1-47,0 19 16,0 0-16,0-20 15,0 1 1,0-40 124,0-19-140,0 20 16,0-1-16,0 1 16,0-1-1,0 1-15,0-1 0,0 1 16,0-20 15,0 19-31,0 1 0,0 0 31,0-1-31,0-38 0,0 38 16,0 1 0,0-1-16,0 1 15,0-1 1,0 1-16,0-20 16,0 19-16,0 1 15,0-1-15,19 1 16,-19-40-16,0 40 0,0-1 15,0-18-15,20 18 16,-20-38 31,0 38-31,0 1 30,0-20 1,0 19-47,19 1 16,-19-20 0,0 19-16,0 1 62,0-1-31,0 1-31,0-1 16,0 1 0,20-20-1,-20 20-15,0-1 31,0 1 16,0-1 0,0 1-16,0-1 16,0-19 94</inkml:trace>
  <inkml:trace contextRef="#ctx0" brushRef="#br0" timeOffset="-206942.71">23216 22322 0,'39'0'78,"-19"0"-62,-1 0 0,1 0-1,-1-20 1,1 20-16,-1 0 0,20 0 15,0 0 1,-20-19-16,1 19 0,38 0 31,1 0-31,-1-39 0,-38 39 16,-1 0 0,1 0-1,-1 0 1,39 0-1,-38 0 1,-1 0 15,1 0-31,-1 0 32,1 0 14,19 0-30,0 0 0,-20 0-16</inkml:trace>
  <inkml:trace contextRef="#ctx0" brushRef="#br0" timeOffset="-205566.6">23956 22108 0,'20'0'313,"19"0"-313,-20 0 15,1 19-15,19-19 32,0 20-32,-20-20 31,1 0 0,-20 19-15,19-19-16,1 0 0,-20 20 31,38-1-15,-38 0 31,-19-19 109,-20 0-141,20 0 1,-1 0-16,1 0 16,-1-19-1,-19 19 1</inkml:trace>
  <inkml:trace contextRef="#ctx0" brushRef="#br0" timeOffset="-204263.27">23800 21991 0,'39'0'141,"-19"0"-126,-1 0-15,1 19 32,-1-19-32,1 20 0,19-1 31,-39 1-15,39-1-16,-20 1 15,1-1-15,-1-19 16,1 20-1,-1 19 1,1-20-16,19-19 31,-39 19-31,19 1 32,-19-1 61,0 20-46,0 0-47,-39-19 31,20-1-31,-1 1 16,1-1-16,-1 1 0,1 38 16,-40-38-1,40-1 1,-1 1-16,-19 19 16,20-20-1,-1 1 16,20-1 16</inkml:trace>
  <inkml:trace contextRef="#ctx0" brushRef="#br0" timeOffset="-199481.3">23839 21815 0,'20'0'110,"-1"0"-79,1 0-15,-1 0-1,1 0 16,-1 0-15,20 0-16,-19 0 47,-1 20-16,1-1-15,-20 1-16,19-20 0,1 39 31,-1-39-15,40 39 31,-59-20-16,19 1-31,-19-1 31,39 1 16,-39 19-47,0-20 31,0 1-31,0-1 16,0 1-1,0-1-15,0 1 16,0 38 15,0-39-31,0 1 16,0-1 0,-19-19-16,19 20 15,0-1 1,-20-19-16,20 20 0,-19 19 15,19-20-15,-39 1 32,39-1-32,-20 40 15,20-40 1,-19 1-16,-1 19 0,1-20 31,19 20 0,-39-20 1,39 1-32</inkml:trace>
  <inkml:trace contextRef="#ctx0" brushRef="#br0" timeOffset="-175011.83">9544 22614 0,'0'20'47,"0"-1"-15,-20-19-32,1 19 15,-1 1 1,1-1 31,19 20-32,0 0 1,-39-39-16,39 39 16,0-19-1,0-1-15,0 20 16,0-19 15,0-1-15,19-19-16,-19 20 0,20-20 0,-1 19 31,1-19-15,-20 20-16,19-20 15,-19 19-15,20 20 31,-1-39-15,20 0 0,0 0 15,-19 0-15,-1 0-16,1 0 15,-1 0-15,20 0 16,-39-19-16,19 19 15,1-20 17,-1 1-17,1-1-15,-20 1 16,0-1 0,0 1 30,0-20-14,0 19-17,0 1 32,0-1-16,-20 20 1,20-19-17,-19 19 17,-1 0-1,-19 0 0,20 0 32,19 19-17,0 1-46,0 58 47,0-59-47,0 1 0,0-1 16,39 1 0,-20-20-1,1 39 1,-1-39 15,1 19-31,-1-19 0,1 0 16,-1 20-16,20-20 15,0 0-15,-19 19 16,-1-19-16,1 0 16,19 0-16,-20 0 15,1 0 1,-1 0-1,20 0-15,0 0 16,-20 0-16,1 0 16,-1 0-16,20 0 15,0 0-15,-19-19 32,-1 19-32,1-20 15,-20-19-15,19 39 16,-19-19-1,0-1 1,0 1 0,0-1-16,0 1 47,-19-1-16,-1 20-31,1-39 15,-20 20 1,19 19-16,1 0 16,-1-20-1,1 20 1,-40 0 0,40 0-1,-1 0 1,1 0-1,0 0-15,-1 0 16,1 0-16,-20 0 31,19 20-31,1-20 16,19 39-16,-20-20 31,20 1-15,-19-1-16,19 1 15,0-1-15,0 1 16,0 19 0,0-20-16,0 1 15,0-1-15,0 0 32,0 20-17,19 0 16,1-19-31,-1-1 16,20-19-16,-19 0 16,-1 0-16,-19 20 31,20-20-31,-1 0 16,0 0-1,1 19-15,19-19 16,-20 0-16,1 0 31,-1 0 32,-19-39-48,0 0 1</inkml:trace>
  <inkml:trace contextRef="#ctx0" brushRef="#br0" timeOffset="-21969.65">21366 9194 0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 name="Shape 37"/>
          <p:cNvSpPr>
            <a:spLocks noGrp="1" noRot="1" noChangeAspect="1"/>
          </p:cNvSpPr>
          <p:nvPr>
            <p:ph type="sldImg"/>
          </p:nvPr>
        </p:nvSpPr>
        <p:spPr>
          <a:xfrm>
            <a:off x="1143000" y="685800"/>
            <a:ext cx="4572000" cy="3429000"/>
          </a:xfrm>
          <a:prstGeom prst="rect">
            <a:avLst/>
          </a:prstGeom>
        </p:spPr>
        <p:txBody>
          <a:bodyPr/>
          <a:lstStyle/>
          <a:p>
            <a:endParaRPr/>
          </a:p>
        </p:txBody>
      </p:sp>
      <p:sp>
        <p:nvSpPr>
          <p:cNvPr id="38" name="Shape 3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defTabSz="584200" latinLnBrk="0">
      <a:defRPr sz="2200">
        <a:latin typeface="Lucida Grande"/>
        <a:ea typeface="Lucida Grande"/>
        <a:cs typeface="Lucida Grande"/>
        <a:sym typeface="Lucida Grande"/>
      </a:defRPr>
    </a:lvl2pPr>
    <a:lvl3pPr defTabSz="584200" latinLnBrk="0">
      <a:defRPr sz="2200">
        <a:latin typeface="Lucida Grande"/>
        <a:ea typeface="Lucida Grande"/>
        <a:cs typeface="Lucida Grande"/>
        <a:sym typeface="Lucida Grande"/>
      </a:defRPr>
    </a:lvl3pPr>
    <a:lvl4pPr defTabSz="584200" latinLnBrk="0">
      <a:defRPr sz="2200">
        <a:latin typeface="Lucida Grande"/>
        <a:ea typeface="Lucida Grande"/>
        <a:cs typeface="Lucida Grande"/>
        <a:sym typeface="Lucida Grande"/>
      </a:defRPr>
    </a:lvl4pPr>
    <a:lvl5pPr defTabSz="584200" latinLnBrk="0">
      <a:defRPr sz="2200">
        <a:latin typeface="Lucida Grande"/>
        <a:ea typeface="Lucida Grande"/>
        <a:cs typeface="Lucida Grande"/>
        <a:sym typeface="Lucida Grande"/>
      </a:defRPr>
    </a:lvl5pPr>
    <a:lvl6pPr defTabSz="584200" latinLnBrk="0">
      <a:defRPr sz="2200">
        <a:latin typeface="Lucida Grande"/>
        <a:ea typeface="Lucida Grande"/>
        <a:cs typeface="Lucida Grande"/>
        <a:sym typeface="Lucida Grande"/>
      </a:defRPr>
    </a:lvl6pPr>
    <a:lvl7pPr defTabSz="584200" latinLnBrk="0">
      <a:defRPr sz="2200">
        <a:latin typeface="Lucida Grande"/>
        <a:ea typeface="Lucida Grande"/>
        <a:cs typeface="Lucida Grande"/>
        <a:sym typeface="Lucida Grande"/>
      </a:defRPr>
    </a:lvl7pPr>
    <a:lvl8pPr defTabSz="584200" latinLnBrk="0">
      <a:defRPr sz="2200">
        <a:latin typeface="Lucida Grande"/>
        <a:ea typeface="Lucida Grande"/>
        <a:cs typeface="Lucida Grande"/>
        <a:sym typeface="Lucida Grande"/>
      </a:defRPr>
    </a:lvl8pPr>
    <a:lvl9pPr defTabSz="584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hape 42"/>
          <p:cNvSpPr>
            <a:spLocks noGrp="1" noRot="1" noChangeAspect="1"/>
          </p:cNvSpPr>
          <p:nvPr>
            <p:ph type="sldImg"/>
          </p:nvPr>
        </p:nvSpPr>
        <p:spPr>
          <a:prstGeom prst="rect">
            <a:avLst/>
          </a:prstGeom>
        </p:spPr>
        <p:txBody>
          <a:bodyPr/>
          <a:lstStyle/>
          <a:p>
            <a:endParaRPr/>
          </a:p>
        </p:txBody>
      </p:sp>
      <p:sp>
        <p:nvSpPr>
          <p:cNvPr id="43" name="Shape 43"/>
          <p:cNvSpPr>
            <a:spLocks noGrp="1"/>
          </p:cNvSpPr>
          <p:nvPr>
            <p:ph type="body" sz="quarter" idx="1"/>
          </p:nvPr>
        </p:nvSpPr>
        <p:spPr>
          <a:prstGeom prst="rect">
            <a:avLst/>
          </a:prstGeom>
        </p:spPr>
        <p:txBody>
          <a:bodyPr/>
          <a:lstStyle/>
          <a:p>
            <a:r>
              <a:rPr dirty="0"/>
              <a:t>Welcome back to Computer Networks.</a:t>
            </a:r>
          </a:p>
          <a:p>
            <a:r>
              <a:rPr dirty="0"/>
              <a:t>This week we will continue with the transport layer, but we will focus on the famous Transmission Control Protocol or TCP,</a:t>
            </a:r>
            <a:br>
              <a:rPr dirty="0"/>
            </a:br>
            <a:r>
              <a:rPr dirty="0"/>
              <a:t>which is arguably one of the most successful technologies of our era.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hape 48"/>
          <p:cNvSpPr>
            <a:spLocks noGrp="1" noRot="1" noChangeAspect="1"/>
          </p:cNvSpPr>
          <p:nvPr>
            <p:ph type="sldImg"/>
          </p:nvPr>
        </p:nvSpPr>
        <p:spPr>
          <a:prstGeom prst="rect">
            <a:avLst/>
          </a:prstGeom>
        </p:spPr>
        <p:txBody>
          <a:bodyPr/>
          <a:lstStyle/>
          <a:p>
            <a:endParaRPr/>
          </a:p>
        </p:txBody>
      </p:sp>
      <p:sp>
        <p:nvSpPr>
          <p:cNvPr id="49" name="Shape 49"/>
          <p:cNvSpPr>
            <a:spLocks noGrp="1"/>
          </p:cNvSpPr>
          <p:nvPr>
            <p:ph type="body" sz="quarter" idx="1"/>
          </p:nvPr>
        </p:nvSpPr>
        <p:spPr>
          <a:prstGeom prst="rect">
            <a:avLst/>
          </a:prstGeom>
        </p:spPr>
        <p:txBody>
          <a:bodyPr/>
          <a:lstStyle/>
          <a:p>
            <a:r>
              <a:rPr lang="fr-CH" dirty="0"/>
              <a:t>So far</a:t>
            </a:r>
            <a:r>
              <a:rPr dirty="0"/>
              <a:t>, we discussed two services provided by the transport layer: </a:t>
            </a:r>
            <a:br>
              <a:rPr dirty="0"/>
            </a:br>
            <a:r>
              <a:rPr dirty="0"/>
              <a:t>process-to-process communication (sockets </a:t>
            </a:r>
            <a:r>
              <a:rPr dirty="0" err="1"/>
              <a:t>etc</a:t>
            </a:r>
            <a:r>
              <a:rPr dirty="0"/>
              <a:t>) and reliable data delivery.</a:t>
            </a:r>
          </a:p>
          <a:p>
            <a:endParaRPr dirty="0"/>
          </a:p>
          <a:p>
            <a:r>
              <a:rPr dirty="0"/>
              <a:t>For the latter, we discussed in general terms, about families of protocols, like Go-back-N and Selective Repeat.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noRot="1" noChangeAspect="1"/>
          </p:cNvSpPr>
          <p:nvPr>
            <p:ph type="sldImg"/>
          </p:nvPr>
        </p:nvSpPr>
        <p:spPr>
          <a:prstGeom prst="rect">
            <a:avLst/>
          </a:prstGeom>
        </p:spPr>
        <p:txBody>
          <a:bodyPr/>
          <a:lstStyle/>
          <a:p>
            <a:endParaRPr/>
          </a:p>
        </p:txBody>
      </p:sp>
      <p:sp>
        <p:nvSpPr>
          <p:cNvPr id="55" name="Shape 55"/>
          <p:cNvSpPr>
            <a:spLocks noGrp="1"/>
          </p:cNvSpPr>
          <p:nvPr>
            <p:ph type="body" sz="quarter" idx="1"/>
          </p:nvPr>
        </p:nvSpPr>
        <p:spPr>
          <a:prstGeom prst="rect">
            <a:avLst/>
          </a:prstGeom>
        </p:spPr>
        <p:txBody>
          <a:bodyPr/>
          <a:lstStyle/>
          <a:p>
            <a:r>
              <a:t>Now we will discuss specific transport-layer technologies, starting from UDP.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hape 60"/>
          <p:cNvSpPr>
            <a:spLocks noGrp="1" noRot="1" noChangeAspect="1"/>
          </p:cNvSpPr>
          <p:nvPr>
            <p:ph type="sldImg"/>
          </p:nvPr>
        </p:nvSpPr>
        <p:spPr>
          <a:prstGeom prst="rect">
            <a:avLst/>
          </a:prstGeom>
        </p:spPr>
        <p:txBody>
          <a:bodyPr/>
          <a:lstStyle/>
          <a:p>
            <a:endParaRPr/>
          </a:p>
        </p:txBody>
      </p:sp>
      <p:sp>
        <p:nvSpPr>
          <p:cNvPr id="61" name="Shape 61"/>
          <p:cNvSpPr>
            <a:spLocks noGrp="1"/>
          </p:cNvSpPr>
          <p:nvPr>
            <p:ph type="body" sz="quarter" idx="1"/>
          </p:nvPr>
        </p:nvSpPr>
        <p:spPr>
          <a:prstGeom prst="rect">
            <a:avLst/>
          </a:prstGeom>
        </p:spPr>
        <p:txBody>
          <a:bodyPr/>
          <a:lstStyle/>
          <a:p>
            <a:r>
              <a:t>UDP provides only one aspect of reliable data delivery: detection of corruption. For that, it uses checksums: the sender includes in every segment a checksum (as part of the UDP header), and the receiver uses the checksum to ensure that — with a high probability — the segment was not corrupted.</a:t>
            </a:r>
          </a:p>
          <a:p>
            <a:endParaRPr/>
          </a:p>
          <a:p>
            <a:r>
              <a:t>Let’s…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noRot="1" noChangeAspect="1"/>
          </p:cNvSpPr>
          <p:nvPr>
            <p:ph type="sldImg"/>
          </p:nvPr>
        </p:nvSpPr>
        <p:spPr>
          <a:prstGeom prst="rect">
            <a:avLst/>
          </a:prstGeom>
        </p:spPr>
        <p:txBody>
          <a:bodyPr/>
          <a:lstStyle/>
          <a:p>
            <a:endParaRPr/>
          </a:p>
        </p:txBody>
      </p:sp>
      <p:sp>
        <p:nvSpPr>
          <p:cNvPr id="77" name="Shape 77"/>
          <p:cNvSpPr>
            <a:spLocks noGrp="1"/>
          </p:cNvSpPr>
          <p:nvPr>
            <p:ph type="body" sz="quarter" idx="1"/>
          </p:nvPr>
        </p:nvSpPr>
        <p:spPr>
          <a:prstGeom prst="rect">
            <a:avLst/>
          </a:prstGeom>
        </p:spPr>
        <p:txBody>
          <a:bodyPr/>
          <a:lstStyle/>
          <a:p>
            <a:r>
              <a:rPr dirty="0"/>
              <a:t>visualize this:</a:t>
            </a:r>
          </a:p>
          <a:p>
            <a:endParaRPr dirty="0"/>
          </a:p>
          <a:p>
            <a:r>
              <a:rPr dirty="0"/>
              <a:t>This is the minimal transport layer that we saw in the last lecture:</a:t>
            </a:r>
          </a:p>
          <a:p>
            <a:pPr marL="616857" indent="-299357">
              <a:buSzPct val="95000"/>
              <a:buChar char="-"/>
            </a:pPr>
            <a:r>
              <a:rPr dirty="0"/>
              <a:t>A process running in Alice’s computer calls </a:t>
            </a:r>
            <a:r>
              <a:rPr dirty="0" err="1"/>
              <a:t>rdt_send</a:t>
            </a:r>
            <a:r>
              <a:rPr dirty="0"/>
              <a:t>() to send data to a process running in Bob’s computer.</a:t>
            </a:r>
          </a:p>
          <a:p>
            <a:pPr marL="616857" indent="-299357">
              <a:buSzPct val="95000"/>
              <a:buChar char="-"/>
            </a:pPr>
            <a:r>
              <a:rPr dirty="0"/>
              <a:t>Alice’s transport layer puts the data into a segment and calls </a:t>
            </a:r>
            <a:r>
              <a:rPr dirty="0" err="1"/>
              <a:t>udt_send</a:t>
            </a:r>
            <a:r>
              <a:rPr dirty="0"/>
              <a:t>() to pass the segment to the network layer.</a:t>
            </a:r>
          </a:p>
          <a:p>
            <a:pPr marL="616857" indent="-299357">
              <a:buSzPct val="95000"/>
              <a:buChar char="-"/>
            </a:pPr>
            <a:r>
              <a:rPr dirty="0"/>
              <a:t>Bob’s network layer calls </a:t>
            </a:r>
            <a:r>
              <a:rPr dirty="0" err="1"/>
              <a:t>rdt_rcv</a:t>
            </a:r>
            <a:r>
              <a:rPr dirty="0"/>
              <a:t>() to pass the segment to the transport layer.</a:t>
            </a:r>
          </a:p>
          <a:p>
            <a:pPr marL="616857" indent="-299357">
              <a:buSzPct val="95000"/>
              <a:buChar char="-"/>
            </a:pPr>
            <a:r>
              <a:rPr dirty="0"/>
              <a:t>Bob’s transport layer extracts the data from the segment and calls </a:t>
            </a:r>
            <a:r>
              <a:rPr dirty="0" err="1"/>
              <a:t>deliver_data</a:t>
            </a:r>
            <a:r>
              <a:rPr dirty="0"/>
              <a:t>() to pass the data to the target process.</a:t>
            </a:r>
          </a:p>
          <a:p>
            <a:endParaRPr dirty="0"/>
          </a:p>
          <a:p>
            <a:r>
              <a:rPr dirty="0"/>
              <a:t>The only thing that UDP adds to this is a check for corruption, in which case it drops the segment, i.e., does not deliver the data to the target process.</a:t>
            </a:r>
          </a:p>
          <a:p>
            <a:endParaRPr dirty="0"/>
          </a:p>
          <a:p>
            <a:r>
              <a:rPr dirty="0"/>
              <a:t>So, UDP does not provide reliable data delivery, it only does a corruption check.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82"/>
          <p:cNvSpPr>
            <a:spLocks noGrp="1" noRot="1" noChangeAspect="1"/>
          </p:cNvSpPr>
          <p:nvPr>
            <p:ph type="sldImg"/>
          </p:nvPr>
        </p:nvSpPr>
        <p:spPr>
          <a:prstGeom prst="rect">
            <a:avLst/>
          </a:prstGeom>
        </p:spPr>
        <p:txBody>
          <a:bodyPr/>
          <a:lstStyle/>
          <a:p>
            <a:endParaRPr/>
          </a:p>
        </p:txBody>
      </p:sp>
      <p:sp>
        <p:nvSpPr>
          <p:cNvPr id="83" name="Shape 83"/>
          <p:cNvSpPr>
            <a:spLocks noGrp="1"/>
          </p:cNvSpPr>
          <p:nvPr>
            <p:ph type="body" sz="quarter" idx="1"/>
          </p:nvPr>
        </p:nvSpPr>
        <p:spPr>
          <a:prstGeom prst="rect">
            <a:avLst/>
          </a:prstGeom>
        </p:spPr>
        <p:txBody>
          <a:bodyPr/>
          <a:lstStyle/>
          <a:p>
            <a:r>
              <a:rPr dirty="0"/>
              <a:t>How about TCP?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88"/>
          <p:cNvSpPr>
            <a:spLocks noGrp="1" noRot="1" noChangeAspect="1"/>
          </p:cNvSpPr>
          <p:nvPr>
            <p:ph type="sldImg"/>
          </p:nvPr>
        </p:nvSpPr>
        <p:spPr>
          <a:prstGeom prst="rect">
            <a:avLst/>
          </a:prstGeom>
        </p:spPr>
        <p:txBody>
          <a:bodyPr/>
          <a:lstStyle/>
          <a:p>
            <a:endParaRPr/>
          </a:p>
        </p:txBody>
      </p:sp>
      <p:sp>
        <p:nvSpPr>
          <p:cNvPr id="89" name="Shape 89"/>
          <p:cNvSpPr>
            <a:spLocks noGrp="1"/>
          </p:cNvSpPr>
          <p:nvPr>
            <p:ph type="body" sz="quarter" idx="1"/>
          </p:nvPr>
        </p:nvSpPr>
        <p:spPr>
          <a:prstGeom prst="rect">
            <a:avLst/>
          </a:prstGeom>
        </p:spPr>
        <p:txBody>
          <a:bodyPr/>
          <a:lstStyle/>
          <a:p>
            <a:r>
              <a:rPr dirty="0"/>
              <a:t>TCP provides all the aspects of reliable data delivery that we discussed last week: …</a:t>
            </a:r>
            <a:br>
              <a:rPr dirty="0"/>
            </a:br>
            <a:r>
              <a:rPr dirty="0"/>
              <a:t>and it does so in its own special way.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noRot="1" noChangeAspect="1"/>
          </p:cNvSpPr>
          <p:nvPr>
            <p:ph type="sldImg"/>
          </p:nvPr>
        </p:nvSpPr>
        <p:spPr>
          <a:prstGeom prst="rect">
            <a:avLst/>
          </a:prstGeom>
        </p:spPr>
        <p:txBody>
          <a:bodyPr/>
          <a:lstStyle/>
          <a:p>
            <a:endParaRPr/>
          </a:p>
        </p:txBody>
      </p:sp>
      <p:sp>
        <p:nvSpPr>
          <p:cNvPr id="95" name="Shape 95"/>
          <p:cNvSpPr>
            <a:spLocks noGrp="1"/>
          </p:cNvSpPr>
          <p:nvPr>
            <p:ph type="body" sz="quarter" idx="1"/>
          </p:nvPr>
        </p:nvSpPr>
        <p:spPr>
          <a:prstGeom prst="rect">
            <a:avLst/>
          </a:prstGeom>
        </p:spPr>
        <p:txBody>
          <a:bodyPr/>
          <a:lstStyle/>
          <a:p>
            <a:r>
              <a:t>First, we will focus on how TCP uses ACKs and SEQs.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prstGeom prst="rect">
            <a:avLst/>
          </a:prstGeom>
        </p:spPr>
        <p:txBody>
          <a:bodyPr/>
          <a:lstStyle/>
          <a:p>
            <a:endParaRPr/>
          </a:p>
        </p:txBody>
      </p:sp>
      <p:sp>
        <p:nvSpPr>
          <p:cNvPr id="121" name="Shape 121"/>
          <p:cNvSpPr>
            <a:spLocks noGrp="1"/>
          </p:cNvSpPr>
          <p:nvPr>
            <p:ph type="body" sz="quarter" idx="1"/>
          </p:nvPr>
        </p:nvSpPr>
        <p:spPr>
          <a:prstGeom prst="rect">
            <a:avLst/>
          </a:prstGeom>
        </p:spPr>
        <p:txBody>
          <a:bodyPr/>
          <a:lstStyle/>
          <a:p>
            <a:r>
              <a:rPr dirty="0"/>
              <a:t>(From now on, when I say “Alice”, I mean “Alice’s transport layer” and same for Bob.)</a:t>
            </a:r>
          </a:p>
          <a:p>
            <a:endParaRPr dirty="0"/>
          </a:p>
          <a:p>
            <a:r>
              <a:rPr dirty="0"/>
              <a:t>Consider the following scenario:</a:t>
            </a:r>
          </a:p>
          <a:p>
            <a:pPr marL="616857" indent="-299357">
              <a:buSzPct val="95000"/>
              <a:buChar char="-"/>
            </a:pPr>
            <a:r>
              <a:rPr dirty="0"/>
              <a:t>The process running on Alice’s computer sends one data byte (the character “A”) to a process running on Bob’s computer.</a:t>
            </a:r>
          </a:p>
          <a:p>
            <a:pPr marL="616857" indent="-299357">
              <a:buSzPct val="95000"/>
              <a:buChar char="-"/>
            </a:pPr>
            <a:r>
              <a:rPr dirty="0"/>
              <a:t>Alice creates a segment that carries this data byte, which also carries SEQ 0.</a:t>
            </a:r>
          </a:p>
          <a:p>
            <a:pPr marL="616857" indent="-299357">
              <a:buSzPct val="95000"/>
              <a:buChar char="-"/>
            </a:pPr>
            <a:r>
              <a:rPr dirty="0"/>
              <a:t>Bob receives the segment, extracts the data byte, and delivers it to the target process.</a:t>
            </a:r>
          </a:p>
          <a:p>
            <a:pPr marL="616857" indent="-299357">
              <a:buSzPct val="95000"/>
              <a:buChar char="-"/>
            </a:pPr>
            <a:r>
              <a:rPr dirty="0"/>
              <a:t>Bob creates a segment that acknowledges receiving the data byte, which carries ACK 1.</a:t>
            </a:r>
          </a:p>
          <a:p>
            <a:pPr marL="616857" indent="-299357">
              <a:buSzPct val="95000"/>
              <a:buChar char="-"/>
            </a:pPr>
            <a:r>
              <a:rPr dirty="0"/>
              <a:t>Alice receives the segment.</a:t>
            </a:r>
          </a:p>
          <a:p>
            <a:endParaRPr dirty="0"/>
          </a:p>
          <a:p>
            <a:r>
              <a:rPr dirty="0"/>
              <a:t>The first thing to note is that Bob’s ACK number does not signal what he received, but what he is expecting: he received data byte 0, and he is expecting data byte 1, this is why he is sending ACK 1.</a:t>
            </a:r>
          </a:p>
          <a:p>
            <a:endParaRPr dirty="0"/>
          </a:p>
          <a:p>
            <a:r>
              <a:rPr dirty="0"/>
              <a:t>So: </a:t>
            </a:r>
            <a:r>
              <a:rPr b="1" dirty="0"/>
              <a:t>TCP uses cumulative ACKs, each one </a:t>
            </a:r>
            <a:r>
              <a:rPr b="1" dirty="0" err="1"/>
              <a:t>signalling</a:t>
            </a:r>
            <a:r>
              <a:rPr b="1" dirty="0"/>
              <a:t> the next data byte expected by the party sending the segment.</a:t>
            </a:r>
          </a:p>
          <a:p>
            <a:endParaRPr dirty="0"/>
          </a:p>
          <a:p>
            <a:r>
              <a:rPr dirty="0"/>
              <a:t>In most typical scenarios, Bob’s process also has data to send to Alice’s process. E.g., if Alice’s process is a web client and Bob’s process is a web server, Alice’s process sends an HTTP GET request, and Bob’s process responds with a file—so, both processes send data.</a:t>
            </a:r>
          </a:p>
          <a:p>
            <a:endParaRPr dirty="0"/>
          </a:p>
          <a:p>
            <a:r>
              <a:rPr dirty="0"/>
              <a:t>This means that:</a:t>
            </a:r>
          </a:p>
          <a:p>
            <a:pPr marL="616857" indent="-299357">
              <a:buSzPct val="95000"/>
              <a:buChar char="-"/>
            </a:pPr>
            <a:r>
              <a:rPr dirty="0"/>
              <a:t>After receiving Alice’s data, Bob’s process also sends data (in our example, character “B”) to Alice’s process.</a:t>
            </a:r>
          </a:p>
          <a:p>
            <a:pPr marL="616857" indent="-299357">
              <a:buSzPct val="95000"/>
              <a:buChar char="-"/>
            </a:pPr>
            <a:r>
              <a:rPr dirty="0"/>
              <a:t>Hence, Bob’s segment does not only carry ACK 1, which acknowledges that he successfully received data byte 0,</a:t>
            </a:r>
            <a:br>
              <a:rPr dirty="0"/>
            </a:br>
            <a:r>
              <a:rPr dirty="0"/>
              <a:t>it also carries a data byte and a SEQ.</a:t>
            </a:r>
          </a:p>
          <a:p>
            <a:pPr marL="616857" indent="-299357">
              <a:buSzPct val="95000"/>
              <a:buChar char="-"/>
            </a:pPr>
            <a:r>
              <a:rPr dirty="0"/>
              <a:t>When Alice receives Bob’s segment, she extracts the data byte and delivers it to the target process.</a:t>
            </a:r>
          </a:p>
          <a:p>
            <a:pPr marL="616857" indent="-299357">
              <a:buSzPct val="95000"/>
              <a:buChar char="-"/>
            </a:pPr>
            <a:r>
              <a:rPr dirty="0"/>
              <a:t>Moreover, Alice’s segment does not only carry SEQ 0, it also carries an ACK, which is the next data byte that she is expecting from Bob. </a:t>
            </a:r>
          </a:p>
          <a:p>
            <a:endParaRPr dirty="0"/>
          </a:p>
          <a:p>
            <a:r>
              <a:rPr dirty="0"/>
              <a:t>So: All TCP segments carry a SEQ and an ACK. Even if it does not seem necessary. In our example here, the segment from Alice to Bob carries ACK 10, even if Alice does not need to acknowledge receiving any data from Bob.</a:t>
            </a:r>
          </a:p>
          <a:p>
            <a:endParaRPr dirty="0"/>
          </a:p>
          <a:p>
            <a:r>
              <a:rPr dirty="0"/>
              <a:t>Where did the number 10 come from? In this example, it is arbitrary — we will see better examples later. 10 happens to be the number of the data byte that Alice is expecting next from Bob.</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prstGeom prst="rect">
            <a:avLst/>
          </a:prstGeom>
        </p:spPr>
        <p:txBody>
          <a:bodyPr/>
          <a:lstStyle/>
          <a:p>
            <a:endParaRPr/>
          </a:p>
        </p:txBody>
      </p:sp>
      <p:sp>
        <p:nvSpPr>
          <p:cNvPr id="127" name="Shape 127"/>
          <p:cNvSpPr>
            <a:spLocks noGrp="1"/>
          </p:cNvSpPr>
          <p:nvPr>
            <p:ph type="body" sz="quarter" idx="1"/>
          </p:nvPr>
        </p:nvSpPr>
        <p:spPr>
          <a:prstGeom prst="rect">
            <a:avLst/>
          </a:prstGeom>
        </p:spPr>
        <p:txBody>
          <a:bodyPr/>
          <a:lstStyle/>
          <a:p>
            <a:r>
              <a:t>In TCP, data bytes are implicitly numbered. Why do I say “implicitly”? Because it is not the case that each data byte is labelled with an actual number. </a:t>
            </a:r>
          </a:p>
          <a:p>
            <a:endParaRPr/>
          </a:p>
          <a:p>
            <a:r>
              <a:t>Rather, each TCP segment, inside the TCP header, carries a SEQ. This is the number of the first data byte carried in this segment’s body.</a:t>
            </a:r>
          </a:p>
          <a:p>
            <a:endParaRPr/>
          </a:p>
          <a:p>
            <a:r>
              <a:t>Moreover, each TCP segment, inside the TCP header, carries an ACK, which is the number of the next data byte that the sender of the segment is expecting from the other side. TCP ACKs are cumulative.</a:t>
            </a:r>
          </a:p>
          <a:p>
            <a:endParaRPr/>
          </a:p>
          <a:p>
            <a:r>
              <a:t>Both SEQs and ACKs are always present in the TCP header, even if they appear unnecessary.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t>Here’s another example, where Alice’s and Bob’s processes exchange small words.</a:t>
            </a:r>
          </a:p>
          <a:p>
            <a:endParaRPr/>
          </a:p>
          <a:p>
            <a:pPr marL="616857" indent="-299357">
              <a:buSzPct val="95000"/>
              <a:buChar char="-"/>
            </a:pPr>
            <a:r>
              <a:t>Bob’s first segment carries ACK 5 because Alice sent 5 data bytes, numbered 0 (the SEQ carried by Alice’s first segment) to 4. This means that Bob is now expecting data byte 5.</a:t>
            </a:r>
          </a:p>
          <a:p>
            <a:pPr marL="616857" indent="-299357">
              <a:buSzPct val="95000"/>
              <a:buChar char="-"/>
            </a:pPr>
            <a:r>
              <a:t>Alice’s second segment carries ACK 14 because Bob sent 4 data bytes, numbered 10 (the SEQ carried by Bob’s first segment) to 13. This means that Alice is now expecting data byte 14.</a:t>
            </a:r>
          </a:p>
          <a:p>
            <a:pPr marL="616857" indent="-299357">
              <a:buSzPct val="95000"/>
              <a:buChar char="-"/>
            </a:pPr>
            <a:r>
              <a:t>Bob’s second segment carries ACK 11 because Alice sent 6 bytes, numberer 5 to 10. This means that Bob is now expecting data byte 11.</a:t>
            </a:r>
          </a:p>
          <a:p>
            <a:pPr marL="616857" indent="-299357">
              <a:buSzPct val="95000"/>
              <a:buChar char="-"/>
            </a:pPr>
            <a:r>
              <a:t>We can also guess that Alice’s first segment carries ACK 10, because that is the SEQ on the next segment that Bob sends.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prstGeom prst="rect">
            <a:avLst/>
          </a:prstGeom>
        </p:spPr>
        <p:txBody>
          <a:bodyPr/>
          <a:lstStyle/>
          <a:p>
            <a:endParaRPr/>
          </a:p>
        </p:txBody>
      </p:sp>
      <p:sp>
        <p:nvSpPr>
          <p:cNvPr id="192" name="Shape 192"/>
          <p:cNvSpPr>
            <a:spLocks noGrp="1"/>
          </p:cNvSpPr>
          <p:nvPr>
            <p:ph type="body" sz="quarter" idx="1"/>
          </p:nvPr>
        </p:nvSpPr>
        <p:spPr>
          <a:prstGeom prst="rect">
            <a:avLst/>
          </a:prstGeom>
        </p:spPr>
        <p:txBody>
          <a:bodyPr/>
          <a:lstStyle/>
          <a:p>
            <a:r>
              <a:rPr dirty="0"/>
              <a:t>In this example, Alice’s process is a web client, and Bob’s process a web server. So, Alice’s process sends an HTTP GET request of 200 bytes, and Bob’s process responds with the corresponding file, divided in 3 segments.</a:t>
            </a:r>
          </a:p>
          <a:p>
            <a:endParaRPr dirty="0"/>
          </a:p>
          <a:p>
            <a:r>
              <a:rPr dirty="0"/>
              <a:t>Parenthesis: TCP cannot create segments of an arbitrary size. There is an upper bound, called Maximum Segment Size (MSS), determined by the underlying network properties. That’s typically 1500 bytes, but may vary per network.</a:t>
            </a:r>
          </a:p>
          <a:p>
            <a:endParaRPr dirty="0"/>
          </a:p>
          <a:p>
            <a:r>
              <a:rPr dirty="0"/>
              <a:t>In this example: </a:t>
            </a:r>
          </a:p>
          <a:p>
            <a:pPr marL="616857" indent="-299357">
              <a:buSzPct val="95000"/>
              <a:buChar char="-"/>
            </a:pPr>
            <a:r>
              <a:rPr dirty="0"/>
              <a:t>Alice’s first segment carries a SEQ and an ACK.</a:t>
            </a:r>
          </a:p>
          <a:p>
            <a:pPr marL="616857" indent="-299357">
              <a:buSzPct val="95000"/>
              <a:buChar char="-"/>
            </a:pPr>
            <a:r>
              <a:rPr dirty="0"/>
              <a:t>Bob’s first segment also carries a SEQ and an ACK. The ACK is 200, because Bob received Alice’s 200 bytes, numbered from 0 to 199, and is now expecting data byte 200.</a:t>
            </a:r>
          </a:p>
          <a:p>
            <a:pPr marL="616857" indent="-299357">
              <a:buSzPct val="95000"/>
              <a:buChar char="-"/>
            </a:pPr>
            <a:r>
              <a:rPr dirty="0"/>
              <a:t>Bob’s next two segments carry the same ACK number, because Alice did not send any new data, so Bob is still expecting data byte 200. </a:t>
            </a:r>
          </a:p>
          <a:p>
            <a:pPr marL="616857" indent="-299357">
              <a:buSzPct val="95000"/>
              <a:buChar char="-"/>
            </a:pPr>
            <a:r>
              <a:rPr dirty="0"/>
              <a:t>Alice responds to each of Bob’s segments with a segment that carries no data. Of course, each of these segments carries a SEQ and an ACK. The SEQ is 200, because that’s the number of the first data byte that it *would* carry if it did carry data.</a:t>
            </a:r>
          </a:p>
          <a:p>
            <a:endParaRPr dirty="0"/>
          </a:p>
          <a:p>
            <a:r>
              <a:rPr dirty="0"/>
              <a:t>So: </a:t>
            </a:r>
            <a:r>
              <a:rPr b="1" dirty="0"/>
              <a:t>A TCP segment that carries no data, carries a SEQ that is equal to the number of the first data byte that the segment would carry if it did carry data.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prstGeom prst="rect">
            <a:avLst/>
          </a:prstGeom>
        </p:spPr>
        <p:txBody>
          <a:bodyPr/>
          <a:lstStyle/>
          <a:p>
            <a:endParaRPr/>
          </a:p>
        </p:txBody>
      </p:sp>
      <p:sp>
        <p:nvSpPr>
          <p:cNvPr id="198" name="Shape 198"/>
          <p:cNvSpPr>
            <a:spLocks noGrp="1"/>
          </p:cNvSpPr>
          <p:nvPr>
            <p:ph type="body" sz="quarter" idx="1"/>
          </p:nvPr>
        </p:nvSpPr>
        <p:spPr>
          <a:prstGeom prst="rect">
            <a:avLst/>
          </a:prstGeom>
        </p:spPr>
        <p:txBody>
          <a:bodyPr/>
          <a:lstStyle/>
          <a:p>
            <a:r>
              <a:t>A few things to remember about TCP SEQs and ACKs: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hape 203"/>
          <p:cNvSpPr>
            <a:spLocks noGrp="1" noRot="1" noChangeAspect="1"/>
          </p:cNvSpPr>
          <p:nvPr>
            <p:ph type="sldImg"/>
          </p:nvPr>
        </p:nvSpPr>
        <p:spPr>
          <a:prstGeom prst="rect">
            <a:avLst/>
          </a:prstGeom>
        </p:spPr>
        <p:txBody>
          <a:bodyPr/>
          <a:lstStyle/>
          <a:p>
            <a:endParaRPr/>
          </a:p>
        </p:txBody>
      </p:sp>
      <p:sp>
        <p:nvSpPr>
          <p:cNvPr id="204" name="Shape 204"/>
          <p:cNvSpPr>
            <a:spLocks noGrp="1"/>
          </p:cNvSpPr>
          <p:nvPr>
            <p:ph type="body" sz="quarter" idx="1"/>
          </p:nvPr>
        </p:nvSpPr>
        <p:spPr>
          <a:prstGeom prst="rect">
            <a:avLst/>
          </a:prstGeom>
        </p:spPr>
        <p:txBody>
          <a:bodyPr/>
          <a:lstStyle/>
          <a:p>
            <a:r>
              <a:rPr dirty="0"/>
              <a:t>Now we will focus on how TCP uses timeouts and retransmissions.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Shape 219"/>
          <p:cNvSpPr>
            <a:spLocks noGrp="1" noRot="1" noChangeAspect="1"/>
          </p:cNvSpPr>
          <p:nvPr>
            <p:ph type="sldImg"/>
          </p:nvPr>
        </p:nvSpPr>
        <p:spPr>
          <a:prstGeom prst="rect">
            <a:avLst/>
          </a:prstGeom>
        </p:spPr>
        <p:txBody>
          <a:bodyPr/>
          <a:lstStyle/>
          <a:p>
            <a:endParaRPr/>
          </a:p>
        </p:txBody>
      </p:sp>
      <p:sp>
        <p:nvSpPr>
          <p:cNvPr id="220" name="Shape 220"/>
          <p:cNvSpPr>
            <a:spLocks noGrp="1"/>
          </p:cNvSpPr>
          <p:nvPr>
            <p:ph type="body" sz="quarter" idx="1"/>
          </p:nvPr>
        </p:nvSpPr>
        <p:spPr>
          <a:prstGeom prst="rect">
            <a:avLst/>
          </a:prstGeom>
        </p:spPr>
        <p:txBody>
          <a:bodyPr/>
          <a:lstStyle/>
          <a:p>
            <a:r>
              <a:t>When TCP times out, it retransmits *one* segment, which is the one with the oldest unacknowledged SEQ number.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endParaRPr/>
          </a:p>
        </p:txBody>
      </p:sp>
      <p:sp>
        <p:nvSpPr>
          <p:cNvPr id="225" name="Shape 225"/>
          <p:cNvSpPr>
            <a:spLocks noGrp="1"/>
          </p:cNvSpPr>
          <p:nvPr>
            <p:ph type="body" sz="quarter" idx="1"/>
          </p:nvPr>
        </p:nvSpPr>
        <p:spPr>
          <a:prstGeom prst="rect">
            <a:avLst/>
          </a:prstGeom>
        </p:spPr>
        <p:txBody>
          <a:bodyPr/>
          <a:lstStyle/>
          <a:p>
            <a:r>
              <a:t>-&gt; How long should the timeout be?</a:t>
            </a:r>
          </a:p>
          <a:p>
            <a:endParaRPr/>
          </a:p>
          <a:p>
            <a:r>
              <a:t>The timeout should be a bit longer than the round-trip time (RTT) between the sender and the receiver.</a:t>
            </a:r>
          </a:p>
          <a:p>
            <a:endParaRPr/>
          </a:p>
          <a:p>
            <a:r>
              <a:t>Why? Because the sender should be fairly certain that a piece of data has been lost before timing out and retransmitting it. It shouldn’t be the case that the segment carrying the data, or the segment acknowledging the data, has been delayed.</a:t>
            </a:r>
          </a:p>
          <a:p>
            <a:endParaRPr/>
          </a:p>
          <a:p>
            <a:r>
              <a:t>-&gt; How should one compute the RTT?</a:t>
            </a:r>
          </a:p>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a:spLocks noGrp="1" noRot="1" noChangeAspect="1"/>
          </p:cNvSpPr>
          <p:nvPr>
            <p:ph type="sldImg"/>
          </p:nvPr>
        </p:nvSpPr>
        <p:spPr>
          <a:prstGeom prst="rect">
            <a:avLst/>
          </a:prstGeom>
        </p:spPr>
        <p:txBody>
          <a:bodyPr/>
          <a:lstStyle/>
          <a:p>
            <a:endParaRPr/>
          </a:p>
        </p:txBody>
      </p:sp>
      <p:sp>
        <p:nvSpPr>
          <p:cNvPr id="232" name="Shape 232"/>
          <p:cNvSpPr>
            <a:spLocks noGrp="1"/>
          </p:cNvSpPr>
          <p:nvPr>
            <p:ph type="body" sz="quarter" idx="1"/>
          </p:nvPr>
        </p:nvSpPr>
        <p:spPr>
          <a:prstGeom prst="rect">
            <a:avLst/>
          </a:prstGeom>
        </p:spPr>
        <p:txBody>
          <a:bodyPr/>
          <a:lstStyle/>
          <a:p>
            <a:r>
              <a:rPr dirty="0"/>
              <a:t>RTT estimation relies on a sliding window: the current estimate depends on past estimates and a new sample, and each term is appropriately weighed.</a:t>
            </a:r>
          </a:p>
          <a:p>
            <a:endParaRPr dirty="0"/>
          </a:p>
          <a:p>
            <a:r>
              <a:rPr dirty="0"/>
              <a:t>Why is this done this way? Well, think of how Google map would predict how long it takes to go from point A to point B. It would take into account how long it took the last car to go from A to B, but it would not take into account only that one data point, because that car may have encountered some extraordinary temporary situation.</a:t>
            </a:r>
          </a:p>
          <a:p>
            <a:endParaRPr dirty="0"/>
          </a:p>
          <a:p>
            <a:r>
              <a:rPr dirty="0"/>
              <a:t>The timeout depends on the estimated RTT and a function of the RTT variance. Why take the variance into account? Because the more the RTT varies over time,  the more conservative the sender needs to be when setting the timeout, so that it does not timeout prematurely.</a:t>
            </a:r>
          </a:p>
          <a:p>
            <a:endParaRPr dirty="0"/>
          </a:p>
          <a:p>
            <a:r>
              <a:rPr dirty="0"/>
              <a:t>The point is that TCP timeout calculation is empirical. It uses weights and numbers that have turned out to work well in practice. The numbers on this slide are from your book and they correspond to a particular implementation, but other implementations might use different numbers.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hape 263"/>
          <p:cNvSpPr>
            <a:spLocks noGrp="1" noRot="1" noChangeAspect="1"/>
          </p:cNvSpPr>
          <p:nvPr>
            <p:ph type="sldImg"/>
          </p:nvPr>
        </p:nvSpPr>
        <p:spPr>
          <a:prstGeom prst="rect">
            <a:avLst/>
          </a:prstGeom>
        </p:spPr>
        <p:txBody>
          <a:bodyPr/>
          <a:lstStyle/>
          <a:p>
            <a:endParaRPr/>
          </a:p>
        </p:txBody>
      </p:sp>
      <p:sp>
        <p:nvSpPr>
          <p:cNvPr id="264" name="Shape 264"/>
          <p:cNvSpPr>
            <a:spLocks noGrp="1"/>
          </p:cNvSpPr>
          <p:nvPr>
            <p:ph type="body" sz="quarter" idx="1"/>
          </p:nvPr>
        </p:nvSpPr>
        <p:spPr>
          <a:prstGeom prst="rect">
            <a:avLst/>
          </a:prstGeom>
        </p:spPr>
        <p:txBody>
          <a:bodyPr/>
          <a:lstStyle/>
          <a:p>
            <a:r>
              <a:rPr dirty="0"/>
              <a:t>Suppose Alice sends 5 segments, each carrying 1 data byte.</a:t>
            </a:r>
          </a:p>
          <a:p>
            <a:r>
              <a:rPr dirty="0"/>
              <a:t>Suppose Alice’s 2nd segment is lost.</a:t>
            </a:r>
          </a:p>
          <a:p>
            <a:endParaRPr dirty="0"/>
          </a:p>
          <a:p>
            <a:r>
              <a:rPr dirty="0"/>
              <a:t>When Bob receives Alice’s first segment, he responds with a segment that carries ACK 1, because that’s the next byte he is expecting from Alice.</a:t>
            </a:r>
          </a:p>
          <a:p>
            <a:endParaRPr dirty="0"/>
          </a:p>
          <a:p>
            <a:r>
              <a:rPr dirty="0"/>
              <a:t>-&gt; When Bob receives Alice’s 3rd, 4th, and 5th segment, what ACK number does he respond with? </a:t>
            </a:r>
          </a:p>
          <a:p>
            <a:endParaRPr dirty="0"/>
          </a:p>
          <a:p>
            <a:r>
              <a:rPr dirty="0"/>
              <a:t>It’s still ACK 1, because TCP ACKs are cumulative. Bob cannot respond with ACK 3, because that would mean that he has successfully received all data bytes from 0 to 2, and he is now expecting 3, which is not the case.</a:t>
            </a:r>
          </a:p>
          <a:p>
            <a:endParaRPr dirty="0"/>
          </a:p>
          <a:p>
            <a:r>
              <a:rPr dirty="0"/>
              <a:t>So, he keeps responding with ACK 1.</a:t>
            </a:r>
          </a:p>
          <a:p>
            <a:endParaRPr dirty="0"/>
          </a:p>
          <a:p>
            <a:r>
              <a:rPr dirty="0"/>
              <a:t>When Alice receives all the duplicate ACKs, she can guess that the 2nd segment was lost. </a:t>
            </a:r>
          </a:p>
          <a:p>
            <a:r>
              <a:rPr dirty="0"/>
              <a:t>Hence, she does not need to wait for a timeout, she can immediately retransmit. </a:t>
            </a:r>
          </a:p>
          <a:p>
            <a:endParaRPr b="1" dirty="0"/>
          </a:p>
          <a:p>
            <a:r>
              <a:rPr b="1" dirty="0"/>
              <a:t>We call this retransmission (that occurs in response not to a timeout but duplicate ACKs), a “fast retransmit”. </a:t>
            </a:r>
          </a:p>
          <a:p>
            <a:r>
              <a:rPr dirty="0"/>
              <a:t>When it happens, Alice retransmits one segment, which is the one with the oldest unacknowledged SEQ.</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hape 269"/>
          <p:cNvSpPr>
            <a:spLocks noGrp="1" noRot="1" noChangeAspect="1"/>
          </p:cNvSpPr>
          <p:nvPr>
            <p:ph type="sldImg"/>
          </p:nvPr>
        </p:nvSpPr>
        <p:spPr>
          <a:prstGeom prst="rect">
            <a:avLst/>
          </a:prstGeom>
        </p:spPr>
        <p:txBody>
          <a:bodyPr/>
          <a:lstStyle/>
          <a:p>
            <a:endParaRPr/>
          </a:p>
        </p:txBody>
      </p:sp>
      <p:sp>
        <p:nvSpPr>
          <p:cNvPr id="270" name="Shape 270"/>
          <p:cNvSpPr>
            <a:spLocks noGrp="1"/>
          </p:cNvSpPr>
          <p:nvPr>
            <p:ph type="body" sz="quarter" idx="1"/>
          </p:nvPr>
        </p:nvSpPr>
        <p:spPr>
          <a:prstGeom prst="rect">
            <a:avLst/>
          </a:prstGeom>
        </p:spPr>
        <p:txBody>
          <a:bodyPr/>
          <a:lstStyle/>
          <a:p>
            <a:r>
              <a:t>So: In TCP, there are two events that trigger retransmission: …</a:t>
            </a:r>
          </a:p>
          <a:p>
            <a:r>
              <a:t>Both of them result in 1 retransmission of the oldest unacknowledged segment.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Shape 275"/>
          <p:cNvSpPr>
            <a:spLocks noGrp="1" noRot="1" noChangeAspect="1"/>
          </p:cNvSpPr>
          <p:nvPr>
            <p:ph type="sldImg"/>
          </p:nvPr>
        </p:nvSpPr>
        <p:spPr>
          <a:prstGeom prst="rect">
            <a:avLst/>
          </a:prstGeom>
        </p:spPr>
        <p:txBody>
          <a:bodyPr/>
          <a:lstStyle/>
          <a:p>
            <a:endParaRPr/>
          </a:p>
        </p:txBody>
      </p:sp>
      <p:sp>
        <p:nvSpPr>
          <p:cNvPr id="276" name="Shape 276"/>
          <p:cNvSpPr>
            <a:spLocks noGrp="1"/>
          </p:cNvSpPr>
          <p:nvPr>
            <p:ph type="body" sz="quarter" idx="1"/>
          </p:nvPr>
        </p:nvSpPr>
        <p:spPr>
          <a:prstGeom prst="rect">
            <a:avLst/>
          </a:prstGeom>
        </p:spPr>
        <p:txBody>
          <a:bodyPr/>
          <a:lstStyle/>
          <a:p>
            <a:r>
              <a:t>This completes our discussion of TCP’s reliability elements.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noRot="1" noChangeAspect="1"/>
          </p:cNvSpPr>
          <p:nvPr>
            <p:ph type="sldImg"/>
          </p:nvPr>
        </p:nvSpPr>
        <p:spPr>
          <a:prstGeom prst="rect">
            <a:avLst/>
          </a:prstGeom>
        </p:spPr>
        <p:txBody>
          <a:bodyPr/>
          <a:lstStyle/>
          <a:p>
            <a:endParaRPr/>
          </a:p>
        </p:txBody>
      </p:sp>
      <p:sp>
        <p:nvSpPr>
          <p:cNvPr id="282" name="Shape 282"/>
          <p:cNvSpPr>
            <a:spLocks noGrp="1"/>
          </p:cNvSpPr>
          <p:nvPr>
            <p:ph type="body" sz="quarter" idx="1"/>
          </p:nvPr>
        </p:nvSpPr>
        <p:spPr>
          <a:prstGeom prst="rect">
            <a:avLst/>
          </a:prstGeom>
        </p:spPr>
        <p:txBody>
          <a:bodyPr/>
          <a:lstStyle/>
          <a:p>
            <a:r>
              <a:t>Last question before we move on: does TCP belong to the Go-back-N or to the Selective Repeat family?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Shape 287"/>
          <p:cNvSpPr>
            <a:spLocks noGrp="1" noRot="1" noChangeAspect="1"/>
          </p:cNvSpPr>
          <p:nvPr>
            <p:ph type="sldImg"/>
          </p:nvPr>
        </p:nvSpPr>
        <p:spPr>
          <a:prstGeom prst="rect">
            <a:avLst/>
          </a:prstGeom>
        </p:spPr>
        <p:txBody>
          <a:bodyPr/>
          <a:lstStyle/>
          <a:p>
            <a:endParaRPr/>
          </a:p>
        </p:txBody>
      </p:sp>
      <p:sp>
        <p:nvSpPr>
          <p:cNvPr id="288" name="Shape 288"/>
          <p:cNvSpPr>
            <a:spLocks noGrp="1"/>
          </p:cNvSpPr>
          <p:nvPr>
            <p:ph type="body" sz="quarter" idx="1"/>
          </p:nvPr>
        </p:nvSpPr>
        <p:spPr>
          <a:prstGeom prst="rect">
            <a:avLst/>
          </a:prstGeom>
        </p:spPr>
        <p:txBody>
          <a:bodyPr/>
          <a:lstStyle/>
          <a:p>
            <a:r>
              <a:t>TCP does not provide only reliable data delivery, it has other interesting elements.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hape 293"/>
          <p:cNvSpPr>
            <a:spLocks noGrp="1" noRot="1" noChangeAspect="1"/>
          </p:cNvSpPr>
          <p:nvPr>
            <p:ph type="sldImg"/>
          </p:nvPr>
        </p:nvSpPr>
        <p:spPr>
          <a:prstGeom prst="rect">
            <a:avLst/>
          </a:prstGeom>
        </p:spPr>
        <p:txBody>
          <a:bodyPr/>
          <a:lstStyle/>
          <a:p>
            <a:endParaRPr/>
          </a:p>
        </p:txBody>
      </p:sp>
      <p:sp>
        <p:nvSpPr>
          <p:cNvPr id="294" name="Shape 294"/>
          <p:cNvSpPr>
            <a:spLocks noGrp="1"/>
          </p:cNvSpPr>
          <p:nvPr>
            <p:ph type="body" sz="quarter" idx="1"/>
          </p:nvPr>
        </p:nvSpPr>
        <p:spPr>
          <a:prstGeom prst="rect">
            <a:avLst/>
          </a:prstGeom>
        </p:spPr>
        <p:txBody>
          <a:bodyPr/>
          <a:lstStyle/>
          <a:p>
            <a:r>
              <a:t>Let’s look at TCP connection setup and teardown.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Shape 337"/>
          <p:cNvSpPr>
            <a:spLocks noGrp="1" noRot="1" noChangeAspect="1"/>
          </p:cNvSpPr>
          <p:nvPr>
            <p:ph type="sldImg"/>
          </p:nvPr>
        </p:nvSpPr>
        <p:spPr>
          <a:prstGeom prst="rect">
            <a:avLst/>
          </a:prstGeom>
        </p:spPr>
        <p:txBody>
          <a:bodyPr/>
          <a:lstStyle/>
          <a:p>
            <a:endParaRPr/>
          </a:p>
        </p:txBody>
      </p:sp>
      <p:sp>
        <p:nvSpPr>
          <p:cNvPr id="338" name="Shape 338"/>
          <p:cNvSpPr>
            <a:spLocks noGrp="1"/>
          </p:cNvSpPr>
          <p:nvPr>
            <p:ph type="body" sz="quarter" idx="1"/>
          </p:nvPr>
        </p:nvSpPr>
        <p:spPr>
          <a:prstGeom prst="rect">
            <a:avLst/>
          </a:prstGeom>
        </p:spPr>
        <p:txBody>
          <a:bodyPr/>
          <a:lstStyle/>
          <a:p>
            <a:r>
              <a:rPr dirty="0"/>
              <a:t>This is an example of a TCP connection setup:</a:t>
            </a:r>
          </a:p>
          <a:p>
            <a:pPr marL="616857" indent="-299357">
              <a:buSzPct val="95000"/>
              <a:buChar char="-"/>
            </a:pPr>
            <a:r>
              <a:rPr dirty="0"/>
              <a:t>Bob’s process has opened a listening socket.</a:t>
            </a:r>
          </a:p>
          <a:p>
            <a:pPr marL="616857" indent="-299357">
              <a:buSzPct val="95000"/>
              <a:buChar char="-"/>
            </a:pPr>
            <a:r>
              <a:rPr dirty="0"/>
              <a:t>Alice’s process creates a connection socket to communicate with Bob’s process. As a result, Alice sends a connection setup request to Bob. That’s a segment that carries what is called the SYN flag (which is basically a particular bit in the TCP header). It also carries a SEQ and an ACK (though the value of the ACK is irrelevant).</a:t>
            </a:r>
          </a:p>
          <a:p>
            <a:pPr marL="616857" indent="-299357">
              <a:buSzPct val="95000"/>
              <a:buChar char="-"/>
            </a:pPr>
            <a:r>
              <a:rPr dirty="0"/>
              <a:t>When Bob receives the connection setup request, it passes it to Bob’s process. If the process accepts the request, that creates a connection socket for communicating with Alice’s process. In response, Bob sends a segment that also carries the SYN flag. It also carries a SEQ (that has nothing to do with Alice’s SEQ) and an ACK (which is Alice’s SEQ + 1, i.e., it acknowledges that Bob received the connection setup request and is now expecting the first data byte).</a:t>
            </a:r>
          </a:p>
          <a:p>
            <a:pPr marL="616857" indent="-299357">
              <a:buSzPct val="95000"/>
              <a:buChar char="-"/>
            </a:pPr>
            <a:r>
              <a:rPr dirty="0"/>
              <a:t>When Alice receives Bob’s response, she allocates a send and a receive buffer for this particular TCP connection. Then she sends another segment that may carry data.</a:t>
            </a:r>
          </a:p>
          <a:p>
            <a:pPr marL="616857" indent="-299357">
              <a:buSzPct val="95000"/>
              <a:buChar char="-"/>
            </a:pPr>
            <a:r>
              <a:rPr dirty="0"/>
              <a:t>When Bob </a:t>
            </a:r>
            <a:r>
              <a:rPr dirty="0" err="1"/>
              <a:t>receive’s</a:t>
            </a:r>
            <a:r>
              <a:rPr dirty="0"/>
              <a:t> Alice’s 2nd segment, he also allocates a send and a receive buffer for this particular TCP connection. At this point, we say that Alice and Bob have established a TCP connection.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Shape 383"/>
          <p:cNvSpPr>
            <a:spLocks noGrp="1" noRot="1" noChangeAspect="1"/>
          </p:cNvSpPr>
          <p:nvPr>
            <p:ph type="sldImg"/>
          </p:nvPr>
        </p:nvSpPr>
        <p:spPr>
          <a:prstGeom prst="rect">
            <a:avLst/>
          </a:prstGeom>
        </p:spPr>
        <p:txBody>
          <a:bodyPr/>
          <a:lstStyle/>
          <a:p>
            <a:endParaRPr/>
          </a:p>
        </p:txBody>
      </p:sp>
      <p:sp>
        <p:nvSpPr>
          <p:cNvPr id="384" name="Shape 384"/>
          <p:cNvSpPr>
            <a:spLocks noGrp="1"/>
          </p:cNvSpPr>
          <p:nvPr>
            <p:ph type="body" sz="quarter" idx="1"/>
          </p:nvPr>
        </p:nvSpPr>
        <p:spPr>
          <a:prstGeom prst="rect">
            <a:avLst/>
          </a:prstGeom>
        </p:spPr>
        <p:txBody>
          <a:bodyPr/>
          <a:lstStyle/>
          <a:p>
            <a:pPr marL="616857" indent="-299357">
              <a:buSzPct val="95000"/>
              <a:buChar char="-"/>
            </a:pPr>
            <a:r>
              <a:rPr dirty="0"/>
              <a:t>When Alice’s process does not need to send any more data to Bob’s process, Alice sends a segment to Bob that carries what is called a FIN flag (which is another bit in the TCP header).</a:t>
            </a:r>
          </a:p>
          <a:p>
            <a:pPr marL="616857" indent="-299357">
              <a:buSzPct val="95000"/>
              <a:buChar char="-"/>
            </a:pPr>
            <a:r>
              <a:rPr dirty="0"/>
              <a:t>When Bob receives it, he acknowledges it like any other segment, and deletes his receive buffer, because Alice will not be sending any more data on this connection.</a:t>
            </a:r>
          </a:p>
          <a:p>
            <a:pPr marL="616857" indent="-299357">
              <a:buSzPct val="95000"/>
              <a:buChar char="-"/>
            </a:pPr>
            <a:r>
              <a:rPr dirty="0"/>
              <a:t>Alice also deletes her send buffer.</a:t>
            </a:r>
          </a:p>
          <a:p>
            <a:pPr marL="616857" indent="-299357">
              <a:buSzPct val="95000"/>
              <a:buChar char="-"/>
            </a:pPr>
            <a:r>
              <a:rPr dirty="0"/>
              <a:t>When Bob’s process does not need to send any more data to Alice’s process, Bob sends a segment to Alice that carries the FIN flag.</a:t>
            </a:r>
          </a:p>
          <a:p>
            <a:pPr marL="616857" indent="-299357">
              <a:buSzPct val="95000"/>
              <a:buChar char="-"/>
            </a:pPr>
            <a:r>
              <a:rPr dirty="0"/>
              <a:t>When Alice receives it, she acknowledges it like any other segment, and deletes her receive buffer.</a:t>
            </a:r>
          </a:p>
          <a:p>
            <a:pPr marL="616857" indent="-299357">
              <a:buSzPct val="95000"/>
              <a:buChar char="-"/>
            </a:pPr>
            <a:r>
              <a:rPr dirty="0"/>
              <a:t>Bob also deletes his send buffer.</a:t>
            </a:r>
          </a:p>
          <a:p>
            <a:pPr marL="616857" indent="-299357">
              <a:buSzPct val="95000"/>
              <a:buChar char="-"/>
            </a:pPr>
            <a:r>
              <a:rPr dirty="0"/>
              <a:t>At this point, Alice and Bob can release all the resources that were dedicated to this connection, including the connection sockets, and we say that Alice and Bob have closed their TCP connection.</a:t>
            </a:r>
          </a:p>
          <a:p>
            <a:pPr marL="616857" indent="-299357">
              <a:buSzPct val="95000"/>
              <a:buChar char="-"/>
            </a:pPr>
            <a:r>
              <a:rPr dirty="0"/>
              <a:t>Beware, the listening socket is still there, because it is not bound to a particular TCP connection, it’s listening for new connection-setup requests.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Shape 389"/>
          <p:cNvSpPr>
            <a:spLocks noGrp="1" noRot="1" noChangeAspect="1"/>
          </p:cNvSpPr>
          <p:nvPr>
            <p:ph type="sldImg"/>
          </p:nvPr>
        </p:nvSpPr>
        <p:spPr>
          <a:prstGeom prst="rect">
            <a:avLst/>
          </a:prstGeom>
        </p:spPr>
        <p:txBody>
          <a:bodyPr/>
          <a:lstStyle/>
          <a:p>
            <a:endParaRPr/>
          </a:p>
        </p:txBody>
      </p:sp>
      <p:sp>
        <p:nvSpPr>
          <p:cNvPr id="390" name="Shape 390"/>
          <p:cNvSpPr>
            <a:spLocks noGrp="1"/>
          </p:cNvSpPr>
          <p:nvPr>
            <p:ph type="body" sz="quarter" idx="1"/>
          </p:nvPr>
        </p:nvSpPr>
        <p:spPr>
          <a:prstGeom prst="rect">
            <a:avLst/>
          </a:prstGeom>
        </p:spPr>
        <p:txBody>
          <a:bodyPr/>
          <a:lstStyle/>
          <a:p>
            <a:r>
              <a:rPr dirty="0"/>
              <a:t>So:</a:t>
            </a:r>
          </a:p>
          <a:p>
            <a:endParaRPr dirty="0"/>
          </a:p>
          <a:p>
            <a:r>
              <a:rPr dirty="0"/>
              <a:t>A TCP connection setup occurs though a 3-way handshake. We use the term “TCP client” to refer to the entity that initiates the handshake, and “TCP server” to the other entity.</a:t>
            </a:r>
          </a:p>
          <a:p>
            <a:endParaRPr dirty="0"/>
          </a:p>
          <a:p>
            <a:r>
              <a:rPr dirty="0"/>
              <a:t>The first 2 segments carry a SYN flag, which is a 1-bit field in the TCP header.</a:t>
            </a:r>
          </a:p>
          <a:p>
            <a:endParaRPr dirty="0"/>
          </a:p>
          <a:p>
            <a:r>
              <a:rPr dirty="0"/>
              <a:t>When we say that two end-systems have “established a TCP connection,” we mean that they have allocated all the resources, like sockets and buffers, that are necessary for their communication.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Shape 401"/>
          <p:cNvSpPr>
            <a:spLocks noGrp="1" noRot="1" noChangeAspect="1"/>
          </p:cNvSpPr>
          <p:nvPr>
            <p:ph type="sldImg"/>
          </p:nvPr>
        </p:nvSpPr>
        <p:spPr>
          <a:prstGeom prst="rect">
            <a:avLst/>
          </a:prstGeom>
        </p:spPr>
        <p:txBody>
          <a:bodyPr/>
          <a:lstStyle/>
          <a:p>
            <a:endParaRPr/>
          </a:p>
        </p:txBody>
      </p:sp>
      <p:sp>
        <p:nvSpPr>
          <p:cNvPr id="402" name="Shape 402"/>
          <p:cNvSpPr>
            <a:spLocks noGrp="1"/>
          </p:cNvSpPr>
          <p:nvPr>
            <p:ph type="body" sz="quarter" idx="1"/>
          </p:nvPr>
        </p:nvSpPr>
        <p:spPr>
          <a:prstGeom prst="rect">
            <a:avLst/>
          </a:prstGeom>
        </p:spPr>
        <p:txBody>
          <a:bodyPr/>
          <a:lstStyle/>
          <a:p>
            <a:r>
              <a:rPr b="1" dirty="0"/>
              <a:t>The goal of flow control was to protect the receiver from being overwhelmed</a:t>
            </a:r>
            <a:r>
              <a:rPr dirty="0"/>
              <a:t>; </a:t>
            </a:r>
            <a:r>
              <a:rPr b="1" dirty="0"/>
              <a:t>the goal of congestion control is to protect the network from being overwhelmed, from being congested</a:t>
            </a:r>
            <a:r>
              <a:rPr dirty="0"/>
              <a:t>.</a:t>
            </a:r>
          </a:p>
          <a:p>
            <a:endParaRPr dirty="0"/>
          </a:p>
          <a:p>
            <a:r>
              <a:rPr dirty="0"/>
              <a:t>To achieve this, the sender uses various techniques to estimate a “congestion window” = the max number of unacknowledged bytes it should send so as to avoid contributing to congestion.</a:t>
            </a:r>
          </a:p>
          <a:p>
            <a:endParaRPr dirty="0"/>
          </a:p>
          <a:p>
            <a:r>
              <a:rPr dirty="0"/>
              <a:t>-&gt; Why is congestion control more complicated than flow control? For flow control, the receiver tells the sender how many bytes the sender may send so as not to overwhelm the receiver. Why can’t we do congestion control in a similar way? Why can’t someone tell the sender how many bytes it may send so as not to overwhelm the network?</a:t>
            </a:r>
          </a:p>
          <a:p>
            <a:endParaRPr dirty="0"/>
          </a:p>
          <a:p>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Shape 465"/>
          <p:cNvSpPr>
            <a:spLocks noGrp="1" noRot="1" noChangeAspect="1"/>
          </p:cNvSpPr>
          <p:nvPr>
            <p:ph type="sldImg"/>
          </p:nvPr>
        </p:nvSpPr>
        <p:spPr>
          <a:prstGeom prst="rect">
            <a:avLst/>
          </a:prstGeom>
        </p:spPr>
        <p:txBody>
          <a:bodyPr/>
          <a:lstStyle/>
          <a:p>
            <a:endParaRPr/>
          </a:p>
        </p:txBody>
      </p:sp>
      <p:sp>
        <p:nvSpPr>
          <p:cNvPr id="466" name="Shape 466"/>
          <p:cNvSpPr>
            <a:spLocks noGrp="1"/>
          </p:cNvSpPr>
          <p:nvPr>
            <p:ph type="body" sz="quarter" idx="1"/>
          </p:nvPr>
        </p:nvSpPr>
        <p:spPr>
          <a:prstGeom prst="rect">
            <a:avLst/>
          </a:prstGeom>
        </p:spPr>
        <p:txBody>
          <a:bodyPr/>
          <a:lstStyle/>
          <a:p>
            <a:r>
              <a:rPr dirty="0"/>
              <a:t>Let’s see how TCP congestion control works.</a:t>
            </a:r>
          </a:p>
          <a:p>
            <a:endParaRPr dirty="0"/>
          </a:p>
          <a:p>
            <a:r>
              <a:rPr dirty="0"/>
              <a:t>First of all, what is the maximum congestion window size that makes sense?</a:t>
            </a:r>
          </a:p>
          <a:p>
            <a:endParaRPr dirty="0"/>
          </a:p>
          <a:p>
            <a:r>
              <a:rPr dirty="0"/>
              <a:t>You have already answered this:</a:t>
            </a:r>
          </a:p>
          <a:p>
            <a:endParaRPr dirty="0"/>
          </a:p>
          <a:p>
            <a:r>
              <a:rPr dirty="0"/>
              <a:t>Alice can keep sending unacknowledged bytes until she receives an ACK for the first segment she sent out.</a:t>
            </a:r>
          </a:p>
          <a:p>
            <a:r>
              <a:rPr dirty="0"/>
              <a:t>In this case, Alice transmits data at some rate R (which is her throughput to Bob) and for a period of RTT (the round-trip time to Bob).</a:t>
            </a:r>
          </a:p>
          <a:p>
            <a:r>
              <a:rPr dirty="0"/>
              <a:t>Hence, she transmits a total of R x RTT bits.</a:t>
            </a:r>
          </a:p>
          <a:p>
            <a:r>
              <a:rPr dirty="0"/>
              <a:t>This is called the bandwidth-delay product, and it is the maximum amount of traffic that Alice can transmit before receiving an ACK.</a:t>
            </a:r>
          </a:p>
          <a:p>
            <a:endParaRPr dirty="0"/>
          </a:p>
          <a:p>
            <a:r>
              <a:rPr dirty="0"/>
              <a:t>Increasing the sender window beyond this does not make any sense, because it will not increase Alice’s throughput to Bob.</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Shape 497"/>
          <p:cNvSpPr>
            <a:spLocks noGrp="1" noRot="1" noChangeAspect="1"/>
          </p:cNvSpPr>
          <p:nvPr>
            <p:ph type="sldImg"/>
          </p:nvPr>
        </p:nvSpPr>
        <p:spPr>
          <a:prstGeom prst="rect">
            <a:avLst/>
          </a:prstGeom>
        </p:spPr>
        <p:txBody>
          <a:bodyPr/>
          <a:lstStyle/>
          <a:p>
            <a:endParaRPr/>
          </a:p>
        </p:txBody>
      </p:sp>
      <p:sp>
        <p:nvSpPr>
          <p:cNvPr id="498" name="Shape 498"/>
          <p:cNvSpPr>
            <a:spLocks noGrp="1"/>
          </p:cNvSpPr>
          <p:nvPr>
            <p:ph type="body" sz="quarter" idx="1"/>
          </p:nvPr>
        </p:nvSpPr>
        <p:spPr>
          <a:prstGeom prst="rect">
            <a:avLst/>
          </a:prstGeom>
        </p:spPr>
        <p:txBody>
          <a:bodyPr/>
          <a:lstStyle/>
          <a:p>
            <a:r>
              <a:t>A TCP sender does not always use the maximum sender window size possible.</a:t>
            </a:r>
          </a:p>
          <a:p>
            <a:endParaRPr/>
          </a:p>
          <a:p>
            <a:r>
              <a:t>To avoid congestion, it makes sense to be conservative:</a:t>
            </a:r>
          </a:p>
          <a:p>
            <a:pPr marL="616857" indent="-299357">
              <a:buSzPct val="95000"/>
              <a:buChar char="-"/>
            </a:pPr>
            <a:r>
              <a:t>Alice starts out cautiously: she first sends out a single segment.</a:t>
            </a:r>
          </a:p>
          <a:p>
            <a:pPr marL="616857" indent="-299357">
              <a:buSzPct val="95000"/>
              <a:buChar char="-"/>
            </a:pPr>
            <a:r>
              <a:t>If she gets an ACK for the data she sent out, she becomes more optimistic and sends out more segments.</a:t>
            </a:r>
          </a:p>
          <a:p>
            <a:pPr marL="616857" indent="-299357">
              <a:buSzPct val="95000"/>
              <a:buChar char="-"/>
            </a:pPr>
            <a:r>
              <a:t>If she times out waiting for an ACK, she retransmits, but she also goes back to sending a single segment.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Shape 503"/>
          <p:cNvSpPr>
            <a:spLocks noGrp="1" noRot="1" noChangeAspect="1"/>
          </p:cNvSpPr>
          <p:nvPr>
            <p:ph type="sldImg"/>
          </p:nvPr>
        </p:nvSpPr>
        <p:spPr>
          <a:prstGeom prst="rect">
            <a:avLst/>
          </a:prstGeom>
        </p:spPr>
        <p:txBody>
          <a:bodyPr/>
          <a:lstStyle/>
          <a:p>
            <a:endParaRPr/>
          </a:p>
        </p:txBody>
      </p:sp>
      <p:sp>
        <p:nvSpPr>
          <p:cNvPr id="504" name="Shape 504"/>
          <p:cNvSpPr>
            <a:spLocks noGrp="1"/>
          </p:cNvSpPr>
          <p:nvPr>
            <p:ph type="body" sz="quarter" idx="1"/>
          </p:nvPr>
        </p:nvSpPr>
        <p:spPr>
          <a:prstGeom prst="rect">
            <a:avLst/>
          </a:prstGeom>
        </p:spPr>
        <p:txBody>
          <a:bodyPr/>
          <a:lstStyle/>
          <a:p>
            <a:r>
              <a:rPr dirty="0"/>
              <a:t>This behavior of TCP is called self-clocking.</a:t>
            </a:r>
          </a:p>
          <a:p>
            <a:r>
              <a:rPr dirty="0"/>
              <a:t>It refers to the fact that TCP, on the sender side, on its own determines the right congestion window based on the ACKs it gets from the receiver.</a:t>
            </a:r>
          </a:p>
          <a:p>
            <a:r>
              <a:rPr dirty="0"/>
              <a:t>Every time the sender gets an ACK, this indicates that there was no congestion,</a:t>
            </a:r>
          </a:p>
          <a:p>
            <a:r>
              <a:rPr dirty="0"/>
              <a:t>so it increases the window.</a:t>
            </a:r>
          </a:p>
          <a:p>
            <a:r>
              <a:rPr dirty="0"/>
              <a:t>Every time the sender does not get an ACK, this indicates that there was congestion, so it decreases the window.</a:t>
            </a:r>
          </a:p>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Shape 560"/>
          <p:cNvSpPr>
            <a:spLocks noGrp="1" noRot="1" noChangeAspect="1"/>
          </p:cNvSpPr>
          <p:nvPr>
            <p:ph type="sldImg"/>
          </p:nvPr>
        </p:nvSpPr>
        <p:spPr>
          <a:prstGeom prst="rect">
            <a:avLst/>
          </a:prstGeom>
        </p:spPr>
        <p:txBody>
          <a:bodyPr/>
          <a:lstStyle/>
          <a:p>
            <a:endParaRPr/>
          </a:p>
        </p:txBody>
      </p:sp>
      <p:sp>
        <p:nvSpPr>
          <p:cNvPr id="561" name="Shape 561"/>
          <p:cNvSpPr>
            <a:spLocks noGrp="1"/>
          </p:cNvSpPr>
          <p:nvPr>
            <p:ph type="body" sz="quarter" idx="1"/>
          </p:nvPr>
        </p:nvSpPr>
        <p:spPr>
          <a:prstGeom prst="rect">
            <a:avLst/>
          </a:prstGeom>
        </p:spPr>
        <p:txBody>
          <a:bodyPr/>
          <a:lstStyle/>
          <a:p>
            <a:r>
              <a:t>Alice has established a TCP connection to Bob and wants to send him data.</a:t>
            </a:r>
          </a:p>
          <a:p>
            <a:r>
              <a:t>The maximum segment size (MSS) of the network between them is 100 bytes.</a:t>
            </a:r>
          </a:p>
          <a:p>
            <a:endParaRPr/>
          </a:p>
          <a:p>
            <a:r>
              <a:t>Let’s first consider the case where there is no packet loss.</a:t>
            </a:r>
          </a:p>
          <a:p>
            <a:endParaRPr/>
          </a:p>
          <a:p>
            <a:r>
              <a:t>In this case:</a:t>
            </a:r>
          </a:p>
          <a:p>
            <a:endParaRPr/>
          </a:p>
          <a:p>
            <a:r>
              <a:t>Alice sets her congestion window to 1 MSS.</a:t>
            </a:r>
          </a:p>
          <a:p>
            <a:r>
              <a:t>So, she sends 1 segment carrying 100 bytes (SEQ 0).</a:t>
            </a:r>
          </a:p>
          <a:p>
            <a:endParaRPr/>
          </a:p>
          <a:p>
            <a:r>
              <a:t>When she receives ACK 100, </a:t>
            </a:r>
          </a:p>
          <a:p>
            <a:r>
              <a:t>which means that Bob received bytes 0-99,</a:t>
            </a:r>
          </a:p>
          <a:p>
            <a:r>
              <a:t>she increases her congestion window by 1 MSS, </a:t>
            </a:r>
          </a:p>
          <a:p>
            <a:r>
              <a:t>which means that she can now send up to 200 un-ACK-ed bytes.</a:t>
            </a:r>
          </a:p>
          <a:p>
            <a:endParaRPr/>
          </a:p>
          <a:p>
            <a:r>
              <a:t>When she receives ACK 200, </a:t>
            </a:r>
          </a:p>
          <a:p>
            <a:r>
              <a:t>which means that Bob received bytes 100-199,</a:t>
            </a:r>
          </a:p>
          <a:p>
            <a:r>
              <a:t>she again increases her congestion window by 1 MSS, </a:t>
            </a:r>
          </a:p>
          <a:p>
            <a:r>
              <a:t>which means that she can now send up to 300 un-ACK-ed bytes.</a:t>
            </a:r>
          </a:p>
          <a:p>
            <a:r>
              <a:t>She has already sent 100 un-ACK-ed bytes (SEQ 200),</a:t>
            </a:r>
          </a:p>
          <a:p>
            <a:r>
              <a:t>so she sends 200 more (SEQs 300 and 400).</a:t>
            </a:r>
          </a:p>
          <a:p>
            <a:endParaRPr/>
          </a:p>
          <a:p>
            <a:r>
              <a:t>When Alice receives ACK 300,</a:t>
            </a:r>
          </a:p>
          <a:p>
            <a:r>
              <a:t>which means that Bob received bytes 200-299,</a:t>
            </a:r>
          </a:p>
          <a:p>
            <a:r>
              <a:t>she again increases her congestion window by 1 MSS,</a:t>
            </a:r>
          </a:p>
          <a:p>
            <a:r>
              <a:t>which means that she can now send 400 un-ACK-ed bytes.</a:t>
            </a:r>
          </a:p>
          <a:p>
            <a:r>
              <a:t>She has already sent 200 un-ACK-ed bytes (SEQs 300 and 400),</a:t>
            </a:r>
          </a:p>
          <a:p>
            <a:r>
              <a:t>so she sends 200 more (SEQs 500 and 600).</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Shape 604"/>
          <p:cNvSpPr>
            <a:spLocks noGrp="1" noRot="1" noChangeAspect="1"/>
          </p:cNvSpPr>
          <p:nvPr>
            <p:ph type="sldImg"/>
          </p:nvPr>
        </p:nvSpPr>
        <p:spPr>
          <a:prstGeom prst="rect">
            <a:avLst/>
          </a:prstGeom>
        </p:spPr>
        <p:txBody>
          <a:bodyPr/>
          <a:lstStyle/>
          <a:p>
            <a:endParaRPr/>
          </a:p>
        </p:txBody>
      </p:sp>
      <p:sp>
        <p:nvSpPr>
          <p:cNvPr id="605" name="Shape 605"/>
          <p:cNvSpPr>
            <a:spLocks noGrp="1"/>
          </p:cNvSpPr>
          <p:nvPr>
            <p:ph type="body" sz="quarter" idx="1"/>
          </p:nvPr>
        </p:nvSpPr>
        <p:spPr>
          <a:prstGeom prst="rect">
            <a:avLst/>
          </a:prstGeom>
        </p:spPr>
        <p:txBody>
          <a:bodyPr/>
          <a:lstStyle/>
          <a:p>
            <a:r>
              <a:t>So: When the sender has no reason to expect congestion, it increases the congestion window size by 1MSS with every ACK-ed segment, and this results in doubling the congestion window every RTT.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Shape 598"/>
          <p:cNvSpPr>
            <a:spLocks noGrp="1" noRot="1" noChangeAspect="1"/>
          </p:cNvSpPr>
          <p:nvPr>
            <p:ph type="sldImg"/>
          </p:nvPr>
        </p:nvSpPr>
        <p:spPr>
          <a:prstGeom prst="rect">
            <a:avLst/>
          </a:prstGeom>
        </p:spPr>
        <p:txBody>
          <a:bodyPr/>
          <a:lstStyle/>
          <a:p>
            <a:endParaRPr/>
          </a:p>
        </p:txBody>
      </p:sp>
      <p:sp>
        <p:nvSpPr>
          <p:cNvPr id="599" name="Shape 599"/>
          <p:cNvSpPr>
            <a:spLocks noGrp="1"/>
          </p:cNvSpPr>
          <p:nvPr>
            <p:ph type="body" sz="quarter" idx="1"/>
          </p:nvPr>
        </p:nvSpPr>
        <p:spPr>
          <a:prstGeom prst="rect">
            <a:avLst/>
          </a:prstGeom>
        </p:spPr>
        <p:txBody>
          <a:bodyPr/>
          <a:lstStyle/>
          <a:p>
            <a:r>
              <a:t>I will squeeze things a bit to give you a better sense of how things happen over time.</a:t>
            </a:r>
          </a:p>
          <a:p>
            <a:endParaRPr/>
          </a:p>
          <a:p>
            <a:r>
              <a:t>In summary:</a:t>
            </a:r>
          </a:p>
          <a:p>
            <a:r>
              <a:t>- Alice starts out cautiously, by sending 1 segment.</a:t>
            </a:r>
          </a:p>
          <a:p>
            <a:r>
              <a:t>- Every time she receives a new ACK number, she increases her congestion window by 1 MSS.</a:t>
            </a:r>
          </a:p>
          <a:p>
            <a:endParaRPr/>
          </a:p>
          <a:p>
            <a:r>
              <a:t>As a result, Alice **doubles** the size of her congestion window every RTT: after 1 RTT the window size is 200 bytes; after 2RTTs, it is 400 bytes.</a:t>
            </a:r>
          </a:p>
          <a:p>
            <a:endParaRPr/>
          </a:p>
          <a:p>
            <a:r>
              <a:t>Differently said, Alice increases the size of her congestion window exponentially as a function of time.</a:t>
            </a:r>
          </a:p>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Shape 634"/>
          <p:cNvSpPr>
            <a:spLocks noGrp="1" noRot="1" noChangeAspect="1"/>
          </p:cNvSpPr>
          <p:nvPr>
            <p:ph type="sldImg"/>
          </p:nvPr>
        </p:nvSpPr>
        <p:spPr>
          <a:prstGeom prst="rect">
            <a:avLst/>
          </a:prstGeom>
        </p:spPr>
        <p:txBody>
          <a:bodyPr/>
          <a:lstStyle/>
          <a:p>
            <a:endParaRPr/>
          </a:p>
        </p:txBody>
      </p:sp>
      <p:sp>
        <p:nvSpPr>
          <p:cNvPr id="635" name="Shape 635"/>
          <p:cNvSpPr>
            <a:spLocks noGrp="1"/>
          </p:cNvSpPr>
          <p:nvPr>
            <p:ph type="body" sz="quarter" idx="1"/>
          </p:nvPr>
        </p:nvSpPr>
        <p:spPr>
          <a:prstGeom prst="rect">
            <a:avLst/>
          </a:prstGeom>
        </p:spPr>
        <p:txBody>
          <a:bodyPr/>
          <a:lstStyle/>
          <a:p>
            <a:r>
              <a:t>We are at the point where Alice has increased her congestion window to 400 bytes.</a:t>
            </a:r>
            <a:br/>
            <a:endParaRPr/>
          </a:p>
          <a:p>
            <a:r>
              <a:t>Alice sends 4 segments, carrying a total of 400 bytes.</a:t>
            </a:r>
          </a:p>
          <a:p>
            <a:r>
              <a:t>Suppose they are all lost.</a:t>
            </a:r>
          </a:p>
          <a:p>
            <a:endParaRPr/>
          </a:p>
          <a:p>
            <a:r>
              <a:t>In this case:</a:t>
            </a:r>
          </a:p>
          <a:p>
            <a:endParaRPr/>
          </a:p>
          <a:p>
            <a:r>
              <a:t>Alice times out waiting for a new ACK.</a:t>
            </a:r>
          </a:p>
          <a:p>
            <a:r>
              <a:t>She sets her “congestion threshold” (ssthresh) to half the current window size. </a:t>
            </a:r>
          </a:p>
          <a:p>
            <a:r>
              <a:t>She resets her congestion window to 1 MSS.</a:t>
            </a:r>
          </a:p>
          <a:p>
            <a:r>
              <a:t>And she starts from the beginning (see next slide)…</a:t>
            </a:r>
          </a:p>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Shape 682"/>
          <p:cNvSpPr>
            <a:spLocks noGrp="1" noRot="1" noChangeAspect="1"/>
          </p:cNvSpPr>
          <p:nvPr>
            <p:ph type="sldImg"/>
          </p:nvPr>
        </p:nvSpPr>
        <p:spPr>
          <a:prstGeom prst="rect">
            <a:avLst/>
          </a:prstGeom>
        </p:spPr>
        <p:txBody>
          <a:bodyPr/>
          <a:lstStyle/>
          <a:p>
            <a:endParaRPr/>
          </a:p>
        </p:txBody>
      </p:sp>
      <p:sp>
        <p:nvSpPr>
          <p:cNvPr id="683" name="Shape 683"/>
          <p:cNvSpPr>
            <a:spLocks noGrp="1"/>
          </p:cNvSpPr>
          <p:nvPr>
            <p:ph type="body" sz="quarter" idx="1"/>
          </p:nvPr>
        </p:nvSpPr>
        <p:spPr>
          <a:prstGeom prst="rect">
            <a:avLst/>
          </a:prstGeom>
        </p:spPr>
        <p:txBody>
          <a:bodyPr/>
          <a:lstStyle/>
          <a:p>
            <a:r>
              <a:rPr dirty="0"/>
              <a:t>Alice retransmits the oldest un-ACK-ed segment (SEQ 300).</a:t>
            </a:r>
          </a:p>
          <a:p>
            <a:endParaRPr dirty="0"/>
          </a:p>
          <a:p>
            <a:r>
              <a:rPr dirty="0"/>
              <a:t>When she receives ACK 400, she increases her congestion window by 1 MSS.</a:t>
            </a:r>
          </a:p>
          <a:p>
            <a:r>
              <a:rPr dirty="0"/>
              <a:t>So, she sends 200 bytes (SEQs 400 and 500).</a:t>
            </a:r>
          </a:p>
          <a:p>
            <a:endParaRPr dirty="0"/>
          </a:p>
          <a:p>
            <a:r>
              <a:rPr dirty="0"/>
              <a:t>When she receives ACK 500, </a:t>
            </a:r>
          </a:p>
          <a:p>
            <a:r>
              <a:rPr dirty="0"/>
              <a:t>according to what we have said so far,</a:t>
            </a:r>
            <a:br>
              <a:rPr dirty="0"/>
            </a:br>
            <a:r>
              <a:rPr dirty="0"/>
              <a:t>we would expect her to increase her congestion window by 1 MSS (i.e., to 300 bytes) and send 200 more bytes.</a:t>
            </a:r>
          </a:p>
          <a:p>
            <a:r>
              <a:rPr dirty="0"/>
              <a:t>But is this a good idea?</a:t>
            </a:r>
          </a:p>
          <a:p>
            <a:r>
              <a:rPr dirty="0"/>
              <a:t>No, because last time she increased her congestion window beyond 200 bytes, there was packet loss, and this is likely to happen again.</a:t>
            </a:r>
          </a:p>
          <a:p>
            <a:endParaRPr dirty="0"/>
          </a:p>
          <a:p>
            <a:r>
              <a:rPr dirty="0"/>
              <a:t>Instead, Alice becomes more cautious: </a:t>
            </a:r>
          </a:p>
          <a:p>
            <a:endParaRPr dirty="0"/>
          </a:p>
          <a:p>
            <a:r>
              <a:rPr dirty="0"/>
              <a:t>When she receives ACK 500, she increases her congestion window to only 250 bytes.</a:t>
            </a:r>
          </a:p>
          <a:p>
            <a:r>
              <a:rPr dirty="0"/>
              <a:t>She has already sent 100 un-ACK-ed bytes (SEQ 500),</a:t>
            </a:r>
            <a:br>
              <a:rPr dirty="0"/>
            </a:br>
            <a:r>
              <a:rPr dirty="0"/>
              <a:t>so she sends 150 more bytes (SEQs 600 and 700).</a:t>
            </a:r>
          </a:p>
          <a:p>
            <a:endParaRPr dirty="0"/>
          </a:p>
          <a:p>
            <a:r>
              <a:rPr dirty="0"/>
              <a:t>When she receives ACK 600, she increases her congestion window to only 290 bytes.</a:t>
            </a:r>
          </a:p>
          <a:p>
            <a:r>
              <a:rPr dirty="0"/>
              <a:t>She has already sent 150 un-ACK-ed bytes (SEQs 600 and 700),</a:t>
            </a:r>
            <a:br>
              <a:rPr dirty="0"/>
            </a:br>
            <a:r>
              <a:rPr dirty="0"/>
              <a:t>so she sends 140 more bytes (SEQs 750 and 850).</a:t>
            </a:r>
          </a:p>
          <a:p>
            <a:endParaRPr dirty="0"/>
          </a:p>
          <a:p>
            <a:r>
              <a:rPr dirty="0"/>
              <a:t>When she receives ACK 700, she increases her congestion window to 324 bytes. And so on.</a:t>
            </a:r>
          </a:p>
          <a:p>
            <a:endParaRPr dirty="0"/>
          </a:p>
          <a:p>
            <a:r>
              <a:rPr dirty="0"/>
              <a:t>You are wondering how exactly these congestion window sizes are chosen, and I will tell you precisely in a moment.</a:t>
            </a:r>
          </a:p>
          <a:p>
            <a:endParaRPr dirty="0"/>
          </a:p>
          <a:p>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 name="Shape 688"/>
          <p:cNvSpPr>
            <a:spLocks noGrp="1" noRot="1" noChangeAspect="1"/>
          </p:cNvSpPr>
          <p:nvPr>
            <p:ph type="sldImg"/>
          </p:nvPr>
        </p:nvSpPr>
        <p:spPr>
          <a:prstGeom prst="rect">
            <a:avLst/>
          </a:prstGeom>
        </p:spPr>
        <p:txBody>
          <a:bodyPr/>
          <a:lstStyle/>
          <a:p>
            <a:endParaRPr/>
          </a:p>
        </p:txBody>
      </p:sp>
      <p:sp>
        <p:nvSpPr>
          <p:cNvPr id="689" name="Shape 689"/>
          <p:cNvSpPr>
            <a:spLocks noGrp="1"/>
          </p:cNvSpPr>
          <p:nvPr>
            <p:ph type="body" sz="quarter" idx="1"/>
          </p:nvPr>
        </p:nvSpPr>
        <p:spPr>
          <a:prstGeom prst="rect">
            <a:avLst/>
          </a:prstGeom>
        </p:spPr>
        <p:txBody>
          <a:bodyPr/>
          <a:lstStyle/>
          <a:p>
            <a:r>
              <a:rPr dirty="0"/>
              <a:t>So:</a:t>
            </a:r>
          </a:p>
          <a:p>
            <a:endParaRPr dirty="0"/>
          </a:p>
          <a:p>
            <a:r>
              <a:rPr dirty="0"/>
              <a:t>TCP has 2 ways of increasing the congestion window:</a:t>
            </a:r>
          </a:p>
          <a:p>
            <a:endParaRPr dirty="0"/>
          </a:p>
          <a:p>
            <a:r>
              <a:rPr dirty="0"/>
              <a:t>- When TCP does not expect congestion, </a:t>
            </a:r>
          </a:p>
          <a:p>
            <a:r>
              <a:rPr dirty="0"/>
              <a:t>it increases the congestion window by 1 MSS every time a new ACK is received,</a:t>
            </a:r>
          </a:p>
          <a:p>
            <a:r>
              <a:rPr dirty="0"/>
              <a:t>which results in doubling the congestion window every RTT.</a:t>
            </a:r>
          </a:p>
          <a:p>
            <a:r>
              <a:rPr dirty="0"/>
              <a:t>We call this </a:t>
            </a:r>
            <a:r>
              <a:rPr b="1" dirty="0"/>
              <a:t>an exponential increase</a:t>
            </a:r>
            <a:r>
              <a:rPr dirty="0"/>
              <a:t>, because the congestion window increases exponentially over time.</a:t>
            </a:r>
          </a:p>
          <a:p>
            <a:endParaRPr dirty="0"/>
          </a:p>
          <a:p>
            <a:r>
              <a:rPr dirty="0"/>
              <a:t>- When TCP does expect congestion,</a:t>
            </a:r>
          </a:p>
          <a:p>
            <a:r>
              <a:rPr dirty="0"/>
              <a:t>it increases the congestion window by MSS*MSS/N, where N is the current congestion window size, every time a new ACK is received,</a:t>
            </a:r>
            <a:br>
              <a:rPr dirty="0"/>
            </a:br>
            <a:r>
              <a:rPr dirty="0"/>
              <a:t>which results in increasing the congestion window by roughly 1 MSS every RTT.</a:t>
            </a:r>
          </a:p>
          <a:p>
            <a:r>
              <a:rPr dirty="0"/>
              <a:t>We call this </a:t>
            </a:r>
            <a:r>
              <a:rPr b="1" dirty="0"/>
              <a:t>a linear increase</a:t>
            </a:r>
            <a:r>
              <a:rPr dirty="0"/>
              <a:t>, because the congestion window increases linearly over time.</a:t>
            </a:r>
          </a:p>
          <a:p>
            <a:endParaRPr dirty="0"/>
          </a:p>
          <a:p>
            <a:r>
              <a:rPr dirty="0"/>
              <a:t>-&gt; </a:t>
            </a:r>
            <a:r>
              <a:rPr b="1" dirty="0"/>
              <a:t>Where does this weird formula, MSS*MSS/N, come from</a:t>
            </a:r>
            <a:r>
              <a:rPr dirty="0"/>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Shape 738"/>
          <p:cNvSpPr>
            <a:spLocks noGrp="1" noRot="1" noChangeAspect="1"/>
          </p:cNvSpPr>
          <p:nvPr>
            <p:ph type="sldImg"/>
          </p:nvPr>
        </p:nvSpPr>
        <p:spPr>
          <a:prstGeom prst="rect">
            <a:avLst/>
          </a:prstGeom>
        </p:spPr>
        <p:txBody>
          <a:bodyPr/>
          <a:lstStyle/>
          <a:p>
            <a:endParaRPr/>
          </a:p>
        </p:txBody>
      </p:sp>
      <p:sp>
        <p:nvSpPr>
          <p:cNvPr id="739" name="Shape 739"/>
          <p:cNvSpPr>
            <a:spLocks noGrp="1"/>
          </p:cNvSpPr>
          <p:nvPr>
            <p:ph type="body" sz="quarter" idx="1"/>
          </p:nvPr>
        </p:nvSpPr>
        <p:spPr>
          <a:prstGeom prst="rect">
            <a:avLst/>
          </a:prstGeom>
        </p:spPr>
        <p:txBody>
          <a:bodyPr/>
          <a:lstStyle/>
          <a:p>
            <a:r>
              <a:t>Let’s see this from the beginning:</a:t>
            </a:r>
          </a:p>
          <a:p>
            <a:endParaRPr/>
          </a:p>
          <a:p>
            <a:r>
              <a:t>Alice starts out cautiously, setting her congestion window to 1 MSS = 100 bytes.</a:t>
            </a:r>
          </a:p>
          <a:p>
            <a:r>
              <a:t>Every time she receives a new ACK, she increases her congestion window by 1 MSS = 100 bytes;</a:t>
            </a:r>
          </a:p>
          <a:p>
            <a:r>
              <a:t>as a result she doubles her congestion window every RTT.</a:t>
            </a:r>
          </a:p>
          <a:p>
            <a:endParaRPr/>
          </a:p>
          <a:p>
            <a:r>
              <a:t>If a timeout occurs, Alice sets the congestion threshold to  half her current congestion window (200 bytes, in our example),</a:t>
            </a:r>
            <a:br/>
            <a:r>
              <a:t>resets her congestion window to 1 MSS, and starts from the beginning…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Shape 786"/>
          <p:cNvSpPr>
            <a:spLocks noGrp="1" noRot="1" noChangeAspect="1"/>
          </p:cNvSpPr>
          <p:nvPr>
            <p:ph type="sldImg"/>
          </p:nvPr>
        </p:nvSpPr>
        <p:spPr>
          <a:prstGeom prst="rect">
            <a:avLst/>
          </a:prstGeom>
        </p:spPr>
        <p:txBody>
          <a:bodyPr/>
          <a:lstStyle/>
          <a:p>
            <a:endParaRPr/>
          </a:p>
        </p:txBody>
      </p:sp>
      <p:sp>
        <p:nvSpPr>
          <p:cNvPr id="787" name="Shape 787"/>
          <p:cNvSpPr>
            <a:spLocks noGrp="1"/>
          </p:cNvSpPr>
          <p:nvPr>
            <p:ph type="body" sz="quarter" idx="1"/>
          </p:nvPr>
        </p:nvSpPr>
        <p:spPr>
          <a:prstGeom prst="rect">
            <a:avLst/>
          </a:prstGeom>
        </p:spPr>
        <p:txBody>
          <a:bodyPr/>
          <a:lstStyle/>
          <a:p>
            <a:r>
              <a:t>At first, Alice increases her congestion window “optimistically,” i.e., by 1 MSS with every new ACK.</a:t>
            </a:r>
          </a:p>
          <a:p>
            <a:r>
              <a:t>However, when her congestion window reaches ssthresh, she becomes more cautious: she increases her congestion window “conservatively,” </a:t>
            </a:r>
            <a:br/>
            <a:r>
              <a:t>such that it increases by roughly 1 MSS every RTT.</a:t>
            </a:r>
          </a:p>
          <a:p>
            <a:endParaRPr/>
          </a:p>
          <a:p>
            <a:r>
              <a:t>In this way, Alice quickly finds out what are her limits,</a:t>
            </a:r>
          </a:p>
          <a:p>
            <a:r>
              <a:t>what is the max rate at which she can send traffic without suffering any packet loss.</a:t>
            </a:r>
          </a:p>
          <a:p>
            <a:r>
              <a:t>Whenever she approaches that rate, she becomes more careful in increasing her congestion window.</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Shape 792"/>
          <p:cNvSpPr>
            <a:spLocks noGrp="1" noRot="1" noChangeAspect="1"/>
          </p:cNvSpPr>
          <p:nvPr>
            <p:ph type="sldImg"/>
          </p:nvPr>
        </p:nvSpPr>
        <p:spPr>
          <a:prstGeom prst="rect">
            <a:avLst/>
          </a:prstGeom>
        </p:spPr>
        <p:txBody>
          <a:bodyPr/>
          <a:lstStyle/>
          <a:p>
            <a:endParaRPr/>
          </a:p>
        </p:txBody>
      </p:sp>
      <p:sp>
        <p:nvSpPr>
          <p:cNvPr id="793" name="Shape 793"/>
          <p:cNvSpPr>
            <a:spLocks noGrp="1"/>
          </p:cNvSpPr>
          <p:nvPr>
            <p:ph type="body" sz="quarter" idx="1"/>
          </p:nvPr>
        </p:nvSpPr>
        <p:spPr>
          <a:prstGeom prst="rect">
            <a:avLst/>
          </a:prstGeom>
        </p:spPr>
        <p:txBody>
          <a:bodyPr/>
          <a:lstStyle/>
          <a:p>
            <a:r>
              <a:t>This is the basic idea behind the TCP “Tahoe” congestion-control algorithm…</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 name="Shape 848"/>
          <p:cNvSpPr>
            <a:spLocks noGrp="1" noRot="1" noChangeAspect="1"/>
          </p:cNvSpPr>
          <p:nvPr>
            <p:ph type="sldImg"/>
          </p:nvPr>
        </p:nvSpPr>
        <p:spPr>
          <a:prstGeom prst="rect">
            <a:avLst/>
          </a:prstGeom>
        </p:spPr>
        <p:txBody>
          <a:bodyPr/>
          <a:lstStyle/>
          <a:p>
            <a:endParaRPr/>
          </a:p>
        </p:txBody>
      </p:sp>
      <p:sp>
        <p:nvSpPr>
          <p:cNvPr id="849" name="Shape 849"/>
          <p:cNvSpPr>
            <a:spLocks noGrp="1"/>
          </p:cNvSpPr>
          <p:nvPr>
            <p:ph type="body" sz="quarter" idx="1"/>
          </p:nvPr>
        </p:nvSpPr>
        <p:spPr>
          <a:prstGeom prst="rect">
            <a:avLst/>
          </a:prstGeom>
        </p:spPr>
        <p:txBody>
          <a:bodyPr/>
          <a:lstStyle/>
          <a:p>
            <a:r>
              <a:t>We are back at the point where Alice has increased her congestion window to 400 bytes. </a:t>
            </a:r>
          </a:p>
          <a:p>
            <a:endParaRPr/>
          </a:p>
          <a:p>
            <a:r>
              <a:t>Alice sends 4 segments, carrying a total of 400 bytes.</a:t>
            </a:r>
          </a:p>
          <a:p>
            <a:r>
              <a:t>Suppose the first one gets lost.</a:t>
            </a:r>
          </a:p>
          <a:p>
            <a:endParaRPr/>
          </a:p>
          <a:p>
            <a:r>
              <a:t>In this case:</a:t>
            </a:r>
          </a:p>
          <a:p>
            <a:endParaRPr/>
          </a:p>
          <a:p>
            <a:r>
              <a:t>Alice receives 3 duplicate ACKs (3x ACK 300).</a:t>
            </a:r>
          </a:p>
          <a:p>
            <a:r>
              <a:t>This makes her suspect that the segment with SEQ 300 was lost, </a:t>
            </a:r>
            <a:br/>
            <a:r>
              <a:t>while the next 3 segments were received </a:t>
            </a:r>
            <a:br/>
            <a:r>
              <a:t>(it’s a very good explanation of why Bob would sent 3x ACK 300).</a:t>
            </a:r>
          </a:p>
          <a:p>
            <a:endParaRPr/>
          </a:p>
          <a:p>
            <a:r>
              <a:t>Given this suspicion, Alice does a “fast retransmit”: she retransmits the segment she suspects lost (SEQ 300) **without waiting for a timeout**.</a:t>
            </a:r>
          </a:p>
          <a:p>
            <a:endParaRPr/>
          </a:p>
          <a:p>
            <a:r>
              <a:t>Moreover, she sets ssthresh to half her congestion window</a:t>
            </a:r>
          </a:p>
          <a:p>
            <a:r>
              <a:t>and reduces her congestion window.</a:t>
            </a:r>
          </a:p>
          <a:p>
            <a:r>
              <a:t>However, she does not reset it to 1 MSS </a:t>
            </a:r>
            <a:br/>
            <a:r>
              <a:t>(this would be an overreaction, given that only 1 segment was lost).</a:t>
            </a:r>
          </a:p>
          <a:p>
            <a:r>
              <a:t>Instead, she wants to set it to her congestion threshold (which is 200 bytes, in our example), since this was the last congestion window for which Alice did not experience any packet loss.</a:t>
            </a:r>
          </a:p>
          <a:p>
            <a:endParaRPr/>
          </a:p>
          <a:p>
            <a:r>
              <a:t>However, there is a problem: </a:t>
            </a:r>
          </a:p>
          <a:p>
            <a:endParaRPr/>
          </a:p>
          <a:p>
            <a:r>
              <a:t>Imagine, for a moment, that Alice sets her congestion window to 200 bytes,</a:t>
            </a:r>
          </a:p>
          <a:p>
            <a:r>
              <a:t>which means that she can send 200 un-ACK-ed bytes.</a:t>
            </a:r>
          </a:p>
          <a:p>
            <a:r>
              <a:t>She has already sent 400 un-ACK-ed bytes (SEQs 300 — 600).</a:t>
            </a:r>
          </a:p>
          <a:p>
            <a:r>
              <a:t>Hence, she has already exceeded her congestion window,</a:t>
            </a:r>
          </a:p>
          <a:p>
            <a:r>
              <a:t>which means that she can send 0 bytes.</a:t>
            </a:r>
          </a:p>
          <a:p>
            <a:endParaRPr/>
          </a:p>
          <a:p>
            <a:r>
              <a:t>The problem is the following:</a:t>
            </a:r>
          </a:p>
          <a:p>
            <a:pPr marL="616857" indent="-299357">
              <a:buSzPct val="95000"/>
              <a:buChar char="-"/>
            </a:pPr>
            <a:r>
              <a:t>The segments with SEQs 400, 500, and 600 are officially un-ACK-ed.</a:t>
            </a:r>
          </a:p>
          <a:p>
            <a:pPr marL="616857" indent="-299357">
              <a:buSzPct val="95000"/>
              <a:buChar char="-"/>
            </a:pPr>
            <a:r>
              <a:t>However, Alice believes that Bob received them because of his 3 duplicate ACKs. So, Alice does not want to treat these segments as un-ACK-ed.</a:t>
            </a:r>
          </a:p>
          <a:p>
            <a:endParaRPr/>
          </a:p>
          <a:p>
            <a:r>
              <a:t>The solution to this problem is for Alice to “inflate” her congestion window by 3 MSS’s (which is 300 bytes, in our example).</a:t>
            </a:r>
          </a:p>
          <a:p>
            <a:r>
              <a:t>So, Alice sets her congestion window to 500 bytes,</a:t>
            </a:r>
          </a:p>
          <a:p>
            <a:r>
              <a:t>which means that she can now send 500 un-ACK-ed bytes.</a:t>
            </a:r>
          </a:p>
          <a:p>
            <a:r>
              <a:t>She has already sent 400 un-ACK-ed bytes (SEQs 300 — 600),</a:t>
            </a:r>
            <a:br/>
            <a:r>
              <a:t>so she can send 100 more bytes (SEQ 700).</a:t>
            </a:r>
          </a:p>
          <a:p>
            <a:endParaRPr/>
          </a:p>
          <a:p>
            <a:r>
              <a:t>Then, Alice enters a “fast recovery” phase:</a:t>
            </a:r>
          </a:p>
          <a:p>
            <a:endParaRPr/>
          </a:p>
          <a:p>
            <a:r>
              <a:t>Every time she receives a new duplicate ACK (another ACK 300),</a:t>
            </a:r>
            <a:br/>
            <a:r>
              <a:t>she increases her congestion window by 1 MSS.</a:t>
            </a:r>
          </a:p>
          <a:p>
            <a:endParaRPr/>
          </a:p>
          <a:p>
            <a:r>
              <a:t>The moment she receives a new ACK (ACK 700, in our example),</a:t>
            </a:r>
            <a:br/>
            <a:r>
              <a:t>she concludes that Bob finally received the lost segment,</a:t>
            </a:r>
          </a:p>
          <a:p>
            <a:r>
              <a:t>she exits fast recovery,</a:t>
            </a:r>
            <a:br/>
            <a:r>
              <a:t>she sets her window to her congestion threshold (200 bytes, in our example),</a:t>
            </a:r>
            <a:br/>
            <a:r>
              <a:t>and (since her congestion window is now equal to her congestion threshold)</a:t>
            </a:r>
            <a:br/>
            <a:r>
              <a:t>she transitions to linear increase.</a:t>
            </a:r>
            <a:br/>
            <a:endParaRPr/>
          </a:p>
          <a:p>
            <a:endParaRPr/>
          </a:p>
          <a:p>
            <a:endParaRPr/>
          </a:p>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Shape 854"/>
          <p:cNvSpPr>
            <a:spLocks noGrp="1" noRot="1" noChangeAspect="1"/>
          </p:cNvSpPr>
          <p:nvPr>
            <p:ph type="sldImg"/>
          </p:nvPr>
        </p:nvSpPr>
        <p:spPr>
          <a:prstGeom prst="rect">
            <a:avLst/>
          </a:prstGeom>
        </p:spPr>
        <p:txBody>
          <a:bodyPr/>
          <a:lstStyle/>
          <a:p>
            <a:endParaRPr/>
          </a:p>
        </p:txBody>
      </p:sp>
      <p:sp>
        <p:nvSpPr>
          <p:cNvPr id="855" name="Shape 855"/>
          <p:cNvSpPr>
            <a:spLocks noGrp="1"/>
          </p:cNvSpPr>
          <p:nvPr>
            <p:ph type="body" sz="quarter" idx="1"/>
          </p:nvPr>
        </p:nvSpPr>
        <p:spPr>
          <a:prstGeom prst="rect">
            <a:avLst/>
          </a:prstGeom>
        </p:spPr>
        <p:txBody>
          <a:bodyPr/>
          <a:lstStyle/>
          <a:p>
            <a:r>
              <a:t>This is the basic idea behind the TCP “Reno” congestion-control algorithm, which is more recent than Tahoe, and which is essentially Tahoe + the fast retransmit mechanism and the fast recovery phase.</a:t>
            </a:r>
          </a:p>
          <a:p>
            <a:endParaRPr/>
          </a:p>
          <a:p>
            <a:r>
              <a:t>This is not the latest TCP congestion-control algorithm. There is at least New Reno and Cubic, which are used by state-of-the-art operating systems. We will not examine them in this course, but you know everything you need to to explore them on your own.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 name="Shape 882"/>
          <p:cNvSpPr>
            <a:spLocks noGrp="1" noRot="1" noChangeAspect="1"/>
          </p:cNvSpPr>
          <p:nvPr>
            <p:ph type="sldImg"/>
          </p:nvPr>
        </p:nvSpPr>
        <p:spPr>
          <a:prstGeom prst="rect">
            <a:avLst/>
          </a:prstGeom>
        </p:spPr>
        <p:txBody>
          <a:bodyPr/>
          <a:lstStyle/>
          <a:p>
            <a:endParaRPr/>
          </a:p>
        </p:txBody>
      </p:sp>
      <p:sp>
        <p:nvSpPr>
          <p:cNvPr id="883" name="Shape 883"/>
          <p:cNvSpPr>
            <a:spLocks noGrp="1"/>
          </p:cNvSpPr>
          <p:nvPr>
            <p:ph type="body" sz="quarter" idx="1"/>
          </p:nvPr>
        </p:nvSpPr>
        <p:spPr>
          <a:prstGeom prst="rect">
            <a:avLst/>
          </a:prstGeom>
        </p:spPr>
        <p:txBody>
          <a:bodyPr/>
          <a:lstStyle/>
          <a:p>
            <a:r>
              <a:t>The Tahoe state machine.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 name="Shape 934"/>
          <p:cNvSpPr>
            <a:spLocks noGrp="1" noRot="1" noChangeAspect="1"/>
          </p:cNvSpPr>
          <p:nvPr>
            <p:ph type="sldImg"/>
          </p:nvPr>
        </p:nvSpPr>
        <p:spPr>
          <a:prstGeom prst="rect">
            <a:avLst/>
          </a:prstGeom>
        </p:spPr>
        <p:txBody>
          <a:bodyPr/>
          <a:lstStyle/>
          <a:p>
            <a:endParaRPr/>
          </a:p>
        </p:txBody>
      </p:sp>
      <p:sp>
        <p:nvSpPr>
          <p:cNvPr id="935" name="Shape 935"/>
          <p:cNvSpPr>
            <a:spLocks noGrp="1"/>
          </p:cNvSpPr>
          <p:nvPr>
            <p:ph type="body" sz="quarter" idx="1"/>
          </p:nvPr>
        </p:nvSpPr>
        <p:spPr>
          <a:prstGeom prst="rect">
            <a:avLst/>
          </a:prstGeom>
        </p:spPr>
        <p:txBody>
          <a:bodyPr/>
          <a:lstStyle/>
          <a:p>
            <a:r>
              <a:t>The Reno state machine.</a:t>
            </a:r>
          </a:p>
          <a:p>
            <a:endParaRPr/>
          </a:p>
          <a:p>
            <a:r>
              <a:t>Clarification: When TCP is on the fast recovery state and there is a timeout, it sets ssthresh to window/2, the window to MSS, and retransmits, before transitioning to exponential increase. But I did not have room to show all this.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 name="Shape 940"/>
          <p:cNvSpPr>
            <a:spLocks noGrp="1" noRot="1" noChangeAspect="1"/>
          </p:cNvSpPr>
          <p:nvPr>
            <p:ph type="sldImg"/>
          </p:nvPr>
        </p:nvSpPr>
        <p:spPr>
          <a:prstGeom prst="rect">
            <a:avLst/>
          </a:prstGeom>
        </p:spPr>
        <p:txBody>
          <a:bodyPr/>
          <a:lstStyle/>
          <a:p>
            <a:endParaRPr/>
          </a:p>
        </p:txBody>
      </p:sp>
      <p:sp>
        <p:nvSpPr>
          <p:cNvPr id="941" name="Shape 941"/>
          <p:cNvSpPr>
            <a:spLocks noGrp="1"/>
          </p:cNvSpPr>
          <p:nvPr>
            <p:ph type="body" sz="quarter" idx="1"/>
          </p:nvPr>
        </p:nvSpPr>
        <p:spPr>
          <a:prstGeom prst="rect">
            <a:avLst/>
          </a:prstGeom>
        </p:spPr>
        <p:txBody>
          <a:bodyPr/>
          <a:lstStyle/>
          <a:p>
            <a:r>
              <a:t>A word of caution about TCP terminology: …</a:t>
            </a:r>
          </a:p>
          <a:p>
            <a:endParaRPr/>
          </a:p>
          <a:p>
            <a:r>
              <a:t>In summary, TCP congestion control acts like a child who wants chocolate: it starts by asking for a little bit, then increasingly asks for more, until it approaches the limit where her parents previously refused to give her more; as she approaches the limit more and more she asks more and more cautiously, to see if she could maybe exceed the limit this time.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 name="Shape 1183"/>
          <p:cNvSpPr>
            <a:spLocks noGrp="1" noRot="1" noChangeAspect="1"/>
          </p:cNvSpPr>
          <p:nvPr>
            <p:ph type="sldImg"/>
          </p:nvPr>
        </p:nvSpPr>
        <p:spPr>
          <a:prstGeom prst="rect">
            <a:avLst/>
          </a:prstGeom>
        </p:spPr>
        <p:txBody>
          <a:bodyPr/>
          <a:lstStyle/>
          <a:p>
            <a:endParaRPr/>
          </a:p>
        </p:txBody>
      </p:sp>
      <p:sp>
        <p:nvSpPr>
          <p:cNvPr id="1184" name="Shape 1184"/>
          <p:cNvSpPr>
            <a:spLocks noGrp="1"/>
          </p:cNvSpPr>
          <p:nvPr>
            <p:ph type="body" sz="quarter" idx="1"/>
          </p:nvPr>
        </p:nvSpPr>
        <p:spPr>
          <a:prstGeom prst="rect">
            <a:avLst/>
          </a:prstGeom>
        </p:spPr>
        <p:txBody>
          <a:bodyPr/>
          <a:lstStyle/>
          <a:p>
            <a:r>
              <a:t>The goal of flow control is to protect a receiver from being overwhelmed by a sender. </a:t>
            </a:r>
          </a:p>
          <a:p>
            <a:endParaRPr/>
          </a:p>
          <a:p>
            <a:r>
              <a:t>To achieve it, the receiver communicates to the sender up to how many bytes the sender can send to it. This number is equal to the free space in the receiver’s receive buffer (allocated for this particular connection).</a:t>
            </a:r>
          </a:p>
          <a:p>
            <a:endParaRPr/>
          </a:p>
          <a:p>
            <a:r>
              <a:t>This information is stored in a TCP header field called “receiver window”.</a:t>
            </a:r>
          </a:p>
          <a:p>
            <a:endParaRPr/>
          </a:p>
          <a:p>
            <a:r>
              <a:t>In this example, Bob has 100 bytes left in his receive buffer, so he tells Alice that she can send him up to 100 bytes.</a:t>
            </a:r>
          </a:p>
          <a:p>
            <a:endParaRPr/>
          </a:p>
          <a:p>
            <a:r>
              <a:t>It is possible that the receiver window “closes”, which means that the receiver tells the sender that it cannot send any more bytes (for the moment). If this happens, the sender needs to periodically probe the receiver, i.e., send a segment that carries no data or new ACK, just to elicit another segment in response, such that the receiver can communicate the new receiver-window value.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20" name="Computer Networks"/>
          <p:cNvSpPr/>
          <p:nvPr/>
        </p:nvSpPr>
        <p:spPr>
          <a:xfrm>
            <a:off x="787400" y="8983755"/>
            <a:ext cx="2166690" cy="358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1800">
                <a:solidFill>
                  <a:srgbClr val="919191"/>
                </a:solidFill>
                <a:latin typeface="Times New Roman"/>
                <a:ea typeface="Times New Roman"/>
                <a:cs typeface="Times New Roman"/>
                <a:sym typeface="Times New Roman"/>
              </a:defRPr>
            </a:lvl1pPr>
          </a:lstStyle>
          <a:p>
            <a:r>
              <a:t>Computer Networks</a:t>
            </a:r>
          </a:p>
        </p:txBody>
      </p:sp>
      <p:sp>
        <p:nvSpPr>
          <p:cNvPr id="21" name="Title Text"/>
          <p:cNvSpPr txBox="1">
            <a:spLocks noGrp="1"/>
          </p:cNvSpPr>
          <p:nvPr>
            <p:ph type="title"/>
          </p:nvPr>
        </p:nvSpPr>
        <p:spPr>
          <a:xfrm>
            <a:off x="1270000" y="254000"/>
            <a:ext cx="10464800" cy="2438400"/>
          </a:xfrm>
          <a:prstGeom prst="rect">
            <a:avLst/>
          </a:prstGeom>
        </p:spPr>
        <p:txBody>
          <a:bodyPr anchor="ctr"/>
          <a:lstStyle>
            <a:lvl1pPr>
              <a:defRPr sz="6400">
                <a:latin typeface="Times New Roman"/>
                <a:ea typeface="Times New Roman"/>
                <a:cs typeface="Times New Roman"/>
                <a:sym typeface="Times New Roman"/>
              </a:defRPr>
            </a:lvl1pPr>
          </a:lstStyle>
          <a:p>
            <a:r>
              <a:t>Title Text</a:t>
            </a:r>
          </a:p>
        </p:txBody>
      </p:sp>
      <p:sp>
        <p:nvSpPr>
          <p:cNvPr id="22" name="Body Level One…"/>
          <p:cNvSpPr txBox="1">
            <a:spLocks noGrp="1"/>
          </p:cNvSpPr>
          <p:nvPr>
            <p:ph type="body" idx="1"/>
          </p:nvPr>
        </p:nvSpPr>
        <p:spPr>
          <a:xfrm>
            <a:off x="1244600" y="2768600"/>
            <a:ext cx="10464800" cy="5715000"/>
          </a:xfrm>
          <a:prstGeom prst="rect">
            <a:avLst/>
          </a:prstGeom>
        </p:spPr>
        <p:txBody>
          <a:bodyPr anchor="ctr"/>
          <a:lstStyle>
            <a:lvl1pPr marL="889000" indent="-571500" algn="l">
              <a:spcBef>
                <a:spcPts val="4000"/>
              </a:spcBef>
              <a:buClr>
                <a:srgbClr val="008F00"/>
              </a:buClr>
              <a:buSzPct val="95000"/>
              <a:buChar char="•"/>
              <a:defRPr sz="4200"/>
            </a:lvl1pPr>
            <a:lvl2pPr marL="1333500" indent="-571500" algn="l">
              <a:spcBef>
                <a:spcPts val="2400"/>
              </a:spcBef>
              <a:buClr>
                <a:srgbClr val="008F00"/>
              </a:buClr>
              <a:buSzPct val="95000"/>
              <a:buChar char="•"/>
            </a:lvl2pPr>
            <a:lvl3pPr marL="1778000" indent="-571500" algn="l">
              <a:spcBef>
                <a:spcPts val="2400"/>
              </a:spcBef>
              <a:buClr>
                <a:srgbClr val="008F00"/>
              </a:buClr>
              <a:buSzPct val="95000"/>
              <a:buChar char="•"/>
              <a:defRPr i="1">
                <a:solidFill>
                  <a:srgbClr val="424242"/>
                </a:solidFill>
              </a:defRPr>
            </a:lvl3pPr>
            <a:lvl4pPr marL="2222500" indent="-571500" algn="l">
              <a:spcBef>
                <a:spcPts val="2400"/>
              </a:spcBef>
              <a:buClr>
                <a:srgbClr val="008F00"/>
              </a:buClr>
              <a:buSzPct val="95000"/>
              <a:buChar char="•"/>
              <a:defRPr i="1">
                <a:solidFill>
                  <a:srgbClr val="424242"/>
                </a:solidFill>
              </a:defRPr>
            </a:lvl4pPr>
            <a:lvl5pPr marL="2667000" indent="-571500" algn="l">
              <a:spcBef>
                <a:spcPts val="2400"/>
              </a:spcBef>
              <a:buClr>
                <a:srgbClr val="008F00"/>
              </a:buClr>
              <a:buSzPct val="95000"/>
              <a:buChar char="•"/>
              <a:defRPr i="1">
                <a:solidFill>
                  <a:srgbClr val="424242"/>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11874499" y="9001311"/>
            <a:ext cx="342901" cy="358590"/>
          </a:xfrm>
          <a:prstGeom prst="rect">
            <a:avLst/>
          </a:prstGeom>
        </p:spPr>
        <p:txBody>
          <a:bodyPr/>
          <a:lstStyle>
            <a:lvl1pPr>
              <a:defRPr>
                <a:solidFill>
                  <a:srgbClr val="929292"/>
                </a:solidFill>
                <a:latin typeface="Times New Roman"/>
                <a:ea typeface="Times New Roman"/>
                <a:cs typeface="Times New Roman"/>
                <a:sym typeface="Times New Roman"/>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Empty">
    <p:spTree>
      <p:nvGrpSpPr>
        <p:cNvPr id="1" name=""/>
        <p:cNvGrpSpPr/>
        <p:nvPr/>
      </p:nvGrpSpPr>
      <p:grpSpPr>
        <a:xfrm>
          <a:off x="0" y="0"/>
          <a:ext cx="0" cy="0"/>
          <a:chOff x="0" y="0"/>
          <a:chExt cx="0" cy="0"/>
        </a:xfrm>
      </p:grpSpPr>
      <p:sp>
        <p:nvSpPr>
          <p:cNvPr id="30" name="Slide Number"/>
          <p:cNvSpPr txBox="1">
            <a:spLocks noGrp="1"/>
          </p:cNvSpPr>
          <p:nvPr>
            <p:ph type="sldNum" sz="quarter" idx="2"/>
          </p:nvPr>
        </p:nvSpPr>
        <p:spPr>
          <a:xfrm>
            <a:off x="11658599" y="9009155"/>
            <a:ext cx="342901" cy="358590"/>
          </a:xfrm>
          <a:prstGeom prst="rect">
            <a:avLst/>
          </a:prstGeom>
        </p:spPr>
        <p:txBody>
          <a:bodyPr/>
          <a:lstStyle>
            <a:lvl1pPr>
              <a:defRPr>
                <a:solidFill>
                  <a:srgbClr val="A9A9A9"/>
                </a:solidFill>
                <a:latin typeface="Times New Roman"/>
                <a:ea typeface="Times New Roman"/>
                <a:cs typeface="Times New Roman"/>
                <a:sym typeface="Times New Roman"/>
              </a:defRPr>
            </a:lvl1pPr>
          </a:lstStyle>
          <a:p>
            <a:fld id="{86CB4B4D-7CA3-9044-876B-883B54F8677D}" type="slidenum">
              <a:t>‹#›</a:t>
            </a:fld>
            <a:endParaRPr/>
          </a:p>
        </p:txBody>
      </p:sp>
      <p:sp>
        <p:nvSpPr>
          <p:cNvPr id="31" name="Computer Networks"/>
          <p:cNvSpPr/>
          <p:nvPr/>
        </p:nvSpPr>
        <p:spPr>
          <a:xfrm>
            <a:off x="812800" y="8983755"/>
            <a:ext cx="2120504" cy="358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1800">
                <a:solidFill>
                  <a:srgbClr val="A9A9A9"/>
                </a:solidFill>
                <a:latin typeface="Times New Roman"/>
                <a:ea typeface="Times New Roman"/>
                <a:cs typeface="Times New Roman"/>
                <a:sym typeface="Times New Roman"/>
              </a:defRPr>
            </a:lvl1pPr>
          </a:lstStyle>
          <a:p>
            <a:r>
              <a:t>Computer Networks</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70000" y="1638300"/>
            <a:ext cx="10464800" cy="3302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lstStyle/>
          <a:p>
            <a:r>
              <a:t>Title Text</a:t>
            </a:r>
          </a:p>
        </p:txBody>
      </p:sp>
      <p:sp>
        <p:nvSpPr>
          <p:cNvPr id="3" name="Body Level One…"/>
          <p:cNvSpPr txBox="1">
            <a:spLocks noGrp="1"/>
          </p:cNvSpPr>
          <p:nvPr>
            <p:ph type="body" idx="1"/>
          </p:nvPr>
        </p:nvSpPr>
        <p:spPr>
          <a:xfrm>
            <a:off x="1270000" y="5029200"/>
            <a:ext cx="10464800" cy="1130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3pPr>
              <a:defRPr>
                <a:solidFill>
                  <a:srgbClr val="000000"/>
                </a:solidFill>
                <a:latin typeface="Gill Sans"/>
                <a:ea typeface="Gill Sans"/>
                <a:cs typeface="Gill Sans"/>
                <a:sym typeface="Gill Sans"/>
              </a:defRPr>
            </a:lvl3pPr>
            <a:lvl4pPr>
              <a:defRPr>
                <a:solidFill>
                  <a:srgbClr val="000000"/>
                </a:solidFill>
                <a:latin typeface="Gill Sans"/>
                <a:ea typeface="Gill Sans"/>
                <a:cs typeface="Gill Sans"/>
                <a:sym typeface="Gill Sans"/>
              </a:defRPr>
            </a:lvl4pPr>
            <a:lvl5pPr>
              <a:defRPr>
                <a:solidFill>
                  <a:srgbClr val="000000"/>
                </a:solidFill>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nchor="b">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1pPr>
      <a:lvl2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2pPr>
      <a:lvl3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3pPr>
      <a:lvl4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4pPr>
      <a:lvl5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5pPr>
      <a:lvl6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6pPr>
      <a:lvl7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7pPr>
      <a:lvl8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8pPr>
      <a:lvl9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9pPr>
    </p:titleStyle>
    <p:bodyStyle>
      <a:lvl1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1pPr>
      <a:lvl2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2pPr>
      <a:lvl3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3pPr>
      <a:lvl4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4pPr>
      <a:lvl5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5pPr>
      <a:lvl6pPr marL="0" marR="0" indent="3556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6pPr>
      <a:lvl7pPr marL="0" marR="0" indent="7112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7pPr>
      <a:lvl8pPr marL="0" marR="0" indent="10668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8pPr>
      <a:lvl9pPr marL="0" marR="0" indent="14224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1pPr>
      <a:lvl2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2pPr>
      <a:lvl3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3pPr>
      <a:lvl4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4pPr>
      <a:lvl5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5pPr>
      <a:lvl6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6pPr>
      <a:lvl7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7pPr>
      <a:lvl8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8pPr>
      <a:lvl9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33_0.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The Transport Layer"/>
          <p:cNvSpPr txBox="1">
            <a:spLocks noGrp="1"/>
          </p:cNvSpPr>
          <p:nvPr>
            <p:ph type="title"/>
          </p:nvPr>
        </p:nvSpPr>
        <p:spPr>
          <a:xfrm>
            <a:off x="1826418" y="3581400"/>
            <a:ext cx="10530682" cy="1903115"/>
          </a:xfrm>
          <a:prstGeom prst="rect">
            <a:avLst/>
          </a:prstGeom>
        </p:spPr>
        <p:txBody>
          <a:bodyPr anchor="t"/>
          <a:lstStyle>
            <a:lvl1pPr>
              <a:defRPr>
                <a:solidFill>
                  <a:srgbClr val="942193"/>
                </a:solidFill>
              </a:defRPr>
            </a:lvl1pPr>
          </a:lstStyle>
          <a:p>
            <a:r>
              <a:rPr dirty="0"/>
              <a:t>The Transport Layer</a:t>
            </a:r>
            <a:br>
              <a:rPr lang="fr-CH" dirty="0"/>
            </a:br>
            <a:r>
              <a:rPr lang="fr-CH" dirty="0"/>
              <a:t>Part 2</a:t>
            </a:r>
            <a:endParaRPr dirty="0"/>
          </a:p>
        </p:txBody>
      </p:sp>
      <p:sp>
        <p:nvSpPr>
          <p:cNvPr id="41" name="Katerina Argyraki, EPFL"/>
          <p:cNvSpPr/>
          <p:nvPr/>
        </p:nvSpPr>
        <p:spPr>
          <a:xfrm>
            <a:off x="1826418" y="7277100"/>
            <a:ext cx="10162382" cy="1130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lvl1pPr>
              <a:defRPr sz="4800">
                <a:solidFill>
                  <a:srgbClr val="424242"/>
                </a:solidFill>
                <a:latin typeface="Times New Roman"/>
                <a:ea typeface="Times New Roman"/>
                <a:cs typeface="Times New Roman"/>
                <a:sym typeface="Times New Roman"/>
              </a:defRPr>
            </a:lvl1pPr>
          </a:lstStyle>
          <a:p>
            <a:r>
              <a:rPr lang="fr-CH" dirty="0"/>
              <a:t>Gianluca Rizzo</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 name="Outline (from last lecture)"/>
          <p:cNvSpPr txBox="1">
            <a:spLocks noGrp="1"/>
          </p:cNvSpPr>
          <p:nvPr>
            <p:ph type="title"/>
          </p:nvPr>
        </p:nvSpPr>
        <p:spPr>
          <a:prstGeom prst="rect">
            <a:avLst/>
          </a:prstGeom>
        </p:spPr>
        <p:txBody>
          <a:bodyPr/>
          <a:lstStyle/>
          <a:p>
            <a:r>
              <a:rPr dirty="0"/>
              <a:t>Outline</a:t>
            </a:r>
          </a:p>
        </p:txBody>
      </p:sp>
      <p:sp>
        <p:nvSpPr>
          <p:cNvPr id="46" name="Process-to-process communication…"/>
          <p:cNvSpPr txBox="1">
            <a:spLocks noGrp="1"/>
          </p:cNvSpPr>
          <p:nvPr>
            <p:ph type="body" idx="1"/>
          </p:nvPr>
        </p:nvSpPr>
        <p:spPr>
          <a:prstGeom prst="rect">
            <a:avLst/>
          </a:prstGeom>
        </p:spPr>
        <p:txBody>
          <a:bodyPr anchor="t"/>
          <a:lstStyle/>
          <a:p>
            <a:pPr>
              <a:spcBef>
                <a:spcPts val="500"/>
              </a:spcBef>
            </a:pPr>
            <a:r>
              <a:t>Process-to-process communication</a:t>
            </a:r>
          </a:p>
          <a:p>
            <a:pPr lvl="1">
              <a:spcBef>
                <a:spcPts val="500"/>
              </a:spcBef>
            </a:pPr>
            <a:r>
              <a:t>UDP</a:t>
            </a:r>
          </a:p>
          <a:p>
            <a:pPr lvl="1">
              <a:spcBef>
                <a:spcPts val="4000"/>
              </a:spcBef>
            </a:pPr>
            <a:r>
              <a:t>TCP</a:t>
            </a:r>
          </a:p>
          <a:p>
            <a:pPr>
              <a:spcBef>
                <a:spcPts val="500"/>
              </a:spcBef>
            </a:pPr>
            <a:r>
              <a:t>Reliable data delivery</a:t>
            </a:r>
          </a:p>
          <a:p>
            <a:pPr lvl="1">
              <a:spcBef>
                <a:spcPts val="500"/>
              </a:spcBef>
            </a:pPr>
            <a:r>
              <a:t>Imaginary protocol</a:t>
            </a:r>
          </a:p>
          <a:p>
            <a:pPr lvl="1">
              <a:spcBef>
                <a:spcPts val="500"/>
              </a:spcBef>
              <a:buClr>
                <a:srgbClr val="EBEBEB"/>
              </a:buClr>
              <a:defRPr>
                <a:solidFill>
                  <a:srgbClr val="EBEBEB"/>
                </a:solidFill>
              </a:defRPr>
            </a:pPr>
            <a:r>
              <a:t>UDP</a:t>
            </a:r>
          </a:p>
          <a:p>
            <a:pPr lvl="1">
              <a:spcBef>
                <a:spcPts val="500"/>
              </a:spcBef>
              <a:buClr>
                <a:srgbClr val="EBEBEB"/>
              </a:buClr>
              <a:defRPr>
                <a:solidFill>
                  <a:srgbClr val="EBEBEB"/>
                </a:solidFill>
              </a:defRPr>
            </a:pPr>
            <a:r>
              <a:t>TCP</a:t>
            </a:r>
          </a:p>
        </p:txBody>
      </p:sp>
      <p:sp>
        <p:nvSpPr>
          <p:cNvPr id="47" name="Slide Number"/>
          <p:cNvSpPr txBox="1">
            <a:spLocks noGrp="1"/>
          </p:cNvSpPr>
          <p:nvPr>
            <p:ph type="sldNum" sz="quarter" idx="2"/>
          </p:nvPr>
        </p:nvSpPr>
        <p:spPr>
          <a:xfrm>
            <a:off x="11931649" y="8887011"/>
            <a:ext cx="228601" cy="35859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 name="Outline (from last lecture)"/>
          <p:cNvSpPr txBox="1">
            <a:spLocks noGrp="1"/>
          </p:cNvSpPr>
          <p:nvPr>
            <p:ph type="title"/>
          </p:nvPr>
        </p:nvSpPr>
        <p:spPr>
          <a:prstGeom prst="rect">
            <a:avLst/>
          </a:prstGeom>
        </p:spPr>
        <p:txBody>
          <a:bodyPr/>
          <a:lstStyle/>
          <a:p>
            <a:r>
              <a:rPr dirty="0"/>
              <a:t>Outline</a:t>
            </a:r>
          </a:p>
        </p:txBody>
      </p:sp>
      <p:sp>
        <p:nvSpPr>
          <p:cNvPr id="52" name="Process-to-process communication…"/>
          <p:cNvSpPr txBox="1">
            <a:spLocks noGrp="1"/>
          </p:cNvSpPr>
          <p:nvPr>
            <p:ph type="body" idx="1"/>
          </p:nvPr>
        </p:nvSpPr>
        <p:spPr>
          <a:prstGeom prst="rect">
            <a:avLst/>
          </a:prstGeom>
        </p:spPr>
        <p:txBody>
          <a:bodyPr anchor="t"/>
          <a:lstStyle/>
          <a:p>
            <a:pPr>
              <a:spcBef>
                <a:spcPts val="500"/>
              </a:spcBef>
              <a:buClr>
                <a:srgbClr val="EBEBEB"/>
              </a:buClr>
              <a:defRPr>
                <a:solidFill>
                  <a:srgbClr val="EBEBEB"/>
                </a:solidFill>
              </a:defRPr>
            </a:pPr>
            <a:r>
              <a:t>Process-to-process communication</a:t>
            </a:r>
          </a:p>
          <a:p>
            <a:pPr lvl="1">
              <a:spcBef>
                <a:spcPts val="500"/>
              </a:spcBef>
              <a:buClr>
                <a:srgbClr val="EBEBEB"/>
              </a:buClr>
              <a:defRPr>
                <a:solidFill>
                  <a:srgbClr val="EBEBEB"/>
                </a:solidFill>
              </a:defRPr>
            </a:pPr>
            <a:r>
              <a:t>UDP</a:t>
            </a:r>
          </a:p>
          <a:p>
            <a:pPr lvl="1">
              <a:spcBef>
                <a:spcPts val="4000"/>
              </a:spcBef>
              <a:buClr>
                <a:srgbClr val="EBEBEB"/>
              </a:buClr>
              <a:defRPr>
                <a:solidFill>
                  <a:srgbClr val="EBEBEB"/>
                </a:solidFill>
              </a:defRPr>
            </a:pPr>
            <a:r>
              <a:t>TCP</a:t>
            </a:r>
          </a:p>
          <a:p>
            <a:pPr>
              <a:spcBef>
                <a:spcPts val="500"/>
              </a:spcBef>
            </a:pPr>
            <a:r>
              <a:t>Reliable data delivery</a:t>
            </a:r>
          </a:p>
          <a:p>
            <a:pPr lvl="1">
              <a:spcBef>
                <a:spcPts val="500"/>
              </a:spcBef>
              <a:buClr>
                <a:srgbClr val="EBEBEB"/>
              </a:buClr>
              <a:defRPr>
                <a:solidFill>
                  <a:srgbClr val="EBEBEB"/>
                </a:solidFill>
              </a:defRPr>
            </a:pPr>
            <a:r>
              <a:t>Imaginary protocol</a:t>
            </a:r>
          </a:p>
          <a:p>
            <a:pPr lvl="1">
              <a:spcBef>
                <a:spcPts val="500"/>
              </a:spcBef>
            </a:pPr>
            <a:r>
              <a:t>UDP</a:t>
            </a:r>
          </a:p>
          <a:p>
            <a:pPr lvl="1">
              <a:spcBef>
                <a:spcPts val="500"/>
              </a:spcBef>
              <a:buClr>
                <a:srgbClr val="EBEBEB"/>
              </a:buClr>
              <a:defRPr>
                <a:solidFill>
                  <a:srgbClr val="EBEBEB"/>
                </a:solidFill>
              </a:defRPr>
            </a:pPr>
            <a:r>
              <a:t>TCP</a:t>
            </a:r>
          </a:p>
        </p:txBody>
      </p:sp>
      <p:sp>
        <p:nvSpPr>
          <p:cNvPr id="53" name="Slide Number"/>
          <p:cNvSpPr txBox="1">
            <a:spLocks noGrp="1"/>
          </p:cNvSpPr>
          <p:nvPr>
            <p:ph type="sldNum" sz="quarter" idx="2"/>
          </p:nvPr>
        </p:nvSpPr>
        <p:spPr>
          <a:xfrm>
            <a:off x="11931649" y="8887011"/>
            <a:ext cx="228601" cy="35859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 name="UDP: reliability elements"/>
          <p:cNvSpPr txBox="1">
            <a:spLocks noGrp="1"/>
          </p:cNvSpPr>
          <p:nvPr>
            <p:ph type="title"/>
          </p:nvPr>
        </p:nvSpPr>
        <p:spPr>
          <a:xfrm>
            <a:off x="1270000" y="654050"/>
            <a:ext cx="10464800" cy="1638300"/>
          </a:xfrm>
          <a:prstGeom prst="rect">
            <a:avLst/>
          </a:prstGeom>
        </p:spPr>
        <p:txBody>
          <a:bodyPr/>
          <a:lstStyle/>
          <a:p>
            <a:r>
              <a:t>UDP: reliability elements</a:t>
            </a:r>
          </a:p>
        </p:txBody>
      </p:sp>
      <p:sp>
        <p:nvSpPr>
          <p:cNvPr id="58" name="Checksums to detect corruption"/>
          <p:cNvSpPr txBox="1">
            <a:spLocks noGrp="1"/>
          </p:cNvSpPr>
          <p:nvPr>
            <p:ph type="body" idx="1"/>
          </p:nvPr>
        </p:nvSpPr>
        <p:spPr>
          <a:xfrm>
            <a:off x="854769" y="2794248"/>
            <a:ext cx="11295262" cy="5036890"/>
          </a:xfrm>
          <a:prstGeom prst="rect">
            <a:avLst/>
          </a:prstGeom>
        </p:spPr>
        <p:txBody>
          <a:bodyPr anchor="t"/>
          <a:lstStyle/>
          <a:p>
            <a:r>
              <a:rPr>
                <a:solidFill>
                  <a:srgbClr val="942193"/>
                </a:solidFill>
              </a:rPr>
              <a:t>Checksums </a:t>
            </a:r>
            <a:r>
              <a:t>to detect corruption</a:t>
            </a:r>
          </a:p>
        </p:txBody>
      </p:sp>
      <p:sp>
        <p:nvSpPr>
          <p:cNvPr id="59"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3"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4" name="Rectangle"/>
          <p:cNvSpPr/>
          <p:nvPr/>
        </p:nvSpPr>
        <p:spPr>
          <a:xfrm>
            <a:off x="867829" y="-187354"/>
            <a:ext cx="3863685"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5" name="rdt_send()"/>
          <p:cNvSpPr/>
          <p:nvPr/>
        </p:nvSpPr>
        <p:spPr>
          <a:xfrm>
            <a:off x="469900" y="2209800"/>
            <a:ext cx="25527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66" name="udt_send()"/>
          <p:cNvSpPr/>
          <p:nvPr/>
        </p:nvSpPr>
        <p:spPr>
          <a:xfrm>
            <a:off x="3187700" y="3143250"/>
            <a:ext cx="2414687"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67" name="rdt_rcv()"/>
          <p:cNvSpPr/>
          <p:nvPr/>
        </p:nvSpPr>
        <p:spPr>
          <a:xfrm>
            <a:off x="7797800" y="5007702"/>
            <a:ext cx="2032000"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68" name="deliver_data()"/>
          <p:cNvSpPr/>
          <p:nvPr/>
        </p:nvSpPr>
        <p:spPr>
          <a:xfrm>
            <a:off x="9652000" y="7702550"/>
            <a:ext cx="33274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69" name="Alice’s computer"/>
          <p:cNvSpPr/>
          <p:nvPr/>
        </p:nvSpPr>
        <p:spPr>
          <a:xfrm>
            <a:off x="64429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70" name="Bob’s computer"/>
          <p:cNvSpPr/>
          <p:nvPr/>
        </p:nvSpPr>
        <p:spPr>
          <a:xfrm>
            <a:off x="8001000" y="435168"/>
            <a:ext cx="4419600"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71" name="Slide Number"/>
          <p:cNvSpPr txBox="1">
            <a:spLocks noGrp="1"/>
          </p:cNvSpPr>
          <p:nvPr>
            <p:ph type="sldNum" sz="quarter" idx="2"/>
          </p:nvPr>
        </p:nvSpPr>
        <p:spPr>
          <a:xfrm>
            <a:off x="11715749" y="9009155"/>
            <a:ext cx="228601" cy="35859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72" name="Line"/>
          <p:cNvSpPr/>
          <p:nvPr/>
        </p:nvSpPr>
        <p:spPr>
          <a:xfrm flipH="1" flipV="1">
            <a:off x="5009689" y="3923615"/>
            <a:ext cx="2962408" cy="97931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73"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4"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5" name="check for corruption"/>
          <p:cNvSpPr/>
          <p:nvPr/>
        </p:nvSpPr>
        <p:spPr>
          <a:xfrm>
            <a:off x="9067800" y="6113925"/>
            <a:ext cx="2552700" cy="1168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check for corruption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iterate>
                                    <p:tmAbs val="0"/>
                                  </p:iterate>
                                  <p:childTnLst>
                                    <p:set>
                                      <p:cBhvr>
                                        <p:cTn id="14" fill="hold"/>
                                        <p:tgtEl>
                                          <p:spTgt spid="72"/>
                                        </p:tgtEl>
                                        <p:attrNameLst>
                                          <p:attrName>style.visibility</p:attrName>
                                        </p:attrNameLst>
                                      </p:cBhvr>
                                      <p:to>
                                        <p:strVal val="visible"/>
                                      </p:to>
                                    </p:set>
                                    <p:animEffect transition="in" filter="wipe(left)">
                                      <p:cBhvr>
                                        <p:cTn id="15" dur="1000"/>
                                        <p:tgtEl>
                                          <p:spTgt spid="7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p:tmAbs val="0"/>
                                  </p:iterate>
                                  <p:childTnLst>
                                    <p:set>
                                      <p:cBhvr>
                                        <p:cTn id="19" fill="hold"/>
                                        <p:tgtEl>
                                          <p:spTgt spid="6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advAuto="0"/>
      <p:bldP spid="66" grpId="0" animBg="1" advAuto="0"/>
      <p:bldP spid="67" grpId="0" animBg="1" advAuto="0"/>
      <p:bldP spid="68" grpId="0" animBg="1" advAuto="0"/>
      <p:bldP spid="72" grpId="0" animBg="1" advAuto="0"/>
      <p:bldP spid="75"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 name="Outline (from last lecture)"/>
          <p:cNvSpPr txBox="1">
            <a:spLocks noGrp="1"/>
          </p:cNvSpPr>
          <p:nvPr>
            <p:ph type="title"/>
          </p:nvPr>
        </p:nvSpPr>
        <p:spPr>
          <a:prstGeom prst="rect">
            <a:avLst/>
          </a:prstGeom>
        </p:spPr>
        <p:txBody>
          <a:bodyPr/>
          <a:lstStyle/>
          <a:p>
            <a:r>
              <a:t>Outline (from last lecture)</a:t>
            </a:r>
          </a:p>
        </p:txBody>
      </p:sp>
      <p:sp>
        <p:nvSpPr>
          <p:cNvPr id="80" name="Process-to-process communication…"/>
          <p:cNvSpPr txBox="1">
            <a:spLocks noGrp="1"/>
          </p:cNvSpPr>
          <p:nvPr>
            <p:ph type="body" idx="1"/>
          </p:nvPr>
        </p:nvSpPr>
        <p:spPr>
          <a:prstGeom prst="rect">
            <a:avLst/>
          </a:prstGeom>
        </p:spPr>
        <p:txBody>
          <a:bodyPr anchor="t"/>
          <a:lstStyle/>
          <a:p>
            <a:pPr>
              <a:spcBef>
                <a:spcPts val="500"/>
              </a:spcBef>
              <a:buClr>
                <a:srgbClr val="EBEBEB"/>
              </a:buClr>
              <a:defRPr>
                <a:solidFill>
                  <a:srgbClr val="EBEBEB"/>
                </a:solidFill>
              </a:defRPr>
            </a:pPr>
            <a:r>
              <a:t>Process-to-process communication</a:t>
            </a:r>
          </a:p>
          <a:p>
            <a:pPr lvl="1">
              <a:spcBef>
                <a:spcPts val="500"/>
              </a:spcBef>
              <a:buClr>
                <a:srgbClr val="EBEBEB"/>
              </a:buClr>
              <a:defRPr>
                <a:solidFill>
                  <a:srgbClr val="EBEBEB"/>
                </a:solidFill>
              </a:defRPr>
            </a:pPr>
            <a:r>
              <a:t>UDP</a:t>
            </a:r>
          </a:p>
          <a:p>
            <a:pPr lvl="1">
              <a:spcBef>
                <a:spcPts val="4000"/>
              </a:spcBef>
              <a:buClr>
                <a:srgbClr val="EBEBEB"/>
              </a:buClr>
              <a:defRPr>
                <a:solidFill>
                  <a:srgbClr val="EBEBEB"/>
                </a:solidFill>
              </a:defRPr>
            </a:pPr>
            <a:r>
              <a:t>TCP</a:t>
            </a:r>
          </a:p>
          <a:p>
            <a:pPr>
              <a:spcBef>
                <a:spcPts val="500"/>
              </a:spcBef>
            </a:pPr>
            <a:r>
              <a:t>Reliable data delivery</a:t>
            </a:r>
          </a:p>
          <a:p>
            <a:pPr lvl="1">
              <a:spcBef>
                <a:spcPts val="500"/>
              </a:spcBef>
              <a:buClr>
                <a:srgbClr val="EBEBEB"/>
              </a:buClr>
              <a:defRPr>
                <a:solidFill>
                  <a:srgbClr val="EBEBEB"/>
                </a:solidFill>
              </a:defRPr>
            </a:pPr>
            <a:r>
              <a:t>Imaginary protocol</a:t>
            </a:r>
          </a:p>
          <a:p>
            <a:pPr lvl="1">
              <a:spcBef>
                <a:spcPts val="500"/>
              </a:spcBef>
              <a:buClr>
                <a:srgbClr val="EBEBEB"/>
              </a:buClr>
              <a:defRPr>
                <a:solidFill>
                  <a:srgbClr val="EBEBEB"/>
                </a:solidFill>
              </a:defRPr>
            </a:pPr>
            <a:r>
              <a:t>UDP</a:t>
            </a:r>
          </a:p>
          <a:p>
            <a:pPr lvl="1">
              <a:spcBef>
                <a:spcPts val="500"/>
              </a:spcBef>
            </a:pPr>
            <a:r>
              <a:t>TCP</a:t>
            </a:r>
          </a:p>
        </p:txBody>
      </p:sp>
      <p:sp>
        <p:nvSpPr>
          <p:cNvPr id="81" name="Slide Number"/>
          <p:cNvSpPr txBox="1">
            <a:spLocks noGrp="1"/>
          </p:cNvSpPr>
          <p:nvPr>
            <p:ph type="sldNum" sz="quarter" idx="2"/>
          </p:nvPr>
        </p:nvSpPr>
        <p:spPr>
          <a:xfrm>
            <a:off x="11931649" y="8887011"/>
            <a:ext cx="228601" cy="35859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5" name="TCP: reliability elements"/>
          <p:cNvSpPr txBox="1">
            <a:spLocks noGrp="1"/>
          </p:cNvSpPr>
          <p:nvPr>
            <p:ph type="title"/>
          </p:nvPr>
        </p:nvSpPr>
        <p:spPr>
          <a:xfrm>
            <a:off x="1270000" y="654050"/>
            <a:ext cx="10464800" cy="1638300"/>
          </a:xfrm>
          <a:prstGeom prst="rect">
            <a:avLst/>
          </a:prstGeom>
        </p:spPr>
        <p:txBody>
          <a:bodyPr/>
          <a:lstStyle/>
          <a:p>
            <a:r>
              <a:t>TCP: reliability elements</a:t>
            </a:r>
          </a:p>
        </p:txBody>
      </p:sp>
      <p:sp>
        <p:nvSpPr>
          <p:cNvPr id="86" name="Checksums to detect corruption…"/>
          <p:cNvSpPr txBox="1">
            <a:spLocks noGrp="1"/>
          </p:cNvSpPr>
          <p:nvPr>
            <p:ph type="body" idx="1"/>
          </p:nvPr>
        </p:nvSpPr>
        <p:spPr>
          <a:xfrm>
            <a:off x="854769" y="2311648"/>
            <a:ext cx="11295262" cy="6141195"/>
          </a:xfrm>
          <a:prstGeom prst="rect">
            <a:avLst/>
          </a:prstGeom>
        </p:spPr>
        <p:txBody>
          <a:bodyPr anchor="t"/>
          <a:lstStyle/>
          <a:p>
            <a:pPr>
              <a:spcBef>
                <a:spcPts val="2000"/>
              </a:spcBef>
            </a:pPr>
            <a:r>
              <a:rPr>
                <a:solidFill>
                  <a:srgbClr val="942193"/>
                </a:solidFill>
              </a:rPr>
              <a:t>Checksums </a:t>
            </a:r>
            <a:r>
              <a:t>to detect corruption</a:t>
            </a:r>
          </a:p>
          <a:p>
            <a:pPr marL="807357" indent="-489857">
              <a:spcBef>
                <a:spcPts val="2000"/>
              </a:spcBef>
            </a:pPr>
            <a:r>
              <a:rPr>
                <a:solidFill>
                  <a:srgbClr val="942193"/>
                </a:solidFill>
              </a:rPr>
              <a:t>ACKs</a:t>
            </a:r>
            <a:r>
              <a:t> to signal successful reception</a:t>
            </a:r>
          </a:p>
          <a:p>
            <a:pPr marL="807357" indent="-489857">
              <a:spcBef>
                <a:spcPts val="2000"/>
              </a:spcBef>
            </a:pPr>
            <a:r>
              <a:rPr>
                <a:solidFill>
                  <a:srgbClr val="942193"/>
                </a:solidFill>
              </a:rPr>
              <a:t>SEQs</a:t>
            </a:r>
            <a:r>
              <a:t> to disambiguate segments</a:t>
            </a:r>
          </a:p>
          <a:p>
            <a:pPr>
              <a:spcBef>
                <a:spcPts val="2000"/>
              </a:spcBef>
            </a:pPr>
            <a:r>
              <a:rPr>
                <a:solidFill>
                  <a:srgbClr val="942193"/>
                </a:solidFill>
              </a:rPr>
              <a:t>Timeouts</a:t>
            </a:r>
            <a:r>
              <a:t> to detect corruption+loss</a:t>
            </a:r>
          </a:p>
          <a:p>
            <a:pPr>
              <a:spcBef>
                <a:spcPts val="2000"/>
              </a:spcBef>
            </a:pPr>
            <a:r>
              <a:rPr>
                <a:solidFill>
                  <a:srgbClr val="942193"/>
                </a:solidFill>
              </a:rPr>
              <a:t>Retransmissions</a:t>
            </a:r>
            <a:r>
              <a:t> to recover </a:t>
            </a:r>
            <a:br/>
            <a:r>
              <a:t>from corruption+loss</a:t>
            </a:r>
          </a:p>
        </p:txBody>
      </p:sp>
      <p:sp>
        <p:nvSpPr>
          <p:cNvPr id="87"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 name="TCP: reliability elements"/>
          <p:cNvSpPr txBox="1">
            <a:spLocks noGrp="1"/>
          </p:cNvSpPr>
          <p:nvPr>
            <p:ph type="title"/>
          </p:nvPr>
        </p:nvSpPr>
        <p:spPr>
          <a:xfrm>
            <a:off x="1270000" y="654050"/>
            <a:ext cx="10464800" cy="1638300"/>
          </a:xfrm>
          <a:prstGeom prst="rect">
            <a:avLst/>
          </a:prstGeom>
        </p:spPr>
        <p:txBody>
          <a:bodyPr/>
          <a:lstStyle/>
          <a:p>
            <a:r>
              <a:t>TCP: reliability elements</a:t>
            </a:r>
          </a:p>
        </p:txBody>
      </p:sp>
      <p:sp>
        <p:nvSpPr>
          <p:cNvPr id="92" name="Checksums to detect corruption…"/>
          <p:cNvSpPr txBox="1">
            <a:spLocks noGrp="1"/>
          </p:cNvSpPr>
          <p:nvPr>
            <p:ph type="body" idx="1"/>
          </p:nvPr>
        </p:nvSpPr>
        <p:spPr>
          <a:xfrm>
            <a:off x="854769" y="2311648"/>
            <a:ext cx="11295262" cy="6141195"/>
          </a:xfrm>
          <a:prstGeom prst="rect">
            <a:avLst/>
          </a:prstGeom>
        </p:spPr>
        <p:txBody>
          <a:bodyPr anchor="t"/>
          <a:lstStyle/>
          <a:p>
            <a:pPr>
              <a:spcBef>
                <a:spcPts val="2000"/>
              </a:spcBef>
              <a:defRPr>
                <a:solidFill>
                  <a:srgbClr val="EBEBEB"/>
                </a:solidFill>
              </a:defRPr>
            </a:pPr>
            <a:r>
              <a:t>Checksums to detect corruption</a:t>
            </a:r>
          </a:p>
          <a:p>
            <a:pPr marL="807357" indent="-489857">
              <a:spcBef>
                <a:spcPts val="2000"/>
              </a:spcBef>
            </a:pPr>
            <a:r>
              <a:rPr>
                <a:solidFill>
                  <a:srgbClr val="942193"/>
                </a:solidFill>
              </a:rPr>
              <a:t>ACKs</a:t>
            </a:r>
            <a:r>
              <a:t> to signal successful reception</a:t>
            </a:r>
          </a:p>
          <a:p>
            <a:pPr marL="807357" indent="-489857">
              <a:spcBef>
                <a:spcPts val="2000"/>
              </a:spcBef>
            </a:pPr>
            <a:r>
              <a:rPr>
                <a:solidFill>
                  <a:srgbClr val="942193"/>
                </a:solidFill>
              </a:rPr>
              <a:t>SEQs</a:t>
            </a:r>
            <a:r>
              <a:t> to disambiguate segments</a:t>
            </a:r>
          </a:p>
          <a:p>
            <a:pPr>
              <a:spcBef>
                <a:spcPts val="2000"/>
              </a:spcBef>
              <a:defRPr>
                <a:solidFill>
                  <a:srgbClr val="EBEBEB"/>
                </a:solidFill>
              </a:defRPr>
            </a:pPr>
            <a:r>
              <a:t>Timeouts to detect corruption+loss</a:t>
            </a:r>
          </a:p>
          <a:p>
            <a:pPr>
              <a:spcBef>
                <a:spcPts val="2000"/>
              </a:spcBef>
              <a:defRPr>
                <a:solidFill>
                  <a:srgbClr val="EBEBEB"/>
                </a:solidFill>
              </a:defRPr>
            </a:pPr>
            <a:r>
              <a:t>Retransmissions to recover </a:t>
            </a:r>
            <a:br/>
            <a:r>
              <a:t>from corruption+loss</a:t>
            </a:r>
          </a:p>
        </p:txBody>
      </p:sp>
      <p:sp>
        <p:nvSpPr>
          <p:cNvPr id="93"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cSld>
  <p:clrMapOvr>
    <a:masterClrMapping/>
  </p:clrMapOvr>
  <p:transition spd="med"/>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97"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98" name="Rectangle"/>
          <p:cNvSpPr/>
          <p:nvPr/>
        </p:nvSpPr>
        <p:spPr>
          <a:xfrm>
            <a:off x="9228756" y="-187354"/>
            <a:ext cx="276043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99" name="Rounded Rectangle"/>
          <p:cNvSpPr/>
          <p:nvPr/>
        </p:nvSpPr>
        <p:spPr>
          <a:xfrm>
            <a:off x="8707161" y="1308100"/>
            <a:ext cx="4138543" cy="8174385"/>
          </a:xfrm>
          <a:prstGeom prst="roundRect">
            <a:avLst>
              <a:gd name="adj" fmla="val 460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00" name="Alice’s computer"/>
          <p:cNvSpPr/>
          <p:nvPr/>
        </p:nvSpPr>
        <p:spPr>
          <a:xfrm>
            <a:off x="-4074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101" name="Bob’s computer"/>
          <p:cNvSpPr/>
          <p:nvPr/>
        </p:nvSpPr>
        <p:spPr>
          <a:xfrm>
            <a:off x="8566632"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102" name="Slide Number"/>
          <p:cNvSpPr txBox="1">
            <a:spLocks noGrp="1"/>
          </p:cNvSpPr>
          <p:nvPr>
            <p:ph type="sldNum" sz="quarter" idx="2"/>
          </p:nvPr>
        </p:nvSpPr>
        <p:spPr>
          <a:xfrm>
            <a:off x="11715749" y="9009155"/>
            <a:ext cx="228601" cy="35859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103" name="rdt_send([A])"/>
          <p:cNvSpPr/>
          <p:nvPr/>
        </p:nvSpPr>
        <p:spPr>
          <a:xfrm>
            <a:off x="482194" y="1291985"/>
            <a:ext cx="314512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0433FF"/>
                </a:solidFill>
                <a:latin typeface="Courier"/>
                <a:ea typeface="Courier"/>
                <a:cs typeface="Courier"/>
                <a:sym typeface="Courier"/>
              </a:defRPr>
            </a:pPr>
            <a:r>
              <a:t>rdt_send(</a:t>
            </a:r>
            <a:r>
              <a:rPr>
                <a:solidFill>
                  <a:srgbClr val="424242"/>
                </a:solidFill>
              </a:rPr>
              <a:t>[A]</a:t>
            </a:r>
            <a:r>
              <a:t>)</a:t>
            </a:r>
          </a:p>
        </p:txBody>
      </p:sp>
      <p:sp>
        <p:nvSpPr>
          <p:cNvPr id="104" name="udt_send(…)"/>
          <p:cNvSpPr/>
          <p:nvPr/>
        </p:nvSpPr>
        <p:spPr>
          <a:xfrm>
            <a:off x="1526783" y="2198403"/>
            <a:ext cx="2527620"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105" name="deliver_data([A])"/>
          <p:cNvSpPr/>
          <p:nvPr/>
        </p:nvSpPr>
        <p:spPr>
          <a:xfrm>
            <a:off x="9149670" y="3683000"/>
            <a:ext cx="39435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0433FF"/>
                </a:solidFill>
                <a:latin typeface="Courier"/>
                <a:ea typeface="Courier"/>
                <a:cs typeface="Courier"/>
                <a:sym typeface="Courier"/>
              </a:defRPr>
            </a:pPr>
            <a:r>
              <a:t>deliver_data(</a:t>
            </a:r>
            <a:r>
              <a:rPr>
                <a:solidFill>
                  <a:srgbClr val="424242"/>
                </a:solidFill>
              </a:rPr>
              <a:t>[A]</a:t>
            </a:r>
            <a:r>
              <a:t>)</a:t>
            </a:r>
          </a:p>
        </p:txBody>
      </p:sp>
      <p:sp>
        <p:nvSpPr>
          <p:cNvPr id="106" name="Line"/>
          <p:cNvSpPr/>
          <p:nvPr/>
        </p:nvSpPr>
        <p:spPr>
          <a:xfrm flipV="1">
            <a:off x="3968679" y="6048416"/>
            <a:ext cx="4625990" cy="62653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07" name="udt_send(…)"/>
          <p:cNvSpPr/>
          <p:nvPr/>
        </p:nvSpPr>
        <p:spPr>
          <a:xfrm>
            <a:off x="8921750" y="5575300"/>
            <a:ext cx="25527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108" name="rdt_rcv(…)"/>
          <p:cNvSpPr/>
          <p:nvPr/>
        </p:nvSpPr>
        <p:spPr>
          <a:xfrm>
            <a:off x="8940800" y="2882900"/>
            <a:ext cx="232102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109" name="rdt_rcv(…)"/>
          <p:cNvSpPr/>
          <p:nvPr/>
        </p:nvSpPr>
        <p:spPr>
          <a:xfrm>
            <a:off x="1739256" y="6324600"/>
            <a:ext cx="2321029"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110" name="Line"/>
          <p:cNvSpPr/>
          <p:nvPr/>
        </p:nvSpPr>
        <p:spPr>
          <a:xfrm flipH="1" flipV="1">
            <a:off x="4016091" y="2694937"/>
            <a:ext cx="4559448" cy="51760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11" name="Rounded Rectangle"/>
          <p:cNvSpPr/>
          <p:nvPr/>
        </p:nvSpPr>
        <p:spPr>
          <a:xfrm>
            <a:off x="135735" y="1308100"/>
            <a:ext cx="3747302" cy="8174385"/>
          </a:xfrm>
          <a:prstGeom prst="roundRect">
            <a:avLst>
              <a:gd name="adj" fmla="val 5084"/>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12" name="ACK 1|"/>
          <p:cNvSpPr/>
          <p:nvPr/>
        </p:nvSpPr>
        <p:spPr>
          <a:xfrm rot="21120000">
            <a:off x="5774922" y="5769827"/>
            <a:ext cx="1474093"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a:t>
            </a:r>
          </a:p>
        </p:txBody>
      </p:sp>
      <p:sp>
        <p:nvSpPr>
          <p:cNvPr id="113" name="SEQ 0|"/>
          <p:cNvSpPr/>
          <p:nvPr/>
        </p:nvSpPr>
        <p:spPr>
          <a:xfrm rot="380164">
            <a:off x="4231952" y="2246209"/>
            <a:ext cx="1383779"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0|</a:t>
            </a:r>
          </a:p>
        </p:txBody>
      </p:sp>
      <p:sp>
        <p:nvSpPr>
          <p:cNvPr id="114" name="[A]"/>
          <p:cNvSpPr/>
          <p:nvPr/>
        </p:nvSpPr>
        <p:spPr>
          <a:xfrm rot="320164">
            <a:off x="7022575" y="2488953"/>
            <a:ext cx="807554"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[A]</a:t>
            </a:r>
          </a:p>
        </p:txBody>
      </p:sp>
      <p:sp>
        <p:nvSpPr>
          <p:cNvPr id="115" name="[B]"/>
          <p:cNvSpPr/>
          <p:nvPr/>
        </p:nvSpPr>
        <p:spPr>
          <a:xfrm rot="21202716">
            <a:off x="7090004" y="5626100"/>
            <a:ext cx="807554"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[B]</a:t>
            </a:r>
          </a:p>
        </p:txBody>
      </p:sp>
      <p:sp>
        <p:nvSpPr>
          <p:cNvPr id="116" name="rdt_send([B])"/>
          <p:cNvSpPr/>
          <p:nvPr/>
        </p:nvSpPr>
        <p:spPr>
          <a:xfrm>
            <a:off x="9992758" y="4788643"/>
            <a:ext cx="2907207"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0433FF"/>
                </a:solidFill>
                <a:latin typeface="Courier"/>
                <a:ea typeface="Courier"/>
                <a:cs typeface="Courier"/>
                <a:sym typeface="Courier"/>
              </a:defRPr>
            </a:pPr>
            <a:r>
              <a:t>rdt_send(</a:t>
            </a:r>
            <a:r>
              <a:rPr>
                <a:solidFill>
                  <a:srgbClr val="424242"/>
                </a:solidFill>
              </a:rPr>
              <a:t>[B]</a:t>
            </a:r>
            <a:r>
              <a:t>)</a:t>
            </a:r>
          </a:p>
        </p:txBody>
      </p:sp>
      <p:sp>
        <p:nvSpPr>
          <p:cNvPr id="117" name="SEQ 10|"/>
          <p:cNvSpPr/>
          <p:nvPr/>
        </p:nvSpPr>
        <p:spPr>
          <a:xfrm rot="21154737">
            <a:off x="4230559" y="5979352"/>
            <a:ext cx="166874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10|</a:t>
            </a:r>
          </a:p>
        </p:txBody>
      </p:sp>
      <p:sp>
        <p:nvSpPr>
          <p:cNvPr id="118" name="ACK 10|"/>
          <p:cNvSpPr/>
          <p:nvPr/>
        </p:nvSpPr>
        <p:spPr>
          <a:xfrm rot="360000">
            <a:off x="5492157" y="2400222"/>
            <a:ext cx="1617869"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10|</a:t>
            </a:r>
          </a:p>
        </p:txBody>
      </p:sp>
      <p:sp>
        <p:nvSpPr>
          <p:cNvPr id="119" name="deliver_data([B])"/>
          <p:cNvSpPr/>
          <p:nvPr/>
        </p:nvSpPr>
        <p:spPr>
          <a:xfrm>
            <a:off x="231024" y="7137400"/>
            <a:ext cx="3876066"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0433FF"/>
                </a:solidFill>
                <a:latin typeface="Courier"/>
                <a:ea typeface="Courier"/>
                <a:cs typeface="Courier"/>
                <a:sym typeface="Courier"/>
              </a:defRPr>
            </a:pPr>
            <a:r>
              <a:t>deliver_data(</a:t>
            </a:r>
            <a:r>
              <a:rPr>
                <a:solidFill>
                  <a:srgbClr val="424242"/>
                </a:solidFill>
              </a:rPr>
              <a:t>[B]</a:t>
            </a:r>
            <a: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0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1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1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10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p:tmAbs val="0"/>
                                  </p:iterate>
                                  <p:childTnLst>
                                    <p:set>
                                      <p:cBhvr>
                                        <p:cTn id="50" fill="hold"/>
                                        <p:tgtEl>
                                          <p:spTgt spid="1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p:tmAbs val="0"/>
                                  </p:iterate>
                                  <p:childTnLst>
                                    <p:set>
                                      <p:cBhvr>
                                        <p:cTn id="54" fill="hold"/>
                                        <p:tgtEl>
                                          <p:spTgt spid="1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p:tmAbs val="0"/>
                                  </p:iterate>
                                  <p:childTnLst>
                                    <p:set>
                                      <p:cBhvr>
                                        <p:cTn id="58" fill="hold"/>
                                        <p:tgtEl>
                                          <p:spTgt spid="1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p:tmAbs val="0"/>
                                  </p:iterate>
                                  <p:childTnLst>
                                    <p:set>
                                      <p:cBhvr>
                                        <p:cTn id="62" fill="hold"/>
                                        <p:tgtEl>
                                          <p:spTgt spid="1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p:tmAbs val="0"/>
                                  </p:iterate>
                                  <p:childTnLst>
                                    <p:set>
                                      <p:cBhvr>
                                        <p:cTn id="66" fill="hold"/>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advAuto="0"/>
      <p:bldP spid="104" grpId="0" animBg="1" advAuto="0"/>
      <p:bldP spid="105" grpId="0" animBg="1" advAuto="0"/>
      <p:bldP spid="106" grpId="0" animBg="1" advAuto="0"/>
      <p:bldP spid="107" grpId="0" animBg="1" advAuto="0"/>
      <p:bldP spid="108" grpId="0" animBg="1" advAuto="0"/>
      <p:bldP spid="109" grpId="0" animBg="1" advAuto="0"/>
      <p:bldP spid="110" grpId="0" animBg="1" advAuto="0"/>
      <p:bldP spid="112" grpId="0" animBg="1" advAuto="0"/>
      <p:bldP spid="113" grpId="0" animBg="1" advAuto="0"/>
      <p:bldP spid="114" grpId="0" animBg="1" advAuto="0"/>
      <p:bldP spid="115" grpId="0" animBg="1" advAuto="0"/>
      <p:bldP spid="116" grpId="0" animBg="1" advAuto="0"/>
      <p:bldP spid="117" grpId="0" animBg="1" advAuto="0"/>
      <p:bldP spid="118" grpId="0" animBg="1" advAuto="0"/>
      <p:bldP spid="119"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3" name="SEQs &amp; ACKs"/>
          <p:cNvSpPr txBox="1">
            <a:spLocks noGrp="1"/>
          </p:cNvSpPr>
          <p:nvPr>
            <p:ph type="title"/>
          </p:nvPr>
        </p:nvSpPr>
        <p:spPr>
          <a:xfrm>
            <a:off x="1270000" y="654050"/>
            <a:ext cx="10464800" cy="1638300"/>
          </a:xfrm>
          <a:prstGeom prst="rect">
            <a:avLst/>
          </a:prstGeom>
        </p:spPr>
        <p:txBody>
          <a:bodyPr/>
          <a:lstStyle/>
          <a:p>
            <a:r>
              <a:t>SEQs &amp; ACKs</a:t>
            </a:r>
          </a:p>
        </p:txBody>
      </p:sp>
      <p:sp>
        <p:nvSpPr>
          <p:cNvPr id="124" name="Data bytes are implicitly numbered…"/>
          <p:cNvSpPr txBox="1">
            <a:spLocks noGrp="1"/>
          </p:cNvSpPr>
          <p:nvPr>
            <p:ph type="body" idx="1"/>
          </p:nvPr>
        </p:nvSpPr>
        <p:spPr>
          <a:xfrm>
            <a:off x="854769" y="2451645"/>
            <a:ext cx="11295262" cy="5942807"/>
          </a:xfrm>
          <a:prstGeom prst="rect">
            <a:avLst/>
          </a:prstGeom>
        </p:spPr>
        <p:txBody>
          <a:bodyPr anchor="t"/>
          <a:lstStyle/>
          <a:p>
            <a:pPr>
              <a:spcBef>
                <a:spcPts val="3000"/>
              </a:spcBef>
            </a:pPr>
            <a:r>
              <a:rPr dirty="0"/>
              <a:t>Data bytes are implicitly numbered</a:t>
            </a:r>
          </a:p>
          <a:p>
            <a:pPr>
              <a:spcBef>
                <a:spcPts val="3000"/>
              </a:spcBef>
            </a:pPr>
            <a:r>
              <a:rPr dirty="0"/>
              <a:t>SEQ: # of the first data byte </a:t>
            </a:r>
          </a:p>
          <a:p>
            <a:pPr>
              <a:spcBef>
                <a:spcPts val="3000"/>
              </a:spcBef>
            </a:pPr>
            <a:r>
              <a:rPr dirty="0"/>
              <a:t>ACK: # of the next data byte that </a:t>
            </a:r>
            <a:br>
              <a:rPr dirty="0"/>
            </a:br>
            <a:r>
              <a:rPr dirty="0"/>
              <a:t>is expected (cumulative)</a:t>
            </a:r>
          </a:p>
          <a:p>
            <a:pPr>
              <a:spcBef>
                <a:spcPts val="0"/>
              </a:spcBef>
            </a:pPr>
            <a:r>
              <a:rPr dirty="0"/>
              <a:t>Both always present, </a:t>
            </a:r>
            <a:br>
              <a:rPr dirty="0"/>
            </a:br>
            <a:r>
              <a:rPr dirty="0"/>
              <a:t>even if it appears unnecessary</a:t>
            </a:r>
          </a:p>
        </p:txBody>
      </p:sp>
      <p:sp>
        <p:nvSpPr>
          <p:cNvPr id="125"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2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2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2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build="p" animBg="1" advAuto="0"/>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9"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30" name="Rectangle"/>
          <p:cNvSpPr/>
          <p:nvPr/>
        </p:nvSpPr>
        <p:spPr>
          <a:xfrm>
            <a:off x="9228756" y="-187354"/>
            <a:ext cx="2741039"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31"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32"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133"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134" name="Slide Number"/>
          <p:cNvSpPr txBox="1">
            <a:spLocks noGrp="1"/>
          </p:cNvSpPr>
          <p:nvPr>
            <p:ph type="sldNum" sz="quarter" idx="2"/>
          </p:nvPr>
        </p:nvSpPr>
        <p:spPr>
          <a:xfrm>
            <a:off x="11662841" y="9009155"/>
            <a:ext cx="334418" cy="35859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135" name="Line"/>
          <p:cNvSpPr/>
          <p:nvPr/>
        </p:nvSpPr>
        <p:spPr>
          <a:xfrm flipV="1">
            <a:off x="3994079" y="4181516"/>
            <a:ext cx="4625990" cy="62653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36" name="Line"/>
          <p:cNvSpPr/>
          <p:nvPr/>
        </p:nvSpPr>
        <p:spPr>
          <a:xfrm flipH="1" flipV="1">
            <a:off x="4016091" y="2694937"/>
            <a:ext cx="4559448" cy="51760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37"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38" name="ACK 5|"/>
          <p:cNvSpPr/>
          <p:nvPr/>
        </p:nvSpPr>
        <p:spPr>
          <a:xfrm rot="21120000">
            <a:off x="5843465" y="3922838"/>
            <a:ext cx="1396547"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5|</a:t>
            </a:r>
          </a:p>
        </p:txBody>
      </p:sp>
      <p:sp>
        <p:nvSpPr>
          <p:cNvPr id="139" name="SEQ 0|"/>
          <p:cNvSpPr/>
          <p:nvPr/>
        </p:nvSpPr>
        <p:spPr>
          <a:xfrm rot="380164">
            <a:off x="4104893" y="2247279"/>
            <a:ext cx="1403175"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0|</a:t>
            </a:r>
          </a:p>
        </p:txBody>
      </p:sp>
      <p:sp>
        <p:nvSpPr>
          <p:cNvPr id="140" name="[hello]"/>
          <p:cNvSpPr/>
          <p:nvPr/>
        </p:nvSpPr>
        <p:spPr>
          <a:xfrm rot="320164">
            <a:off x="6915569" y="2519377"/>
            <a:ext cx="160616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[hello]</a:t>
            </a:r>
          </a:p>
        </p:txBody>
      </p:sp>
      <p:sp>
        <p:nvSpPr>
          <p:cNvPr id="141" name="[hey!]"/>
          <p:cNvSpPr/>
          <p:nvPr/>
        </p:nvSpPr>
        <p:spPr>
          <a:xfrm rot="21202716">
            <a:off x="7128937" y="3716264"/>
            <a:ext cx="143725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[hey!]</a:t>
            </a:r>
          </a:p>
        </p:txBody>
      </p:sp>
      <p:sp>
        <p:nvSpPr>
          <p:cNvPr id="142" name="SEQ 10|"/>
          <p:cNvSpPr/>
          <p:nvPr/>
        </p:nvSpPr>
        <p:spPr>
          <a:xfrm rot="21154737">
            <a:off x="4256244" y="4129551"/>
            <a:ext cx="1600637"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10|</a:t>
            </a:r>
          </a:p>
        </p:txBody>
      </p:sp>
      <p:sp>
        <p:nvSpPr>
          <p:cNvPr id="143" name="ACK 10|"/>
          <p:cNvSpPr/>
          <p:nvPr/>
        </p:nvSpPr>
        <p:spPr>
          <a:xfrm rot="360000">
            <a:off x="5404472" y="2398703"/>
            <a:ext cx="162352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10|</a:t>
            </a:r>
          </a:p>
        </p:txBody>
      </p:sp>
      <p:sp>
        <p:nvSpPr>
          <p:cNvPr id="144" name="Line"/>
          <p:cNvSpPr/>
          <p:nvPr/>
        </p:nvSpPr>
        <p:spPr>
          <a:xfrm flipH="1" flipV="1">
            <a:off x="4132335" y="5772624"/>
            <a:ext cx="4559448" cy="51760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45" name="SEQ 5|"/>
          <p:cNvSpPr/>
          <p:nvPr/>
        </p:nvSpPr>
        <p:spPr>
          <a:xfrm rot="380164">
            <a:off x="4101363" y="5321300"/>
            <a:ext cx="1422361"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5|</a:t>
            </a:r>
          </a:p>
        </p:txBody>
      </p:sp>
      <p:sp>
        <p:nvSpPr>
          <p:cNvPr id="146" name="[all ok]"/>
          <p:cNvSpPr/>
          <p:nvPr/>
        </p:nvSpPr>
        <p:spPr>
          <a:xfrm rot="380164">
            <a:off x="6919460" y="5621020"/>
            <a:ext cx="1898569"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[all ok]</a:t>
            </a:r>
          </a:p>
        </p:txBody>
      </p:sp>
      <p:sp>
        <p:nvSpPr>
          <p:cNvPr id="147" name="ACK 14|"/>
          <p:cNvSpPr/>
          <p:nvPr/>
        </p:nvSpPr>
        <p:spPr>
          <a:xfrm rot="360000">
            <a:off x="5416651" y="5493310"/>
            <a:ext cx="181379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14|</a:t>
            </a:r>
          </a:p>
        </p:txBody>
      </p:sp>
      <p:sp>
        <p:nvSpPr>
          <p:cNvPr id="148" name="Line"/>
          <p:cNvSpPr/>
          <p:nvPr/>
        </p:nvSpPr>
        <p:spPr>
          <a:xfrm flipV="1">
            <a:off x="4057579" y="7385926"/>
            <a:ext cx="4625990" cy="62653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49" name="ACK 11|"/>
          <p:cNvSpPr/>
          <p:nvPr/>
        </p:nvSpPr>
        <p:spPr>
          <a:xfrm rot="21120000">
            <a:off x="5855044" y="7123916"/>
            <a:ext cx="162693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11|</a:t>
            </a:r>
          </a:p>
        </p:txBody>
      </p:sp>
      <p:sp>
        <p:nvSpPr>
          <p:cNvPr id="150" name="[bye]"/>
          <p:cNvSpPr/>
          <p:nvPr/>
        </p:nvSpPr>
        <p:spPr>
          <a:xfrm rot="21202716">
            <a:off x="7404444" y="6883168"/>
            <a:ext cx="1258749"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[bye]</a:t>
            </a:r>
          </a:p>
        </p:txBody>
      </p:sp>
      <p:sp>
        <p:nvSpPr>
          <p:cNvPr id="151" name="SEQ 14|"/>
          <p:cNvSpPr/>
          <p:nvPr/>
        </p:nvSpPr>
        <p:spPr>
          <a:xfrm rot="21154737">
            <a:off x="4287882" y="7317306"/>
            <a:ext cx="16915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14|</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advAuto="0"/>
      <p:bldP spid="143" grpId="0" animBg="1" advAuto="0"/>
      <p:bldP spid="147" grpId="0" animBg="1" advAuto="0"/>
      <p:bldP spid="149"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55"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56" name="Rectangle"/>
          <p:cNvSpPr/>
          <p:nvPr/>
        </p:nvSpPr>
        <p:spPr>
          <a:xfrm>
            <a:off x="9228756" y="-187354"/>
            <a:ext cx="284507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5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158" name="Line"/>
          <p:cNvSpPr/>
          <p:nvPr/>
        </p:nvSpPr>
        <p:spPr>
          <a:xfrm flipV="1">
            <a:off x="3995415" y="3842298"/>
            <a:ext cx="4625991" cy="62653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59" name="Line"/>
          <p:cNvSpPr/>
          <p:nvPr/>
        </p:nvSpPr>
        <p:spPr>
          <a:xfrm flipH="1" flipV="1">
            <a:off x="4016091" y="2694937"/>
            <a:ext cx="4559448" cy="51760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60" name="ACK 200"/>
          <p:cNvSpPr/>
          <p:nvPr/>
        </p:nvSpPr>
        <p:spPr>
          <a:xfrm rot="21120000">
            <a:off x="4176645" y="3885883"/>
            <a:ext cx="1669705" cy="470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200</a:t>
            </a:r>
          </a:p>
        </p:txBody>
      </p:sp>
      <p:sp>
        <p:nvSpPr>
          <p:cNvPr id="161" name="SEQ 0"/>
          <p:cNvSpPr/>
          <p:nvPr/>
        </p:nvSpPr>
        <p:spPr>
          <a:xfrm rot="380164">
            <a:off x="4331543" y="2020981"/>
            <a:ext cx="1207896" cy="47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0</a:t>
            </a:r>
          </a:p>
        </p:txBody>
      </p:sp>
      <p:sp>
        <p:nvSpPr>
          <p:cNvPr id="162" name="[GET request]"/>
          <p:cNvSpPr/>
          <p:nvPr/>
        </p:nvSpPr>
        <p:spPr>
          <a:xfrm rot="320164">
            <a:off x="5887172" y="2444580"/>
            <a:ext cx="292733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[GET request]</a:t>
            </a:r>
          </a:p>
        </p:txBody>
      </p:sp>
      <p:sp>
        <p:nvSpPr>
          <p:cNvPr id="163" name="[file, part 1]"/>
          <p:cNvSpPr/>
          <p:nvPr/>
        </p:nvSpPr>
        <p:spPr>
          <a:xfrm rot="21202716">
            <a:off x="5716911" y="3432972"/>
            <a:ext cx="330911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[file, part 1]</a:t>
            </a:r>
          </a:p>
        </p:txBody>
      </p:sp>
      <p:sp>
        <p:nvSpPr>
          <p:cNvPr id="164" name="SEQ 10"/>
          <p:cNvSpPr/>
          <p:nvPr/>
        </p:nvSpPr>
        <p:spPr>
          <a:xfrm rot="21154737">
            <a:off x="4115498" y="3549707"/>
            <a:ext cx="1428117" cy="5030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10</a:t>
            </a:r>
          </a:p>
        </p:txBody>
      </p:sp>
      <p:sp>
        <p:nvSpPr>
          <p:cNvPr id="165" name="ACK 10"/>
          <p:cNvSpPr/>
          <p:nvPr/>
        </p:nvSpPr>
        <p:spPr>
          <a:xfrm rot="360000">
            <a:off x="4270408" y="2346411"/>
            <a:ext cx="1424820" cy="552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10</a:t>
            </a:r>
          </a:p>
        </p:txBody>
      </p:sp>
      <p:sp>
        <p:nvSpPr>
          <p:cNvPr id="166" name="Line"/>
          <p:cNvSpPr/>
          <p:nvPr/>
        </p:nvSpPr>
        <p:spPr>
          <a:xfrm flipV="1">
            <a:off x="4008115" y="5078223"/>
            <a:ext cx="4625991" cy="62653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67" name="ACK 200"/>
          <p:cNvSpPr/>
          <p:nvPr/>
        </p:nvSpPr>
        <p:spPr>
          <a:xfrm rot="21120000">
            <a:off x="4136524" y="5095350"/>
            <a:ext cx="1670858" cy="5257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200</a:t>
            </a:r>
          </a:p>
        </p:txBody>
      </p:sp>
      <p:sp>
        <p:nvSpPr>
          <p:cNvPr id="168" name="[file, part 2]"/>
          <p:cNvSpPr/>
          <p:nvPr/>
        </p:nvSpPr>
        <p:spPr>
          <a:xfrm rot="21202716">
            <a:off x="5754370" y="4686571"/>
            <a:ext cx="330911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[file, part 2]</a:t>
            </a:r>
          </a:p>
        </p:txBody>
      </p:sp>
      <p:sp>
        <p:nvSpPr>
          <p:cNvPr id="169" name="SEQ 1510"/>
          <p:cNvSpPr/>
          <p:nvPr/>
        </p:nvSpPr>
        <p:spPr>
          <a:xfrm rot="21154737">
            <a:off x="4116350" y="4794156"/>
            <a:ext cx="1965299" cy="531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1510</a:t>
            </a:r>
          </a:p>
        </p:txBody>
      </p:sp>
      <p:sp>
        <p:nvSpPr>
          <p:cNvPr id="170" name="Line"/>
          <p:cNvSpPr/>
          <p:nvPr/>
        </p:nvSpPr>
        <p:spPr>
          <a:xfrm flipV="1">
            <a:off x="3995415" y="6224791"/>
            <a:ext cx="4625991" cy="626535"/>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71" name="ACK 200"/>
          <p:cNvSpPr/>
          <p:nvPr/>
        </p:nvSpPr>
        <p:spPr>
          <a:xfrm rot="21120000">
            <a:off x="4122101" y="6188085"/>
            <a:ext cx="170324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200</a:t>
            </a:r>
          </a:p>
        </p:txBody>
      </p:sp>
      <p:sp>
        <p:nvSpPr>
          <p:cNvPr id="172" name="[file, part 3]"/>
          <p:cNvSpPr/>
          <p:nvPr/>
        </p:nvSpPr>
        <p:spPr>
          <a:xfrm rot="21202716">
            <a:off x="5741670" y="5821845"/>
            <a:ext cx="330911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[file, part 3]</a:t>
            </a:r>
          </a:p>
        </p:txBody>
      </p:sp>
      <p:sp>
        <p:nvSpPr>
          <p:cNvPr id="173" name="SEQ 3010"/>
          <p:cNvSpPr/>
          <p:nvPr/>
        </p:nvSpPr>
        <p:spPr>
          <a:xfrm rot="21154737">
            <a:off x="4068239" y="5875254"/>
            <a:ext cx="197767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3010</a:t>
            </a:r>
          </a:p>
        </p:txBody>
      </p:sp>
      <p:sp>
        <p:nvSpPr>
          <p:cNvPr id="174" name="Line"/>
          <p:cNvSpPr/>
          <p:nvPr/>
        </p:nvSpPr>
        <p:spPr>
          <a:xfrm flipH="1" flipV="1">
            <a:off x="4004002" y="4584256"/>
            <a:ext cx="4812366" cy="3171538"/>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75" name="SEQ 200"/>
          <p:cNvSpPr/>
          <p:nvPr/>
        </p:nvSpPr>
        <p:spPr>
          <a:xfrm rot="2043739">
            <a:off x="6866372" y="6861834"/>
            <a:ext cx="17253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200</a:t>
            </a:r>
          </a:p>
        </p:txBody>
      </p:sp>
      <p:sp>
        <p:nvSpPr>
          <p:cNvPr id="176" name="ACK 1510"/>
          <p:cNvSpPr/>
          <p:nvPr/>
        </p:nvSpPr>
        <p:spPr>
          <a:xfrm rot="2055128">
            <a:off x="6688297" y="7125186"/>
            <a:ext cx="1853114"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1510</a:t>
            </a:r>
          </a:p>
        </p:txBody>
      </p:sp>
      <p:sp>
        <p:nvSpPr>
          <p:cNvPr id="177" name="Line"/>
          <p:cNvSpPr/>
          <p:nvPr/>
        </p:nvSpPr>
        <p:spPr>
          <a:xfrm flipH="1" flipV="1">
            <a:off x="3919274" y="5762042"/>
            <a:ext cx="4981791" cy="3234543"/>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78" name="SEQ 200"/>
          <p:cNvSpPr/>
          <p:nvPr/>
        </p:nvSpPr>
        <p:spPr>
          <a:xfrm rot="2043739">
            <a:off x="6023568" y="7513022"/>
            <a:ext cx="1725397"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200</a:t>
            </a:r>
          </a:p>
        </p:txBody>
      </p:sp>
      <p:sp>
        <p:nvSpPr>
          <p:cNvPr id="179" name="ACK 3010"/>
          <p:cNvSpPr/>
          <p:nvPr/>
        </p:nvSpPr>
        <p:spPr>
          <a:xfrm rot="2055128">
            <a:off x="5845494" y="7776373"/>
            <a:ext cx="1853113"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3010</a:t>
            </a:r>
          </a:p>
        </p:txBody>
      </p:sp>
      <p:sp>
        <p:nvSpPr>
          <p:cNvPr id="180" name="Line"/>
          <p:cNvSpPr/>
          <p:nvPr/>
        </p:nvSpPr>
        <p:spPr>
          <a:xfrm flipH="1" flipV="1">
            <a:off x="4039418" y="6934009"/>
            <a:ext cx="3674759" cy="238099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181" name="SEQ 200"/>
          <p:cNvSpPr/>
          <p:nvPr/>
        </p:nvSpPr>
        <p:spPr>
          <a:xfrm rot="2043739">
            <a:off x="4579503" y="7662526"/>
            <a:ext cx="17253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200</a:t>
            </a:r>
          </a:p>
        </p:txBody>
      </p:sp>
      <p:sp>
        <p:nvSpPr>
          <p:cNvPr id="182" name="ACK 3110"/>
          <p:cNvSpPr/>
          <p:nvPr/>
        </p:nvSpPr>
        <p:spPr>
          <a:xfrm rot="2055128">
            <a:off x="4401428" y="7925877"/>
            <a:ext cx="1853113"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3110</a:t>
            </a:r>
          </a:p>
        </p:txBody>
      </p:sp>
      <p:sp>
        <p:nvSpPr>
          <p:cNvPr id="183" name="200 bytes"/>
          <p:cNvSpPr/>
          <p:nvPr/>
        </p:nvSpPr>
        <p:spPr>
          <a:xfrm>
            <a:off x="1389447" y="1914117"/>
            <a:ext cx="1832373" cy="670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mn-lt"/>
                <a:ea typeface="+mn-ea"/>
                <a:cs typeface="+mn-cs"/>
                <a:sym typeface="Chalkboard SE Regular"/>
              </a:defRPr>
            </a:lvl1pPr>
          </a:lstStyle>
          <a:p>
            <a:r>
              <a:t>200 bytes</a:t>
            </a:r>
          </a:p>
        </p:txBody>
      </p:sp>
      <p:sp>
        <p:nvSpPr>
          <p:cNvPr id="184" name="1500 bytes"/>
          <p:cNvSpPr/>
          <p:nvPr/>
        </p:nvSpPr>
        <p:spPr>
          <a:xfrm>
            <a:off x="9576379" y="3247617"/>
            <a:ext cx="2149824" cy="670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mn-lt"/>
                <a:ea typeface="+mn-ea"/>
                <a:cs typeface="+mn-cs"/>
                <a:sym typeface="Chalkboard SE Regular"/>
              </a:defRPr>
            </a:lvl1pPr>
          </a:lstStyle>
          <a:p>
            <a:r>
              <a:t>1500 bytes</a:t>
            </a:r>
          </a:p>
        </p:txBody>
      </p:sp>
      <p:sp>
        <p:nvSpPr>
          <p:cNvPr id="185" name="1500 bytes"/>
          <p:cNvSpPr/>
          <p:nvPr/>
        </p:nvSpPr>
        <p:spPr>
          <a:xfrm>
            <a:off x="9576379" y="4541713"/>
            <a:ext cx="2149824" cy="670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mn-lt"/>
                <a:ea typeface="+mn-ea"/>
                <a:cs typeface="+mn-cs"/>
                <a:sym typeface="Chalkboard SE Regular"/>
              </a:defRPr>
            </a:lvl1pPr>
          </a:lstStyle>
          <a:p>
            <a:r>
              <a:t>1500 bytes</a:t>
            </a:r>
          </a:p>
        </p:txBody>
      </p:sp>
      <p:sp>
        <p:nvSpPr>
          <p:cNvPr id="186" name="100 bytes"/>
          <p:cNvSpPr/>
          <p:nvPr/>
        </p:nvSpPr>
        <p:spPr>
          <a:xfrm>
            <a:off x="9576379" y="5697413"/>
            <a:ext cx="2149824" cy="670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mn-lt"/>
                <a:ea typeface="+mn-ea"/>
                <a:cs typeface="+mn-cs"/>
                <a:sym typeface="Chalkboard SE Regular"/>
              </a:defRPr>
            </a:lvl1pPr>
          </a:lstStyle>
          <a:p>
            <a:r>
              <a:t>100 bytes</a:t>
            </a:r>
          </a:p>
        </p:txBody>
      </p:sp>
      <p:sp>
        <p:nvSpPr>
          <p:cNvPr id="187"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88"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189"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190"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iterate>
                                    <p:tmAbs val="0"/>
                                  </p:iterate>
                                  <p:childTnLst>
                                    <p:set>
                                      <p:cBhvr>
                                        <p:cTn id="38" fill="hold"/>
                                        <p:tgtEl>
                                          <p:spTgt spid="174"/>
                                        </p:tgtEl>
                                        <p:attrNameLst>
                                          <p:attrName>style.visibility</p:attrName>
                                        </p:attrNameLst>
                                      </p:cBhvr>
                                      <p:to>
                                        <p:strVal val="visible"/>
                                      </p:to>
                                    </p:set>
                                    <p:animEffect transition="in" filter="strips(downRight)">
                                      <p:cBhvr>
                                        <p:cTn id="39" dur="1000"/>
                                        <p:tgtEl>
                                          <p:spTgt spid="17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p:tmAbs val="0"/>
                                  </p:iterate>
                                  <p:childTnLst>
                                    <p:set>
                                      <p:cBhvr>
                                        <p:cTn id="43" fill="hold"/>
                                        <p:tgtEl>
                                          <p:spTgt spid="17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iterate>
                                    <p:tmAbs val="0"/>
                                  </p:iterate>
                                  <p:childTnLst>
                                    <p:set>
                                      <p:cBhvr>
                                        <p:cTn id="47" fill="hold"/>
                                        <p:tgtEl>
                                          <p:spTgt spid="17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iterate>
                                    <p:tmAbs val="0"/>
                                  </p:iterate>
                                  <p:childTnLst>
                                    <p:set>
                                      <p:cBhvr>
                                        <p:cTn id="51" fill="hold"/>
                                        <p:tgtEl>
                                          <p:spTgt spid="177"/>
                                        </p:tgtEl>
                                        <p:attrNameLst>
                                          <p:attrName>style.visibility</p:attrName>
                                        </p:attrNameLst>
                                      </p:cBhvr>
                                      <p:to>
                                        <p:strVal val="visible"/>
                                      </p:to>
                                    </p:set>
                                    <p:animEffect transition="in" filter="strips(downRight)">
                                      <p:cBhvr>
                                        <p:cTn id="52" dur="1000"/>
                                        <p:tgtEl>
                                          <p:spTgt spid="177"/>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p:tmAbs val="0"/>
                                  </p:iterate>
                                  <p:childTnLst>
                                    <p:set>
                                      <p:cBhvr>
                                        <p:cTn id="56" fill="hold"/>
                                        <p:tgtEl>
                                          <p:spTgt spid="17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p:tmAbs val="0"/>
                                  </p:iterate>
                                  <p:childTnLst>
                                    <p:set>
                                      <p:cBhvr>
                                        <p:cTn id="60" fill="hold"/>
                                        <p:tgtEl>
                                          <p:spTgt spid="17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8" presetClass="entr" presetSubtype="6" fill="hold" grpId="0" nodeType="clickEffect">
                                  <p:stCondLst>
                                    <p:cond delay="0"/>
                                  </p:stCondLst>
                                  <p:iterate>
                                    <p:tmAbs val="0"/>
                                  </p:iterate>
                                  <p:childTnLst>
                                    <p:set>
                                      <p:cBhvr>
                                        <p:cTn id="64" fill="hold"/>
                                        <p:tgtEl>
                                          <p:spTgt spid="180"/>
                                        </p:tgtEl>
                                        <p:attrNameLst>
                                          <p:attrName>style.visibility</p:attrName>
                                        </p:attrNameLst>
                                      </p:cBhvr>
                                      <p:to>
                                        <p:strVal val="visible"/>
                                      </p:to>
                                    </p:set>
                                    <p:animEffect transition="in" filter="strips(downRight)">
                                      <p:cBhvr>
                                        <p:cTn id="65" dur="1000"/>
                                        <p:tgtEl>
                                          <p:spTgt spid="180"/>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iterate>
                                    <p:tmAbs val="0"/>
                                  </p:iterate>
                                  <p:childTnLst>
                                    <p:set>
                                      <p:cBhvr>
                                        <p:cTn id="69" fill="hold"/>
                                        <p:tgtEl>
                                          <p:spTgt spid="18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iterate>
                                    <p:tmAbs val="0"/>
                                  </p:iterate>
                                  <p:childTnLst>
                                    <p:set>
                                      <p:cBhvr>
                                        <p:cTn id="73" fill="hold"/>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animBg="1" advAuto="0"/>
      <p:bldP spid="161" grpId="0" animBg="1" advAuto="0"/>
      <p:bldP spid="164" grpId="0" animBg="1" advAuto="0"/>
      <p:bldP spid="165" grpId="0" animBg="1" advAuto="0"/>
      <p:bldP spid="167" grpId="0" animBg="1" advAuto="0"/>
      <p:bldP spid="169" grpId="0" animBg="1" advAuto="0"/>
      <p:bldP spid="171" grpId="0" animBg="1" advAuto="0"/>
      <p:bldP spid="173" grpId="0" animBg="1" advAuto="0"/>
      <p:bldP spid="174" grpId="0" animBg="1" advAuto="0"/>
      <p:bldP spid="175" grpId="0" animBg="1" advAuto="0"/>
      <p:bldP spid="176" grpId="0" animBg="1" advAuto="0"/>
      <p:bldP spid="177" grpId="0" animBg="1" advAuto="0"/>
      <p:bldP spid="178" grpId="0" animBg="1" advAuto="0"/>
      <p:bldP spid="179" grpId="0" animBg="1" advAuto="0"/>
      <p:bldP spid="180" grpId="0" animBg="1" advAuto="0"/>
      <p:bldP spid="181" grpId="0" animBg="1" advAuto="0"/>
      <p:bldP spid="182"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 name="Simple things to remember"/>
          <p:cNvSpPr txBox="1">
            <a:spLocks noGrp="1"/>
          </p:cNvSpPr>
          <p:nvPr>
            <p:ph type="title"/>
          </p:nvPr>
        </p:nvSpPr>
        <p:spPr>
          <a:xfrm>
            <a:off x="1270000" y="654050"/>
            <a:ext cx="10464800" cy="1638300"/>
          </a:xfrm>
          <a:prstGeom prst="rect">
            <a:avLst/>
          </a:prstGeom>
        </p:spPr>
        <p:txBody>
          <a:bodyPr/>
          <a:lstStyle/>
          <a:p>
            <a:r>
              <a:t>Simple things to remember</a:t>
            </a:r>
          </a:p>
        </p:txBody>
      </p:sp>
      <p:sp>
        <p:nvSpPr>
          <p:cNvPr id="195" name="A TCP connection may carry  bidirectional communication…"/>
          <p:cNvSpPr txBox="1">
            <a:spLocks noGrp="1"/>
          </p:cNvSpPr>
          <p:nvPr>
            <p:ph type="body" idx="1"/>
          </p:nvPr>
        </p:nvSpPr>
        <p:spPr>
          <a:xfrm>
            <a:off x="854769" y="2451645"/>
            <a:ext cx="11295262" cy="5942807"/>
          </a:xfrm>
          <a:prstGeom prst="rect">
            <a:avLst/>
          </a:prstGeom>
        </p:spPr>
        <p:txBody>
          <a:bodyPr anchor="t"/>
          <a:lstStyle/>
          <a:p>
            <a:pPr>
              <a:spcBef>
                <a:spcPts val="3000"/>
              </a:spcBef>
            </a:pPr>
            <a:r>
              <a:t>A TCP connection may carry </a:t>
            </a:r>
            <a:br/>
            <a:r>
              <a:t>bidirectional communication</a:t>
            </a:r>
          </a:p>
          <a:p>
            <a:pPr>
              <a:spcBef>
                <a:spcPts val="3000"/>
              </a:spcBef>
            </a:pPr>
            <a:r>
              <a:t>A segment may or may not carry data </a:t>
            </a:r>
            <a:br/>
            <a:r>
              <a:t>(but it always carries a SEQ)</a:t>
            </a:r>
          </a:p>
          <a:p>
            <a:pPr>
              <a:spcBef>
                <a:spcPts val="3000"/>
              </a:spcBef>
            </a:pPr>
            <a:r>
              <a:t>There exists a maximum segment size (MSS), dictated by network properties</a:t>
            </a:r>
          </a:p>
        </p:txBody>
      </p:sp>
      <p:sp>
        <p:nvSpPr>
          <p:cNvPr id="196"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build="p" animBg="1"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 name="TCP: reliability elements"/>
          <p:cNvSpPr txBox="1">
            <a:spLocks noGrp="1"/>
          </p:cNvSpPr>
          <p:nvPr>
            <p:ph type="title"/>
          </p:nvPr>
        </p:nvSpPr>
        <p:spPr>
          <a:xfrm>
            <a:off x="1270000" y="654050"/>
            <a:ext cx="10464800" cy="1638300"/>
          </a:xfrm>
          <a:prstGeom prst="rect">
            <a:avLst/>
          </a:prstGeom>
        </p:spPr>
        <p:txBody>
          <a:bodyPr/>
          <a:lstStyle/>
          <a:p>
            <a:r>
              <a:t>TCP: reliability elements</a:t>
            </a:r>
          </a:p>
        </p:txBody>
      </p:sp>
      <p:sp>
        <p:nvSpPr>
          <p:cNvPr id="201" name="Checksums to detect corruption…"/>
          <p:cNvSpPr txBox="1">
            <a:spLocks noGrp="1"/>
          </p:cNvSpPr>
          <p:nvPr>
            <p:ph type="body" idx="1"/>
          </p:nvPr>
        </p:nvSpPr>
        <p:spPr>
          <a:xfrm>
            <a:off x="854769" y="2311648"/>
            <a:ext cx="11295262" cy="6141195"/>
          </a:xfrm>
          <a:prstGeom prst="rect">
            <a:avLst/>
          </a:prstGeom>
        </p:spPr>
        <p:txBody>
          <a:bodyPr anchor="t"/>
          <a:lstStyle/>
          <a:p>
            <a:pPr>
              <a:spcBef>
                <a:spcPts val="2000"/>
              </a:spcBef>
              <a:buClr>
                <a:srgbClr val="EBEBEB"/>
              </a:buClr>
              <a:defRPr>
                <a:solidFill>
                  <a:srgbClr val="EBEBEB"/>
                </a:solidFill>
              </a:defRPr>
            </a:pPr>
            <a:r>
              <a:t>Checksums to detect corruption</a:t>
            </a:r>
          </a:p>
          <a:p>
            <a:pPr>
              <a:spcBef>
                <a:spcPts val="2000"/>
              </a:spcBef>
              <a:buClr>
                <a:srgbClr val="EBEBEB"/>
              </a:buClr>
              <a:defRPr>
                <a:solidFill>
                  <a:srgbClr val="EBEBEB"/>
                </a:solidFill>
              </a:defRPr>
            </a:pPr>
            <a:r>
              <a:t>ACKs to signal successful reception</a:t>
            </a:r>
          </a:p>
          <a:p>
            <a:pPr>
              <a:spcBef>
                <a:spcPts val="2000"/>
              </a:spcBef>
              <a:buClr>
                <a:srgbClr val="EBEBEB"/>
              </a:buClr>
              <a:defRPr>
                <a:solidFill>
                  <a:srgbClr val="EBEBEB"/>
                </a:solidFill>
              </a:defRPr>
            </a:pPr>
            <a:r>
              <a:t>SEQs to disambiguate segments</a:t>
            </a:r>
          </a:p>
          <a:p>
            <a:pPr>
              <a:spcBef>
                <a:spcPts val="2000"/>
              </a:spcBef>
            </a:pPr>
            <a:r>
              <a:rPr>
                <a:solidFill>
                  <a:srgbClr val="942193"/>
                </a:solidFill>
              </a:rPr>
              <a:t>Timeouts</a:t>
            </a:r>
            <a:r>
              <a:t> to detect corruption+loss</a:t>
            </a:r>
          </a:p>
          <a:p>
            <a:pPr>
              <a:spcBef>
                <a:spcPts val="2000"/>
              </a:spcBef>
            </a:pPr>
            <a:r>
              <a:rPr>
                <a:solidFill>
                  <a:srgbClr val="942193"/>
                </a:solidFill>
              </a:rPr>
              <a:t>Retransmissions</a:t>
            </a:r>
            <a:r>
              <a:t> to recover </a:t>
            </a:r>
            <a:br/>
            <a:r>
              <a:t>from corruption+loss</a:t>
            </a:r>
          </a:p>
        </p:txBody>
      </p:sp>
      <p:sp>
        <p:nvSpPr>
          <p:cNvPr id="202"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06"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07" name="Rectangle"/>
          <p:cNvSpPr/>
          <p:nvPr/>
        </p:nvSpPr>
        <p:spPr>
          <a:xfrm>
            <a:off x="9228756" y="-187354"/>
            <a:ext cx="281128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0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
        <p:nvSpPr>
          <p:cNvPr id="209" name="Line"/>
          <p:cNvSpPr/>
          <p:nvPr/>
        </p:nvSpPr>
        <p:spPr>
          <a:xfrm flipH="1" flipV="1">
            <a:off x="4016091" y="2694937"/>
            <a:ext cx="3194198" cy="35592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10" name="SEQ 0"/>
          <p:cNvSpPr/>
          <p:nvPr/>
        </p:nvSpPr>
        <p:spPr>
          <a:xfrm rot="380164">
            <a:off x="4511064" y="2290080"/>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0</a:t>
            </a:r>
          </a:p>
        </p:txBody>
      </p:sp>
      <p:sp>
        <p:nvSpPr>
          <p:cNvPr id="211" name="X"/>
          <p:cNvSpPr/>
          <p:nvPr/>
        </p:nvSpPr>
        <p:spPr>
          <a:xfrm>
            <a:off x="7054608" y="2345119"/>
            <a:ext cx="558801" cy="1270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212" name="timeout"/>
          <p:cNvSpPr/>
          <p:nvPr/>
        </p:nvSpPr>
        <p:spPr>
          <a:xfrm>
            <a:off x="1335218" y="5428126"/>
            <a:ext cx="1667679" cy="685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timeout</a:t>
            </a:r>
          </a:p>
        </p:txBody>
      </p:sp>
      <p:sp>
        <p:nvSpPr>
          <p:cNvPr id="213" name="Line"/>
          <p:cNvSpPr/>
          <p:nvPr/>
        </p:nvSpPr>
        <p:spPr>
          <a:xfrm flipH="1" flipV="1">
            <a:off x="4016091" y="5980376"/>
            <a:ext cx="4559448"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14" name="SEQ 0"/>
          <p:cNvSpPr/>
          <p:nvPr/>
        </p:nvSpPr>
        <p:spPr>
          <a:xfrm rot="380164">
            <a:off x="4511064" y="5575520"/>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0</a:t>
            </a:r>
          </a:p>
        </p:txBody>
      </p:sp>
      <p:sp>
        <p:nvSpPr>
          <p:cNvPr id="215"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16"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217"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218"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iterate>
                                    <p:tmAbs val="0"/>
                                  </p:iterate>
                                  <p:childTnLst>
                                    <p:set>
                                      <p:cBhvr>
                                        <p:cTn id="10" fill="hold"/>
                                        <p:tgtEl>
                                          <p:spTgt spid="213"/>
                                        </p:tgtEl>
                                        <p:attrNameLst>
                                          <p:attrName>style.visibility</p:attrName>
                                        </p:attrNameLst>
                                      </p:cBhvr>
                                      <p:to>
                                        <p:strVal val="visible"/>
                                      </p:to>
                                    </p:set>
                                    <p:animEffect transition="in" filter="strips(downRight)">
                                      <p:cBhvr>
                                        <p:cTn id="11" dur="1000"/>
                                        <p:tgtEl>
                                          <p:spTgt spid="213"/>
                                        </p:tgtEl>
                                      </p:cBhvr>
                                    </p:animEffect>
                                  </p:childTnLst>
                                </p:cTn>
                              </p:par>
                            </p:childTnLst>
                          </p:cTn>
                        </p:par>
                        <p:par>
                          <p:cTn id="12" fill="hold">
                            <p:stCondLst>
                              <p:cond delay="1000"/>
                            </p:stCondLst>
                            <p:childTnLst>
                              <p:par>
                                <p:cTn id="13" presetID="1" presetClass="entr" presetSubtype="0" fill="hold" grpId="0" nodeType="afterEffect">
                                  <p:stCondLst>
                                    <p:cond delay="0"/>
                                  </p:stCondLst>
                                  <p:iterate>
                                    <p:tmAbs val="0"/>
                                  </p:iterate>
                                  <p:childTnLst>
                                    <p:set>
                                      <p:cBhvr>
                                        <p:cTn id="14" fill="hold"/>
                                        <p:tgtEl>
                                          <p:spTgt spid="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animBg="1" advAuto="0"/>
      <p:bldP spid="213" grpId="0" animBg="1" advAuto="0"/>
      <p:bldP spid="214"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22"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223" name="How long should the timeout be?"/>
          <p:cNvSpPr/>
          <p:nvPr/>
        </p:nvSpPr>
        <p:spPr>
          <a:xfrm>
            <a:off x="2396455" y="2534094"/>
            <a:ext cx="8211890" cy="7489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a:solidFill>
                  <a:srgbClr val="942193"/>
                </a:solidFill>
                <a:latin typeface="+mn-lt"/>
                <a:ea typeface="+mn-ea"/>
                <a:cs typeface="+mn-cs"/>
                <a:sym typeface="Chalkboard SE Regular"/>
              </a:defRPr>
            </a:lvl1pPr>
          </a:lstStyle>
          <a:p>
            <a:r>
              <a:rPr dirty="0">
                <a:solidFill>
                  <a:schemeClr val="accent5"/>
                </a:solidFill>
              </a:rPr>
              <a:t>How long should the timeout be?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27" name="Timeout calculation"/>
          <p:cNvSpPr txBox="1">
            <a:spLocks noGrp="1"/>
          </p:cNvSpPr>
          <p:nvPr>
            <p:ph type="title"/>
          </p:nvPr>
        </p:nvSpPr>
        <p:spPr>
          <a:xfrm>
            <a:off x="897011" y="-463176"/>
            <a:ext cx="10464800" cy="2438400"/>
          </a:xfrm>
          <a:prstGeom prst="rect">
            <a:avLst/>
          </a:prstGeom>
        </p:spPr>
        <p:txBody>
          <a:bodyPr/>
          <a:lstStyle/>
          <a:p>
            <a:r>
              <a:rPr dirty="0"/>
              <a:t>Timeout calculation </a:t>
            </a:r>
          </a:p>
        </p:txBody>
      </p:sp>
      <p:sp>
        <p:nvSpPr>
          <p:cNvPr id="228" name="EstimatedRTT =                                                   0.875 EstimatedRTT + 0.125 SampleRTT…"/>
          <p:cNvSpPr txBox="1">
            <a:spLocks noGrp="1"/>
          </p:cNvSpPr>
          <p:nvPr>
            <p:ph type="body" sz="half" idx="1"/>
          </p:nvPr>
        </p:nvSpPr>
        <p:spPr>
          <a:xfrm>
            <a:off x="151032" y="1477483"/>
            <a:ext cx="12596779" cy="4191000"/>
          </a:xfrm>
          <a:prstGeom prst="rect">
            <a:avLst/>
          </a:prstGeom>
        </p:spPr>
        <p:txBody>
          <a:bodyPr anchor="t"/>
          <a:lstStyle/>
          <a:p>
            <a:r>
              <a:rPr lang="en-US" dirty="0"/>
              <a:t>RTT estimation relies on a sliding window</a:t>
            </a:r>
          </a:p>
          <a:p>
            <a:pPr lvl="1"/>
            <a:r>
              <a:rPr lang="en-US" dirty="0"/>
              <a:t>the current estimate depends on past estimates and a new sample, and each term is appropriately weighed.</a:t>
            </a:r>
          </a:p>
          <a:p>
            <a:pPr>
              <a:spcBef>
                <a:spcPts val="3000"/>
              </a:spcBef>
            </a:pPr>
            <a:r>
              <a:rPr dirty="0" err="1"/>
              <a:t>EstimatedRTT</a:t>
            </a:r>
            <a:r>
              <a:rPr dirty="0"/>
              <a:t> =                                                   0.875 </a:t>
            </a:r>
            <a:r>
              <a:rPr dirty="0" err="1"/>
              <a:t>EstimatedRTT</a:t>
            </a:r>
            <a:r>
              <a:rPr dirty="0"/>
              <a:t> + 0.125 </a:t>
            </a:r>
            <a:r>
              <a:rPr dirty="0" err="1"/>
              <a:t>SampleRTT</a:t>
            </a:r>
            <a:endParaRPr dirty="0"/>
          </a:p>
          <a:p>
            <a:pPr>
              <a:spcBef>
                <a:spcPts val="3000"/>
              </a:spcBef>
            </a:pPr>
            <a:r>
              <a:rPr dirty="0" err="1"/>
              <a:t>DevRTT</a:t>
            </a:r>
            <a:r>
              <a:rPr dirty="0"/>
              <a:t> = function(RTT variance)</a:t>
            </a:r>
          </a:p>
          <a:p>
            <a:pPr>
              <a:spcBef>
                <a:spcPts val="3000"/>
              </a:spcBef>
            </a:pPr>
            <a:r>
              <a:rPr dirty="0"/>
              <a:t>Timeout = </a:t>
            </a:r>
            <a:r>
              <a:rPr dirty="0" err="1"/>
              <a:t>EstimatedRTT</a:t>
            </a:r>
            <a:r>
              <a:rPr dirty="0"/>
              <a:t> + 4 </a:t>
            </a:r>
            <a:r>
              <a:rPr dirty="0" err="1"/>
              <a:t>DevRTT</a:t>
            </a:r>
            <a:endParaRPr dirty="0"/>
          </a:p>
        </p:txBody>
      </p:sp>
      <p:sp>
        <p:nvSpPr>
          <p:cNvPr id="229"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230" name="Empirical, conservative prediction of RTT"/>
          <p:cNvSpPr/>
          <p:nvPr/>
        </p:nvSpPr>
        <p:spPr>
          <a:xfrm>
            <a:off x="897011" y="7841503"/>
            <a:ext cx="10664628" cy="8692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a:solidFill>
                  <a:srgbClr val="942193"/>
                </a:solidFill>
                <a:latin typeface="+mn-lt"/>
                <a:ea typeface="+mn-ea"/>
                <a:cs typeface="+mn-cs"/>
                <a:sym typeface="Chalkboard SE Regular"/>
              </a:defRPr>
            </a:lvl1pPr>
          </a:lstStyle>
          <a:p>
            <a:r>
              <a:rPr dirty="0"/>
              <a:t>Empirical, conservative prediction of RTT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8">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228">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2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2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 grpId="0" build="p" bldLvl="5" animBg="1" advAuto="0"/>
      <p:bldP spid="230"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34"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35" name="Rectangle"/>
          <p:cNvSpPr/>
          <p:nvPr/>
        </p:nvSpPr>
        <p:spPr>
          <a:xfrm>
            <a:off x="9228756" y="-187354"/>
            <a:ext cx="2775914"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3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237" name="Line"/>
          <p:cNvSpPr/>
          <p:nvPr/>
        </p:nvSpPr>
        <p:spPr>
          <a:xfrm flipV="1">
            <a:off x="4040443" y="2591569"/>
            <a:ext cx="4544217" cy="295138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38" name="Line"/>
          <p:cNvSpPr/>
          <p:nvPr/>
        </p:nvSpPr>
        <p:spPr>
          <a:xfrm flipH="1" flipV="1">
            <a:off x="4016091" y="2032921"/>
            <a:ext cx="4559448"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39" name="ACK 1"/>
          <p:cNvSpPr/>
          <p:nvPr/>
        </p:nvSpPr>
        <p:spPr>
          <a:xfrm rot="19560000">
            <a:off x="4120401" y="4531405"/>
            <a:ext cx="119303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ACK 1</a:t>
            </a:r>
          </a:p>
        </p:txBody>
      </p:sp>
      <p:sp>
        <p:nvSpPr>
          <p:cNvPr id="240" name="SEQ 0"/>
          <p:cNvSpPr/>
          <p:nvPr/>
        </p:nvSpPr>
        <p:spPr>
          <a:xfrm rot="380164">
            <a:off x="4511064" y="1628064"/>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0</a:t>
            </a:r>
          </a:p>
        </p:txBody>
      </p:sp>
      <p:sp>
        <p:nvSpPr>
          <p:cNvPr id="241" name="Line"/>
          <p:cNvSpPr/>
          <p:nvPr/>
        </p:nvSpPr>
        <p:spPr>
          <a:xfrm flipH="1" flipV="1">
            <a:off x="4032015" y="2528752"/>
            <a:ext cx="2955676" cy="32315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42" name="SEQ 1"/>
          <p:cNvSpPr/>
          <p:nvPr/>
        </p:nvSpPr>
        <p:spPr>
          <a:xfrm rot="380164">
            <a:off x="4526988" y="2108419"/>
            <a:ext cx="1207897"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1</a:t>
            </a:r>
          </a:p>
        </p:txBody>
      </p:sp>
      <p:sp>
        <p:nvSpPr>
          <p:cNvPr id="243" name="Line"/>
          <p:cNvSpPr/>
          <p:nvPr/>
        </p:nvSpPr>
        <p:spPr>
          <a:xfrm flipH="1" flipV="1">
            <a:off x="4032016" y="3049293"/>
            <a:ext cx="4559447"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44" name="SEQ 2"/>
          <p:cNvSpPr/>
          <p:nvPr/>
        </p:nvSpPr>
        <p:spPr>
          <a:xfrm rot="380164">
            <a:off x="4516857" y="2643677"/>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2</a:t>
            </a:r>
          </a:p>
        </p:txBody>
      </p:sp>
      <p:sp>
        <p:nvSpPr>
          <p:cNvPr id="245" name="Line"/>
          <p:cNvSpPr/>
          <p:nvPr/>
        </p:nvSpPr>
        <p:spPr>
          <a:xfrm flipH="1" flipV="1">
            <a:off x="4032068" y="3613796"/>
            <a:ext cx="4559447" cy="51760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46" name="SEQ 3"/>
          <p:cNvSpPr/>
          <p:nvPr/>
        </p:nvSpPr>
        <p:spPr>
          <a:xfrm rot="380164">
            <a:off x="4480245" y="3172312"/>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3</a:t>
            </a:r>
          </a:p>
        </p:txBody>
      </p:sp>
      <p:sp>
        <p:nvSpPr>
          <p:cNvPr id="247" name="X"/>
          <p:cNvSpPr/>
          <p:nvPr/>
        </p:nvSpPr>
        <p:spPr>
          <a:xfrm>
            <a:off x="6806943" y="2114498"/>
            <a:ext cx="558801" cy="1270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248" name="fast retransmit"/>
          <p:cNvSpPr/>
          <p:nvPr/>
        </p:nvSpPr>
        <p:spPr>
          <a:xfrm>
            <a:off x="1154556" y="7422026"/>
            <a:ext cx="2552701" cy="1168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fast retransmit</a:t>
            </a:r>
          </a:p>
        </p:txBody>
      </p:sp>
      <p:sp>
        <p:nvSpPr>
          <p:cNvPr id="249" name="Line"/>
          <p:cNvSpPr/>
          <p:nvPr/>
        </p:nvSpPr>
        <p:spPr>
          <a:xfrm flipH="1" flipV="1">
            <a:off x="4005050" y="8558476"/>
            <a:ext cx="4559448"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0" name="SEQ 1"/>
          <p:cNvSpPr/>
          <p:nvPr/>
        </p:nvSpPr>
        <p:spPr>
          <a:xfrm rot="380164">
            <a:off x="4500023" y="8153620"/>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1</a:t>
            </a:r>
          </a:p>
        </p:txBody>
      </p:sp>
      <p:sp>
        <p:nvSpPr>
          <p:cNvPr id="251" name="Line"/>
          <p:cNvSpPr/>
          <p:nvPr/>
        </p:nvSpPr>
        <p:spPr>
          <a:xfrm flipH="1" flipV="1">
            <a:off x="4000116" y="4154748"/>
            <a:ext cx="4559447"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2" name="SEQ 4"/>
          <p:cNvSpPr/>
          <p:nvPr/>
        </p:nvSpPr>
        <p:spPr>
          <a:xfrm rot="380164">
            <a:off x="4448293" y="3713264"/>
            <a:ext cx="120789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SEQ 4</a:t>
            </a:r>
          </a:p>
        </p:txBody>
      </p:sp>
      <p:sp>
        <p:nvSpPr>
          <p:cNvPr id="253" name="Line"/>
          <p:cNvSpPr/>
          <p:nvPr/>
        </p:nvSpPr>
        <p:spPr>
          <a:xfrm flipV="1">
            <a:off x="4008490" y="3642592"/>
            <a:ext cx="4544218" cy="295138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4" name="ACK 1"/>
          <p:cNvSpPr/>
          <p:nvPr/>
        </p:nvSpPr>
        <p:spPr>
          <a:xfrm rot="19560000">
            <a:off x="4088448" y="5582427"/>
            <a:ext cx="119303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ACK 1</a:t>
            </a:r>
          </a:p>
        </p:txBody>
      </p:sp>
      <p:sp>
        <p:nvSpPr>
          <p:cNvPr id="255" name="Line"/>
          <p:cNvSpPr/>
          <p:nvPr/>
        </p:nvSpPr>
        <p:spPr>
          <a:xfrm flipV="1">
            <a:off x="4008429" y="4188875"/>
            <a:ext cx="4544217" cy="295138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6" name="ACK 1"/>
          <p:cNvSpPr/>
          <p:nvPr/>
        </p:nvSpPr>
        <p:spPr>
          <a:xfrm rot="19560000">
            <a:off x="4088387" y="6128711"/>
            <a:ext cx="119303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ACK 1</a:t>
            </a:r>
          </a:p>
        </p:txBody>
      </p:sp>
      <p:sp>
        <p:nvSpPr>
          <p:cNvPr id="257" name="Line"/>
          <p:cNvSpPr/>
          <p:nvPr/>
        </p:nvSpPr>
        <p:spPr>
          <a:xfrm flipV="1">
            <a:off x="4008460" y="4735159"/>
            <a:ext cx="4544217" cy="295138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8" name="ACK 1"/>
          <p:cNvSpPr/>
          <p:nvPr/>
        </p:nvSpPr>
        <p:spPr>
          <a:xfrm rot="19560000">
            <a:off x="4088418" y="6674994"/>
            <a:ext cx="119303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424242"/>
                </a:solidFill>
                <a:latin typeface="Courier"/>
                <a:ea typeface="Courier"/>
                <a:cs typeface="Courier"/>
                <a:sym typeface="Courier"/>
              </a:defRPr>
            </a:lvl1pPr>
          </a:lstStyle>
          <a:p>
            <a:r>
              <a:t>ACK 1</a:t>
            </a:r>
          </a:p>
        </p:txBody>
      </p:sp>
      <p:sp>
        <p:nvSpPr>
          <p:cNvPr id="259"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60" name="Alice’s computer"/>
          <p:cNvSpPr/>
          <p:nvPr/>
        </p:nvSpPr>
        <p:spPr>
          <a:xfrm>
            <a:off x="-150365" y="485477"/>
            <a:ext cx="4419601"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261" name="Bob’s computer"/>
          <p:cNvSpPr/>
          <p:nvPr/>
        </p:nvSpPr>
        <p:spPr>
          <a:xfrm>
            <a:off x="8676853" y="485477"/>
            <a:ext cx="4419601"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262"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2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249"/>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iterate>
                                    <p:tmAbs val="0"/>
                                  </p:iterate>
                                  <p:childTnLst>
                                    <p:set>
                                      <p:cBhvr>
                                        <p:cTn id="29" fill="hold"/>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animBg="1" advAuto="0"/>
      <p:bldP spid="248" grpId="0" animBg="1" advAuto="0"/>
      <p:bldP spid="249" grpId="0" animBg="1" advAuto="0"/>
      <p:bldP spid="250" grpId="0" animBg="1" advAuto="0"/>
      <p:bldP spid="254" grpId="0" animBg="1" advAuto="0"/>
      <p:bldP spid="256" grpId="0" animBg="1" advAuto="0"/>
      <p:bldP spid="258"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 name="Two retransmission triggers"/>
          <p:cNvSpPr txBox="1">
            <a:spLocks noGrp="1"/>
          </p:cNvSpPr>
          <p:nvPr>
            <p:ph type="title"/>
          </p:nvPr>
        </p:nvSpPr>
        <p:spPr>
          <a:xfrm>
            <a:off x="1270000" y="654050"/>
            <a:ext cx="10464800" cy="1638300"/>
          </a:xfrm>
          <a:prstGeom prst="rect">
            <a:avLst/>
          </a:prstGeom>
        </p:spPr>
        <p:txBody>
          <a:bodyPr/>
          <a:lstStyle/>
          <a:p>
            <a:r>
              <a:t>Two retransmission triggers</a:t>
            </a:r>
          </a:p>
        </p:txBody>
      </p:sp>
      <p:sp>
        <p:nvSpPr>
          <p:cNvPr id="267" name="Timeout =&gt; retransmission of oldest unacknowledged segment…"/>
          <p:cNvSpPr txBox="1">
            <a:spLocks noGrp="1"/>
          </p:cNvSpPr>
          <p:nvPr>
            <p:ph type="body" idx="1"/>
          </p:nvPr>
        </p:nvSpPr>
        <p:spPr>
          <a:xfrm>
            <a:off x="778569" y="2412996"/>
            <a:ext cx="11783815" cy="6342163"/>
          </a:xfrm>
          <a:prstGeom prst="rect">
            <a:avLst/>
          </a:prstGeom>
        </p:spPr>
        <p:txBody>
          <a:bodyPr anchor="t"/>
          <a:lstStyle/>
          <a:p>
            <a:r>
              <a:rPr>
                <a:solidFill>
                  <a:srgbClr val="942193"/>
                </a:solidFill>
              </a:rPr>
              <a:t>Timeout</a:t>
            </a:r>
            <a:r>
              <a:t> =&gt; retransmission of oldest unacknowledged segment</a:t>
            </a:r>
          </a:p>
          <a:p>
            <a:pPr>
              <a:spcBef>
                <a:spcPts val="0"/>
              </a:spcBef>
            </a:pPr>
            <a:r>
              <a:rPr>
                <a:solidFill>
                  <a:srgbClr val="942193"/>
                </a:solidFill>
              </a:rPr>
              <a:t>3 duplicate ACKs</a:t>
            </a:r>
            <a:r>
              <a:t> =&gt; fast retransmit of oldest unacknowledged segment</a:t>
            </a:r>
          </a:p>
          <a:p>
            <a:pPr lvl="1">
              <a:spcBef>
                <a:spcPts val="0"/>
              </a:spcBef>
            </a:pPr>
            <a:r>
              <a:t>avoid </a:t>
            </a:r>
            <a:r>
              <a:rPr>
                <a:solidFill>
                  <a:srgbClr val="942193"/>
                </a:solidFill>
              </a:rPr>
              <a:t>unnecessary wait</a:t>
            </a:r>
            <a:r>
              <a:t> for timeout</a:t>
            </a:r>
          </a:p>
          <a:p>
            <a:pPr lvl="1">
              <a:spcBef>
                <a:spcPts val="0"/>
              </a:spcBef>
            </a:pPr>
            <a:r>
              <a:t>1 duplicate ACK not enough &lt;= network may have reordered a data segment or duplicated an ACK</a:t>
            </a:r>
          </a:p>
        </p:txBody>
      </p:sp>
      <p:sp>
        <p:nvSpPr>
          <p:cNvPr id="268"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6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6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6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26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build="p" animBg="1"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72" name="TCP: reliability elements"/>
          <p:cNvSpPr txBox="1">
            <a:spLocks noGrp="1"/>
          </p:cNvSpPr>
          <p:nvPr>
            <p:ph type="title"/>
          </p:nvPr>
        </p:nvSpPr>
        <p:spPr>
          <a:xfrm>
            <a:off x="1270000" y="654050"/>
            <a:ext cx="10464800" cy="1638300"/>
          </a:xfrm>
          <a:prstGeom prst="rect">
            <a:avLst/>
          </a:prstGeom>
        </p:spPr>
        <p:txBody>
          <a:bodyPr/>
          <a:lstStyle/>
          <a:p>
            <a:r>
              <a:t>TCP: reliability elements</a:t>
            </a:r>
          </a:p>
        </p:txBody>
      </p:sp>
      <p:sp>
        <p:nvSpPr>
          <p:cNvPr id="273" name="Checksums to detect corruption…"/>
          <p:cNvSpPr txBox="1">
            <a:spLocks noGrp="1"/>
          </p:cNvSpPr>
          <p:nvPr>
            <p:ph type="body" idx="1"/>
          </p:nvPr>
        </p:nvSpPr>
        <p:spPr>
          <a:xfrm>
            <a:off x="854769" y="2311648"/>
            <a:ext cx="11295262" cy="6141195"/>
          </a:xfrm>
          <a:prstGeom prst="rect">
            <a:avLst/>
          </a:prstGeom>
        </p:spPr>
        <p:txBody>
          <a:bodyPr anchor="t"/>
          <a:lstStyle/>
          <a:p>
            <a:pPr>
              <a:spcBef>
                <a:spcPts val="2000"/>
              </a:spcBef>
            </a:pPr>
            <a:r>
              <a:rPr>
                <a:solidFill>
                  <a:srgbClr val="942193"/>
                </a:solidFill>
              </a:rPr>
              <a:t>Checksums </a:t>
            </a:r>
            <a:r>
              <a:t>to detect corruption</a:t>
            </a:r>
          </a:p>
          <a:p>
            <a:pPr marL="807357" indent="-489857">
              <a:spcBef>
                <a:spcPts val="2000"/>
              </a:spcBef>
            </a:pPr>
            <a:r>
              <a:rPr>
                <a:solidFill>
                  <a:srgbClr val="942193"/>
                </a:solidFill>
              </a:rPr>
              <a:t>ACKs</a:t>
            </a:r>
            <a:r>
              <a:t> to signal successful reception</a:t>
            </a:r>
          </a:p>
          <a:p>
            <a:pPr marL="807357" indent="-489857">
              <a:spcBef>
                <a:spcPts val="2000"/>
              </a:spcBef>
            </a:pPr>
            <a:r>
              <a:rPr>
                <a:solidFill>
                  <a:srgbClr val="942193"/>
                </a:solidFill>
              </a:rPr>
              <a:t>SEQs</a:t>
            </a:r>
            <a:r>
              <a:t> to disambiguate segments</a:t>
            </a:r>
          </a:p>
          <a:p>
            <a:pPr>
              <a:spcBef>
                <a:spcPts val="2000"/>
              </a:spcBef>
            </a:pPr>
            <a:r>
              <a:rPr>
                <a:solidFill>
                  <a:srgbClr val="942193"/>
                </a:solidFill>
              </a:rPr>
              <a:t>Timeouts</a:t>
            </a:r>
            <a:r>
              <a:t> to detect corruption+loss</a:t>
            </a:r>
          </a:p>
          <a:p>
            <a:pPr>
              <a:spcBef>
                <a:spcPts val="2000"/>
              </a:spcBef>
            </a:pPr>
            <a:r>
              <a:rPr>
                <a:solidFill>
                  <a:srgbClr val="942193"/>
                </a:solidFill>
              </a:rPr>
              <a:t>Retransmissions</a:t>
            </a:r>
            <a:r>
              <a:t> to recover </a:t>
            </a:r>
            <a:br/>
            <a:r>
              <a:t>from corruption+loss</a:t>
            </a:r>
          </a:p>
        </p:txBody>
      </p:sp>
      <p:sp>
        <p:nvSpPr>
          <p:cNvPr id="274"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8" name="Is TCP Go-back-N or SR?"/>
          <p:cNvSpPr txBox="1">
            <a:spLocks noGrp="1"/>
          </p:cNvSpPr>
          <p:nvPr>
            <p:ph type="title"/>
          </p:nvPr>
        </p:nvSpPr>
        <p:spPr>
          <a:xfrm>
            <a:off x="1270000" y="654050"/>
            <a:ext cx="10464800" cy="1638300"/>
          </a:xfrm>
          <a:prstGeom prst="rect">
            <a:avLst/>
          </a:prstGeom>
        </p:spPr>
        <p:txBody>
          <a:bodyPr/>
          <a:lstStyle/>
          <a:p>
            <a:r>
              <a:t>Is TCP Go-back-N or SR?</a:t>
            </a:r>
          </a:p>
        </p:txBody>
      </p:sp>
      <p:sp>
        <p:nvSpPr>
          <p:cNvPr id="279" name="Go-back-N: cumulative ACKs,  retransmits multiple segments…"/>
          <p:cNvSpPr txBox="1">
            <a:spLocks noGrp="1"/>
          </p:cNvSpPr>
          <p:nvPr>
            <p:ph type="body" idx="1"/>
          </p:nvPr>
        </p:nvSpPr>
        <p:spPr>
          <a:xfrm>
            <a:off x="722247" y="2345725"/>
            <a:ext cx="11911488" cy="6141195"/>
          </a:xfrm>
          <a:prstGeom prst="rect">
            <a:avLst/>
          </a:prstGeom>
        </p:spPr>
        <p:txBody>
          <a:bodyPr anchor="t"/>
          <a:lstStyle/>
          <a:p>
            <a:pPr>
              <a:spcBef>
                <a:spcPts val="3000"/>
              </a:spcBef>
            </a:pPr>
            <a:r>
              <a:rPr dirty="0"/>
              <a:t>Go-back-N: </a:t>
            </a:r>
            <a:r>
              <a:rPr b="1" dirty="0"/>
              <a:t>cumulative ACKs</a:t>
            </a:r>
            <a:r>
              <a:rPr dirty="0"/>
              <a:t>, </a:t>
            </a:r>
            <a:br>
              <a:rPr dirty="0"/>
            </a:br>
            <a:r>
              <a:rPr dirty="0"/>
              <a:t>retransmits multiple segments</a:t>
            </a:r>
          </a:p>
          <a:p>
            <a:pPr>
              <a:spcBef>
                <a:spcPts val="3000"/>
              </a:spcBef>
            </a:pPr>
            <a:r>
              <a:rPr dirty="0"/>
              <a:t>SR: </a:t>
            </a:r>
            <a:r>
              <a:rPr b="1" dirty="0"/>
              <a:t>selective ACKs</a:t>
            </a:r>
            <a:r>
              <a:rPr dirty="0"/>
              <a:t>, </a:t>
            </a:r>
            <a:br>
              <a:rPr dirty="0"/>
            </a:br>
            <a:r>
              <a:rPr dirty="0"/>
              <a:t>retransmits 1 segment on timeout</a:t>
            </a:r>
          </a:p>
          <a:p>
            <a:pPr>
              <a:spcBef>
                <a:spcPts val="2000"/>
              </a:spcBef>
            </a:pPr>
            <a:r>
              <a:rPr dirty="0"/>
              <a:t>TCP: cumulative ACKs, </a:t>
            </a:r>
            <a:br>
              <a:rPr dirty="0"/>
            </a:br>
            <a:r>
              <a:rPr dirty="0"/>
              <a:t>retransmits 1 segment =&gt; </a:t>
            </a:r>
            <a:r>
              <a:rPr b="1" dirty="0">
                <a:solidFill>
                  <a:srgbClr val="942193"/>
                </a:solidFill>
              </a:rPr>
              <a:t>Go-back-N/SR mix</a:t>
            </a:r>
          </a:p>
        </p:txBody>
      </p:sp>
      <p:sp>
        <p:nvSpPr>
          <p:cNvPr id="280"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7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7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7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 grpId="0" build="p" animBg="1" advAuto="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84" name="TCP elements"/>
          <p:cNvSpPr txBox="1">
            <a:spLocks noGrp="1"/>
          </p:cNvSpPr>
          <p:nvPr>
            <p:ph type="title"/>
          </p:nvPr>
        </p:nvSpPr>
        <p:spPr>
          <a:xfrm>
            <a:off x="1270000" y="654050"/>
            <a:ext cx="10464800" cy="1638300"/>
          </a:xfrm>
          <a:prstGeom prst="rect">
            <a:avLst/>
          </a:prstGeom>
        </p:spPr>
        <p:txBody>
          <a:bodyPr/>
          <a:lstStyle/>
          <a:p>
            <a:r>
              <a:rPr lang="fr-CH" dirty="0" err="1"/>
              <a:t>Other</a:t>
            </a:r>
            <a:r>
              <a:rPr lang="fr-CH" dirty="0"/>
              <a:t> key </a:t>
            </a:r>
            <a:r>
              <a:rPr lang="fr-CH" dirty="0" err="1"/>
              <a:t>elements</a:t>
            </a:r>
            <a:r>
              <a:rPr lang="fr-CH" dirty="0"/>
              <a:t> of </a:t>
            </a:r>
            <a:r>
              <a:rPr dirty="0"/>
              <a:t>TCP</a:t>
            </a:r>
          </a:p>
        </p:txBody>
      </p:sp>
      <p:sp>
        <p:nvSpPr>
          <p:cNvPr id="285" name="Connection setup and teardown…"/>
          <p:cNvSpPr txBox="1">
            <a:spLocks noGrp="1"/>
          </p:cNvSpPr>
          <p:nvPr>
            <p:ph type="body" idx="1"/>
          </p:nvPr>
        </p:nvSpPr>
        <p:spPr>
          <a:xfrm>
            <a:off x="1270000" y="2550814"/>
            <a:ext cx="10464800" cy="5419124"/>
          </a:xfrm>
          <a:prstGeom prst="rect">
            <a:avLst/>
          </a:prstGeom>
        </p:spPr>
        <p:txBody>
          <a:bodyPr anchor="t"/>
          <a:lstStyle/>
          <a:p>
            <a:pPr>
              <a:spcBef>
                <a:spcPts val="2000"/>
              </a:spcBef>
            </a:pPr>
            <a:r>
              <a:rPr dirty="0"/>
              <a:t>Connection setup and teardown  </a:t>
            </a:r>
          </a:p>
          <a:p>
            <a:pPr>
              <a:spcBef>
                <a:spcPts val="2000"/>
              </a:spcBef>
            </a:pPr>
            <a:r>
              <a:rPr dirty="0"/>
              <a:t>Connection hijacking</a:t>
            </a:r>
          </a:p>
          <a:p>
            <a:pPr>
              <a:spcBef>
                <a:spcPts val="2000"/>
              </a:spcBef>
            </a:pPr>
            <a:r>
              <a:rPr dirty="0"/>
              <a:t>Connection setup (SYN) flooding</a:t>
            </a:r>
          </a:p>
          <a:p>
            <a:pPr>
              <a:spcBef>
                <a:spcPts val="2000"/>
              </a:spcBef>
            </a:pPr>
            <a:r>
              <a:rPr dirty="0"/>
              <a:t>Flow control</a:t>
            </a:r>
          </a:p>
          <a:p>
            <a:pPr>
              <a:spcBef>
                <a:spcPts val="2000"/>
              </a:spcBef>
            </a:pPr>
            <a:r>
              <a:rPr dirty="0"/>
              <a:t>Congestion control</a:t>
            </a:r>
          </a:p>
        </p:txBody>
      </p:sp>
      <p:sp>
        <p:nvSpPr>
          <p:cNvPr id="286"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Tree>
  </p:cSld>
  <p:clrMapOvr>
    <a:masterClrMapping/>
  </p:clrMapOvr>
  <mc:AlternateContent xmlns:mc="http://schemas.openxmlformats.org/markup-compatibility/2006">
    <mc:Choice xmlns:p14="http://schemas.microsoft.com/office/powerpoint/2010/main" Requires="p14">
      <p:transition spd="slow" p14:dur="1500">
        <p14:prism/>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0" name="TCP elements"/>
          <p:cNvSpPr txBox="1">
            <a:spLocks noGrp="1"/>
          </p:cNvSpPr>
          <p:nvPr>
            <p:ph type="title"/>
          </p:nvPr>
        </p:nvSpPr>
        <p:spPr>
          <a:xfrm>
            <a:off x="1270000" y="654050"/>
            <a:ext cx="10464800" cy="1638300"/>
          </a:xfrm>
          <a:prstGeom prst="rect">
            <a:avLst/>
          </a:prstGeom>
        </p:spPr>
        <p:txBody>
          <a:bodyPr/>
          <a:lstStyle/>
          <a:p>
            <a:r>
              <a:t>TCP elements</a:t>
            </a:r>
          </a:p>
        </p:txBody>
      </p:sp>
      <p:sp>
        <p:nvSpPr>
          <p:cNvPr id="291" name="Connection setup and teardown…"/>
          <p:cNvSpPr txBox="1">
            <a:spLocks noGrp="1"/>
          </p:cNvSpPr>
          <p:nvPr>
            <p:ph type="body" idx="1"/>
          </p:nvPr>
        </p:nvSpPr>
        <p:spPr>
          <a:xfrm>
            <a:off x="1270000" y="2550814"/>
            <a:ext cx="10464800" cy="5545898"/>
          </a:xfrm>
          <a:prstGeom prst="rect">
            <a:avLst/>
          </a:prstGeom>
        </p:spPr>
        <p:txBody>
          <a:bodyPr anchor="t"/>
          <a:lstStyle/>
          <a:p>
            <a:pPr>
              <a:spcBef>
                <a:spcPts val="2000"/>
              </a:spcBef>
            </a:pPr>
            <a:r>
              <a:t>Connection setup and teardown  </a:t>
            </a:r>
          </a:p>
          <a:p>
            <a:pPr>
              <a:spcBef>
                <a:spcPts val="2000"/>
              </a:spcBef>
              <a:buClr>
                <a:srgbClr val="EBEBEB"/>
              </a:buClr>
              <a:defRPr>
                <a:solidFill>
                  <a:srgbClr val="EBEBEB"/>
                </a:solidFill>
              </a:defRPr>
            </a:pPr>
            <a:r>
              <a:t>Connection hijacking</a:t>
            </a:r>
          </a:p>
          <a:p>
            <a:pPr>
              <a:spcBef>
                <a:spcPts val="2000"/>
              </a:spcBef>
              <a:buClr>
                <a:srgbClr val="EBEBEB"/>
              </a:buClr>
              <a:defRPr>
                <a:solidFill>
                  <a:srgbClr val="EBEBEB"/>
                </a:solidFill>
              </a:defRPr>
            </a:pPr>
            <a:r>
              <a:t>Connection setup (SYN) flooding</a:t>
            </a:r>
          </a:p>
          <a:p>
            <a:pPr>
              <a:spcBef>
                <a:spcPts val="2000"/>
              </a:spcBef>
              <a:buClr>
                <a:srgbClr val="EBEBEB"/>
              </a:buClr>
              <a:defRPr>
                <a:solidFill>
                  <a:srgbClr val="EBEBEB"/>
                </a:solidFill>
              </a:defRPr>
            </a:pPr>
            <a:r>
              <a:t>Flow control</a:t>
            </a:r>
          </a:p>
          <a:p>
            <a:pPr>
              <a:spcBef>
                <a:spcPts val="2000"/>
              </a:spcBef>
              <a:buClr>
                <a:srgbClr val="EBEBEB"/>
              </a:buClr>
              <a:defRPr>
                <a:solidFill>
                  <a:srgbClr val="EBEBEB"/>
                </a:solidFill>
              </a:defRPr>
            </a:pPr>
            <a:r>
              <a:t>Congestion control</a:t>
            </a:r>
          </a:p>
        </p:txBody>
      </p:sp>
      <p:sp>
        <p:nvSpPr>
          <p:cNvPr id="292"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302" name="Group"/>
          <p:cNvGrpSpPr/>
          <p:nvPr/>
        </p:nvGrpSpPr>
        <p:grpSpPr>
          <a:xfrm>
            <a:off x="1125238" y="3847971"/>
            <a:ext cx="1868396" cy="1271206"/>
            <a:chOff x="0" y="0"/>
            <a:chExt cx="1868395" cy="1271204"/>
          </a:xfrm>
        </p:grpSpPr>
        <p:sp>
          <p:nvSpPr>
            <p:cNvPr id="297" name="send buffer"/>
            <p:cNvSpPr/>
            <p:nvPr/>
          </p:nvSpPr>
          <p:spPr>
            <a:xfrm>
              <a:off x="0" y="638496"/>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send buffer</a:t>
              </a:r>
            </a:p>
          </p:txBody>
        </p:sp>
        <p:grpSp>
          <p:nvGrpSpPr>
            <p:cNvPr id="301" name="Group"/>
            <p:cNvGrpSpPr/>
            <p:nvPr/>
          </p:nvGrpSpPr>
          <p:grpSpPr>
            <a:xfrm>
              <a:off x="33806" y="0"/>
              <a:ext cx="1800783" cy="1271205"/>
              <a:chOff x="0" y="0"/>
              <a:chExt cx="1800782" cy="1271204"/>
            </a:xfrm>
          </p:grpSpPr>
          <p:sp>
            <p:nvSpPr>
              <p:cNvPr id="298"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299" name="Line"/>
              <p:cNvSpPr/>
              <p:nvPr/>
            </p:nvSpPr>
            <p:spPr>
              <a:xfrm flipH="1" flipV="1">
                <a:off x="1786832"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00"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sp>
        <p:nvSpPr>
          <p:cNvPr id="303" name="Rectangle"/>
          <p:cNvSpPr/>
          <p:nvPr/>
        </p:nvSpPr>
        <p:spPr>
          <a:xfrm>
            <a:off x="9228756" y="-187354"/>
            <a:ext cx="281324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0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sp>
        <p:nvSpPr>
          <p:cNvPr id="305" name="Line"/>
          <p:cNvSpPr/>
          <p:nvPr/>
        </p:nvSpPr>
        <p:spPr>
          <a:xfrm flipH="1" flipV="1">
            <a:off x="3991219" y="1943822"/>
            <a:ext cx="4559642" cy="606547"/>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06" name="SYN|SEQ x|ACK -"/>
          <p:cNvSpPr/>
          <p:nvPr/>
        </p:nvSpPr>
        <p:spPr>
          <a:xfrm rot="500164">
            <a:off x="4511755" y="1739590"/>
            <a:ext cx="2952748" cy="5405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400">
                <a:solidFill>
                  <a:srgbClr val="942193"/>
                </a:solidFill>
                <a:latin typeface="Courier"/>
                <a:ea typeface="Courier"/>
                <a:cs typeface="Courier"/>
                <a:sym typeface="Courier"/>
              </a:defRPr>
            </a:pPr>
            <a:r>
              <a:t>SYN</a:t>
            </a:r>
            <a:r>
              <a:rPr>
                <a:solidFill>
                  <a:srgbClr val="424242"/>
                </a:solidFill>
              </a:rPr>
              <a:t>|SEQ x|ACK - </a:t>
            </a:r>
          </a:p>
        </p:txBody>
      </p:sp>
      <p:sp>
        <p:nvSpPr>
          <p:cNvPr id="307" name="Line"/>
          <p:cNvSpPr/>
          <p:nvPr/>
        </p:nvSpPr>
        <p:spPr>
          <a:xfrm flipH="1" flipV="1">
            <a:off x="4019097" y="4210562"/>
            <a:ext cx="4559447"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08" name="SEQ x+1|ACK y+1|[data]"/>
          <p:cNvSpPr/>
          <p:nvPr/>
        </p:nvSpPr>
        <p:spPr>
          <a:xfrm rot="380164">
            <a:off x="4341663" y="3986118"/>
            <a:ext cx="496547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424242"/>
                </a:solidFill>
                <a:latin typeface="Courier"/>
                <a:ea typeface="Courier"/>
                <a:cs typeface="Courier"/>
                <a:sym typeface="Courier"/>
              </a:defRPr>
            </a:lvl1pPr>
          </a:lstStyle>
          <a:p>
            <a:r>
              <a:t>SEQ x+1|ACK y+1|[data]</a:t>
            </a:r>
          </a:p>
        </p:txBody>
      </p:sp>
      <p:sp>
        <p:nvSpPr>
          <p:cNvPr id="309"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10"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311"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312"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13" name="Line"/>
          <p:cNvSpPr/>
          <p:nvPr/>
        </p:nvSpPr>
        <p:spPr>
          <a:xfrm flipV="1">
            <a:off x="4017664" y="2720680"/>
            <a:ext cx="4479851" cy="1151058"/>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14" name="SYN|SEQ y|ACK x+1"/>
          <p:cNvSpPr/>
          <p:nvPr/>
        </p:nvSpPr>
        <p:spPr>
          <a:xfrm rot="20757173">
            <a:off x="4234776" y="2861005"/>
            <a:ext cx="3996937" cy="4932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400">
                <a:solidFill>
                  <a:srgbClr val="942193"/>
                </a:solidFill>
                <a:latin typeface="Courier"/>
                <a:ea typeface="Courier"/>
                <a:cs typeface="Courier"/>
                <a:sym typeface="Courier"/>
              </a:defRPr>
            </a:pPr>
            <a:r>
              <a:t>SYN</a:t>
            </a:r>
            <a:r>
              <a:rPr>
                <a:solidFill>
                  <a:srgbClr val="424242"/>
                </a:solidFill>
              </a:rPr>
              <a:t>|SEQ y|</a:t>
            </a:r>
            <a:r>
              <a:t>ACK </a:t>
            </a:r>
            <a:r>
              <a:rPr>
                <a:solidFill>
                  <a:srgbClr val="424242"/>
                </a:solidFill>
              </a:rPr>
              <a:t>x+1</a:t>
            </a:r>
          </a:p>
        </p:txBody>
      </p:sp>
      <p:grpSp>
        <p:nvGrpSpPr>
          <p:cNvPr id="320" name="Group"/>
          <p:cNvGrpSpPr/>
          <p:nvPr/>
        </p:nvGrpSpPr>
        <p:grpSpPr>
          <a:xfrm>
            <a:off x="1125238" y="5209854"/>
            <a:ext cx="1868396" cy="1271206"/>
            <a:chOff x="0" y="1988"/>
            <a:chExt cx="1868395" cy="1271204"/>
          </a:xfrm>
        </p:grpSpPr>
        <p:sp>
          <p:nvSpPr>
            <p:cNvPr id="315" name="receive buffer"/>
            <p:cNvSpPr/>
            <p:nvPr/>
          </p:nvSpPr>
          <p:spPr>
            <a:xfrm>
              <a:off x="0" y="556442"/>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receive buffer</a:t>
              </a:r>
            </a:p>
          </p:txBody>
        </p:sp>
        <p:grpSp>
          <p:nvGrpSpPr>
            <p:cNvPr id="319" name="Group"/>
            <p:cNvGrpSpPr/>
            <p:nvPr/>
          </p:nvGrpSpPr>
          <p:grpSpPr>
            <a:xfrm>
              <a:off x="33806" y="1988"/>
              <a:ext cx="1800783" cy="1271206"/>
              <a:chOff x="0" y="0"/>
              <a:chExt cx="1800782" cy="1271204"/>
            </a:xfrm>
          </p:grpSpPr>
          <p:sp>
            <p:nvSpPr>
              <p:cNvPr id="316"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17" name="Line"/>
              <p:cNvSpPr/>
              <p:nvPr/>
            </p:nvSpPr>
            <p:spPr>
              <a:xfrm flipH="1" flipV="1">
                <a:off x="16606"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18"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grpSp>
        <p:nvGrpSpPr>
          <p:cNvPr id="326" name="Group"/>
          <p:cNvGrpSpPr/>
          <p:nvPr/>
        </p:nvGrpSpPr>
        <p:grpSpPr>
          <a:xfrm>
            <a:off x="9602574" y="3993304"/>
            <a:ext cx="1868396" cy="1271206"/>
            <a:chOff x="0" y="0"/>
            <a:chExt cx="1868395" cy="1271204"/>
          </a:xfrm>
        </p:grpSpPr>
        <p:sp>
          <p:nvSpPr>
            <p:cNvPr id="321" name="send buffer"/>
            <p:cNvSpPr/>
            <p:nvPr/>
          </p:nvSpPr>
          <p:spPr>
            <a:xfrm>
              <a:off x="0" y="638496"/>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send buffer</a:t>
              </a:r>
            </a:p>
          </p:txBody>
        </p:sp>
        <p:grpSp>
          <p:nvGrpSpPr>
            <p:cNvPr id="325" name="Group"/>
            <p:cNvGrpSpPr/>
            <p:nvPr/>
          </p:nvGrpSpPr>
          <p:grpSpPr>
            <a:xfrm>
              <a:off x="33806" y="0"/>
              <a:ext cx="1800783" cy="1271205"/>
              <a:chOff x="0" y="0"/>
              <a:chExt cx="1800782" cy="1271204"/>
            </a:xfrm>
          </p:grpSpPr>
          <p:sp>
            <p:nvSpPr>
              <p:cNvPr id="322"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23" name="Line"/>
              <p:cNvSpPr/>
              <p:nvPr/>
            </p:nvSpPr>
            <p:spPr>
              <a:xfrm flipH="1" flipV="1">
                <a:off x="16606"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24"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grpSp>
        <p:nvGrpSpPr>
          <p:cNvPr id="332" name="Group"/>
          <p:cNvGrpSpPr/>
          <p:nvPr/>
        </p:nvGrpSpPr>
        <p:grpSpPr>
          <a:xfrm>
            <a:off x="9602574" y="5355187"/>
            <a:ext cx="1868396" cy="1271206"/>
            <a:chOff x="0" y="1988"/>
            <a:chExt cx="1868395" cy="1271204"/>
          </a:xfrm>
        </p:grpSpPr>
        <p:sp>
          <p:nvSpPr>
            <p:cNvPr id="327" name="receive buffer"/>
            <p:cNvSpPr/>
            <p:nvPr/>
          </p:nvSpPr>
          <p:spPr>
            <a:xfrm>
              <a:off x="0" y="556442"/>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receive buffer</a:t>
              </a:r>
            </a:p>
          </p:txBody>
        </p:sp>
        <p:grpSp>
          <p:nvGrpSpPr>
            <p:cNvPr id="331" name="Group"/>
            <p:cNvGrpSpPr/>
            <p:nvPr/>
          </p:nvGrpSpPr>
          <p:grpSpPr>
            <a:xfrm>
              <a:off x="33806" y="1988"/>
              <a:ext cx="1800783" cy="1271206"/>
              <a:chOff x="0" y="0"/>
              <a:chExt cx="1800782" cy="1271204"/>
            </a:xfrm>
          </p:grpSpPr>
          <p:sp>
            <p:nvSpPr>
              <p:cNvPr id="328"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29" name="Line"/>
              <p:cNvSpPr/>
              <p:nvPr/>
            </p:nvSpPr>
            <p:spPr>
              <a:xfrm flipH="1" flipV="1">
                <a:off x="1798402"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30"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sp>
        <p:nvSpPr>
          <p:cNvPr id="333" name="connection socket"/>
          <p:cNvSpPr/>
          <p:nvPr/>
        </p:nvSpPr>
        <p:spPr>
          <a:xfrm>
            <a:off x="1125238" y="1440715"/>
            <a:ext cx="1868396" cy="1138286"/>
          </a:xfrm>
          <a:prstGeom prst="rect">
            <a:avLst/>
          </a:prstGeom>
          <a:ln w="254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connection socket</a:t>
            </a:r>
          </a:p>
        </p:txBody>
      </p:sp>
      <p:sp>
        <p:nvSpPr>
          <p:cNvPr id="334" name="listening socket"/>
          <p:cNvSpPr/>
          <p:nvPr/>
        </p:nvSpPr>
        <p:spPr>
          <a:xfrm>
            <a:off x="9652135" y="1440715"/>
            <a:ext cx="1868397" cy="1138286"/>
          </a:xfrm>
          <a:prstGeom prst="rect">
            <a:avLst/>
          </a:prstGeom>
          <a:ln w="254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listening socket</a:t>
            </a:r>
          </a:p>
        </p:txBody>
      </p:sp>
      <p:sp>
        <p:nvSpPr>
          <p:cNvPr id="335" name="connection socket"/>
          <p:cNvSpPr/>
          <p:nvPr/>
        </p:nvSpPr>
        <p:spPr>
          <a:xfrm>
            <a:off x="9652135" y="2735267"/>
            <a:ext cx="1868397" cy="1138286"/>
          </a:xfrm>
          <a:prstGeom prst="rect">
            <a:avLst/>
          </a:prstGeom>
          <a:ln w="254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connection socket</a:t>
            </a:r>
          </a:p>
        </p:txBody>
      </p:sp>
      <p:sp>
        <p:nvSpPr>
          <p:cNvPr id="336" name="connection established"/>
          <p:cNvSpPr/>
          <p:nvPr/>
        </p:nvSpPr>
        <p:spPr>
          <a:xfrm>
            <a:off x="4991374" y="6063316"/>
            <a:ext cx="2613460" cy="1112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connection established</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0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30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33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313"/>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3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30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3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307"/>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iterate>
                                    <p:tmAbs val="0"/>
                                  </p:iterate>
                                  <p:childTnLst>
                                    <p:set>
                                      <p:cBhvr>
                                        <p:cTn id="43" fill="hold"/>
                                        <p:tgtEl>
                                          <p:spTgt spid="30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iterate>
                                    <p:tmAbs val="0"/>
                                  </p:iterate>
                                  <p:childTnLst>
                                    <p:set>
                                      <p:cBhvr>
                                        <p:cTn id="47" fill="hold"/>
                                        <p:tgtEl>
                                          <p:spTgt spid="32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p:tmAbs val="0"/>
                                  </p:iterate>
                                  <p:childTnLst>
                                    <p:set>
                                      <p:cBhvr>
                                        <p:cTn id="51" fill="hold"/>
                                        <p:tgtEl>
                                          <p:spTgt spid="33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p:tmAbs val="0"/>
                                  </p:iterate>
                                  <p:childTnLst>
                                    <p:set>
                                      <p:cBhvr>
                                        <p:cTn id="55" fill="hold"/>
                                        <p:tgtEl>
                                          <p:spTgt spid="3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animBg="1" advAuto="0"/>
      <p:bldP spid="305" grpId="0" animBg="1" advAuto="0"/>
      <p:bldP spid="306" grpId="0" animBg="1" advAuto="0"/>
      <p:bldP spid="307" grpId="0" animBg="1" advAuto="0"/>
      <p:bldP spid="308" grpId="0" animBg="1" advAuto="0"/>
      <p:bldP spid="313" grpId="0" animBg="1" advAuto="0"/>
      <p:bldP spid="314" grpId="0" animBg="1" advAuto="0"/>
      <p:bldP spid="320" grpId="0" animBg="1" advAuto="0"/>
      <p:bldP spid="326" grpId="0" animBg="1" advAuto="0"/>
      <p:bldP spid="332" grpId="0" animBg="1" advAuto="0"/>
      <p:bldP spid="333" grpId="0" animBg="1" advAuto="0"/>
      <p:bldP spid="334" grpId="0" animBg="1" advAuto="0"/>
      <p:bldP spid="335" grpId="0" animBg="1" advAuto="0"/>
      <p:bldP spid="336" grpId="0" animBg="1"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0"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41" name="Rectangle"/>
          <p:cNvSpPr/>
          <p:nvPr/>
        </p:nvSpPr>
        <p:spPr>
          <a:xfrm>
            <a:off x="9228756" y="-187354"/>
            <a:ext cx="285052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4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sp>
        <p:nvSpPr>
          <p:cNvPr id="343"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44"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345"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346"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47" name="Line"/>
          <p:cNvSpPr/>
          <p:nvPr/>
        </p:nvSpPr>
        <p:spPr>
          <a:xfrm flipH="1" flipV="1">
            <a:off x="4029841" y="2683416"/>
            <a:ext cx="4559642" cy="606547"/>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48" name="FIN"/>
          <p:cNvSpPr/>
          <p:nvPr/>
        </p:nvSpPr>
        <p:spPr>
          <a:xfrm rot="380164">
            <a:off x="4383261" y="2254278"/>
            <a:ext cx="85449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942193"/>
                </a:solidFill>
                <a:latin typeface="Courier"/>
                <a:ea typeface="Courier"/>
                <a:cs typeface="Courier"/>
                <a:sym typeface="Courier"/>
              </a:defRPr>
            </a:lvl1pPr>
          </a:lstStyle>
          <a:p>
            <a:r>
              <a:t>FIN</a:t>
            </a:r>
          </a:p>
        </p:txBody>
      </p:sp>
      <p:sp>
        <p:nvSpPr>
          <p:cNvPr id="349" name="Line"/>
          <p:cNvSpPr/>
          <p:nvPr/>
        </p:nvSpPr>
        <p:spPr>
          <a:xfrm flipV="1">
            <a:off x="4056286" y="3460274"/>
            <a:ext cx="4479851" cy="1151057"/>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50" name="ACK"/>
          <p:cNvSpPr/>
          <p:nvPr/>
        </p:nvSpPr>
        <p:spPr>
          <a:xfrm rot="20697173">
            <a:off x="6501955" y="3446172"/>
            <a:ext cx="722136" cy="4932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424242"/>
                </a:solidFill>
                <a:latin typeface="Courier"/>
                <a:ea typeface="Courier"/>
                <a:cs typeface="Courier"/>
                <a:sym typeface="Courier"/>
              </a:defRPr>
            </a:lvl1pPr>
          </a:lstStyle>
          <a:p>
            <a:r>
              <a:t>ACK</a:t>
            </a:r>
          </a:p>
        </p:txBody>
      </p:sp>
      <p:sp>
        <p:nvSpPr>
          <p:cNvPr id="351" name="Line"/>
          <p:cNvSpPr/>
          <p:nvPr/>
        </p:nvSpPr>
        <p:spPr>
          <a:xfrm flipV="1">
            <a:off x="4028166" y="4055359"/>
            <a:ext cx="4479851" cy="1151058"/>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52" name="FIN"/>
          <p:cNvSpPr/>
          <p:nvPr/>
        </p:nvSpPr>
        <p:spPr>
          <a:xfrm rot="20697173">
            <a:off x="6558415" y="4018531"/>
            <a:ext cx="849962" cy="4932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942193"/>
                </a:solidFill>
                <a:latin typeface="Courier"/>
                <a:ea typeface="Courier"/>
                <a:cs typeface="Courier"/>
                <a:sym typeface="Courier"/>
              </a:defRPr>
            </a:lvl1pPr>
          </a:lstStyle>
          <a:p>
            <a:r>
              <a:t>FIN</a:t>
            </a:r>
          </a:p>
        </p:txBody>
      </p:sp>
      <p:sp>
        <p:nvSpPr>
          <p:cNvPr id="353" name="Line"/>
          <p:cNvSpPr/>
          <p:nvPr/>
        </p:nvSpPr>
        <p:spPr>
          <a:xfrm flipH="1" flipV="1">
            <a:off x="4057961" y="5393205"/>
            <a:ext cx="4559642" cy="606547"/>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54" name="ACK"/>
          <p:cNvSpPr/>
          <p:nvPr/>
        </p:nvSpPr>
        <p:spPr>
          <a:xfrm rot="440164">
            <a:off x="5051535" y="5051847"/>
            <a:ext cx="762143"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424242"/>
                </a:solidFill>
                <a:latin typeface="Courier"/>
                <a:ea typeface="Courier"/>
                <a:cs typeface="Courier"/>
                <a:sym typeface="Courier"/>
              </a:defRPr>
            </a:lvl1pPr>
          </a:lstStyle>
          <a:p>
            <a:r>
              <a:t>ACK</a:t>
            </a:r>
          </a:p>
        </p:txBody>
      </p:sp>
      <p:grpSp>
        <p:nvGrpSpPr>
          <p:cNvPr id="360" name="Group"/>
          <p:cNvGrpSpPr/>
          <p:nvPr/>
        </p:nvGrpSpPr>
        <p:grpSpPr>
          <a:xfrm>
            <a:off x="1125238" y="3847971"/>
            <a:ext cx="1868396" cy="1271206"/>
            <a:chOff x="0" y="0"/>
            <a:chExt cx="1868395" cy="1271204"/>
          </a:xfrm>
        </p:grpSpPr>
        <p:sp>
          <p:nvSpPr>
            <p:cNvPr id="355" name="send buffer"/>
            <p:cNvSpPr/>
            <p:nvPr/>
          </p:nvSpPr>
          <p:spPr>
            <a:xfrm>
              <a:off x="0" y="638496"/>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send buffer</a:t>
              </a:r>
            </a:p>
          </p:txBody>
        </p:sp>
        <p:grpSp>
          <p:nvGrpSpPr>
            <p:cNvPr id="359" name="Group"/>
            <p:cNvGrpSpPr/>
            <p:nvPr/>
          </p:nvGrpSpPr>
          <p:grpSpPr>
            <a:xfrm>
              <a:off x="33806" y="0"/>
              <a:ext cx="1800783" cy="1271205"/>
              <a:chOff x="0" y="0"/>
              <a:chExt cx="1800782" cy="1271204"/>
            </a:xfrm>
          </p:grpSpPr>
          <p:sp>
            <p:nvSpPr>
              <p:cNvPr id="356"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57" name="Line"/>
              <p:cNvSpPr/>
              <p:nvPr/>
            </p:nvSpPr>
            <p:spPr>
              <a:xfrm flipH="1" flipV="1">
                <a:off x="1786832"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58"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grpSp>
        <p:nvGrpSpPr>
          <p:cNvPr id="366" name="Group"/>
          <p:cNvGrpSpPr/>
          <p:nvPr/>
        </p:nvGrpSpPr>
        <p:grpSpPr>
          <a:xfrm>
            <a:off x="1125238" y="5374954"/>
            <a:ext cx="1868396" cy="1271206"/>
            <a:chOff x="0" y="1988"/>
            <a:chExt cx="1868395" cy="1271204"/>
          </a:xfrm>
        </p:grpSpPr>
        <p:sp>
          <p:nvSpPr>
            <p:cNvPr id="361" name="receive buffer"/>
            <p:cNvSpPr/>
            <p:nvPr/>
          </p:nvSpPr>
          <p:spPr>
            <a:xfrm>
              <a:off x="0" y="556442"/>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receive buffer</a:t>
              </a:r>
            </a:p>
          </p:txBody>
        </p:sp>
        <p:grpSp>
          <p:nvGrpSpPr>
            <p:cNvPr id="365" name="Group"/>
            <p:cNvGrpSpPr/>
            <p:nvPr/>
          </p:nvGrpSpPr>
          <p:grpSpPr>
            <a:xfrm>
              <a:off x="33806" y="1988"/>
              <a:ext cx="1800783" cy="1271206"/>
              <a:chOff x="0" y="0"/>
              <a:chExt cx="1800782" cy="1271204"/>
            </a:xfrm>
          </p:grpSpPr>
          <p:sp>
            <p:nvSpPr>
              <p:cNvPr id="362"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63" name="Line"/>
              <p:cNvSpPr/>
              <p:nvPr/>
            </p:nvSpPr>
            <p:spPr>
              <a:xfrm flipH="1" flipV="1">
                <a:off x="16606"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64"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grpSp>
        <p:nvGrpSpPr>
          <p:cNvPr id="372" name="Group"/>
          <p:cNvGrpSpPr/>
          <p:nvPr/>
        </p:nvGrpSpPr>
        <p:grpSpPr>
          <a:xfrm>
            <a:off x="9602574" y="3993304"/>
            <a:ext cx="1868396" cy="1271206"/>
            <a:chOff x="0" y="0"/>
            <a:chExt cx="1868395" cy="1271204"/>
          </a:xfrm>
        </p:grpSpPr>
        <p:sp>
          <p:nvSpPr>
            <p:cNvPr id="367" name="send buffer"/>
            <p:cNvSpPr/>
            <p:nvPr/>
          </p:nvSpPr>
          <p:spPr>
            <a:xfrm>
              <a:off x="0" y="638496"/>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send buffer</a:t>
              </a:r>
            </a:p>
          </p:txBody>
        </p:sp>
        <p:grpSp>
          <p:nvGrpSpPr>
            <p:cNvPr id="371" name="Group"/>
            <p:cNvGrpSpPr/>
            <p:nvPr/>
          </p:nvGrpSpPr>
          <p:grpSpPr>
            <a:xfrm>
              <a:off x="33806" y="0"/>
              <a:ext cx="1800783" cy="1271205"/>
              <a:chOff x="0" y="0"/>
              <a:chExt cx="1800782" cy="1271204"/>
            </a:xfrm>
          </p:grpSpPr>
          <p:sp>
            <p:nvSpPr>
              <p:cNvPr id="368"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69" name="Line"/>
              <p:cNvSpPr/>
              <p:nvPr/>
            </p:nvSpPr>
            <p:spPr>
              <a:xfrm flipH="1" flipV="1">
                <a:off x="16606"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70"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grpSp>
        <p:nvGrpSpPr>
          <p:cNvPr id="378" name="Group"/>
          <p:cNvGrpSpPr/>
          <p:nvPr/>
        </p:nvGrpSpPr>
        <p:grpSpPr>
          <a:xfrm>
            <a:off x="9602574" y="5520287"/>
            <a:ext cx="1868396" cy="1271206"/>
            <a:chOff x="0" y="1988"/>
            <a:chExt cx="1868395" cy="1271204"/>
          </a:xfrm>
        </p:grpSpPr>
        <p:sp>
          <p:nvSpPr>
            <p:cNvPr id="373" name="receive buffer"/>
            <p:cNvSpPr/>
            <p:nvPr/>
          </p:nvSpPr>
          <p:spPr>
            <a:xfrm>
              <a:off x="0" y="556442"/>
              <a:ext cx="1868396"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defRPr sz="2800">
                  <a:solidFill>
                    <a:srgbClr val="942193"/>
                  </a:solidFill>
                  <a:latin typeface="+mn-lt"/>
                  <a:ea typeface="+mn-ea"/>
                  <a:cs typeface="+mn-cs"/>
                  <a:sym typeface="Chalkboard SE Regular"/>
                </a:defRPr>
              </a:lvl1pPr>
            </a:lstStyle>
            <a:p>
              <a:r>
                <a:t>receive buffer</a:t>
              </a:r>
            </a:p>
          </p:txBody>
        </p:sp>
        <p:grpSp>
          <p:nvGrpSpPr>
            <p:cNvPr id="377" name="Group"/>
            <p:cNvGrpSpPr/>
            <p:nvPr/>
          </p:nvGrpSpPr>
          <p:grpSpPr>
            <a:xfrm>
              <a:off x="33806" y="1988"/>
              <a:ext cx="1800783" cy="1271206"/>
              <a:chOff x="0" y="0"/>
              <a:chExt cx="1800782" cy="1271204"/>
            </a:xfrm>
          </p:grpSpPr>
          <p:sp>
            <p:nvSpPr>
              <p:cNvPr id="374"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75" name="Line"/>
              <p:cNvSpPr/>
              <p:nvPr/>
            </p:nvSpPr>
            <p:spPr>
              <a:xfrm flipH="1" flipV="1">
                <a:off x="1798402"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376"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sp>
        <p:nvSpPr>
          <p:cNvPr id="379" name="connection socket"/>
          <p:cNvSpPr/>
          <p:nvPr/>
        </p:nvSpPr>
        <p:spPr>
          <a:xfrm>
            <a:off x="1125238" y="1440715"/>
            <a:ext cx="1868396" cy="1138286"/>
          </a:xfrm>
          <a:prstGeom prst="rect">
            <a:avLst/>
          </a:prstGeom>
          <a:ln w="254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connection socket</a:t>
            </a:r>
          </a:p>
        </p:txBody>
      </p:sp>
      <p:sp>
        <p:nvSpPr>
          <p:cNvPr id="380" name="listening socket"/>
          <p:cNvSpPr/>
          <p:nvPr/>
        </p:nvSpPr>
        <p:spPr>
          <a:xfrm>
            <a:off x="9652135" y="1440715"/>
            <a:ext cx="1868397" cy="1138286"/>
          </a:xfrm>
          <a:prstGeom prst="rect">
            <a:avLst/>
          </a:prstGeom>
          <a:ln w="254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listening socket</a:t>
            </a:r>
          </a:p>
        </p:txBody>
      </p:sp>
      <p:sp>
        <p:nvSpPr>
          <p:cNvPr id="381" name="connection socket"/>
          <p:cNvSpPr/>
          <p:nvPr/>
        </p:nvSpPr>
        <p:spPr>
          <a:xfrm>
            <a:off x="9652135" y="2735267"/>
            <a:ext cx="1868397" cy="1138286"/>
          </a:xfrm>
          <a:prstGeom prst="rect">
            <a:avLst/>
          </a:prstGeom>
          <a:ln w="254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connection socket</a:t>
            </a:r>
          </a:p>
        </p:txBody>
      </p:sp>
      <p:sp>
        <p:nvSpPr>
          <p:cNvPr id="382" name="connection closed"/>
          <p:cNvSpPr/>
          <p:nvPr/>
        </p:nvSpPr>
        <p:spPr>
          <a:xfrm>
            <a:off x="4962942" y="6630251"/>
            <a:ext cx="2613460" cy="1112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connection closed</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4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4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349"/>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3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iterate>
                                    <p:tmAbs val="0"/>
                                  </p:iterate>
                                  <p:childTnLst>
                                    <p:set>
                                      <p:cBhvr>
                                        <p:cTn id="20" fill="hold">
                                          <p:stCondLst>
                                            <p:cond delay="0"/>
                                          </p:stCondLst>
                                        </p:cTn>
                                        <p:tgtEl>
                                          <p:spTgt spid="37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iterate>
                                    <p:tmAbs val="0"/>
                                  </p:iterate>
                                  <p:childTnLst>
                                    <p:set>
                                      <p:cBhvr>
                                        <p:cTn id="24" fill="hold">
                                          <p:stCondLst>
                                            <p:cond delay="0"/>
                                          </p:stCondLst>
                                        </p:cTn>
                                        <p:tgtEl>
                                          <p:spTgt spid="36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351"/>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35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p:tmAbs val="0"/>
                                  </p:iterate>
                                  <p:childTnLst>
                                    <p:set>
                                      <p:cBhvr>
                                        <p:cTn id="35" fill="hold"/>
                                        <p:tgtEl>
                                          <p:spTgt spid="353"/>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iterate>
                                    <p:tmAbs val="0"/>
                                  </p:iterate>
                                  <p:childTnLst>
                                    <p:set>
                                      <p:cBhvr>
                                        <p:cTn id="38" fill="hold"/>
                                        <p:tgtEl>
                                          <p:spTgt spid="3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iterate>
                                    <p:tmAbs val="0"/>
                                  </p:iterate>
                                  <p:childTnLst>
                                    <p:set>
                                      <p:cBhvr>
                                        <p:cTn id="42" fill="hold">
                                          <p:stCondLst>
                                            <p:cond delay="0"/>
                                          </p:stCondLst>
                                        </p:cTn>
                                        <p:tgtEl>
                                          <p:spTgt spid="36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iterate>
                                    <p:tmAbs val="0"/>
                                  </p:iterate>
                                  <p:childTnLst>
                                    <p:set>
                                      <p:cBhvr>
                                        <p:cTn id="46" fill="hold">
                                          <p:stCondLst>
                                            <p:cond delay="0"/>
                                          </p:stCondLst>
                                        </p:cTn>
                                        <p:tgtEl>
                                          <p:spTgt spid="37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iterate>
                                    <p:tmAbs val="0"/>
                                  </p:iterate>
                                  <p:childTnLst>
                                    <p:set>
                                      <p:cBhvr>
                                        <p:cTn id="50" fill="hold">
                                          <p:stCondLst>
                                            <p:cond delay="0"/>
                                          </p:stCondLst>
                                        </p:cTn>
                                        <p:tgtEl>
                                          <p:spTgt spid="379"/>
                                        </p:tgtEl>
                                        <p:attrNameLst>
                                          <p:attrName>style.visibility</p:attrName>
                                        </p:attrNameLst>
                                      </p:cBhvr>
                                      <p:to>
                                        <p:strVal val="hidden"/>
                                      </p:to>
                                    </p:set>
                                  </p:childTnLst>
                                </p:cTn>
                              </p:par>
                            </p:childTnLst>
                          </p:cTn>
                        </p:par>
                        <p:par>
                          <p:cTn id="51" fill="hold">
                            <p:stCondLst>
                              <p:cond delay="0"/>
                            </p:stCondLst>
                            <p:childTnLst>
                              <p:par>
                                <p:cTn id="52" presetID="1" presetClass="exit" presetSubtype="0" fill="hold" grpId="0" nodeType="afterEffect">
                                  <p:stCondLst>
                                    <p:cond delay="0"/>
                                  </p:stCondLst>
                                  <p:iterate>
                                    <p:tmAbs val="0"/>
                                  </p:iterate>
                                  <p:childTnLst>
                                    <p:set>
                                      <p:cBhvr>
                                        <p:cTn id="53" fill="hold">
                                          <p:stCondLst>
                                            <p:cond delay="0"/>
                                          </p:stCondLst>
                                        </p:cTn>
                                        <p:tgtEl>
                                          <p:spTgt spid="381"/>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iterate>
                                    <p:tmAbs val="0"/>
                                  </p:iterate>
                                  <p:childTnLst>
                                    <p:set>
                                      <p:cBhvr>
                                        <p:cTn id="57" fill="hold"/>
                                        <p:tgtEl>
                                          <p:spTgt spid="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animBg="1" advAuto="0"/>
      <p:bldP spid="348" grpId="0" animBg="1" advAuto="0"/>
      <p:bldP spid="349" grpId="0" animBg="1" advAuto="0"/>
      <p:bldP spid="350" grpId="0" animBg="1" advAuto="0"/>
      <p:bldP spid="351" grpId="0" animBg="1" advAuto="0"/>
      <p:bldP spid="352" grpId="0" animBg="1" advAuto="0"/>
      <p:bldP spid="353" grpId="0" animBg="1" advAuto="0"/>
      <p:bldP spid="354" grpId="0" animBg="1" advAuto="0"/>
      <p:bldP spid="360" grpId="0" animBg="1" advAuto="0"/>
      <p:bldP spid="366" grpId="0" animBg="1" advAuto="0"/>
      <p:bldP spid="372" grpId="0" animBg="1" advAuto="0"/>
      <p:bldP spid="378" grpId="0" animBg="1" advAuto="0"/>
      <p:bldP spid="379" grpId="0" animBg="1" advAuto="0"/>
      <p:bldP spid="381" grpId="0" animBg="1" advAuto="0"/>
      <p:bldP spid="382" grpId="0" animBg="1"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 name="Connection setup"/>
          <p:cNvSpPr txBox="1">
            <a:spLocks noGrp="1"/>
          </p:cNvSpPr>
          <p:nvPr>
            <p:ph type="title"/>
          </p:nvPr>
        </p:nvSpPr>
        <p:spPr>
          <a:xfrm>
            <a:off x="1270000" y="654050"/>
            <a:ext cx="10464800" cy="1638300"/>
          </a:xfrm>
          <a:prstGeom prst="rect">
            <a:avLst/>
          </a:prstGeom>
        </p:spPr>
        <p:txBody>
          <a:bodyPr/>
          <a:lstStyle/>
          <a:p>
            <a:r>
              <a:t>Connection setup</a:t>
            </a:r>
          </a:p>
        </p:txBody>
      </p:sp>
      <p:sp>
        <p:nvSpPr>
          <p:cNvPr id="387" name="3-way handshake…"/>
          <p:cNvSpPr txBox="1">
            <a:spLocks noGrp="1"/>
          </p:cNvSpPr>
          <p:nvPr>
            <p:ph type="body" idx="1"/>
          </p:nvPr>
        </p:nvSpPr>
        <p:spPr>
          <a:xfrm>
            <a:off x="709148" y="2327137"/>
            <a:ext cx="11783815" cy="6597926"/>
          </a:xfrm>
          <a:prstGeom prst="rect">
            <a:avLst/>
          </a:prstGeom>
        </p:spPr>
        <p:txBody>
          <a:bodyPr anchor="t"/>
          <a:lstStyle/>
          <a:p>
            <a:pPr>
              <a:spcBef>
                <a:spcPts val="0"/>
              </a:spcBef>
            </a:pPr>
            <a:r>
              <a:rPr>
                <a:solidFill>
                  <a:srgbClr val="942193"/>
                </a:solidFill>
              </a:rPr>
              <a:t>3-way handshake </a:t>
            </a:r>
          </a:p>
          <a:p>
            <a:pPr lvl="1">
              <a:spcBef>
                <a:spcPts val="0"/>
              </a:spcBef>
            </a:pPr>
            <a:r>
              <a:t>“TCP client”: end-system initiating the handshake</a:t>
            </a:r>
          </a:p>
          <a:p>
            <a:pPr lvl="1">
              <a:spcBef>
                <a:spcPts val="3000"/>
              </a:spcBef>
            </a:pPr>
            <a:r>
              <a:t>“TCP server”: the other end-system</a:t>
            </a:r>
          </a:p>
          <a:p>
            <a:pPr>
              <a:spcBef>
                <a:spcPts val="0"/>
              </a:spcBef>
            </a:pPr>
            <a:r>
              <a:t>First 2 segments carry a </a:t>
            </a:r>
            <a:r>
              <a:rPr>
                <a:solidFill>
                  <a:srgbClr val="942193"/>
                </a:solidFill>
              </a:rPr>
              <a:t>SYN</a:t>
            </a:r>
            <a:r>
              <a:t> flag</a:t>
            </a:r>
            <a:r>
              <a:rPr>
                <a:solidFill>
                  <a:srgbClr val="942193"/>
                </a:solidFill>
              </a:rPr>
              <a:t> </a:t>
            </a:r>
          </a:p>
          <a:p>
            <a:pPr lvl="1">
              <a:spcBef>
                <a:spcPts val="3000"/>
              </a:spcBef>
            </a:pPr>
            <a:r>
              <a:t>1-bit field in the TCP header</a:t>
            </a:r>
          </a:p>
          <a:p>
            <a:pPr>
              <a:spcBef>
                <a:spcPts val="0"/>
              </a:spcBef>
            </a:pPr>
            <a:r>
              <a:t>“TCP connection” = resources (sockets, buffers…) allocated for communication</a:t>
            </a:r>
          </a:p>
        </p:txBody>
      </p:sp>
      <p:sp>
        <p:nvSpPr>
          <p:cNvPr id="388"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8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8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3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38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8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3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 grpId="0" build="p" animBg="1"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8" name="Congestion control"/>
          <p:cNvSpPr txBox="1">
            <a:spLocks noGrp="1"/>
          </p:cNvSpPr>
          <p:nvPr>
            <p:ph type="title"/>
          </p:nvPr>
        </p:nvSpPr>
        <p:spPr>
          <a:xfrm>
            <a:off x="1270000" y="654050"/>
            <a:ext cx="10464800" cy="1638300"/>
          </a:xfrm>
          <a:prstGeom prst="rect">
            <a:avLst/>
          </a:prstGeom>
        </p:spPr>
        <p:txBody>
          <a:bodyPr/>
          <a:lstStyle/>
          <a:p>
            <a:r>
              <a:t>Congestion control</a:t>
            </a:r>
          </a:p>
        </p:txBody>
      </p:sp>
      <p:sp>
        <p:nvSpPr>
          <p:cNvPr id="399" name="Goal: not overwhelm the network…"/>
          <p:cNvSpPr txBox="1">
            <a:spLocks noGrp="1"/>
          </p:cNvSpPr>
          <p:nvPr>
            <p:ph type="body" idx="1"/>
          </p:nvPr>
        </p:nvSpPr>
        <p:spPr>
          <a:xfrm>
            <a:off x="834959" y="2493716"/>
            <a:ext cx="11623863" cy="6683026"/>
          </a:xfrm>
          <a:prstGeom prst="rect">
            <a:avLst/>
          </a:prstGeom>
        </p:spPr>
        <p:txBody>
          <a:bodyPr anchor="t"/>
          <a:lstStyle/>
          <a:p>
            <a:pPr>
              <a:spcBef>
                <a:spcPts val="0"/>
              </a:spcBef>
            </a:pPr>
            <a:r>
              <a:rPr dirty="0"/>
              <a:t>Goal: not overwhelm the </a:t>
            </a:r>
            <a:r>
              <a:rPr dirty="0">
                <a:solidFill>
                  <a:srgbClr val="942193"/>
                </a:solidFill>
              </a:rPr>
              <a:t>network</a:t>
            </a:r>
            <a:endParaRPr lang="fr-CH" dirty="0">
              <a:solidFill>
                <a:srgbClr val="942193"/>
              </a:solidFill>
            </a:endParaRPr>
          </a:p>
          <a:p>
            <a:pPr lvl="1">
              <a:spcBef>
                <a:spcPts val="0"/>
              </a:spcBef>
            </a:pPr>
            <a:r>
              <a:rPr dirty="0"/>
              <a:t>not send at a rate that the would create network congestion</a:t>
            </a:r>
          </a:p>
          <a:p>
            <a:pPr>
              <a:spcBef>
                <a:spcPts val="0"/>
              </a:spcBef>
            </a:pPr>
            <a:r>
              <a:rPr dirty="0"/>
              <a:t>How: “</a:t>
            </a:r>
            <a:r>
              <a:rPr dirty="0">
                <a:solidFill>
                  <a:srgbClr val="942193"/>
                </a:solidFill>
              </a:rPr>
              <a:t>congestion window</a:t>
            </a:r>
            <a:r>
              <a:rPr dirty="0"/>
              <a:t>”</a:t>
            </a:r>
          </a:p>
          <a:p>
            <a:pPr lvl="1">
              <a:spcBef>
                <a:spcPts val="0"/>
              </a:spcBef>
            </a:pPr>
            <a:r>
              <a:rPr dirty="0"/>
              <a:t>number of unacknowledged bytes that the sender can transmit without creating congestion</a:t>
            </a:r>
          </a:p>
          <a:p>
            <a:pPr lvl="1">
              <a:spcBef>
                <a:spcPts val="0"/>
              </a:spcBef>
            </a:pPr>
            <a:r>
              <a:rPr dirty="0"/>
              <a:t>sender estimates it on its own</a:t>
            </a:r>
          </a:p>
        </p:txBody>
      </p:sp>
      <p:sp>
        <p:nvSpPr>
          <p:cNvPr id="400"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9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9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399">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399">
                                            <p:txEl>
                                              <p:pRg st="2" end="2"/>
                                            </p:txEl>
                                          </p:spTgt>
                                        </p:tgtEl>
                                        <p:attrNameLst>
                                          <p:attrName>style.visibility</p:attrName>
                                        </p:attrNameLst>
                                      </p:cBhvr>
                                      <p:to>
                                        <p:strVal val="visible"/>
                                      </p:to>
                                    </p:set>
                                  </p:childTnLst>
                                </p:cTn>
                              </p:par>
                              <p:par>
                                <p:cTn id="14" presetID="1" presetClass="entr" presetSubtype="0" fill="hold" grpId="0" nodeType="withEffect">
                                  <p:stCondLst>
                                    <p:cond delay="0"/>
                                  </p:stCondLst>
                                  <p:iterate>
                                    <p:tmAbs val="0"/>
                                  </p:iterate>
                                  <p:childTnLst>
                                    <p:set>
                                      <p:cBhvr>
                                        <p:cTn id="15" fill="hold"/>
                                        <p:tgtEl>
                                          <p:spTgt spid="399">
                                            <p:txEl>
                                              <p:pRg st="3" end="3"/>
                                            </p:txEl>
                                          </p:spTgt>
                                        </p:tgtEl>
                                        <p:attrNameLst>
                                          <p:attrName>style.visibility</p:attrName>
                                        </p:attrNameLst>
                                      </p:cBhvr>
                                      <p:to>
                                        <p:strVal val="visible"/>
                                      </p:to>
                                    </p:set>
                                  </p:childTnLst>
                                </p:cTn>
                              </p:par>
                              <p:par>
                                <p:cTn id="16" presetID="1" presetClass="entr" presetSubtype="0" fill="hold" grpId="0" nodeType="withEffect">
                                  <p:stCondLst>
                                    <p:cond delay="0"/>
                                  </p:stCondLst>
                                  <p:iterate>
                                    <p:tmAbs val="0"/>
                                  </p:iterate>
                                  <p:childTnLst>
                                    <p:set>
                                      <p:cBhvr>
                                        <p:cTn id="17" fill="hold"/>
                                        <p:tgtEl>
                                          <p:spTgt spid="3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 grpId="0" build="p" animBg="1" advAuto="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8" name="Bandwidth-delay product"/>
          <p:cNvSpPr txBox="1">
            <a:spLocks noGrp="1"/>
          </p:cNvSpPr>
          <p:nvPr>
            <p:ph type="title"/>
          </p:nvPr>
        </p:nvSpPr>
        <p:spPr>
          <a:prstGeom prst="rect">
            <a:avLst/>
          </a:prstGeom>
        </p:spPr>
        <p:txBody>
          <a:bodyPr/>
          <a:lstStyle/>
          <a:p>
            <a:r>
              <a:t>Bandwidth-delay product</a:t>
            </a:r>
          </a:p>
        </p:txBody>
      </p:sp>
      <p:sp>
        <p:nvSpPr>
          <p:cNvPr id="469" name="Max amount of traffic that the sender can transmit until it gets the first ACK…"/>
          <p:cNvSpPr txBox="1">
            <a:spLocks noGrp="1"/>
          </p:cNvSpPr>
          <p:nvPr>
            <p:ph type="body" idx="1"/>
          </p:nvPr>
        </p:nvSpPr>
        <p:spPr>
          <a:xfrm>
            <a:off x="970809" y="2801557"/>
            <a:ext cx="11248773" cy="4511010"/>
          </a:xfrm>
          <a:prstGeom prst="rect">
            <a:avLst/>
          </a:prstGeom>
        </p:spPr>
        <p:txBody>
          <a:bodyPr anchor="t"/>
          <a:lstStyle/>
          <a:p>
            <a:pPr>
              <a:spcBef>
                <a:spcPts val="6000"/>
              </a:spcBef>
            </a:pPr>
            <a:r>
              <a:t>Max amount of traffic that the sender can transmit until it gets the first ACK</a:t>
            </a:r>
          </a:p>
          <a:p>
            <a:r>
              <a:t>= the maximum congestion window size that makes sense</a:t>
            </a:r>
          </a:p>
        </p:txBody>
      </p:sp>
      <p:sp>
        <p:nvSpPr>
          <p:cNvPr id="470"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6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6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6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 grpId="0" build="p" animBg="1"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4"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05" name="Rectangle"/>
          <p:cNvSpPr/>
          <p:nvPr/>
        </p:nvSpPr>
        <p:spPr>
          <a:xfrm>
            <a:off x="9228756" y="-187354"/>
            <a:ext cx="2805758"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0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
        <p:nvSpPr>
          <p:cNvPr id="407"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08"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409"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410"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413" name="Group"/>
          <p:cNvGrpSpPr/>
          <p:nvPr/>
        </p:nvGrpSpPr>
        <p:grpSpPr>
          <a:xfrm>
            <a:off x="3994710" y="2157875"/>
            <a:ext cx="4571314" cy="2365932"/>
            <a:chOff x="239746" y="0"/>
            <a:chExt cx="4571312" cy="2365930"/>
          </a:xfrm>
        </p:grpSpPr>
        <p:sp>
          <p:nvSpPr>
            <p:cNvPr id="411"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12"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16" name="Group"/>
          <p:cNvGrpSpPr/>
          <p:nvPr/>
        </p:nvGrpSpPr>
        <p:grpSpPr>
          <a:xfrm>
            <a:off x="4047028" y="1156998"/>
            <a:ext cx="4559643" cy="1042421"/>
            <a:chOff x="0" y="0"/>
            <a:chExt cx="4559641" cy="1042420"/>
          </a:xfrm>
        </p:grpSpPr>
        <p:sp>
          <p:nvSpPr>
            <p:cNvPr id="414"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15"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19" name="Group"/>
          <p:cNvGrpSpPr/>
          <p:nvPr/>
        </p:nvGrpSpPr>
        <p:grpSpPr>
          <a:xfrm>
            <a:off x="4047028" y="1559253"/>
            <a:ext cx="4559643" cy="1042421"/>
            <a:chOff x="0" y="0"/>
            <a:chExt cx="4559641" cy="1042420"/>
          </a:xfrm>
        </p:grpSpPr>
        <p:sp>
          <p:nvSpPr>
            <p:cNvPr id="417"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18"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22" name="Group"/>
          <p:cNvGrpSpPr/>
          <p:nvPr/>
        </p:nvGrpSpPr>
        <p:grpSpPr>
          <a:xfrm>
            <a:off x="4047028" y="1973475"/>
            <a:ext cx="4559643" cy="1042421"/>
            <a:chOff x="0" y="0"/>
            <a:chExt cx="4559641" cy="1042420"/>
          </a:xfrm>
        </p:grpSpPr>
        <p:sp>
          <p:nvSpPr>
            <p:cNvPr id="420"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21"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25" name="Group"/>
          <p:cNvGrpSpPr/>
          <p:nvPr/>
        </p:nvGrpSpPr>
        <p:grpSpPr>
          <a:xfrm>
            <a:off x="4047028" y="2375730"/>
            <a:ext cx="4559643" cy="1042421"/>
            <a:chOff x="0" y="0"/>
            <a:chExt cx="4559641" cy="1042420"/>
          </a:xfrm>
        </p:grpSpPr>
        <p:sp>
          <p:nvSpPr>
            <p:cNvPr id="423"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24"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28" name="Group"/>
          <p:cNvGrpSpPr/>
          <p:nvPr/>
        </p:nvGrpSpPr>
        <p:grpSpPr>
          <a:xfrm>
            <a:off x="4034328" y="2742082"/>
            <a:ext cx="4559643" cy="1042421"/>
            <a:chOff x="0" y="0"/>
            <a:chExt cx="4559641" cy="1042420"/>
          </a:xfrm>
        </p:grpSpPr>
        <p:sp>
          <p:nvSpPr>
            <p:cNvPr id="426"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27"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31" name="Group"/>
          <p:cNvGrpSpPr/>
          <p:nvPr/>
        </p:nvGrpSpPr>
        <p:grpSpPr>
          <a:xfrm>
            <a:off x="4021628" y="3142872"/>
            <a:ext cx="4559643" cy="1042421"/>
            <a:chOff x="0" y="0"/>
            <a:chExt cx="4559641" cy="1042420"/>
          </a:xfrm>
        </p:grpSpPr>
        <p:sp>
          <p:nvSpPr>
            <p:cNvPr id="429"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30"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34" name="Group"/>
          <p:cNvGrpSpPr/>
          <p:nvPr/>
        </p:nvGrpSpPr>
        <p:grpSpPr>
          <a:xfrm>
            <a:off x="4021323" y="3551923"/>
            <a:ext cx="4559643" cy="1042421"/>
            <a:chOff x="0" y="0"/>
            <a:chExt cx="4559641" cy="1042420"/>
          </a:xfrm>
        </p:grpSpPr>
        <p:sp>
          <p:nvSpPr>
            <p:cNvPr id="432"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33"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37" name="Group"/>
          <p:cNvGrpSpPr/>
          <p:nvPr/>
        </p:nvGrpSpPr>
        <p:grpSpPr>
          <a:xfrm>
            <a:off x="4047028" y="3942210"/>
            <a:ext cx="4559643" cy="1042422"/>
            <a:chOff x="0" y="0"/>
            <a:chExt cx="4559641" cy="1042420"/>
          </a:xfrm>
        </p:grpSpPr>
        <p:sp>
          <p:nvSpPr>
            <p:cNvPr id="435"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36"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40" name="Group"/>
          <p:cNvGrpSpPr/>
          <p:nvPr/>
        </p:nvGrpSpPr>
        <p:grpSpPr>
          <a:xfrm>
            <a:off x="3995831" y="2532976"/>
            <a:ext cx="4571314" cy="2365932"/>
            <a:chOff x="239746" y="0"/>
            <a:chExt cx="4571312" cy="2365930"/>
          </a:xfrm>
        </p:grpSpPr>
        <p:sp>
          <p:nvSpPr>
            <p:cNvPr id="438"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39"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43" name="Group"/>
          <p:cNvGrpSpPr/>
          <p:nvPr/>
        </p:nvGrpSpPr>
        <p:grpSpPr>
          <a:xfrm>
            <a:off x="4015792" y="2937169"/>
            <a:ext cx="4571314" cy="2365931"/>
            <a:chOff x="239746" y="0"/>
            <a:chExt cx="4571312" cy="2365930"/>
          </a:xfrm>
        </p:grpSpPr>
        <p:sp>
          <p:nvSpPr>
            <p:cNvPr id="441"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42"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46" name="Group"/>
          <p:cNvGrpSpPr/>
          <p:nvPr/>
        </p:nvGrpSpPr>
        <p:grpSpPr>
          <a:xfrm>
            <a:off x="4028492" y="3340156"/>
            <a:ext cx="4571314" cy="2365932"/>
            <a:chOff x="239746" y="0"/>
            <a:chExt cx="4571312" cy="2365930"/>
          </a:xfrm>
        </p:grpSpPr>
        <p:sp>
          <p:nvSpPr>
            <p:cNvPr id="444"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45"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49" name="Group"/>
          <p:cNvGrpSpPr/>
          <p:nvPr/>
        </p:nvGrpSpPr>
        <p:grpSpPr>
          <a:xfrm>
            <a:off x="4003092" y="3694541"/>
            <a:ext cx="4571314" cy="2365932"/>
            <a:chOff x="239746" y="0"/>
            <a:chExt cx="4571312" cy="2365930"/>
          </a:xfrm>
        </p:grpSpPr>
        <p:sp>
          <p:nvSpPr>
            <p:cNvPr id="447"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48"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52" name="Group"/>
          <p:cNvGrpSpPr/>
          <p:nvPr/>
        </p:nvGrpSpPr>
        <p:grpSpPr>
          <a:xfrm>
            <a:off x="4003092" y="4096063"/>
            <a:ext cx="4571314" cy="2365932"/>
            <a:chOff x="239746" y="0"/>
            <a:chExt cx="4571312" cy="2365930"/>
          </a:xfrm>
        </p:grpSpPr>
        <p:sp>
          <p:nvSpPr>
            <p:cNvPr id="450"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51"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55" name="Group"/>
          <p:cNvGrpSpPr/>
          <p:nvPr/>
        </p:nvGrpSpPr>
        <p:grpSpPr>
          <a:xfrm>
            <a:off x="3990392" y="4515163"/>
            <a:ext cx="4571314" cy="2365932"/>
            <a:chOff x="239746" y="0"/>
            <a:chExt cx="4571312" cy="2365930"/>
          </a:xfrm>
        </p:grpSpPr>
        <p:sp>
          <p:nvSpPr>
            <p:cNvPr id="453"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54"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58" name="Group"/>
          <p:cNvGrpSpPr/>
          <p:nvPr/>
        </p:nvGrpSpPr>
        <p:grpSpPr>
          <a:xfrm>
            <a:off x="4015792" y="4908863"/>
            <a:ext cx="4571314" cy="2365932"/>
            <a:chOff x="239746" y="0"/>
            <a:chExt cx="4571312" cy="2365930"/>
          </a:xfrm>
        </p:grpSpPr>
        <p:sp>
          <p:nvSpPr>
            <p:cNvPr id="456" name="Line"/>
            <p:cNvSpPr/>
            <p:nvPr/>
          </p:nvSpPr>
          <p:spPr>
            <a:xfrm flipV="1">
              <a:off x="239746" y="148354"/>
              <a:ext cx="4571314" cy="221757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57" name="ACK"/>
            <p:cNvSpPr/>
            <p:nvPr/>
          </p:nvSpPr>
          <p:spPr>
            <a:xfrm rot="20097173">
              <a:off x="3524991" y="137169"/>
              <a:ext cx="75757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sp>
        <p:nvSpPr>
          <p:cNvPr id="459" name="R bps"/>
          <p:cNvSpPr/>
          <p:nvPr/>
        </p:nvSpPr>
        <p:spPr>
          <a:xfrm>
            <a:off x="3856519" y="7427119"/>
            <a:ext cx="1491880"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defRPr sz="3600">
                <a:solidFill>
                  <a:srgbClr val="942193"/>
                </a:solidFill>
                <a:latin typeface="+mn-lt"/>
                <a:ea typeface="+mn-ea"/>
                <a:cs typeface="+mn-cs"/>
                <a:sym typeface="Chalkboard SE Regular"/>
              </a:defRPr>
            </a:lvl1pPr>
          </a:lstStyle>
          <a:p>
            <a:r>
              <a:rPr dirty="0"/>
              <a:t>R b</a:t>
            </a:r>
            <a:r>
              <a:rPr lang="fr-CH" dirty="0" err="1"/>
              <a:t>it</a:t>
            </a:r>
            <a:r>
              <a:rPr lang="fr-CH" dirty="0"/>
              <a:t>/</a:t>
            </a:r>
            <a:r>
              <a:rPr dirty="0"/>
              <a:t>s</a:t>
            </a:r>
          </a:p>
        </p:txBody>
      </p:sp>
      <p:sp>
        <p:nvSpPr>
          <p:cNvPr id="460" name="x"/>
          <p:cNvSpPr/>
          <p:nvPr/>
        </p:nvSpPr>
        <p:spPr>
          <a:xfrm>
            <a:off x="5413649" y="7368312"/>
            <a:ext cx="990601" cy="749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a:solidFill>
                  <a:srgbClr val="942193"/>
                </a:solidFill>
                <a:latin typeface="+mn-lt"/>
                <a:ea typeface="+mn-ea"/>
                <a:cs typeface="+mn-cs"/>
                <a:sym typeface="Chalkboard SE Regular"/>
              </a:defRPr>
            </a:lvl1pPr>
          </a:lstStyle>
          <a:p>
            <a:r>
              <a:t>x</a:t>
            </a:r>
          </a:p>
        </p:txBody>
      </p:sp>
      <p:sp>
        <p:nvSpPr>
          <p:cNvPr id="461" name="RTT sec"/>
          <p:cNvSpPr/>
          <p:nvPr/>
        </p:nvSpPr>
        <p:spPr>
          <a:xfrm>
            <a:off x="5902724" y="7438743"/>
            <a:ext cx="2184401"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a:solidFill>
                  <a:srgbClr val="942193"/>
                </a:solidFill>
                <a:latin typeface="+mn-lt"/>
                <a:ea typeface="+mn-ea"/>
                <a:cs typeface="+mn-cs"/>
                <a:sym typeface="Chalkboard SE Regular"/>
              </a:defRPr>
            </a:lvl1pPr>
          </a:lstStyle>
          <a:p>
            <a:r>
              <a:rPr dirty="0"/>
              <a:t>RTT s</a:t>
            </a:r>
          </a:p>
        </p:txBody>
      </p:sp>
      <p:sp>
        <p:nvSpPr>
          <p:cNvPr id="462" name="bandwidth"/>
          <p:cNvSpPr/>
          <p:nvPr/>
        </p:nvSpPr>
        <p:spPr>
          <a:xfrm>
            <a:off x="3765297" y="8096161"/>
            <a:ext cx="2641601"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a:solidFill>
                  <a:srgbClr val="942193"/>
                </a:solidFill>
                <a:latin typeface="+mn-lt"/>
                <a:ea typeface="+mn-ea"/>
                <a:cs typeface="+mn-cs"/>
                <a:sym typeface="Chalkboard SE Regular"/>
              </a:defRPr>
            </a:lvl1pPr>
          </a:lstStyle>
          <a:p>
            <a:r>
              <a:rPr b="1" dirty="0"/>
              <a:t>bandwidth</a:t>
            </a:r>
          </a:p>
        </p:txBody>
      </p:sp>
      <p:sp>
        <p:nvSpPr>
          <p:cNvPr id="463" name="delay"/>
          <p:cNvSpPr/>
          <p:nvPr/>
        </p:nvSpPr>
        <p:spPr>
          <a:xfrm>
            <a:off x="6197634" y="8096161"/>
            <a:ext cx="1295401"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a:solidFill>
                  <a:srgbClr val="942193"/>
                </a:solidFill>
                <a:latin typeface="+mn-lt"/>
                <a:ea typeface="+mn-ea"/>
                <a:cs typeface="+mn-cs"/>
                <a:sym typeface="Chalkboard SE Regular"/>
              </a:defRPr>
            </a:lvl1pPr>
          </a:lstStyle>
          <a:p>
            <a:r>
              <a:rPr b="1"/>
              <a:t>delay</a:t>
            </a:r>
          </a:p>
        </p:txBody>
      </p:sp>
      <p:sp>
        <p:nvSpPr>
          <p:cNvPr id="464" name="product"/>
          <p:cNvSpPr/>
          <p:nvPr/>
        </p:nvSpPr>
        <p:spPr>
          <a:xfrm>
            <a:off x="7588046" y="8096161"/>
            <a:ext cx="1828801"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a:solidFill>
                  <a:srgbClr val="942193"/>
                </a:solidFill>
                <a:latin typeface="+mn-lt"/>
                <a:ea typeface="+mn-ea"/>
                <a:cs typeface="+mn-cs"/>
                <a:sym typeface="Chalkboard SE Regular"/>
              </a:defRPr>
            </a:lvl1pPr>
          </a:lstStyle>
          <a:p>
            <a:r>
              <a:rPr b="1"/>
              <a:t>product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iterate>
                                    <p:tmAbs val="0"/>
                                  </p:iterate>
                                  <p:childTnLst>
                                    <p:set>
                                      <p:cBhvr>
                                        <p:cTn id="9" fill="hold"/>
                                        <p:tgtEl>
                                          <p:spTgt spid="413"/>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iterate>
                                    <p:tmAbs val="0"/>
                                  </p:iterate>
                                  <p:childTnLst>
                                    <p:set>
                                      <p:cBhvr>
                                        <p:cTn id="12" fill="hold"/>
                                        <p:tgtEl>
                                          <p:spTgt spid="419"/>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iterate>
                                    <p:tmAbs val="0"/>
                                  </p:iterate>
                                  <p:childTnLst>
                                    <p:set>
                                      <p:cBhvr>
                                        <p:cTn id="15" fill="hold"/>
                                        <p:tgtEl>
                                          <p:spTgt spid="440"/>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iterate>
                                    <p:tmAbs val="0"/>
                                  </p:iterate>
                                  <p:childTnLst>
                                    <p:set>
                                      <p:cBhvr>
                                        <p:cTn id="18" fill="hold"/>
                                        <p:tgtEl>
                                          <p:spTgt spid="422"/>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iterate>
                                    <p:tmAbs val="0"/>
                                  </p:iterate>
                                  <p:childTnLst>
                                    <p:set>
                                      <p:cBhvr>
                                        <p:cTn id="21" fill="hold"/>
                                        <p:tgtEl>
                                          <p:spTgt spid="443"/>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iterate>
                                    <p:tmAbs val="0"/>
                                  </p:iterate>
                                  <p:childTnLst>
                                    <p:set>
                                      <p:cBhvr>
                                        <p:cTn id="24" fill="hold"/>
                                        <p:tgtEl>
                                          <p:spTgt spid="425"/>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iterate>
                                    <p:tmAbs val="0"/>
                                  </p:iterate>
                                  <p:childTnLst>
                                    <p:set>
                                      <p:cBhvr>
                                        <p:cTn id="27" fill="hold"/>
                                        <p:tgtEl>
                                          <p:spTgt spid="446"/>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iterate>
                                    <p:tmAbs val="0"/>
                                  </p:iterate>
                                  <p:childTnLst>
                                    <p:set>
                                      <p:cBhvr>
                                        <p:cTn id="30" fill="hold"/>
                                        <p:tgtEl>
                                          <p:spTgt spid="428"/>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iterate>
                                    <p:tmAbs val="0"/>
                                  </p:iterate>
                                  <p:childTnLst>
                                    <p:set>
                                      <p:cBhvr>
                                        <p:cTn id="33" fill="hold"/>
                                        <p:tgtEl>
                                          <p:spTgt spid="449"/>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500"/>
                                  </p:stCondLst>
                                  <p:iterate>
                                    <p:tmAbs val="0"/>
                                  </p:iterate>
                                  <p:childTnLst>
                                    <p:set>
                                      <p:cBhvr>
                                        <p:cTn id="36" fill="hold"/>
                                        <p:tgtEl>
                                          <p:spTgt spid="431"/>
                                        </p:tgtEl>
                                        <p:attrNameLst>
                                          <p:attrName>style.visibility</p:attrName>
                                        </p:attrNameLst>
                                      </p:cBhvr>
                                      <p:to>
                                        <p:strVal val="visible"/>
                                      </p:to>
                                    </p:set>
                                  </p:childTnLst>
                                </p:cTn>
                              </p:par>
                            </p:childTnLst>
                          </p:cTn>
                        </p:par>
                        <p:par>
                          <p:cTn id="37" fill="hold">
                            <p:stCondLst>
                              <p:cond delay="5000"/>
                            </p:stCondLst>
                            <p:childTnLst>
                              <p:par>
                                <p:cTn id="38" presetID="1" presetClass="entr" presetSubtype="0" fill="hold" grpId="0" nodeType="afterEffect">
                                  <p:stCondLst>
                                    <p:cond delay="500"/>
                                  </p:stCondLst>
                                  <p:iterate>
                                    <p:tmAbs val="0"/>
                                  </p:iterate>
                                  <p:childTnLst>
                                    <p:set>
                                      <p:cBhvr>
                                        <p:cTn id="39" fill="hold"/>
                                        <p:tgtEl>
                                          <p:spTgt spid="452"/>
                                        </p:tgtEl>
                                        <p:attrNameLst>
                                          <p:attrName>style.visibility</p:attrName>
                                        </p:attrNameLst>
                                      </p:cBhvr>
                                      <p:to>
                                        <p:strVal val="visible"/>
                                      </p:to>
                                    </p:set>
                                  </p:childTnLst>
                                </p:cTn>
                              </p:par>
                            </p:childTnLst>
                          </p:cTn>
                        </p:par>
                        <p:par>
                          <p:cTn id="40" fill="hold">
                            <p:stCondLst>
                              <p:cond delay="5500"/>
                            </p:stCondLst>
                            <p:childTnLst>
                              <p:par>
                                <p:cTn id="41" presetID="1" presetClass="entr" presetSubtype="0" fill="hold" grpId="0" nodeType="afterEffect">
                                  <p:stCondLst>
                                    <p:cond delay="500"/>
                                  </p:stCondLst>
                                  <p:iterate>
                                    <p:tmAbs val="0"/>
                                  </p:iterate>
                                  <p:childTnLst>
                                    <p:set>
                                      <p:cBhvr>
                                        <p:cTn id="42" fill="hold"/>
                                        <p:tgtEl>
                                          <p:spTgt spid="434"/>
                                        </p:tgtEl>
                                        <p:attrNameLst>
                                          <p:attrName>style.visibility</p:attrName>
                                        </p:attrNameLst>
                                      </p:cBhvr>
                                      <p:to>
                                        <p:strVal val="visible"/>
                                      </p:to>
                                    </p:set>
                                  </p:childTnLst>
                                </p:cTn>
                              </p:par>
                            </p:childTnLst>
                          </p:cTn>
                        </p:par>
                        <p:par>
                          <p:cTn id="43" fill="hold">
                            <p:stCondLst>
                              <p:cond delay="6000"/>
                            </p:stCondLst>
                            <p:childTnLst>
                              <p:par>
                                <p:cTn id="44" presetID="1" presetClass="entr" presetSubtype="0" fill="hold" grpId="0" nodeType="afterEffect">
                                  <p:stCondLst>
                                    <p:cond delay="500"/>
                                  </p:stCondLst>
                                  <p:iterate>
                                    <p:tmAbs val="0"/>
                                  </p:iterate>
                                  <p:childTnLst>
                                    <p:set>
                                      <p:cBhvr>
                                        <p:cTn id="45" fill="hold"/>
                                        <p:tgtEl>
                                          <p:spTgt spid="455"/>
                                        </p:tgtEl>
                                        <p:attrNameLst>
                                          <p:attrName>style.visibility</p:attrName>
                                        </p:attrNameLst>
                                      </p:cBhvr>
                                      <p:to>
                                        <p:strVal val="visible"/>
                                      </p:to>
                                    </p:set>
                                  </p:childTnLst>
                                </p:cTn>
                              </p:par>
                            </p:childTnLst>
                          </p:cTn>
                        </p:par>
                        <p:par>
                          <p:cTn id="46" fill="hold">
                            <p:stCondLst>
                              <p:cond delay="6500"/>
                            </p:stCondLst>
                            <p:childTnLst>
                              <p:par>
                                <p:cTn id="47" presetID="1" presetClass="entr" presetSubtype="0" fill="hold" grpId="0" nodeType="afterEffect">
                                  <p:stCondLst>
                                    <p:cond delay="500"/>
                                  </p:stCondLst>
                                  <p:iterate>
                                    <p:tmAbs val="0"/>
                                  </p:iterate>
                                  <p:childTnLst>
                                    <p:set>
                                      <p:cBhvr>
                                        <p:cTn id="48" fill="hold"/>
                                        <p:tgtEl>
                                          <p:spTgt spid="437"/>
                                        </p:tgtEl>
                                        <p:attrNameLst>
                                          <p:attrName>style.visibility</p:attrName>
                                        </p:attrNameLst>
                                      </p:cBhvr>
                                      <p:to>
                                        <p:strVal val="visible"/>
                                      </p:to>
                                    </p:set>
                                  </p:childTnLst>
                                </p:cTn>
                              </p:par>
                            </p:childTnLst>
                          </p:cTn>
                        </p:par>
                        <p:par>
                          <p:cTn id="49" fill="hold">
                            <p:stCondLst>
                              <p:cond delay="7000"/>
                            </p:stCondLst>
                            <p:childTnLst>
                              <p:par>
                                <p:cTn id="50" presetID="1" presetClass="entr" presetSubtype="0" fill="hold" grpId="0" nodeType="afterEffect">
                                  <p:stCondLst>
                                    <p:cond delay="500"/>
                                  </p:stCondLst>
                                  <p:iterate>
                                    <p:tmAbs val="0"/>
                                  </p:iterate>
                                  <p:childTnLst>
                                    <p:set>
                                      <p:cBhvr>
                                        <p:cTn id="51" fill="hold"/>
                                        <p:tgtEl>
                                          <p:spTgt spid="45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p:tmAbs val="0"/>
                                  </p:iterate>
                                  <p:childTnLst>
                                    <p:set>
                                      <p:cBhvr>
                                        <p:cTn id="55" fill="hold"/>
                                        <p:tgtEl>
                                          <p:spTgt spid="45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iterate>
                                    <p:tmAbs val="0"/>
                                  </p:iterate>
                                  <p:childTnLst>
                                    <p:set>
                                      <p:cBhvr>
                                        <p:cTn id="59" fill="hold"/>
                                        <p:tgtEl>
                                          <p:spTgt spid="460"/>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iterate>
                                    <p:tmAbs val="0"/>
                                  </p:iterate>
                                  <p:childTnLst>
                                    <p:set>
                                      <p:cBhvr>
                                        <p:cTn id="62" fill="hold"/>
                                        <p:tgtEl>
                                          <p:spTgt spid="46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p:tmAbs val="0"/>
                                  </p:iterate>
                                  <p:childTnLst>
                                    <p:set>
                                      <p:cBhvr>
                                        <p:cTn id="66" fill="hold"/>
                                        <p:tgtEl>
                                          <p:spTgt spid="46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p:tmAbs val="0"/>
                                  </p:iterate>
                                  <p:childTnLst>
                                    <p:set>
                                      <p:cBhvr>
                                        <p:cTn id="70" fill="hold"/>
                                        <p:tgtEl>
                                          <p:spTgt spid="46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p:tmAbs val="0"/>
                                  </p:iterate>
                                  <p:childTnLst>
                                    <p:set>
                                      <p:cBhvr>
                                        <p:cTn id="74" fill="hold"/>
                                        <p:tgtEl>
                                          <p:spTgt spid="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 grpId="0" animBg="1" advAuto="0"/>
      <p:bldP spid="416" grpId="0" animBg="1" advAuto="0"/>
      <p:bldP spid="419" grpId="0" animBg="1" advAuto="0"/>
      <p:bldP spid="422" grpId="0" animBg="1" advAuto="0"/>
      <p:bldP spid="425" grpId="0" animBg="1" advAuto="0"/>
      <p:bldP spid="428" grpId="0" animBg="1" advAuto="0"/>
      <p:bldP spid="431" grpId="0" animBg="1" advAuto="0"/>
      <p:bldP spid="434" grpId="0" animBg="1" advAuto="0"/>
      <p:bldP spid="437" grpId="0" animBg="1" advAuto="0"/>
      <p:bldP spid="440" grpId="0" animBg="1" advAuto="0"/>
      <p:bldP spid="443" grpId="0" animBg="1" advAuto="0"/>
      <p:bldP spid="446" grpId="0" animBg="1" advAuto="0"/>
      <p:bldP spid="449" grpId="0" animBg="1" advAuto="0"/>
      <p:bldP spid="452" grpId="0" animBg="1" advAuto="0"/>
      <p:bldP spid="455" grpId="0" animBg="1" advAuto="0"/>
      <p:bldP spid="458" grpId="0" animBg="1" advAuto="0"/>
      <p:bldP spid="459" grpId="0" animBg="1" advAuto="0"/>
      <p:bldP spid="460" grpId="0" animBg="1" advAuto="0"/>
      <p:bldP spid="461" grpId="0" animBg="1" advAuto="0"/>
      <p:bldP spid="462" grpId="0" animBg="1" advAuto="0"/>
      <p:bldP spid="463" grpId="0" animBg="1" advAuto="0"/>
      <p:bldP spid="464" grpId="0" animBg="1"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2"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73" name="Rectangle"/>
          <p:cNvSpPr/>
          <p:nvPr/>
        </p:nvSpPr>
        <p:spPr>
          <a:xfrm>
            <a:off x="9228756" y="-187354"/>
            <a:ext cx="2818677"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7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30</a:t>
            </a:fld>
            <a:endParaRPr/>
          </a:p>
        </p:txBody>
      </p:sp>
      <p:sp>
        <p:nvSpPr>
          <p:cNvPr id="475"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76"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477"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478"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481" name="Group"/>
          <p:cNvGrpSpPr/>
          <p:nvPr/>
        </p:nvGrpSpPr>
        <p:grpSpPr>
          <a:xfrm>
            <a:off x="3886437" y="2513639"/>
            <a:ext cx="4654619" cy="1158174"/>
            <a:chOff x="22808" y="0"/>
            <a:chExt cx="4654618" cy="1158172"/>
          </a:xfrm>
        </p:grpSpPr>
        <p:sp>
          <p:nvSpPr>
            <p:cNvPr id="479" name="Line"/>
            <p:cNvSpPr/>
            <p:nvPr/>
          </p:nvSpPr>
          <p:spPr>
            <a:xfrm flipV="1">
              <a:off x="22808" y="216455"/>
              <a:ext cx="4654620" cy="94171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80" name="ACK"/>
            <p:cNvSpPr/>
            <p:nvPr/>
          </p:nvSpPr>
          <p:spPr>
            <a:xfrm rot="20877173">
              <a:off x="2900687" y="73626"/>
              <a:ext cx="75757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a:t>
              </a:r>
            </a:p>
          </p:txBody>
        </p:sp>
      </p:grpSp>
      <p:grpSp>
        <p:nvGrpSpPr>
          <p:cNvPr id="484" name="Group"/>
          <p:cNvGrpSpPr/>
          <p:nvPr/>
        </p:nvGrpSpPr>
        <p:grpSpPr>
          <a:xfrm>
            <a:off x="4004223" y="1635702"/>
            <a:ext cx="4559643" cy="1042421"/>
            <a:chOff x="0" y="0"/>
            <a:chExt cx="4559641" cy="1042420"/>
          </a:xfrm>
        </p:grpSpPr>
        <p:sp>
          <p:nvSpPr>
            <p:cNvPr id="482"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83"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87" name="Group"/>
          <p:cNvGrpSpPr/>
          <p:nvPr/>
        </p:nvGrpSpPr>
        <p:grpSpPr>
          <a:xfrm>
            <a:off x="3883752" y="3431778"/>
            <a:ext cx="3426272" cy="879082"/>
            <a:chOff x="0" y="0"/>
            <a:chExt cx="3426271" cy="879080"/>
          </a:xfrm>
        </p:grpSpPr>
        <p:sp>
          <p:nvSpPr>
            <p:cNvPr id="485" name="Line"/>
            <p:cNvSpPr/>
            <p:nvPr/>
          </p:nvSpPr>
          <p:spPr>
            <a:xfrm flipH="1" flipV="1">
              <a:off x="0" y="399971"/>
              <a:ext cx="3426272" cy="479110"/>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86" name="[data]"/>
            <p:cNvSpPr/>
            <p:nvPr/>
          </p:nvSpPr>
          <p:spPr>
            <a:xfrm rot="440164">
              <a:off x="561193"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grpSp>
        <p:nvGrpSpPr>
          <p:cNvPr id="490" name="Group"/>
          <p:cNvGrpSpPr/>
          <p:nvPr/>
        </p:nvGrpSpPr>
        <p:grpSpPr>
          <a:xfrm>
            <a:off x="3858352" y="3814943"/>
            <a:ext cx="3584797" cy="877446"/>
            <a:chOff x="0" y="0"/>
            <a:chExt cx="3584796" cy="877444"/>
          </a:xfrm>
        </p:grpSpPr>
        <p:sp>
          <p:nvSpPr>
            <p:cNvPr id="488" name="Line"/>
            <p:cNvSpPr/>
            <p:nvPr/>
          </p:nvSpPr>
          <p:spPr>
            <a:xfrm flipH="1" flipV="1">
              <a:off x="-1" y="399971"/>
              <a:ext cx="3584798" cy="47747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89" name="[data]"/>
            <p:cNvSpPr/>
            <p:nvPr/>
          </p:nvSpPr>
          <p:spPr>
            <a:xfrm rot="440164">
              <a:off x="561193"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sp>
        <p:nvSpPr>
          <p:cNvPr id="491" name="X"/>
          <p:cNvSpPr/>
          <p:nvPr/>
        </p:nvSpPr>
        <p:spPr>
          <a:xfrm>
            <a:off x="7106333" y="3744158"/>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492" name="X"/>
          <p:cNvSpPr/>
          <p:nvPr/>
        </p:nvSpPr>
        <p:spPr>
          <a:xfrm>
            <a:off x="7245301" y="4146413"/>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grpSp>
        <p:nvGrpSpPr>
          <p:cNvPr id="495" name="Group"/>
          <p:cNvGrpSpPr/>
          <p:nvPr/>
        </p:nvGrpSpPr>
        <p:grpSpPr>
          <a:xfrm>
            <a:off x="3858352" y="7217485"/>
            <a:ext cx="4559642" cy="1042421"/>
            <a:chOff x="0" y="0"/>
            <a:chExt cx="4559641" cy="1042420"/>
          </a:xfrm>
        </p:grpSpPr>
        <p:sp>
          <p:nvSpPr>
            <p:cNvPr id="493"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94" name="[data]"/>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[data]</a:t>
              </a:r>
            </a:p>
          </p:txBody>
        </p:sp>
      </p:grpSp>
      <p:sp>
        <p:nvSpPr>
          <p:cNvPr id="496" name="timeout"/>
          <p:cNvSpPr/>
          <p:nvPr/>
        </p:nvSpPr>
        <p:spPr>
          <a:xfrm>
            <a:off x="1379911" y="7151461"/>
            <a:ext cx="1667680" cy="685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timeout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48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500"/>
                                  </p:stCondLst>
                                  <p:iterate>
                                    <p:tmAbs val="0"/>
                                  </p:iterate>
                                  <p:childTnLst>
                                    <p:set>
                                      <p:cBhvr>
                                        <p:cTn id="17" fill="hold"/>
                                        <p:tgtEl>
                                          <p:spTgt spid="49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491"/>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49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4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4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 grpId="0" animBg="1" advAuto="0"/>
      <p:bldP spid="484" grpId="0" animBg="1" advAuto="0"/>
      <p:bldP spid="487" grpId="0" animBg="1" advAuto="0"/>
      <p:bldP spid="490" grpId="0" animBg="1" advAuto="0"/>
      <p:bldP spid="491" grpId="0" animBg="1" advAuto="0"/>
      <p:bldP spid="492" grpId="0" animBg="1" advAuto="0"/>
      <p:bldP spid="495" grpId="0" animBg="1" advAuto="0"/>
      <p:bldP spid="496" grpId="0" animBg="1"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0" name="Self-clocking"/>
          <p:cNvSpPr txBox="1">
            <a:spLocks noGrp="1"/>
          </p:cNvSpPr>
          <p:nvPr>
            <p:ph type="title"/>
          </p:nvPr>
        </p:nvSpPr>
        <p:spPr>
          <a:xfrm>
            <a:off x="495759" y="254000"/>
            <a:ext cx="11723204" cy="2438400"/>
          </a:xfrm>
          <a:prstGeom prst="rect">
            <a:avLst/>
          </a:prstGeom>
        </p:spPr>
        <p:txBody>
          <a:bodyPr/>
          <a:lstStyle/>
          <a:p>
            <a:r>
              <a:rPr lang="fr-CH" dirty="0"/>
              <a:t>TCP congestion </a:t>
            </a:r>
            <a:r>
              <a:rPr lang="fr-CH" dirty="0" err="1"/>
              <a:t>windows</a:t>
            </a:r>
            <a:r>
              <a:rPr lang="fr-CH" dirty="0"/>
              <a:t> </a:t>
            </a:r>
            <a:r>
              <a:rPr lang="fr-CH" dirty="0" err="1"/>
              <a:t>is</a:t>
            </a:r>
            <a:r>
              <a:rPr lang="fr-CH" dirty="0"/>
              <a:t> </a:t>
            </a:r>
            <a:r>
              <a:rPr lang="fr-CH" dirty="0" err="1"/>
              <a:t>managed</a:t>
            </a:r>
            <a:r>
              <a:rPr lang="fr-CH" dirty="0"/>
              <a:t> via </a:t>
            </a:r>
            <a:r>
              <a:rPr lang="fr-CH" b="1" dirty="0"/>
              <a:t>s</a:t>
            </a:r>
            <a:r>
              <a:rPr b="1" dirty="0"/>
              <a:t>elf-clocking</a:t>
            </a:r>
          </a:p>
        </p:txBody>
      </p:sp>
      <p:sp>
        <p:nvSpPr>
          <p:cNvPr id="501" name="Sender guesses the “right” congestion window based on the ACKs…"/>
          <p:cNvSpPr txBox="1">
            <a:spLocks noGrp="1"/>
          </p:cNvSpPr>
          <p:nvPr>
            <p:ph type="body" idx="1"/>
          </p:nvPr>
        </p:nvSpPr>
        <p:spPr>
          <a:xfrm>
            <a:off x="1124960" y="2938680"/>
            <a:ext cx="10464801" cy="5410201"/>
          </a:xfrm>
          <a:prstGeom prst="rect">
            <a:avLst/>
          </a:prstGeom>
        </p:spPr>
        <p:txBody>
          <a:bodyPr anchor="t"/>
          <a:lstStyle/>
          <a:p>
            <a:r>
              <a:rPr dirty="0"/>
              <a:t>Sender guesses the “right” congestion window based on the ACKs</a:t>
            </a:r>
          </a:p>
          <a:p>
            <a:r>
              <a:rPr dirty="0"/>
              <a:t>ACK = no congestion, increase window</a:t>
            </a:r>
          </a:p>
          <a:p>
            <a:r>
              <a:rPr dirty="0"/>
              <a:t>No ACK = congestion, decrease window</a:t>
            </a:r>
            <a:endParaRPr lang="fr-CH" dirty="0"/>
          </a:p>
          <a:p>
            <a:r>
              <a:rPr lang="en-US" dirty="0"/>
              <a:t>What algorithm exactly does TCP use to increase and decrease the window size?</a:t>
            </a:r>
          </a:p>
          <a:p>
            <a:endParaRPr dirty="0"/>
          </a:p>
        </p:txBody>
      </p:sp>
      <p:sp>
        <p:nvSpPr>
          <p:cNvPr id="502"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0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50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50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501">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50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 grpId="0" build="p" animBg="1"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 name="Rectangle"/>
          <p:cNvSpPr/>
          <p:nvPr/>
        </p:nvSpPr>
        <p:spPr>
          <a:xfrm>
            <a:off x="854007" y="-187354"/>
            <a:ext cx="250743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07" name="Rectangle"/>
          <p:cNvSpPr/>
          <p:nvPr/>
        </p:nvSpPr>
        <p:spPr>
          <a:xfrm>
            <a:off x="9228756" y="-187354"/>
            <a:ext cx="2783128"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0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
        <p:nvSpPr>
          <p:cNvPr id="509"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10"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511"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512"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515" name="Group"/>
          <p:cNvGrpSpPr/>
          <p:nvPr/>
        </p:nvGrpSpPr>
        <p:grpSpPr>
          <a:xfrm>
            <a:off x="3833424" y="2495436"/>
            <a:ext cx="4707633" cy="935295"/>
            <a:chOff x="0" y="0"/>
            <a:chExt cx="4707631" cy="935293"/>
          </a:xfrm>
        </p:grpSpPr>
        <p:sp>
          <p:nvSpPr>
            <p:cNvPr id="513" name="Line"/>
            <p:cNvSpPr/>
            <p:nvPr/>
          </p:nvSpPr>
          <p:spPr>
            <a:xfrm flipV="1">
              <a:off x="-1" y="234659"/>
              <a:ext cx="4707633" cy="7006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14" name="ACK 100"/>
            <p:cNvSpPr/>
            <p:nvPr/>
          </p:nvSpPr>
          <p:spPr>
            <a:xfrm rot="21177173">
              <a:off x="2264639" y="85933"/>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100</a:t>
              </a:r>
            </a:p>
          </p:txBody>
        </p:sp>
      </p:grpSp>
      <p:grpSp>
        <p:nvGrpSpPr>
          <p:cNvPr id="518" name="Group"/>
          <p:cNvGrpSpPr/>
          <p:nvPr/>
        </p:nvGrpSpPr>
        <p:grpSpPr>
          <a:xfrm>
            <a:off x="4004223" y="1635702"/>
            <a:ext cx="4559643" cy="1042421"/>
            <a:chOff x="0" y="0"/>
            <a:chExt cx="4559641" cy="1042420"/>
          </a:xfrm>
        </p:grpSpPr>
        <p:sp>
          <p:nvSpPr>
            <p:cNvPr id="516"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17" name="SEQ 0"/>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0</a:t>
              </a:r>
            </a:p>
          </p:txBody>
        </p:sp>
      </p:grpSp>
      <p:grpSp>
        <p:nvGrpSpPr>
          <p:cNvPr id="521" name="Group"/>
          <p:cNvGrpSpPr/>
          <p:nvPr/>
        </p:nvGrpSpPr>
        <p:grpSpPr>
          <a:xfrm>
            <a:off x="3863628" y="3247667"/>
            <a:ext cx="4559643" cy="956451"/>
            <a:chOff x="0" y="0"/>
            <a:chExt cx="4559641" cy="956449"/>
          </a:xfrm>
        </p:grpSpPr>
        <p:sp>
          <p:nvSpPr>
            <p:cNvPr id="519" name="Line"/>
            <p:cNvSpPr/>
            <p:nvPr/>
          </p:nvSpPr>
          <p:spPr>
            <a:xfrm flipH="1" flipV="1">
              <a:off x="-1" y="349904"/>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20" name="SEQ 100"/>
            <p:cNvSpPr/>
            <p:nvPr/>
          </p:nvSpPr>
          <p:spPr>
            <a:xfrm rot="440164">
              <a:off x="655846"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100</a:t>
              </a:r>
            </a:p>
          </p:txBody>
        </p:sp>
      </p:grpSp>
      <p:grpSp>
        <p:nvGrpSpPr>
          <p:cNvPr id="524" name="Group"/>
          <p:cNvGrpSpPr/>
          <p:nvPr/>
        </p:nvGrpSpPr>
        <p:grpSpPr>
          <a:xfrm>
            <a:off x="3858352" y="3570792"/>
            <a:ext cx="4559642" cy="934713"/>
            <a:chOff x="0" y="0"/>
            <a:chExt cx="4559641" cy="934711"/>
          </a:xfrm>
        </p:grpSpPr>
        <p:sp>
          <p:nvSpPr>
            <p:cNvPr id="522" name="Line"/>
            <p:cNvSpPr/>
            <p:nvPr/>
          </p:nvSpPr>
          <p:spPr>
            <a:xfrm flipH="1" flipV="1">
              <a:off x="-1" y="328166"/>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23" name="SEQ 200"/>
            <p:cNvSpPr/>
            <p:nvPr/>
          </p:nvSpPr>
          <p:spPr>
            <a:xfrm rot="440164">
              <a:off x="643878"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200</a:t>
              </a:r>
            </a:p>
          </p:txBody>
        </p:sp>
      </p:grpSp>
      <p:grpSp>
        <p:nvGrpSpPr>
          <p:cNvPr id="527" name="Group"/>
          <p:cNvGrpSpPr/>
          <p:nvPr/>
        </p:nvGrpSpPr>
        <p:grpSpPr>
          <a:xfrm>
            <a:off x="3761731" y="4240083"/>
            <a:ext cx="4680705" cy="1011934"/>
            <a:chOff x="33854" y="0"/>
            <a:chExt cx="4680703" cy="1011933"/>
          </a:xfrm>
        </p:grpSpPr>
        <p:sp>
          <p:nvSpPr>
            <p:cNvPr id="525" name="Line"/>
            <p:cNvSpPr/>
            <p:nvPr/>
          </p:nvSpPr>
          <p:spPr>
            <a:xfrm flipV="1">
              <a:off x="33854" y="-1"/>
              <a:ext cx="4680705" cy="1011935"/>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26" name="ACK 200"/>
            <p:cNvSpPr/>
            <p:nvPr/>
          </p:nvSpPr>
          <p:spPr>
            <a:xfrm rot="20877173">
              <a:off x="928109" y="244629"/>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200</a:t>
              </a:r>
            </a:p>
          </p:txBody>
        </p:sp>
      </p:grpSp>
      <p:grpSp>
        <p:nvGrpSpPr>
          <p:cNvPr id="530" name="Group"/>
          <p:cNvGrpSpPr/>
          <p:nvPr/>
        </p:nvGrpSpPr>
        <p:grpSpPr>
          <a:xfrm>
            <a:off x="3798428" y="4557271"/>
            <a:ext cx="4622083" cy="2282324"/>
            <a:chOff x="249153" y="0"/>
            <a:chExt cx="4622081" cy="2282322"/>
          </a:xfrm>
        </p:grpSpPr>
        <p:sp>
          <p:nvSpPr>
            <p:cNvPr id="528" name="Line"/>
            <p:cNvSpPr/>
            <p:nvPr/>
          </p:nvSpPr>
          <p:spPr>
            <a:xfrm flipV="1">
              <a:off x="249153" y="-1"/>
              <a:ext cx="4622083" cy="228232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29" name="ACK 300"/>
            <p:cNvSpPr/>
            <p:nvPr/>
          </p:nvSpPr>
          <p:spPr>
            <a:xfrm rot="20037173">
              <a:off x="2554791" y="361595"/>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300</a:t>
              </a:r>
            </a:p>
          </p:txBody>
        </p:sp>
      </p:grpSp>
      <p:grpSp>
        <p:nvGrpSpPr>
          <p:cNvPr id="533" name="Group"/>
          <p:cNvGrpSpPr/>
          <p:nvPr/>
        </p:nvGrpSpPr>
        <p:grpSpPr>
          <a:xfrm>
            <a:off x="3782152" y="5361571"/>
            <a:ext cx="4559642" cy="670299"/>
            <a:chOff x="0" y="205007"/>
            <a:chExt cx="4559641" cy="670298"/>
          </a:xfrm>
        </p:grpSpPr>
        <p:sp>
          <p:nvSpPr>
            <p:cNvPr id="531"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32" name="SEQ 300"/>
            <p:cNvSpPr/>
            <p:nvPr/>
          </p:nvSpPr>
          <p:spPr>
            <a:xfrm rot="440164">
              <a:off x="2798047" y="300488"/>
              <a:ext cx="152625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grpSp>
        <p:nvGrpSpPr>
          <p:cNvPr id="536" name="Group"/>
          <p:cNvGrpSpPr/>
          <p:nvPr/>
        </p:nvGrpSpPr>
        <p:grpSpPr>
          <a:xfrm>
            <a:off x="3832952" y="5654652"/>
            <a:ext cx="4559642" cy="670300"/>
            <a:chOff x="0" y="179607"/>
            <a:chExt cx="4559641" cy="670298"/>
          </a:xfrm>
        </p:grpSpPr>
        <p:sp>
          <p:nvSpPr>
            <p:cNvPr id="534"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35" name="SEQ 400"/>
            <p:cNvSpPr/>
            <p:nvPr/>
          </p:nvSpPr>
          <p:spPr>
            <a:xfrm rot="440164">
              <a:off x="2690339" y="275088"/>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539" name="Group"/>
          <p:cNvGrpSpPr/>
          <p:nvPr/>
        </p:nvGrpSpPr>
        <p:grpSpPr>
          <a:xfrm>
            <a:off x="3782152" y="6914597"/>
            <a:ext cx="4559642" cy="670300"/>
            <a:chOff x="0" y="205007"/>
            <a:chExt cx="4559641" cy="670298"/>
          </a:xfrm>
        </p:grpSpPr>
        <p:sp>
          <p:nvSpPr>
            <p:cNvPr id="537"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38" name="SEQ 500"/>
            <p:cNvSpPr/>
            <p:nvPr/>
          </p:nvSpPr>
          <p:spPr>
            <a:xfrm rot="440164">
              <a:off x="2798047" y="300488"/>
              <a:ext cx="152625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542" name="Group"/>
          <p:cNvGrpSpPr/>
          <p:nvPr/>
        </p:nvGrpSpPr>
        <p:grpSpPr>
          <a:xfrm>
            <a:off x="3832952" y="7207679"/>
            <a:ext cx="4559642" cy="670300"/>
            <a:chOff x="0" y="179607"/>
            <a:chExt cx="4559641" cy="670298"/>
          </a:xfrm>
        </p:grpSpPr>
        <p:sp>
          <p:nvSpPr>
            <p:cNvPr id="540"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41" name="SEQ 600"/>
            <p:cNvSpPr/>
            <p:nvPr/>
          </p:nvSpPr>
          <p:spPr>
            <a:xfrm rot="440164">
              <a:off x="2690339" y="275088"/>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sp>
        <p:nvSpPr>
          <p:cNvPr id="543" name="N=100 bytes"/>
          <p:cNvSpPr/>
          <p:nvPr/>
        </p:nvSpPr>
        <p:spPr>
          <a:xfrm>
            <a:off x="568073" y="1549400"/>
            <a:ext cx="2638202"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N=100 bytes</a:t>
            </a:r>
          </a:p>
        </p:txBody>
      </p:sp>
      <p:sp>
        <p:nvSpPr>
          <p:cNvPr id="544" name="N=200 bytes"/>
          <p:cNvSpPr/>
          <p:nvPr/>
        </p:nvSpPr>
        <p:spPr>
          <a:xfrm>
            <a:off x="560359" y="3072813"/>
            <a:ext cx="265363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N=200 bytes</a:t>
            </a:r>
          </a:p>
        </p:txBody>
      </p:sp>
      <p:sp>
        <p:nvSpPr>
          <p:cNvPr id="545" name="N=300 bytes"/>
          <p:cNvSpPr/>
          <p:nvPr/>
        </p:nvSpPr>
        <p:spPr>
          <a:xfrm>
            <a:off x="711321" y="4868765"/>
            <a:ext cx="2507437"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N=300 bytes</a:t>
            </a:r>
          </a:p>
        </p:txBody>
      </p:sp>
      <p:sp>
        <p:nvSpPr>
          <p:cNvPr id="546" name="N=400 bytes"/>
          <p:cNvSpPr/>
          <p:nvPr/>
        </p:nvSpPr>
        <p:spPr>
          <a:xfrm>
            <a:off x="618032" y="6554906"/>
            <a:ext cx="260072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N=400 bytes</a:t>
            </a:r>
          </a:p>
        </p:txBody>
      </p:sp>
      <p:sp>
        <p:nvSpPr>
          <p:cNvPr id="547" name="0 - 99"/>
          <p:cNvSpPr/>
          <p:nvPr/>
        </p:nvSpPr>
        <p:spPr>
          <a:xfrm>
            <a:off x="1186974" y="2105792"/>
            <a:ext cx="18415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0 - 99</a:t>
            </a:r>
          </a:p>
        </p:txBody>
      </p:sp>
      <p:sp>
        <p:nvSpPr>
          <p:cNvPr id="548" name="100 - 199"/>
          <p:cNvSpPr/>
          <p:nvPr/>
        </p:nvSpPr>
        <p:spPr>
          <a:xfrm>
            <a:off x="904882" y="3561519"/>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100 - 199</a:t>
            </a:r>
          </a:p>
        </p:txBody>
      </p:sp>
      <p:sp>
        <p:nvSpPr>
          <p:cNvPr id="549" name="200 - 299"/>
          <p:cNvSpPr/>
          <p:nvPr/>
        </p:nvSpPr>
        <p:spPr>
          <a:xfrm>
            <a:off x="904882" y="3967919"/>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200 - 299</a:t>
            </a:r>
          </a:p>
        </p:txBody>
      </p:sp>
      <p:pic>
        <p:nvPicPr>
          <p:cNvPr id="550" name="Line Line" descr="Line Line"/>
          <p:cNvPicPr>
            <a:picLocks/>
          </p:cNvPicPr>
          <p:nvPr/>
        </p:nvPicPr>
        <p:blipFill>
          <a:blip r:embed="rId3"/>
          <a:stretch>
            <a:fillRect/>
          </a:stretch>
        </p:blipFill>
        <p:spPr>
          <a:xfrm>
            <a:off x="1628778" y="2401755"/>
            <a:ext cx="1367787" cy="170074"/>
          </a:xfrm>
          <a:prstGeom prst="rect">
            <a:avLst/>
          </a:prstGeom>
        </p:spPr>
      </p:pic>
      <p:pic>
        <p:nvPicPr>
          <p:cNvPr id="552" name="Line Line" descr="Line Line"/>
          <p:cNvPicPr>
            <a:picLocks/>
          </p:cNvPicPr>
          <p:nvPr/>
        </p:nvPicPr>
        <p:blipFill>
          <a:blip r:embed="rId4"/>
          <a:stretch>
            <a:fillRect/>
          </a:stretch>
        </p:blipFill>
        <p:spPr>
          <a:xfrm>
            <a:off x="1425582" y="3866319"/>
            <a:ext cx="1775708" cy="158514"/>
          </a:xfrm>
          <a:prstGeom prst="rect">
            <a:avLst/>
          </a:prstGeom>
        </p:spPr>
      </p:pic>
      <p:sp>
        <p:nvSpPr>
          <p:cNvPr id="554" name="300 - 399"/>
          <p:cNvSpPr/>
          <p:nvPr/>
        </p:nvSpPr>
        <p:spPr>
          <a:xfrm>
            <a:off x="998768" y="5322912"/>
            <a:ext cx="21717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300 - 399</a:t>
            </a:r>
          </a:p>
        </p:txBody>
      </p:sp>
      <p:sp>
        <p:nvSpPr>
          <p:cNvPr id="555" name="400 - 499"/>
          <p:cNvSpPr/>
          <p:nvPr/>
        </p:nvSpPr>
        <p:spPr>
          <a:xfrm>
            <a:off x="922568" y="5780112"/>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400 - 499</a:t>
            </a:r>
          </a:p>
        </p:txBody>
      </p:sp>
      <p:pic>
        <p:nvPicPr>
          <p:cNvPr id="556" name="Line Line" descr="Line Line"/>
          <p:cNvPicPr>
            <a:picLocks/>
          </p:cNvPicPr>
          <p:nvPr/>
        </p:nvPicPr>
        <p:blipFill>
          <a:blip r:embed="rId4"/>
          <a:stretch>
            <a:fillRect/>
          </a:stretch>
        </p:blipFill>
        <p:spPr>
          <a:xfrm>
            <a:off x="1438282" y="4285419"/>
            <a:ext cx="1775708" cy="158514"/>
          </a:xfrm>
          <a:prstGeom prst="rect">
            <a:avLst/>
          </a:prstGeom>
        </p:spPr>
      </p:pic>
      <p:sp>
        <p:nvSpPr>
          <p:cNvPr id="558" name="500 - 599"/>
          <p:cNvSpPr/>
          <p:nvPr/>
        </p:nvSpPr>
        <p:spPr>
          <a:xfrm>
            <a:off x="894657" y="7050206"/>
            <a:ext cx="21971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500 - 599</a:t>
            </a:r>
          </a:p>
        </p:txBody>
      </p:sp>
      <p:sp>
        <p:nvSpPr>
          <p:cNvPr id="559" name="600 - 699"/>
          <p:cNvSpPr/>
          <p:nvPr/>
        </p:nvSpPr>
        <p:spPr>
          <a:xfrm>
            <a:off x="843857" y="7507406"/>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200">
                <a:solidFill>
                  <a:srgbClr val="424242"/>
                </a:solidFill>
                <a:latin typeface="+mn-lt"/>
                <a:ea typeface="+mn-ea"/>
                <a:cs typeface="+mn-cs"/>
                <a:sym typeface="Chalkboard SE Regular"/>
              </a:defRPr>
            </a:lvl1pPr>
          </a:lstStyle>
          <a:p>
            <a:r>
              <a:t>600 - 699</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5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5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5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5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54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54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521"/>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500"/>
                                  </p:stCondLst>
                                  <p:iterate>
                                    <p:tmAbs val="0"/>
                                  </p:iterate>
                                  <p:childTnLst>
                                    <p:set>
                                      <p:cBhvr>
                                        <p:cTn id="40" fill="hold"/>
                                        <p:tgtEl>
                                          <p:spTgt spid="5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5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5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5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p:tmAbs val="0"/>
                                  </p:iterate>
                                  <p:childTnLst>
                                    <p:set>
                                      <p:cBhvr>
                                        <p:cTn id="56" fill="hold"/>
                                        <p:tgtEl>
                                          <p:spTgt spid="554"/>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iterate>
                                    <p:tmAbs val="0"/>
                                  </p:iterate>
                                  <p:childTnLst>
                                    <p:set>
                                      <p:cBhvr>
                                        <p:cTn id="59" fill="hold"/>
                                        <p:tgtEl>
                                          <p:spTgt spid="55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iterate>
                                    <p:tmAbs val="0"/>
                                  </p:iterate>
                                  <p:childTnLst>
                                    <p:set>
                                      <p:cBhvr>
                                        <p:cTn id="63" fill="hold"/>
                                        <p:tgtEl>
                                          <p:spTgt spid="533"/>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500"/>
                                  </p:stCondLst>
                                  <p:iterate>
                                    <p:tmAbs val="0"/>
                                  </p:iterate>
                                  <p:childTnLst>
                                    <p:set>
                                      <p:cBhvr>
                                        <p:cTn id="66" fill="hold"/>
                                        <p:tgtEl>
                                          <p:spTgt spid="5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p:tmAbs val="0"/>
                                  </p:iterate>
                                  <p:childTnLst>
                                    <p:set>
                                      <p:cBhvr>
                                        <p:cTn id="70" fill="hold"/>
                                        <p:tgtEl>
                                          <p:spTgt spid="53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p:tmAbs val="0"/>
                                  </p:iterate>
                                  <p:childTnLst>
                                    <p:set>
                                      <p:cBhvr>
                                        <p:cTn id="74" fill="hold"/>
                                        <p:tgtEl>
                                          <p:spTgt spid="55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p:tmAbs val="0"/>
                                  </p:iterate>
                                  <p:childTnLst>
                                    <p:set>
                                      <p:cBhvr>
                                        <p:cTn id="78" fill="hold"/>
                                        <p:tgtEl>
                                          <p:spTgt spid="54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p:tmAbs val="0"/>
                                  </p:iterate>
                                  <p:childTnLst>
                                    <p:set>
                                      <p:cBhvr>
                                        <p:cTn id="82" fill="hold"/>
                                        <p:tgtEl>
                                          <p:spTgt spid="558"/>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0" nodeType="afterEffect">
                                  <p:stCondLst>
                                    <p:cond delay="0"/>
                                  </p:stCondLst>
                                  <p:iterate>
                                    <p:tmAbs val="0"/>
                                  </p:iterate>
                                  <p:childTnLst>
                                    <p:set>
                                      <p:cBhvr>
                                        <p:cTn id="85" fill="hold"/>
                                        <p:tgtEl>
                                          <p:spTgt spid="559"/>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iterate>
                                    <p:tmAbs val="0"/>
                                  </p:iterate>
                                  <p:childTnLst>
                                    <p:set>
                                      <p:cBhvr>
                                        <p:cTn id="89" fill="hold"/>
                                        <p:tgtEl>
                                          <p:spTgt spid="539"/>
                                        </p:tgtEl>
                                        <p:attrNameLst>
                                          <p:attrName>style.visibility</p:attrName>
                                        </p:attrNameLst>
                                      </p:cBhvr>
                                      <p:to>
                                        <p:strVal val="visible"/>
                                      </p:to>
                                    </p:set>
                                  </p:childTnLst>
                                </p:cTn>
                              </p:par>
                            </p:childTnLst>
                          </p:cTn>
                        </p:par>
                        <p:par>
                          <p:cTn id="90" fill="hold">
                            <p:stCondLst>
                              <p:cond delay="0"/>
                            </p:stCondLst>
                            <p:childTnLst>
                              <p:par>
                                <p:cTn id="91" presetID="1" presetClass="entr" presetSubtype="0" fill="hold" grpId="0" nodeType="afterEffect">
                                  <p:stCondLst>
                                    <p:cond delay="500"/>
                                  </p:stCondLst>
                                  <p:iterate>
                                    <p:tmAbs val="0"/>
                                  </p:iterate>
                                  <p:childTnLst>
                                    <p:set>
                                      <p:cBhvr>
                                        <p:cTn id="92" fill="hold"/>
                                        <p:tgtEl>
                                          <p:spTgt spid="5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 grpId="0" animBg="1" advAuto="0"/>
      <p:bldP spid="518" grpId="0" animBg="1" advAuto="0"/>
      <p:bldP spid="521" grpId="0" animBg="1" advAuto="0"/>
      <p:bldP spid="524" grpId="0" animBg="1" advAuto="0"/>
      <p:bldP spid="527" grpId="0" animBg="1" advAuto="0"/>
      <p:bldP spid="530" grpId="0" animBg="1" advAuto="0"/>
      <p:bldP spid="533" grpId="0" animBg="1" advAuto="0"/>
      <p:bldP spid="536" grpId="0" animBg="1" advAuto="0"/>
      <p:bldP spid="539" grpId="0" animBg="1" advAuto="0"/>
      <p:bldP spid="542" grpId="0" animBg="1" advAuto="0"/>
      <p:bldP spid="543" grpId="0" animBg="1" advAuto="0"/>
      <p:bldP spid="544" grpId="0" animBg="1" advAuto="0"/>
      <p:bldP spid="545" grpId="0" animBg="1" advAuto="0"/>
      <p:bldP spid="546" grpId="0" animBg="1" advAuto="0"/>
      <p:bldP spid="547" grpId="0" animBg="1" advAuto="0"/>
      <p:bldP spid="548" grpId="0" animBg="1" advAuto="0"/>
      <p:bldP spid="549" grpId="0" animBg="1" advAuto="0"/>
      <p:bldP spid="550" grpId="0" animBg="1" advAuto="0"/>
      <p:bldP spid="552" grpId="0" animBg="1" advAuto="0"/>
      <p:bldP spid="554" grpId="0" animBg="1" advAuto="0"/>
      <p:bldP spid="555" grpId="0" animBg="1" advAuto="0"/>
      <p:bldP spid="556" grpId="0" animBg="1" advAuto="0"/>
      <p:bldP spid="558" grpId="0" animBg="1" advAuto="0"/>
      <p:bldP spid="559" grpId="0" animBg="1" advAuto="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1" name="Increase window size"/>
          <p:cNvSpPr txBox="1">
            <a:spLocks noGrp="1"/>
          </p:cNvSpPr>
          <p:nvPr>
            <p:ph type="title"/>
          </p:nvPr>
        </p:nvSpPr>
        <p:spPr>
          <a:prstGeom prst="rect">
            <a:avLst/>
          </a:prstGeom>
        </p:spPr>
        <p:txBody>
          <a:bodyPr/>
          <a:lstStyle/>
          <a:p>
            <a:r>
              <a:rPr lang="fr-CH" dirty="0"/>
              <a:t>Speed of i</a:t>
            </a:r>
            <a:r>
              <a:rPr dirty="0" err="1"/>
              <a:t>ncrease</a:t>
            </a:r>
            <a:r>
              <a:rPr dirty="0"/>
              <a:t> </a:t>
            </a:r>
            <a:r>
              <a:rPr lang="fr-CH" dirty="0"/>
              <a:t>in </a:t>
            </a:r>
            <a:r>
              <a:rPr dirty="0"/>
              <a:t>window size</a:t>
            </a:r>
            <a:r>
              <a:rPr lang="fr-CH" dirty="0"/>
              <a:t> </a:t>
            </a:r>
            <a:r>
              <a:rPr lang="fr-CH" dirty="0" err="1"/>
              <a:t>is</a:t>
            </a:r>
            <a:r>
              <a:rPr lang="fr-CH" dirty="0"/>
              <a:t> </a:t>
            </a:r>
            <a:r>
              <a:rPr lang="fr-CH" dirty="0" err="1"/>
              <a:t>exponential</a:t>
            </a:r>
            <a:r>
              <a:rPr lang="fr-CH" dirty="0"/>
              <a:t>!</a:t>
            </a:r>
            <a:endParaRPr dirty="0"/>
          </a:p>
        </p:txBody>
      </p:sp>
      <p:sp>
        <p:nvSpPr>
          <p:cNvPr id="602" name="Exponentially…"/>
          <p:cNvSpPr txBox="1">
            <a:spLocks noGrp="1"/>
          </p:cNvSpPr>
          <p:nvPr>
            <p:ph type="body" sz="half" idx="1"/>
          </p:nvPr>
        </p:nvSpPr>
        <p:spPr>
          <a:xfrm>
            <a:off x="1117600" y="2364630"/>
            <a:ext cx="10769600" cy="4102101"/>
          </a:xfrm>
          <a:prstGeom prst="rect">
            <a:avLst/>
          </a:prstGeom>
        </p:spPr>
        <p:txBody>
          <a:bodyPr anchor="t"/>
          <a:lstStyle/>
          <a:p>
            <a:pPr lvl="1">
              <a:spcBef>
                <a:spcPts val="1000"/>
              </a:spcBef>
            </a:pPr>
            <a:endParaRPr lang="fr-CH" dirty="0"/>
          </a:p>
          <a:p>
            <a:pPr lvl="1">
              <a:spcBef>
                <a:spcPts val="1000"/>
              </a:spcBef>
            </a:pPr>
            <a:r>
              <a:rPr dirty="0"/>
              <a:t>by 1 MSS for every </a:t>
            </a:r>
            <a:r>
              <a:rPr dirty="0" err="1"/>
              <a:t>ACKed</a:t>
            </a:r>
            <a:r>
              <a:rPr dirty="0"/>
              <a:t> segment</a:t>
            </a:r>
          </a:p>
          <a:p>
            <a:pPr lvl="1">
              <a:spcBef>
                <a:spcPts val="1000"/>
              </a:spcBef>
            </a:pPr>
            <a:r>
              <a:rPr dirty="0"/>
              <a:t>=</a:t>
            </a:r>
            <a:r>
              <a:rPr lang="fr-CH" dirty="0"/>
              <a:t>&gt;</a:t>
            </a:r>
            <a:r>
              <a:rPr dirty="0"/>
              <a:t> window </a:t>
            </a:r>
            <a:r>
              <a:rPr b="1" dirty="0"/>
              <a:t>doubles every RTT</a:t>
            </a:r>
            <a:r>
              <a:rPr lang="fr-CH" b="1" dirty="0"/>
              <a:t>!</a:t>
            </a:r>
            <a:endParaRPr b="1" dirty="0"/>
          </a:p>
          <a:p>
            <a:pPr lvl="1">
              <a:spcBef>
                <a:spcPts val="6000"/>
              </a:spcBef>
            </a:pPr>
            <a:r>
              <a:rPr dirty="0"/>
              <a:t>when we do not expect congestion</a:t>
            </a:r>
          </a:p>
        </p:txBody>
      </p:sp>
      <p:sp>
        <p:nvSpPr>
          <p:cNvPr id="603"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33</a:t>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63" name="Rectangle"/>
          <p:cNvSpPr/>
          <p:nvPr/>
        </p:nvSpPr>
        <p:spPr>
          <a:xfrm>
            <a:off x="818636" y="-187354"/>
            <a:ext cx="2542807"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64" name="Rectangle"/>
          <p:cNvSpPr/>
          <p:nvPr/>
        </p:nvSpPr>
        <p:spPr>
          <a:xfrm>
            <a:off x="9228756" y="-187354"/>
            <a:ext cx="279094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6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34</a:t>
            </a:fld>
            <a:endParaRPr/>
          </a:p>
        </p:txBody>
      </p:sp>
      <p:sp>
        <p:nvSpPr>
          <p:cNvPr id="566"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67"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568"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569"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70" name="Group"/>
          <p:cNvSpPr/>
          <p:nvPr/>
        </p:nvSpPr>
        <p:spPr>
          <a:xfrm flipV="1">
            <a:off x="3833424" y="2730095"/>
            <a:ext cx="4707633" cy="70063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grpSp>
        <p:nvGrpSpPr>
          <p:cNvPr id="573" name="Group"/>
          <p:cNvGrpSpPr/>
          <p:nvPr/>
        </p:nvGrpSpPr>
        <p:grpSpPr>
          <a:xfrm>
            <a:off x="4004223" y="1635702"/>
            <a:ext cx="4559643" cy="1042421"/>
            <a:chOff x="0" y="0"/>
            <a:chExt cx="4559641" cy="1042420"/>
          </a:xfrm>
        </p:grpSpPr>
        <p:sp>
          <p:nvSpPr>
            <p:cNvPr id="571"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72" name="SEQ 0"/>
            <p:cNvSpPr/>
            <p:nvPr/>
          </p:nvSpPr>
          <p:spPr>
            <a:xfrm rot="440164">
              <a:off x="321841" y="78502"/>
              <a:ext cx="1260325"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0</a:t>
              </a:r>
            </a:p>
          </p:txBody>
        </p:sp>
      </p:grpSp>
      <p:grpSp>
        <p:nvGrpSpPr>
          <p:cNvPr id="576" name="Group"/>
          <p:cNvGrpSpPr/>
          <p:nvPr/>
        </p:nvGrpSpPr>
        <p:grpSpPr>
          <a:xfrm>
            <a:off x="3863628" y="3247667"/>
            <a:ext cx="4559643" cy="956451"/>
            <a:chOff x="0" y="0"/>
            <a:chExt cx="4559641" cy="956449"/>
          </a:xfrm>
        </p:grpSpPr>
        <p:sp>
          <p:nvSpPr>
            <p:cNvPr id="574" name="Line"/>
            <p:cNvSpPr/>
            <p:nvPr/>
          </p:nvSpPr>
          <p:spPr>
            <a:xfrm flipH="1" flipV="1">
              <a:off x="-1" y="349904"/>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75" name="SEQ 100"/>
            <p:cNvSpPr/>
            <p:nvPr/>
          </p:nvSpPr>
          <p:spPr>
            <a:xfrm rot="440164">
              <a:off x="655846"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100</a:t>
              </a:r>
            </a:p>
          </p:txBody>
        </p:sp>
      </p:grpSp>
      <p:grpSp>
        <p:nvGrpSpPr>
          <p:cNvPr id="579" name="Group"/>
          <p:cNvGrpSpPr/>
          <p:nvPr/>
        </p:nvGrpSpPr>
        <p:grpSpPr>
          <a:xfrm>
            <a:off x="3858352" y="3570792"/>
            <a:ext cx="4559642" cy="934713"/>
            <a:chOff x="0" y="0"/>
            <a:chExt cx="4559641" cy="934711"/>
          </a:xfrm>
        </p:grpSpPr>
        <p:sp>
          <p:nvSpPr>
            <p:cNvPr id="577" name="Line"/>
            <p:cNvSpPr/>
            <p:nvPr/>
          </p:nvSpPr>
          <p:spPr>
            <a:xfrm flipH="1" flipV="1">
              <a:off x="-1" y="328166"/>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78" name="SEQ 200"/>
            <p:cNvSpPr/>
            <p:nvPr/>
          </p:nvSpPr>
          <p:spPr>
            <a:xfrm rot="440164">
              <a:off x="643878"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200</a:t>
              </a:r>
            </a:p>
          </p:txBody>
        </p:sp>
      </p:grpSp>
      <p:sp>
        <p:nvSpPr>
          <p:cNvPr id="580" name="Group"/>
          <p:cNvSpPr/>
          <p:nvPr/>
        </p:nvSpPr>
        <p:spPr>
          <a:xfrm flipV="1">
            <a:off x="3761731" y="4240083"/>
            <a:ext cx="4680705" cy="101193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81" name="Line"/>
          <p:cNvSpPr/>
          <p:nvPr/>
        </p:nvSpPr>
        <p:spPr>
          <a:xfrm flipV="1">
            <a:off x="3832952" y="4557271"/>
            <a:ext cx="4587559" cy="96526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grpSp>
        <p:nvGrpSpPr>
          <p:cNvPr id="584" name="Group"/>
          <p:cNvGrpSpPr/>
          <p:nvPr/>
        </p:nvGrpSpPr>
        <p:grpSpPr>
          <a:xfrm>
            <a:off x="3782152" y="5361571"/>
            <a:ext cx="4559642" cy="670299"/>
            <a:chOff x="0" y="205007"/>
            <a:chExt cx="4559641" cy="670298"/>
          </a:xfrm>
        </p:grpSpPr>
        <p:sp>
          <p:nvSpPr>
            <p:cNvPr id="582"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83" name="SEQ 300"/>
            <p:cNvSpPr/>
            <p:nvPr/>
          </p:nvSpPr>
          <p:spPr>
            <a:xfrm rot="440164">
              <a:off x="2798047" y="300488"/>
              <a:ext cx="152625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grpSp>
        <p:nvGrpSpPr>
          <p:cNvPr id="587" name="Group"/>
          <p:cNvGrpSpPr/>
          <p:nvPr/>
        </p:nvGrpSpPr>
        <p:grpSpPr>
          <a:xfrm>
            <a:off x="3832952" y="5654652"/>
            <a:ext cx="4559642" cy="670300"/>
            <a:chOff x="0" y="179607"/>
            <a:chExt cx="4559641" cy="670298"/>
          </a:xfrm>
        </p:grpSpPr>
        <p:sp>
          <p:nvSpPr>
            <p:cNvPr id="585"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86" name="SEQ 400"/>
            <p:cNvSpPr/>
            <p:nvPr/>
          </p:nvSpPr>
          <p:spPr>
            <a:xfrm rot="440164">
              <a:off x="2690339" y="275088"/>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590" name="Group"/>
          <p:cNvGrpSpPr/>
          <p:nvPr/>
        </p:nvGrpSpPr>
        <p:grpSpPr>
          <a:xfrm>
            <a:off x="3756752" y="6005059"/>
            <a:ext cx="4559642" cy="670300"/>
            <a:chOff x="0" y="205007"/>
            <a:chExt cx="4559641" cy="670298"/>
          </a:xfrm>
        </p:grpSpPr>
        <p:sp>
          <p:nvSpPr>
            <p:cNvPr id="588"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89" name="SEQ 500"/>
            <p:cNvSpPr/>
            <p:nvPr/>
          </p:nvSpPr>
          <p:spPr>
            <a:xfrm rot="440164">
              <a:off x="2798047" y="300488"/>
              <a:ext cx="152625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593" name="Group"/>
          <p:cNvGrpSpPr/>
          <p:nvPr/>
        </p:nvGrpSpPr>
        <p:grpSpPr>
          <a:xfrm>
            <a:off x="3807552" y="6298141"/>
            <a:ext cx="4559642" cy="670299"/>
            <a:chOff x="0" y="179607"/>
            <a:chExt cx="4559641" cy="670298"/>
          </a:xfrm>
        </p:grpSpPr>
        <p:sp>
          <p:nvSpPr>
            <p:cNvPr id="591"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592" name="SEQ 600"/>
            <p:cNvSpPr/>
            <p:nvPr/>
          </p:nvSpPr>
          <p:spPr>
            <a:xfrm rot="440164">
              <a:off x="2690339" y="275088"/>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sp>
        <p:nvSpPr>
          <p:cNvPr id="594" name="N=100 bytes"/>
          <p:cNvSpPr/>
          <p:nvPr/>
        </p:nvSpPr>
        <p:spPr>
          <a:xfrm>
            <a:off x="568073" y="1549400"/>
            <a:ext cx="2638202"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N=100 bytes</a:t>
            </a:r>
          </a:p>
        </p:txBody>
      </p:sp>
      <p:sp>
        <p:nvSpPr>
          <p:cNvPr id="595" name="N=200 bytes"/>
          <p:cNvSpPr/>
          <p:nvPr/>
        </p:nvSpPr>
        <p:spPr>
          <a:xfrm>
            <a:off x="560359" y="3072813"/>
            <a:ext cx="265363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N=200 bytes</a:t>
            </a:r>
          </a:p>
        </p:txBody>
      </p:sp>
      <p:sp>
        <p:nvSpPr>
          <p:cNvPr id="596" name="N=300 bytes"/>
          <p:cNvSpPr/>
          <p:nvPr/>
        </p:nvSpPr>
        <p:spPr>
          <a:xfrm>
            <a:off x="650550" y="4868765"/>
            <a:ext cx="2542808"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N=300 bytes</a:t>
            </a:r>
          </a:p>
        </p:txBody>
      </p:sp>
      <p:sp>
        <p:nvSpPr>
          <p:cNvPr id="597" name="N=400 bytes"/>
          <p:cNvSpPr/>
          <p:nvPr/>
        </p:nvSpPr>
        <p:spPr>
          <a:xfrm>
            <a:off x="650550" y="5283200"/>
            <a:ext cx="2542808"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N=400 bytes</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7"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08" name="Rectangle"/>
          <p:cNvSpPr/>
          <p:nvPr/>
        </p:nvSpPr>
        <p:spPr>
          <a:xfrm>
            <a:off x="9228756" y="-187354"/>
            <a:ext cx="279004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0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35</a:t>
            </a:fld>
            <a:endParaRPr/>
          </a:p>
        </p:txBody>
      </p:sp>
      <p:sp>
        <p:nvSpPr>
          <p:cNvPr id="610"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11"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612"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613"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616" name="Group"/>
          <p:cNvGrpSpPr/>
          <p:nvPr/>
        </p:nvGrpSpPr>
        <p:grpSpPr>
          <a:xfrm>
            <a:off x="4004223" y="1699202"/>
            <a:ext cx="3583114" cy="866818"/>
            <a:chOff x="0" y="0"/>
            <a:chExt cx="3583113" cy="866817"/>
          </a:xfrm>
        </p:grpSpPr>
        <p:sp>
          <p:nvSpPr>
            <p:cNvPr id="614" name="Line"/>
            <p:cNvSpPr/>
            <p:nvPr/>
          </p:nvSpPr>
          <p:spPr>
            <a:xfrm flipH="1" flipV="1">
              <a:off x="-1" y="372374"/>
              <a:ext cx="3583114" cy="49444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15" name="SEQ 300"/>
            <p:cNvSpPr/>
            <p:nvPr/>
          </p:nvSpPr>
          <p:spPr>
            <a:xfrm rot="440164">
              <a:off x="320788" y="94926"/>
              <a:ext cx="1517572"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sp>
        <p:nvSpPr>
          <p:cNvPr id="617" name="N=400 bytes"/>
          <p:cNvSpPr/>
          <p:nvPr/>
        </p:nvSpPr>
        <p:spPr>
          <a:xfrm>
            <a:off x="678655" y="1549400"/>
            <a:ext cx="2527620"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N=400 bytes</a:t>
            </a:r>
          </a:p>
        </p:txBody>
      </p:sp>
      <p:sp>
        <p:nvSpPr>
          <p:cNvPr id="618" name="N=100 bytes"/>
          <p:cNvSpPr/>
          <p:nvPr/>
        </p:nvSpPr>
        <p:spPr>
          <a:xfrm>
            <a:off x="828060" y="8146739"/>
            <a:ext cx="246275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N=100 bytes</a:t>
            </a:r>
          </a:p>
        </p:txBody>
      </p:sp>
      <p:grpSp>
        <p:nvGrpSpPr>
          <p:cNvPr id="621" name="Group"/>
          <p:cNvGrpSpPr/>
          <p:nvPr/>
        </p:nvGrpSpPr>
        <p:grpSpPr>
          <a:xfrm>
            <a:off x="4015278" y="2044548"/>
            <a:ext cx="3748370" cy="881825"/>
            <a:chOff x="0" y="0"/>
            <a:chExt cx="3748368" cy="881823"/>
          </a:xfrm>
        </p:grpSpPr>
        <p:sp>
          <p:nvSpPr>
            <p:cNvPr id="619" name="Line"/>
            <p:cNvSpPr/>
            <p:nvPr/>
          </p:nvSpPr>
          <p:spPr>
            <a:xfrm flipH="1" flipV="1">
              <a:off x="-1" y="372374"/>
              <a:ext cx="3748371" cy="509450"/>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20" name="SEQ 400"/>
            <p:cNvSpPr/>
            <p:nvPr/>
          </p:nvSpPr>
          <p:spPr>
            <a:xfrm rot="440164">
              <a:off x="321070" y="90537"/>
              <a:ext cx="1448821"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624" name="Group"/>
          <p:cNvGrpSpPr/>
          <p:nvPr/>
        </p:nvGrpSpPr>
        <p:grpSpPr>
          <a:xfrm>
            <a:off x="4004223" y="2398933"/>
            <a:ext cx="3965610" cy="922355"/>
            <a:chOff x="0" y="0"/>
            <a:chExt cx="3965609" cy="922354"/>
          </a:xfrm>
        </p:grpSpPr>
        <p:sp>
          <p:nvSpPr>
            <p:cNvPr id="622" name="Line"/>
            <p:cNvSpPr/>
            <p:nvPr/>
          </p:nvSpPr>
          <p:spPr>
            <a:xfrm flipH="1" flipV="1">
              <a:off x="0" y="372374"/>
              <a:ext cx="3965609" cy="549981"/>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23" name="SEQ 500"/>
            <p:cNvSpPr/>
            <p:nvPr/>
          </p:nvSpPr>
          <p:spPr>
            <a:xfrm rot="440164">
              <a:off x="320544" y="98739"/>
              <a:ext cx="1577297"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627" name="Group"/>
          <p:cNvGrpSpPr/>
          <p:nvPr/>
        </p:nvGrpSpPr>
        <p:grpSpPr>
          <a:xfrm>
            <a:off x="4015278" y="2765285"/>
            <a:ext cx="3381628" cy="838395"/>
            <a:chOff x="0" y="0"/>
            <a:chExt cx="3381626" cy="838394"/>
          </a:xfrm>
        </p:grpSpPr>
        <p:sp>
          <p:nvSpPr>
            <p:cNvPr id="625" name="Line"/>
            <p:cNvSpPr/>
            <p:nvPr/>
          </p:nvSpPr>
          <p:spPr>
            <a:xfrm flipH="1" flipV="1">
              <a:off x="0" y="372374"/>
              <a:ext cx="3381627" cy="466021"/>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26" name="SEQ 600"/>
            <p:cNvSpPr/>
            <p:nvPr/>
          </p:nvSpPr>
          <p:spPr>
            <a:xfrm rot="440164">
              <a:off x="320914" y="92967"/>
              <a:ext cx="1486882"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sp>
        <p:nvSpPr>
          <p:cNvPr id="628" name="timeout"/>
          <p:cNvSpPr/>
          <p:nvPr/>
        </p:nvSpPr>
        <p:spPr>
          <a:xfrm>
            <a:off x="1335218" y="5794433"/>
            <a:ext cx="1667679" cy="685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timeout</a:t>
            </a:r>
          </a:p>
        </p:txBody>
      </p:sp>
      <p:sp>
        <p:nvSpPr>
          <p:cNvPr id="629" name="X"/>
          <p:cNvSpPr/>
          <p:nvPr/>
        </p:nvSpPr>
        <p:spPr>
          <a:xfrm>
            <a:off x="7400880" y="1956341"/>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630" name="X"/>
          <p:cNvSpPr/>
          <p:nvPr/>
        </p:nvSpPr>
        <p:spPr>
          <a:xfrm>
            <a:off x="7563782" y="2334660"/>
            <a:ext cx="558801" cy="1022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631" name="X"/>
          <p:cNvSpPr/>
          <p:nvPr/>
        </p:nvSpPr>
        <p:spPr>
          <a:xfrm>
            <a:off x="7763647" y="2747319"/>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632" name="X"/>
          <p:cNvSpPr/>
          <p:nvPr/>
        </p:nvSpPr>
        <p:spPr>
          <a:xfrm>
            <a:off x="7184558" y="3029898"/>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633" name="ssthresh= 200 bytes"/>
          <p:cNvSpPr/>
          <p:nvPr/>
        </p:nvSpPr>
        <p:spPr>
          <a:xfrm>
            <a:off x="1187150" y="6648529"/>
            <a:ext cx="2247901" cy="11557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942193"/>
                </a:solidFill>
                <a:latin typeface="Courier"/>
                <a:ea typeface="Courier"/>
                <a:cs typeface="Courier"/>
                <a:sym typeface="Courier"/>
              </a:defRPr>
            </a:pPr>
            <a:r>
              <a:t>ssthresh=</a:t>
            </a:r>
            <a:br/>
            <a:r>
              <a:t>200 bytes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2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630"/>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631"/>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6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p:tmAbs val="0"/>
                                  </p:iterate>
                                  <p:childTnLst>
                                    <p:set>
                                      <p:cBhvr>
                                        <p:cTn id="19" fill="hold"/>
                                        <p:tgtEl>
                                          <p:spTgt spid="6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6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 grpId="0" animBg="1" advAuto="0"/>
      <p:bldP spid="628" grpId="0" animBg="1" advAuto="0"/>
      <p:bldP spid="629" grpId="0" animBg="1" advAuto="0"/>
      <p:bldP spid="630" grpId="0" animBg="1" advAuto="0"/>
      <p:bldP spid="631" grpId="0" animBg="1" advAuto="0"/>
      <p:bldP spid="632" grpId="0" animBg="1" advAuto="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7" name="Rectangle"/>
          <p:cNvSpPr/>
          <p:nvPr/>
        </p:nvSpPr>
        <p:spPr>
          <a:xfrm>
            <a:off x="818636" y="-187354"/>
            <a:ext cx="2542807"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38" name="Rectangle"/>
          <p:cNvSpPr/>
          <p:nvPr/>
        </p:nvSpPr>
        <p:spPr>
          <a:xfrm>
            <a:off x="9228756" y="-187354"/>
            <a:ext cx="2788477"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3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36</a:t>
            </a:fld>
            <a:endParaRPr/>
          </a:p>
        </p:txBody>
      </p:sp>
      <p:sp>
        <p:nvSpPr>
          <p:cNvPr id="640"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41"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642"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643"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646" name="Group"/>
          <p:cNvGrpSpPr/>
          <p:nvPr/>
        </p:nvGrpSpPr>
        <p:grpSpPr>
          <a:xfrm>
            <a:off x="3833424" y="2495436"/>
            <a:ext cx="4707633" cy="935295"/>
            <a:chOff x="0" y="0"/>
            <a:chExt cx="4707631" cy="935293"/>
          </a:xfrm>
        </p:grpSpPr>
        <p:sp>
          <p:nvSpPr>
            <p:cNvPr id="644" name="Line"/>
            <p:cNvSpPr/>
            <p:nvPr/>
          </p:nvSpPr>
          <p:spPr>
            <a:xfrm flipV="1">
              <a:off x="-1" y="234659"/>
              <a:ext cx="4707633" cy="7006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45" name="ACK 400"/>
            <p:cNvSpPr/>
            <p:nvPr/>
          </p:nvSpPr>
          <p:spPr>
            <a:xfrm rot="21177173">
              <a:off x="2264639" y="85933"/>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400</a:t>
              </a:r>
            </a:p>
          </p:txBody>
        </p:sp>
      </p:grpSp>
      <p:grpSp>
        <p:nvGrpSpPr>
          <p:cNvPr id="649" name="Group"/>
          <p:cNvGrpSpPr/>
          <p:nvPr/>
        </p:nvGrpSpPr>
        <p:grpSpPr>
          <a:xfrm>
            <a:off x="4004223" y="1635702"/>
            <a:ext cx="4559643" cy="1042421"/>
            <a:chOff x="0" y="0"/>
            <a:chExt cx="4559641" cy="1042420"/>
          </a:xfrm>
        </p:grpSpPr>
        <p:sp>
          <p:nvSpPr>
            <p:cNvPr id="647"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48" name="SEQ 3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grpSp>
        <p:nvGrpSpPr>
          <p:cNvPr id="652" name="Group"/>
          <p:cNvGrpSpPr/>
          <p:nvPr/>
        </p:nvGrpSpPr>
        <p:grpSpPr>
          <a:xfrm>
            <a:off x="3863628" y="3247667"/>
            <a:ext cx="4559643" cy="956451"/>
            <a:chOff x="0" y="0"/>
            <a:chExt cx="4559641" cy="956449"/>
          </a:xfrm>
        </p:grpSpPr>
        <p:sp>
          <p:nvSpPr>
            <p:cNvPr id="650" name="Line"/>
            <p:cNvSpPr/>
            <p:nvPr/>
          </p:nvSpPr>
          <p:spPr>
            <a:xfrm flipH="1" flipV="1">
              <a:off x="-1" y="349904"/>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51" name="SEQ 400"/>
            <p:cNvSpPr/>
            <p:nvPr/>
          </p:nvSpPr>
          <p:spPr>
            <a:xfrm rot="440164">
              <a:off x="655846"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655" name="Group"/>
          <p:cNvGrpSpPr/>
          <p:nvPr/>
        </p:nvGrpSpPr>
        <p:grpSpPr>
          <a:xfrm>
            <a:off x="3858352" y="3570792"/>
            <a:ext cx="4559642" cy="934713"/>
            <a:chOff x="0" y="0"/>
            <a:chExt cx="4559641" cy="934711"/>
          </a:xfrm>
        </p:grpSpPr>
        <p:sp>
          <p:nvSpPr>
            <p:cNvPr id="653" name="Line"/>
            <p:cNvSpPr/>
            <p:nvPr/>
          </p:nvSpPr>
          <p:spPr>
            <a:xfrm flipH="1" flipV="1">
              <a:off x="-1" y="328166"/>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54" name="SEQ 500"/>
            <p:cNvSpPr/>
            <p:nvPr/>
          </p:nvSpPr>
          <p:spPr>
            <a:xfrm rot="440164">
              <a:off x="643878"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658" name="Group"/>
          <p:cNvGrpSpPr/>
          <p:nvPr/>
        </p:nvGrpSpPr>
        <p:grpSpPr>
          <a:xfrm>
            <a:off x="3761731" y="4240083"/>
            <a:ext cx="4680705" cy="1011934"/>
            <a:chOff x="33854" y="0"/>
            <a:chExt cx="4680703" cy="1011933"/>
          </a:xfrm>
        </p:grpSpPr>
        <p:sp>
          <p:nvSpPr>
            <p:cNvPr id="656" name="Line"/>
            <p:cNvSpPr/>
            <p:nvPr/>
          </p:nvSpPr>
          <p:spPr>
            <a:xfrm flipV="1">
              <a:off x="33854" y="-1"/>
              <a:ext cx="4680705" cy="1011935"/>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57" name="ACK 500"/>
            <p:cNvSpPr/>
            <p:nvPr/>
          </p:nvSpPr>
          <p:spPr>
            <a:xfrm rot="20877173">
              <a:off x="928109" y="244629"/>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500</a:t>
              </a:r>
            </a:p>
          </p:txBody>
        </p:sp>
      </p:grpSp>
      <p:grpSp>
        <p:nvGrpSpPr>
          <p:cNvPr id="661" name="Group"/>
          <p:cNvGrpSpPr/>
          <p:nvPr/>
        </p:nvGrpSpPr>
        <p:grpSpPr>
          <a:xfrm>
            <a:off x="3794081" y="4557271"/>
            <a:ext cx="4626430" cy="1043022"/>
            <a:chOff x="40662" y="0"/>
            <a:chExt cx="4626429" cy="1043020"/>
          </a:xfrm>
        </p:grpSpPr>
        <p:sp>
          <p:nvSpPr>
            <p:cNvPr id="659" name="Line"/>
            <p:cNvSpPr/>
            <p:nvPr/>
          </p:nvSpPr>
          <p:spPr>
            <a:xfrm flipV="1">
              <a:off x="40661" y="-1"/>
              <a:ext cx="4626431" cy="1043022"/>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60" name="ACK 600"/>
            <p:cNvSpPr/>
            <p:nvPr/>
          </p:nvSpPr>
          <p:spPr>
            <a:xfrm rot="20877173">
              <a:off x="866664" y="285001"/>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600</a:t>
              </a:r>
            </a:p>
          </p:txBody>
        </p:sp>
      </p:grpSp>
      <p:grpSp>
        <p:nvGrpSpPr>
          <p:cNvPr id="664" name="Group"/>
          <p:cNvGrpSpPr/>
          <p:nvPr/>
        </p:nvGrpSpPr>
        <p:grpSpPr>
          <a:xfrm>
            <a:off x="3782152" y="5182057"/>
            <a:ext cx="4559642" cy="802055"/>
            <a:chOff x="0" y="25493"/>
            <a:chExt cx="4559641" cy="802054"/>
          </a:xfrm>
        </p:grpSpPr>
        <p:sp>
          <p:nvSpPr>
            <p:cNvPr id="662"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63" name="SEQ 600"/>
            <p:cNvSpPr/>
            <p:nvPr/>
          </p:nvSpPr>
          <p:spPr>
            <a:xfrm rot="440164">
              <a:off x="1780801" y="120974"/>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grpSp>
        <p:nvGrpSpPr>
          <p:cNvPr id="667" name="Group"/>
          <p:cNvGrpSpPr/>
          <p:nvPr/>
        </p:nvGrpSpPr>
        <p:grpSpPr>
          <a:xfrm>
            <a:off x="3832952" y="5475138"/>
            <a:ext cx="4559642" cy="827456"/>
            <a:chOff x="0" y="93"/>
            <a:chExt cx="4559641" cy="827454"/>
          </a:xfrm>
        </p:grpSpPr>
        <p:sp>
          <p:nvSpPr>
            <p:cNvPr id="665"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66" name="SEQ 700"/>
            <p:cNvSpPr/>
            <p:nvPr/>
          </p:nvSpPr>
          <p:spPr>
            <a:xfrm rot="440164">
              <a:off x="1397837" y="95574"/>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700</a:t>
              </a:r>
            </a:p>
          </p:txBody>
        </p:sp>
      </p:grpSp>
      <p:grpSp>
        <p:nvGrpSpPr>
          <p:cNvPr id="670" name="Group"/>
          <p:cNvGrpSpPr/>
          <p:nvPr/>
        </p:nvGrpSpPr>
        <p:grpSpPr>
          <a:xfrm>
            <a:off x="3827474" y="5707692"/>
            <a:ext cx="4559643" cy="909764"/>
            <a:chOff x="0" y="0"/>
            <a:chExt cx="4559641" cy="909762"/>
          </a:xfrm>
        </p:grpSpPr>
        <p:sp>
          <p:nvSpPr>
            <p:cNvPr id="668" name="Line"/>
            <p:cNvSpPr/>
            <p:nvPr/>
          </p:nvSpPr>
          <p:spPr>
            <a:xfrm flipH="1" flipV="1">
              <a:off x="-1" y="303217"/>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69" name="SEQ 750"/>
            <p:cNvSpPr/>
            <p:nvPr/>
          </p:nvSpPr>
          <p:spPr>
            <a:xfrm rot="440164">
              <a:off x="799457"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750</a:t>
              </a:r>
            </a:p>
          </p:txBody>
        </p:sp>
      </p:grpSp>
      <p:sp>
        <p:nvSpPr>
          <p:cNvPr id="671" name="N=100 bytes"/>
          <p:cNvSpPr/>
          <p:nvPr/>
        </p:nvSpPr>
        <p:spPr>
          <a:xfrm>
            <a:off x="663468" y="1549400"/>
            <a:ext cx="2542807"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N=100 bytes</a:t>
            </a:r>
          </a:p>
        </p:txBody>
      </p:sp>
      <p:sp>
        <p:nvSpPr>
          <p:cNvPr id="672" name="N=200 bytes"/>
          <p:cNvSpPr/>
          <p:nvPr/>
        </p:nvSpPr>
        <p:spPr>
          <a:xfrm>
            <a:off x="655754" y="3072813"/>
            <a:ext cx="255823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N=200 bytes</a:t>
            </a:r>
          </a:p>
        </p:txBody>
      </p:sp>
      <p:sp>
        <p:nvSpPr>
          <p:cNvPr id="673" name="N=250 bytes"/>
          <p:cNvSpPr/>
          <p:nvPr/>
        </p:nvSpPr>
        <p:spPr>
          <a:xfrm>
            <a:off x="749747" y="4913908"/>
            <a:ext cx="2464243"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N=250 bytes</a:t>
            </a:r>
          </a:p>
        </p:txBody>
      </p:sp>
      <p:grpSp>
        <p:nvGrpSpPr>
          <p:cNvPr id="676" name="Group"/>
          <p:cNvGrpSpPr/>
          <p:nvPr/>
        </p:nvGrpSpPr>
        <p:grpSpPr>
          <a:xfrm>
            <a:off x="3730876" y="6035146"/>
            <a:ext cx="4618912" cy="1433857"/>
            <a:chOff x="106592" y="0"/>
            <a:chExt cx="4618911" cy="1433856"/>
          </a:xfrm>
        </p:grpSpPr>
        <p:sp>
          <p:nvSpPr>
            <p:cNvPr id="674" name="Line"/>
            <p:cNvSpPr/>
            <p:nvPr/>
          </p:nvSpPr>
          <p:spPr>
            <a:xfrm flipV="1">
              <a:off x="106592" y="0"/>
              <a:ext cx="4618912" cy="143385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75" name="ACK 700"/>
            <p:cNvSpPr/>
            <p:nvPr/>
          </p:nvSpPr>
          <p:spPr>
            <a:xfrm rot="20577173">
              <a:off x="414926" y="696605"/>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700</a:t>
              </a:r>
            </a:p>
          </p:txBody>
        </p:sp>
      </p:grpSp>
      <p:sp>
        <p:nvSpPr>
          <p:cNvPr id="677" name="N=324 bytes"/>
          <p:cNvSpPr/>
          <p:nvPr/>
        </p:nvSpPr>
        <p:spPr>
          <a:xfrm>
            <a:off x="749747" y="7015485"/>
            <a:ext cx="2464243"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N=324 bytes</a:t>
            </a:r>
          </a:p>
        </p:txBody>
      </p:sp>
      <p:sp>
        <p:nvSpPr>
          <p:cNvPr id="678" name="N=290 bytes"/>
          <p:cNvSpPr/>
          <p:nvPr/>
        </p:nvSpPr>
        <p:spPr>
          <a:xfrm>
            <a:off x="738104" y="5283200"/>
            <a:ext cx="2487528"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N=290 bytes</a:t>
            </a:r>
          </a:p>
        </p:txBody>
      </p:sp>
      <p:grpSp>
        <p:nvGrpSpPr>
          <p:cNvPr id="681" name="Group"/>
          <p:cNvGrpSpPr/>
          <p:nvPr/>
        </p:nvGrpSpPr>
        <p:grpSpPr>
          <a:xfrm>
            <a:off x="3830807" y="6035146"/>
            <a:ext cx="4559643" cy="909764"/>
            <a:chOff x="0" y="0"/>
            <a:chExt cx="4559641" cy="909762"/>
          </a:xfrm>
        </p:grpSpPr>
        <p:sp>
          <p:nvSpPr>
            <p:cNvPr id="679" name="Line"/>
            <p:cNvSpPr/>
            <p:nvPr/>
          </p:nvSpPr>
          <p:spPr>
            <a:xfrm flipH="1" flipV="1">
              <a:off x="-1" y="303217"/>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80" name="SEQ 850"/>
            <p:cNvSpPr/>
            <p:nvPr/>
          </p:nvSpPr>
          <p:spPr>
            <a:xfrm rot="440164">
              <a:off x="799457"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850</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6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652"/>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500"/>
                                  </p:stCondLst>
                                  <p:iterate>
                                    <p:tmAbs val="0"/>
                                  </p:iterate>
                                  <p:childTnLst>
                                    <p:set>
                                      <p:cBhvr>
                                        <p:cTn id="17" fill="hold"/>
                                        <p:tgtEl>
                                          <p:spTgt spid="65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65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67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664"/>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iterate>
                                    <p:tmAbs val="0"/>
                                  </p:iterate>
                                  <p:childTnLst>
                                    <p:set>
                                      <p:cBhvr>
                                        <p:cTn id="32" fill="hold"/>
                                        <p:tgtEl>
                                          <p:spTgt spid="66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6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67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670"/>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500"/>
                                  </p:stCondLst>
                                  <p:iterate>
                                    <p:tmAbs val="0"/>
                                  </p:iterate>
                                  <p:childTnLst>
                                    <p:set>
                                      <p:cBhvr>
                                        <p:cTn id="47" fill="hold"/>
                                        <p:tgtEl>
                                          <p:spTgt spid="68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p:tmAbs val="0"/>
                                  </p:iterate>
                                  <p:childTnLst>
                                    <p:set>
                                      <p:cBhvr>
                                        <p:cTn id="51" fill="hold"/>
                                        <p:tgtEl>
                                          <p:spTgt spid="67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p:tmAbs val="0"/>
                                  </p:iterate>
                                  <p:childTnLst>
                                    <p:set>
                                      <p:cBhvr>
                                        <p:cTn id="55" fill="hold"/>
                                        <p:tgtEl>
                                          <p:spTgt spid="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 grpId="0" animBg="1" advAuto="0"/>
      <p:bldP spid="652" grpId="0" animBg="1" advAuto="0"/>
      <p:bldP spid="655" grpId="0" animBg="1" advAuto="0"/>
      <p:bldP spid="658" grpId="0" animBg="1" advAuto="0"/>
      <p:bldP spid="661" grpId="0" animBg="1" advAuto="0"/>
      <p:bldP spid="664" grpId="0" animBg="1" advAuto="0"/>
      <p:bldP spid="667" grpId="0" animBg="1" advAuto="0"/>
      <p:bldP spid="670" grpId="0" animBg="1" advAuto="0"/>
      <p:bldP spid="672" grpId="0" animBg="1" advAuto="0"/>
      <p:bldP spid="673" grpId="0" animBg="1" advAuto="0"/>
      <p:bldP spid="676" grpId="0" animBg="1" advAuto="0"/>
      <p:bldP spid="677" grpId="0" animBg="1" advAuto="0"/>
      <p:bldP spid="678" grpId="0" animBg="1" advAuto="0"/>
      <p:bldP spid="681" grpId="0" animBg="1"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5" name="Increase window size"/>
          <p:cNvSpPr txBox="1">
            <a:spLocks noGrp="1"/>
          </p:cNvSpPr>
          <p:nvPr>
            <p:ph type="title"/>
          </p:nvPr>
        </p:nvSpPr>
        <p:spPr>
          <a:prstGeom prst="rect">
            <a:avLst/>
          </a:prstGeom>
        </p:spPr>
        <p:txBody>
          <a:bodyPr/>
          <a:lstStyle/>
          <a:p>
            <a:r>
              <a:t>Increase window size</a:t>
            </a:r>
          </a:p>
        </p:txBody>
      </p:sp>
      <p:sp>
        <p:nvSpPr>
          <p:cNvPr id="686" name="Exponentially…"/>
          <p:cNvSpPr txBox="1">
            <a:spLocks noGrp="1"/>
          </p:cNvSpPr>
          <p:nvPr>
            <p:ph type="body" idx="1"/>
          </p:nvPr>
        </p:nvSpPr>
        <p:spPr>
          <a:xfrm>
            <a:off x="1117600" y="2386857"/>
            <a:ext cx="10769600" cy="6478486"/>
          </a:xfrm>
          <a:prstGeom prst="rect">
            <a:avLst/>
          </a:prstGeom>
        </p:spPr>
        <p:txBody>
          <a:bodyPr anchor="t"/>
          <a:lstStyle/>
          <a:p>
            <a:pPr>
              <a:spcBef>
                <a:spcPts val="0"/>
              </a:spcBef>
              <a:defRPr>
                <a:solidFill>
                  <a:srgbClr val="942193"/>
                </a:solidFill>
              </a:defRPr>
            </a:pPr>
            <a:r>
              <a:t>Exponentially</a:t>
            </a:r>
          </a:p>
          <a:p>
            <a:pPr lvl="1">
              <a:spcBef>
                <a:spcPts val="0"/>
              </a:spcBef>
            </a:pPr>
            <a:r>
              <a:t>by 1 MSS for every ACKed segment</a:t>
            </a:r>
          </a:p>
          <a:p>
            <a:pPr lvl="1">
              <a:spcBef>
                <a:spcPts val="0"/>
              </a:spcBef>
            </a:pPr>
            <a:r>
              <a:t>= window </a:t>
            </a:r>
            <a:r>
              <a:rPr>
                <a:solidFill>
                  <a:srgbClr val="942193"/>
                </a:solidFill>
              </a:rPr>
              <a:t>doubles every RTT</a:t>
            </a:r>
          </a:p>
          <a:p>
            <a:pPr lvl="1">
              <a:spcBef>
                <a:spcPts val="4000"/>
              </a:spcBef>
            </a:pPr>
            <a:r>
              <a:t>when we do not expect congestion</a:t>
            </a:r>
          </a:p>
          <a:p>
            <a:pPr>
              <a:spcBef>
                <a:spcPts val="0"/>
              </a:spcBef>
              <a:defRPr>
                <a:solidFill>
                  <a:srgbClr val="942193"/>
                </a:solidFill>
              </a:defRPr>
            </a:pPr>
            <a:r>
              <a:t>Linearly</a:t>
            </a:r>
          </a:p>
          <a:p>
            <a:pPr lvl="1">
              <a:spcBef>
                <a:spcPts val="0"/>
              </a:spcBef>
            </a:pPr>
            <a:r>
              <a:t>by MSS*MSS/N for every ACKed segment</a:t>
            </a:r>
          </a:p>
          <a:p>
            <a:pPr lvl="1">
              <a:spcBef>
                <a:spcPts val="0"/>
              </a:spcBef>
            </a:pPr>
            <a:r>
              <a:t>= </a:t>
            </a:r>
            <a:r>
              <a:rPr>
                <a:solidFill>
                  <a:srgbClr val="942193"/>
                </a:solidFill>
              </a:rPr>
              <a:t>by 1 MSS every RTT</a:t>
            </a:r>
          </a:p>
          <a:p>
            <a:pPr lvl="1">
              <a:spcBef>
                <a:spcPts val="1000"/>
              </a:spcBef>
            </a:pPr>
            <a:r>
              <a:t>when we expect congestion</a:t>
            </a:r>
          </a:p>
        </p:txBody>
      </p:sp>
      <p:sp>
        <p:nvSpPr>
          <p:cNvPr id="687"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37</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86">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686">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686">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68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 grpId="0" build="p" animBg="1" advAuto="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1"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92" name="Rectangle"/>
          <p:cNvSpPr/>
          <p:nvPr/>
        </p:nvSpPr>
        <p:spPr>
          <a:xfrm>
            <a:off x="9228756" y="-187354"/>
            <a:ext cx="280370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9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sp>
        <p:nvSpPr>
          <p:cNvPr id="694"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95"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696"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697"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700" name="Group"/>
          <p:cNvGrpSpPr/>
          <p:nvPr/>
        </p:nvGrpSpPr>
        <p:grpSpPr>
          <a:xfrm>
            <a:off x="4004223" y="1695540"/>
            <a:ext cx="4559643" cy="982583"/>
            <a:chOff x="0" y="0"/>
            <a:chExt cx="4559641" cy="982582"/>
          </a:xfrm>
        </p:grpSpPr>
        <p:sp>
          <p:nvSpPr>
            <p:cNvPr id="698" name="Line"/>
            <p:cNvSpPr/>
            <p:nvPr/>
          </p:nvSpPr>
          <p:spPr>
            <a:xfrm flipH="1" flipV="1">
              <a:off x="-1" y="376036"/>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99" name="SEQ 0"/>
            <p:cNvSpPr/>
            <p:nvPr/>
          </p:nvSpPr>
          <p:spPr>
            <a:xfrm rot="440164">
              <a:off x="297906" y="78502"/>
              <a:ext cx="1260324"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0</a:t>
              </a:r>
            </a:p>
          </p:txBody>
        </p:sp>
      </p:grpSp>
      <p:grpSp>
        <p:nvGrpSpPr>
          <p:cNvPr id="703" name="Group"/>
          <p:cNvGrpSpPr/>
          <p:nvPr/>
        </p:nvGrpSpPr>
        <p:grpSpPr>
          <a:xfrm>
            <a:off x="3863483" y="3247667"/>
            <a:ext cx="4559643" cy="956451"/>
            <a:chOff x="0" y="0"/>
            <a:chExt cx="4559641" cy="956449"/>
          </a:xfrm>
        </p:grpSpPr>
        <p:sp>
          <p:nvSpPr>
            <p:cNvPr id="701" name="Line"/>
            <p:cNvSpPr/>
            <p:nvPr/>
          </p:nvSpPr>
          <p:spPr>
            <a:xfrm flipH="1" flipV="1">
              <a:off x="-1" y="349904"/>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02" name="SEQ 100"/>
            <p:cNvSpPr/>
            <p:nvPr/>
          </p:nvSpPr>
          <p:spPr>
            <a:xfrm rot="440164">
              <a:off x="655846"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100</a:t>
              </a:r>
            </a:p>
          </p:txBody>
        </p:sp>
      </p:grpSp>
      <p:grpSp>
        <p:nvGrpSpPr>
          <p:cNvPr id="706" name="Group"/>
          <p:cNvGrpSpPr/>
          <p:nvPr/>
        </p:nvGrpSpPr>
        <p:grpSpPr>
          <a:xfrm>
            <a:off x="3863483" y="3546277"/>
            <a:ext cx="4559643" cy="934713"/>
            <a:chOff x="0" y="0"/>
            <a:chExt cx="4559641" cy="934711"/>
          </a:xfrm>
        </p:grpSpPr>
        <p:sp>
          <p:nvSpPr>
            <p:cNvPr id="704" name="Line"/>
            <p:cNvSpPr/>
            <p:nvPr/>
          </p:nvSpPr>
          <p:spPr>
            <a:xfrm flipH="1" flipV="1">
              <a:off x="-1" y="328166"/>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05" name="SEQ 200"/>
            <p:cNvSpPr/>
            <p:nvPr/>
          </p:nvSpPr>
          <p:spPr>
            <a:xfrm rot="440164">
              <a:off x="643878"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200</a:t>
              </a:r>
            </a:p>
          </p:txBody>
        </p:sp>
      </p:grpSp>
      <p:grpSp>
        <p:nvGrpSpPr>
          <p:cNvPr id="709" name="Group"/>
          <p:cNvGrpSpPr/>
          <p:nvPr/>
        </p:nvGrpSpPr>
        <p:grpSpPr>
          <a:xfrm>
            <a:off x="3695160" y="4953163"/>
            <a:ext cx="4180513" cy="721444"/>
            <a:chOff x="0" y="37375"/>
            <a:chExt cx="4180511" cy="721443"/>
          </a:xfrm>
        </p:grpSpPr>
        <p:sp>
          <p:nvSpPr>
            <p:cNvPr id="707" name="Line"/>
            <p:cNvSpPr/>
            <p:nvPr/>
          </p:nvSpPr>
          <p:spPr>
            <a:xfrm flipH="1" flipV="1">
              <a:off x="-1" y="200190"/>
              <a:ext cx="4180513" cy="558630"/>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08" name="SEQ 300"/>
            <p:cNvSpPr/>
            <p:nvPr/>
          </p:nvSpPr>
          <p:spPr>
            <a:xfrm rot="440164">
              <a:off x="1852606" y="132856"/>
              <a:ext cx="1526258"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grpSp>
        <p:nvGrpSpPr>
          <p:cNvPr id="712" name="Group"/>
          <p:cNvGrpSpPr/>
          <p:nvPr/>
        </p:nvGrpSpPr>
        <p:grpSpPr>
          <a:xfrm>
            <a:off x="3738691" y="5240315"/>
            <a:ext cx="4005206" cy="701141"/>
            <a:chOff x="0" y="25628"/>
            <a:chExt cx="4005204" cy="701140"/>
          </a:xfrm>
        </p:grpSpPr>
        <p:sp>
          <p:nvSpPr>
            <p:cNvPr id="710" name="Line"/>
            <p:cNvSpPr/>
            <p:nvPr/>
          </p:nvSpPr>
          <p:spPr>
            <a:xfrm flipH="1" flipV="1">
              <a:off x="-1" y="198666"/>
              <a:ext cx="4005206" cy="528103"/>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11" name="SEQ 400"/>
            <p:cNvSpPr/>
            <p:nvPr/>
          </p:nvSpPr>
          <p:spPr>
            <a:xfrm rot="440164">
              <a:off x="1708995" y="121109"/>
              <a:ext cx="1526257"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715" name="Group"/>
          <p:cNvGrpSpPr/>
          <p:nvPr/>
        </p:nvGrpSpPr>
        <p:grpSpPr>
          <a:xfrm>
            <a:off x="3738029" y="5575670"/>
            <a:ext cx="4057330" cy="688504"/>
            <a:chOff x="0" y="47527"/>
            <a:chExt cx="4057329" cy="688502"/>
          </a:xfrm>
        </p:grpSpPr>
        <p:sp>
          <p:nvSpPr>
            <p:cNvPr id="713" name="Line"/>
            <p:cNvSpPr/>
            <p:nvPr/>
          </p:nvSpPr>
          <p:spPr>
            <a:xfrm flipH="1" flipV="1">
              <a:off x="-1" y="207133"/>
              <a:ext cx="4057331" cy="52889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14" name="SEQ 500"/>
            <p:cNvSpPr/>
            <p:nvPr/>
          </p:nvSpPr>
          <p:spPr>
            <a:xfrm rot="440164">
              <a:off x="1768833" y="143008"/>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718" name="Group"/>
          <p:cNvGrpSpPr/>
          <p:nvPr/>
        </p:nvGrpSpPr>
        <p:grpSpPr>
          <a:xfrm>
            <a:off x="3738029" y="5919376"/>
            <a:ext cx="3936345" cy="672811"/>
            <a:chOff x="0" y="41226"/>
            <a:chExt cx="3936344" cy="672810"/>
          </a:xfrm>
        </p:grpSpPr>
        <p:sp>
          <p:nvSpPr>
            <p:cNvPr id="716" name="Line"/>
            <p:cNvSpPr/>
            <p:nvPr/>
          </p:nvSpPr>
          <p:spPr>
            <a:xfrm flipH="1" flipV="1">
              <a:off x="0" y="202297"/>
              <a:ext cx="3936345" cy="511741"/>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17" name="SEQ 600"/>
            <p:cNvSpPr/>
            <p:nvPr/>
          </p:nvSpPr>
          <p:spPr>
            <a:xfrm rot="440164">
              <a:off x="1685060" y="136707"/>
              <a:ext cx="1526257" cy="4793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sp>
        <p:nvSpPr>
          <p:cNvPr id="719" name="N=100 bytes"/>
          <p:cNvSpPr/>
          <p:nvPr/>
        </p:nvSpPr>
        <p:spPr>
          <a:xfrm>
            <a:off x="678655" y="1549400"/>
            <a:ext cx="2527620"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N=100 bytes</a:t>
            </a:r>
          </a:p>
        </p:txBody>
      </p:sp>
      <p:sp>
        <p:nvSpPr>
          <p:cNvPr id="720" name="N=200 bytes"/>
          <p:cNvSpPr/>
          <p:nvPr/>
        </p:nvSpPr>
        <p:spPr>
          <a:xfrm>
            <a:off x="747024" y="3072813"/>
            <a:ext cx="246696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N=200 bytes</a:t>
            </a:r>
          </a:p>
        </p:txBody>
      </p:sp>
      <p:sp>
        <p:nvSpPr>
          <p:cNvPr id="721" name="N=300 bytes"/>
          <p:cNvSpPr/>
          <p:nvPr/>
        </p:nvSpPr>
        <p:spPr>
          <a:xfrm>
            <a:off x="777192" y="4868765"/>
            <a:ext cx="246696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N=300 bytes</a:t>
            </a:r>
          </a:p>
        </p:txBody>
      </p:sp>
      <p:sp>
        <p:nvSpPr>
          <p:cNvPr id="722" name="N=400 bytes"/>
          <p:cNvSpPr/>
          <p:nvPr/>
        </p:nvSpPr>
        <p:spPr>
          <a:xfrm>
            <a:off x="772565" y="5283200"/>
            <a:ext cx="247622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N=400 bytes</a:t>
            </a:r>
          </a:p>
        </p:txBody>
      </p:sp>
      <p:sp>
        <p:nvSpPr>
          <p:cNvPr id="723" name="X"/>
          <p:cNvSpPr/>
          <p:nvPr/>
        </p:nvSpPr>
        <p:spPr>
          <a:xfrm>
            <a:off x="7714103" y="5107088"/>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724" name="X"/>
          <p:cNvSpPr/>
          <p:nvPr/>
        </p:nvSpPr>
        <p:spPr>
          <a:xfrm>
            <a:off x="7562263" y="5349144"/>
            <a:ext cx="558801" cy="1022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725" name="X"/>
          <p:cNvSpPr/>
          <p:nvPr/>
        </p:nvSpPr>
        <p:spPr>
          <a:xfrm>
            <a:off x="7550473" y="5966088"/>
            <a:ext cx="558801" cy="1022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726" name="X"/>
          <p:cNvSpPr/>
          <p:nvPr/>
        </p:nvSpPr>
        <p:spPr>
          <a:xfrm>
            <a:off x="7550473" y="5735168"/>
            <a:ext cx="558801"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sp>
        <p:nvSpPr>
          <p:cNvPr id="727" name="timeout"/>
          <p:cNvSpPr/>
          <p:nvPr/>
        </p:nvSpPr>
        <p:spPr>
          <a:xfrm>
            <a:off x="1146667" y="7721218"/>
            <a:ext cx="1667680" cy="685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timeout</a:t>
            </a:r>
          </a:p>
        </p:txBody>
      </p:sp>
      <p:grpSp>
        <p:nvGrpSpPr>
          <p:cNvPr id="730" name="Group"/>
          <p:cNvGrpSpPr/>
          <p:nvPr/>
        </p:nvGrpSpPr>
        <p:grpSpPr>
          <a:xfrm>
            <a:off x="3833424" y="2495436"/>
            <a:ext cx="4707633" cy="935295"/>
            <a:chOff x="0" y="0"/>
            <a:chExt cx="4707631" cy="935293"/>
          </a:xfrm>
        </p:grpSpPr>
        <p:sp>
          <p:nvSpPr>
            <p:cNvPr id="728" name="Line"/>
            <p:cNvSpPr/>
            <p:nvPr/>
          </p:nvSpPr>
          <p:spPr>
            <a:xfrm flipV="1">
              <a:off x="-1" y="234659"/>
              <a:ext cx="4707633" cy="7006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29" name="ACK 100"/>
            <p:cNvSpPr/>
            <p:nvPr/>
          </p:nvSpPr>
          <p:spPr>
            <a:xfrm rot="21177173">
              <a:off x="2264639" y="85933"/>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100</a:t>
              </a:r>
            </a:p>
          </p:txBody>
        </p:sp>
      </p:grpSp>
      <p:grpSp>
        <p:nvGrpSpPr>
          <p:cNvPr id="733" name="Group"/>
          <p:cNvGrpSpPr/>
          <p:nvPr/>
        </p:nvGrpSpPr>
        <p:grpSpPr>
          <a:xfrm>
            <a:off x="3655865" y="4221151"/>
            <a:ext cx="4707632" cy="767749"/>
            <a:chOff x="0" y="44152"/>
            <a:chExt cx="4707631" cy="767747"/>
          </a:xfrm>
        </p:grpSpPr>
        <p:sp>
          <p:nvSpPr>
            <p:cNvPr id="731" name="Line"/>
            <p:cNvSpPr/>
            <p:nvPr/>
          </p:nvSpPr>
          <p:spPr>
            <a:xfrm flipV="1">
              <a:off x="-1" y="111264"/>
              <a:ext cx="4707633" cy="7006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32" name="ACK 200"/>
            <p:cNvSpPr/>
            <p:nvPr/>
          </p:nvSpPr>
          <p:spPr>
            <a:xfrm rot="21177173">
              <a:off x="1127716" y="130085"/>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200</a:t>
              </a:r>
            </a:p>
          </p:txBody>
        </p:sp>
      </p:grpSp>
      <p:grpSp>
        <p:nvGrpSpPr>
          <p:cNvPr id="736" name="Group"/>
          <p:cNvGrpSpPr/>
          <p:nvPr/>
        </p:nvGrpSpPr>
        <p:grpSpPr>
          <a:xfrm>
            <a:off x="3693052" y="4543820"/>
            <a:ext cx="4707632" cy="767748"/>
            <a:chOff x="0" y="44152"/>
            <a:chExt cx="4707631" cy="767747"/>
          </a:xfrm>
        </p:grpSpPr>
        <p:sp>
          <p:nvSpPr>
            <p:cNvPr id="734" name="Line"/>
            <p:cNvSpPr/>
            <p:nvPr/>
          </p:nvSpPr>
          <p:spPr>
            <a:xfrm flipV="1">
              <a:off x="-1" y="111264"/>
              <a:ext cx="4707633" cy="7006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35" name="ACK 300"/>
            <p:cNvSpPr/>
            <p:nvPr/>
          </p:nvSpPr>
          <p:spPr>
            <a:xfrm rot="21177173">
              <a:off x="1127716" y="130085"/>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300</a:t>
              </a:r>
            </a:p>
          </p:txBody>
        </p:sp>
      </p:grpSp>
      <p:sp>
        <p:nvSpPr>
          <p:cNvPr id="737" name="ssthresh= 200 bytes"/>
          <p:cNvSpPr/>
          <p:nvPr/>
        </p:nvSpPr>
        <p:spPr>
          <a:xfrm>
            <a:off x="1143736" y="8346229"/>
            <a:ext cx="2247901" cy="11557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942193"/>
                </a:solidFill>
                <a:latin typeface="Courier"/>
                <a:ea typeface="Courier"/>
                <a:cs typeface="Courier"/>
                <a:sym typeface="Courier"/>
              </a:defRPr>
            </a:pPr>
            <a:r>
              <a:t>ssthresh=</a:t>
            </a:r>
            <a:br/>
            <a:r>
              <a:t>200 bytes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7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7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7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70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500"/>
                                  </p:stCondLst>
                                  <p:iterate>
                                    <p:tmAbs val="0"/>
                                  </p:iterate>
                                  <p:childTnLst>
                                    <p:set>
                                      <p:cBhvr>
                                        <p:cTn id="25" fill="hold"/>
                                        <p:tgtEl>
                                          <p:spTgt spid="70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7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p:tmAbs val="0"/>
                                  </p:iterate>
                                  <p:childTnLst>
                                    <p:set>
                                      <p:cBhvr>
                                        <p:cTn id="33" fill="hold"/>
                                        <p:tgtEl>
                                          <p:spTgt spid="7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709"/>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500"/>
                                  </p:stCondLst>
                                  <p:iterate>
                                    <p:tmAbs val="0"/>
                                  </p:iterate>
                                  <p:childTnLst>
                                    <p:set>
                                      <p:cBhvr>
                                        <p:cTn id="40" fill="hold"/>
                                        <p:tgtEl>
                                          <p:spTgt spid="7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7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7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715"/>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500"/>
                                  </p:stCondLst>
                                  <p:iterate>
                                    <p:tmAbs val="0"/>
                                  </p:iterate>
                                  <p:childTnLst>
                                    <p:set>
                                      <p:cBhvr>
                                        <p:cTn id="55" fill="hold"/>
                                        <p:tgtEl>
                                          <p:spTgt spid="71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iterate>
                                    <p:tmAbs val="0"/>
                                  </p:iterate>
                                  <p:childTnLst>
                                    <p:set>
                                      <p:cBhvr>
                                        <p:cTn id="59" fill="hold"/>
                                        <p:tgtEl>
                                          <p:spTgt spid="723"/>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iterate>
                                    <p:tmAbs val="0"/>
                                  </p:iterate>
                                  <p:childTnLst>
                                    <p:set>
                                      <p:cBhvr>
                                        <p:cTn id="62" fill="hold"/>
                                        <p:tgtEl>
                                          <p:spTgt spid="724"/>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grpId="0" nodeType="afterEffect">
                                  <p:stCondLst>
                                    <p:cond delay="0"/>
                                  </p:stCondLst>
                                  <p:iterate>
                                    <p:tmAbs val="0"/>
                                  </p:iterate>
                                  <p:childTnLst>
                                    <p:set>
                                      <p:cBhvr>
                                        <p:cTn id="65" fill="hold"/>
                                        <p:tgtEl>
                                          <p:spTgt spid="725"/>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iterate>
                                    <p:tmAbs val="0"/>
                                  </p:iterate>
                                  <p:childTnLst>
                                    <p:set>
                                      <p:cBhvr>
                                        <p:cTn id="68" fill="hold"/>
                                        <p:tgtEl>
                                          <p:spTgt spid="72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iterate>
                                    <p:tmAbs val="0"/>
                                  </p:iterate>
                                  <p:childTnLst>
                                    <p:set>
                                      <p:cBhvr>
                                        <p:cTn id="72" fill="hold"/>
                                        <p:tgtEl>
                                          <p:spTgt spid="7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iterate>
                                    <p:tmAbs val="0"/>
                                  </p:iterate>
                                  <p:childTnLst>
                                    <p:set>
                                      <p:cBhvr>
                                        <p:cTn id="76" fill="hold"/>
                                        <p:tgtEl>
                                          <p:spTgt spid="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 grpId="0" animBg="1" advAuto="0"/>
      <p:bldP spid="703" grpId="0" animBg="1" advAuto="0"/>
      <p:bldP spid="706" grpId="0" animBg="1" advAuto="0"/>
      <p:bldP spid="709" grpId="0" animBg="1" advAuto="0"/>
      <p:bldP spid="712" grpId="0" animBg="1" advAuto="0"/>
      <p:bldP spid="715" grpId="0" animBg="1" advAuto="0"/>
      <p:bldP spid="718" grpId="0" animBg="1" advAuto="0"/>
      <p:bldP spid="719" grpId="0" animBg="1" advAuto="0"/>
      <p:bldP spid="720" grpId="0" animBg="1" advAuto="0"/>
      <p:bldP spid="721" grpId="0" animBg="1" advAuto="0"/>
      <p:bldP spid="722" grpId="0" animBg="1" advAuto="0"/>
      <p:bldP spid="723" grpId="0" animBg="1" advAuto="0"/>
      <p:bldP spid="724" grpId="0" animBg="1" advAuto="0"/>
      <p:bldP spid="725" grpId="0" animBg="1" advAuto="0"/>
      <p:bldP spid="726" grpId="0" animBg="1" advAuto="0"/>
      <p:bldP spid="727" grpId="0" animBg="1" advAuto="0"/>
      <p:bldP spid="730" grpId="0" animBg="1" advAuto="0"/>
      <p:bldP spid="733" grpId="0" animBg="1" advAuto="0"/>
      <p:bldP spid="736" grpId="0" animBg="1" advAuto="0"/>
      <p:bldP spid="737" grpId="0" animBg="1"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1" name="Rectangle"/>
          <p:cNvSpPr/>
          <p:nvPr/>
        </p:nvSpPr>
        <p:spPr>
          <a:xfrm>
            <a:off x="818636" y="-187354"/>
            <a:ext cx="2542807"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42" name="Rectangle"/>
          <p:cNvSpPr/>
          <p:nvPr/>
        </p:nvSpPr>
        <p:spPr>
          <a:xfrm>
            <a:off x="9228756" y="-187354"/>
            <a:ext cx="2811271"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4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39</a:t>
            </a:fld>
            <a:endParaRPr/>
          </a:p>
        </p:txBody>
      </p:sp>
      <p:sp>
        <p:nvSpPr>
          <p:cNvPr id="744"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45"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746"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747"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750" name="Group"/>
          <p:cNvGrpSpPr/>
          <p:nvPr/>
        </p:nvGrpSpPr>
        <p:grpSpPr>
          <a:xfrm>
            <a:off x="3833424" y="2495436"/>
            <a:ext cx="4707633" cy="935295"/>
            <a:chOff x="0" y="0"/>
            <a:chExt cx="4707631" cy="935293"/>
          </a:xfrm>
        </p:grpSpPr>
        <p:sp>
          <p:nvSpPr>
            <p:cNvPr id="748" name="Line"/>
            <p:cNvSpPr/>
            <p:nvPr/>
          </p:nvSpPr>
          <p:spPr>
            <a:xfrm flipV="1">
              <a:off x="-1" y="234659"/>
              <a:ext cx="4707633" cy="7006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49" name="ACK 400"/>
            <p:cNvSpPr/>
            <p:nvPr/>
          </p:nvSpPr>
          <p:spPr>
            <a:xfrm rot="21177173">
              <a:off x="2264639" y="85933"/>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400</a:t>
              </a:r>
            </a:p>
          </p:txBody>
        </p:sp>
      </p:grpSp>
      <p:grpSp>
        <p:nvGrpSpPr>
          <p:cNvPr id="753" name="Group"/>
          <p:cNvGrpSpPr/>
          <p:nvPr/>
        </p:nvGrpSpPr>
        <p:grpSpPr>
          <a:xfrm>
            <a:off x="4004223" y="1635702"/>
            <a:ext cx="4559643" cy="1042421"/>
            <a:chOff x="0" y="0"/>
            <a:chExt cx="4559641" cy="1042420"/>
          </a:xfrm>
        </p:grpSpPr>
        <p:sp>
          <p:nvSpPr>
            <p:cNvPr id="751" name="Line"/>
            <p:cNvSpPr/>
            <p:nvPr/>
          </p:nvSpPr>
          <p:spPr>
            <a:xfrm flipH="1" flipV="1">
              <a:off x="-1" y="4358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52" name="SEQ 3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grpSp>
        <p:nvGrpSpPr>
          <p:cNvPr id="756" name="Group"/>
          <p:cNvGrpSpPr/>
          <p:nvPr/>
        </p:nvGrpSpPr>
        <p:grpSpPr>
          <a:xfrm>
            <a:off x="3863628" y="3247667"/>
            <a:ext cx="4559643" cy="956451"/>
            <a:chOff x="0" y="0"/>
            <a:chExt cx="4559641" cy="956449"/>
          </a:xfrm>
        </p:grpSpPr>
        <p:sp>
          <p:nvSpPr>
            <p:cNvPr id="754" name="Line"/>
            <p:cNvSpPr/>
            <p:nvPr/>
          </p:nvSpPr>
          <p:spPr>
            <a:xfrm flipH="1" flipV="1">
              <a:off x="-1" y="349904"/>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55" name="SEQ 400"/>
            <p:cNvSpPr/>
            <p:nvPr/>
          </p:nvSpPr>
          <p:spPr>
            <a:xfrm rot="440164">
              <a:off x="655846"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759" name="Group"/>
          <p:cNvGrpSpPr/>
          <p:nvPr/>
        </p:nvGrpSpPr>
        <p:grpSpPr>
          <a:xfrm>
            <a:off x="3858352" y="3570792"/>
            <a:ext cx="4559642" cy="934713"/>
            <a:chOff x="0" y="0"/>
            <a:chExt cx="4559641" cy="934711"/>
          </a:xfrm>
        </p:grpSpPr>
        <p:sp>
          <p:nvSpPr>
            <p:cNvPr id="757" name="Line"/>
            <p:cNvSpPr/>
            <p:nvPr/>
          </p:nvSpPr>
          <p:spPr>
            <a:xfrm flipH="1" flipV="1">
              <a:off x="-1" y="328166"/>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58" name="SEQ 500"/>
            <p:cNvSpPr/>
            <p:nvPr/>
          </p:nvSpPr>
          <p:spPr>
            <a:xfrm rot="440164">
              <a:off x="643878"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762" name="Group"/>
          <p:cNvGrpSpPr/>
          <p:nvPr/>
        </p:nvGrpSpPr>
        <p:grpSpPr>
          <a:xfrm>
            <a:off x="3761731" y="4240083"/>
            <a:ext cx="4680705" cy="1011934"/>
            <a:chOff x="33854" y="0"/>
            <a:chExt cx="4680703" cy="1011933"/>
          </a:xfrm>
        </p:grpSpPr>
        <p:sp>
          <p:nvSpPr>
            <p:cNvPr id="760" name="Line"/>
            <p:cNvSpPr/>
            <p:nvPr/>
          </p:nvSpPr>
          <p:spPr>
            <a:xfrm flipV="1">
              <a:off x="33854" y="-1"/>
              <a:ext cx="4680705" cy="1011935"/>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61" name="ACK 500"/>
            <p:cNvSpPr/>
            <p:nvPr/>
          </p:nvSpPr>
          <p:spPr>
            <a:xfrm rot="20877173">
              <a:off x="928109" y="244629"/>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500</a:t>
              </a:r>
            </a:p>
          </p:txBody>
        </p:sp>
      </p:grpSp>
      <p:grpSp>
        <p:nvGrpSpPr>
          <p:cNvPr id="765" name="Group"/>
          <p:cNvGrpSpPr/>
          <p:nvPr/>
        </p:nvGrpSpPr>
        <p:grpSpPr>
          <a:xfrm>
            <a:off x="3794081" y="4557271"/>
            <a:ext cx="4626430" cy="1043022"/>
            <a:chOff x="40662" y="0"/>
            <a:chExt cx="4626429" cy="1043020"/>
          </a:xfrm>
        </p:grpSpPr>
        <p:sp>
          <p:nvSpPr>
            <p:cNvPr id="763" name="Line"/>
            <p:cNvSpPr/>
            <p:nvPr/>
          </p:nvSpPr>
          <p:spPr>
            <a:xfrm flipV="1">
              <a:off x="40661" y="-1"/>
              <a:ext cx="4626431" cy="1043022"/>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64" name="ACK 600"/>
            <p:cNvSpPr/>
            <p:nvPr/>
          </p:nvSpPr>
          <p:spPr>
            <a:xfrm rot="20877173">
              <a:off x="866664" y="285001"/>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600</a:t>
              </a:r>
            </a:p>
          </p:txBody>
        </p:sp>
      </p:grpSp>
      <p:grpSp>
        <p:nvGrpSpPr>
          <p:cNvPr id="768" name="Group"/>
          <p:cNvGrpSpPr/>
          <p:nvPr/>
        </p:nvGrpSpPr>
        <p:grpSpPr>
          <a:xfrm>
            <a:off x="3782152" y="5182057"/>
            <a:ext cx="4559642" cy="802055"/>
            <a:chOff x="0" y="25493"/>
            <a:chExt cx="4559641" cy="802054"/>
          </a:xfrm>
        </p:grpSpPr>
        <p:sp>
          <p:nvSpPr>
            <p:cNvPr id="766"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67" name="SEQ 600"/>
            <p:cNvSpPr/>
            <p:nvPr/>
          </p:nvSpPr>
          <p:spPr>
            <a:xfrm rot="440164">
              <a:off x="1780801" y="120974"/>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grpSp>
        <p:nvGrpSpPr>
          <p:cNvPr id="771" name="Group"/>
          <p:cNvGrpSpPr/>
          <p:nvPr/>
        </p:nvGrpSpPr>
        <p:grpSpPr>
          <a:xfrm>
            <a:off x="3832952" y="5475138"/>
            <a:ext cx="4559642" cy="827456"/>
            <a:chOff x="0" y="93"/>
            <a:chExt cx="4559641" cy="827454"/>
          </a:xfrm>
        </p:grpSpPr>
        <p:sp>
          <p:nvSpPr>
            <p:cNvPr id="769" name="Line"/>
            <p:cNvSpPr/>
            <p:nvPr/>
          </p:nvSpPr>
          <p:spPr>
            <a:xfrm flipH="1" flipV="1">
              <a:off x="-1" y="221001"/>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70" name="SEQ 700"/>
            <p:cNvSpPr/>
            <p:nvPr/>
          </p:nvSpPr>
          <p:spPr>
            <a:xfrm rot="440164">
              <a:off x="1397837" y="95574"/>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700</a:t>
              </a:r>
            </a:p>
          </p:txBody>
        </p:sp>
      </p:grpSp>
      <p:grpSp>
        <p:nvGrpSpPr>
          <p:cNvPr id="774" name="Group"/>
          <p:cNvGrpSpPr/>
          <p:nvPr/>
        </p:nvGrpSpPr>
        <p:grpSpPr>
          <a:xfrm>
            <a:off x="3827474" y="5707692"/>
            <a:ext cx="4559643" cy="909764"/>
            <a:chOff x="0" y="0"/>
            <a:chExt cx="4559641" cy="909762"/>
          </a:xfrm>
        </p:grpSpPr>
        <p:sp>
          <p:nvSpPr>
            <p:cNvPr id="772" name="Line"/>
            <p:cNvSpPr/>
            <p:nvPr/>
          </p:nvSpPr>
          <p:spPr>
            <a:xfrm flipH="1" flipV="1">
              <a:off x="-1" y="303217"/>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73" name="SEQ 750"/>
            <p:cNvSpPr/>
            <p:nvPr/>
          </p:nvSpPr>
          <p:spPr>
            <a:xfrm rot="440164">
              <a:off x="799457"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750</a:t>
              </a:r>
            </a:p>
          </p:txBody>
        </p:sp>
      </p:grpSp>
      <p:sp>
        <p:nvSpPr>
          <p:cNvPr id="775" name="N=100 bytes"/>
          <p:cNvSpPr/>
          <p:nvPr/>
        </p:nvSpPr>
        <p:spPr>
          <a:xfrm>
            <a:off x="663468" y="1549400"/>
            <a:ext cx="2542807"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N=100 bytes</a:t>
            </a:r>
          </a:p>
        </p:txBody>
      </p:sp>
      <p:sp>
        <p:nvSpPr>
          <p:cNvPr id="776" name="N=200 bytes"/>
          <p:cNvSpPr/>
          <p:nvPr/>
        </p:nvSpPr>
        <p:spPr>
          <a:xfrm>
            <a:off x="655754" y="3072813"/>
            <a:ext cx="255823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N=200 bytes</a:t>
            </a:r>
          </a:p>
        </p:txBody>
      </p:sp>
      <p:sp>
        <p:nvSpPr>
          <p:cNvPr id="777" name="N=250 bytes"/>
          <p:cNvSpPr/>
          <p:nvPr/>
        </p:nvSpPr>
        <p:spPr>
          <a:xfrm>
            <a:off x="655754" y="4913908"/>
            <a:ext cx="2558236"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N=250 bytes</a:t>
            </a:r>
          </a:p>
        </p:txBody>
      </p:sp>
      <p:grpSp>
        <p:nvGrpSpPr>
          <p:cNvPr id="780" name="Group"/>
          <p:cNvGrpSpPr/>
          <p:nvPr/>
        </p:nvGrpSpPr>
        <p:grpSpPr>
          <a:xfrm>
            <a:off x="3730876" y="6035146"/>
            <a:ext cx="4618912" cy="1433857"/>
            <a:chOff x="106592" y="0"/>
            <a:chExt cx="4618911" cy="1433856"/>
          </a:xfrm>
        </p:grpSpPr>
        <p:sp>
          <p:nvSpPr>
            <p:cNvPr id="778" name="Line"/>
            <p:cNvSpPr/>
            <p:nvPr/>
          </p:nvSpPr>
          <p:spPr>
            <a:xfrm flipV="1">
              <a:off x="106592" y="0"/>
              <a:ext cx="4618912" cy="143385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79" name="ACK 700"/>
            <p:cNvSpPr/>
            <p:nvPr/>
          </p:nvSpPr>
          <p:spPr>
            <a:xfrm rot="20577173">
              <a:off x="414926" y="696605"/>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700</a:t>
              </a:r>
            </a:p>
          </p:txBody>
        </p:sp>
      </p:grpSp>
      <p:sp>
        <p:nvSpPr>
          <p:cNvPr id="781" name="N=324 bytes"/>
          <p:cNvSpPr/>
          <p:nvPr/>
        </p:nvSpPr>
        <p:spPr>
          <a:xfrm>
            <a:off x="694468" y="7015485"/>
            <a:ext cx="251952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N=324 bytes</a:t>
            </a:r>
          </a:p>
        </p:txBody>
      </p:sp>
      <p:sp>
        <p:nvSpPr>
          <p:cNvPr id="782" name="N=290 bytes"/>
          <p:cNvSpPr/>
          <p:nvPr/>
        </p:nvSpPr>
        <p:spPr>
          <a:xfrm>
            <a:off x="682825" y="5283200"/>
            <a:ext cx="2542807"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N=290 bytes</a:t>
            </a:r>
          </a:p>
        </p:txBody>
      </p:sp>
      <p:grpSp>
        <p:nvGrpSpPr>
          <p:cNvPr id="785" name="Group"/>
          <p:cNvGrpSpPr/>
          <p:nvPr/>
        </p:nvGrpSpPr>
        <p:grpSpPr>
          <a:xfrm>
            <a:off x="3830807" y="6035146"/>
            <a:ext cx="4559643" cy="909764"/>
            <a:chOff x="0" y="0"/>
            <a:chExt cx="4559641" cy="909762"/>
          </a:xfrm>
        </p:grpSpPr>
        <p:sp>
          <p:nvSpPr>
            <p:cNvPr id="783" name="Line"/>
            <p:cNvSpPr/>
            <p:nvPr/>
          </p:nvSpPr>
          <p:spPr>
            <a:xfrm flipH="1" flipV="1">
              <a:off x="-1" y="303217"/>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84" name="SEQ 850"/>
            <p:cNvSpPr/>
            <p:nvPr/>
          </p:nvSpPr>
          <p:spPr>
            <a:xfrm rot="440164">
              <a:off x="799457" y="95481"/>
              <a:ext cx="1526257"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850</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7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75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500"/>
                                  </p:stCondLst>
                                  <p:iterate>
                                    <p:tmAbs val="0"/>
                                  </p:iterate>
                                  <p:childTnLst>
                                    <p:set>
                                      <p:cBhvr>
                                        <p:cTn id="17" fill="hold"/>
                                        <p:tgtEl>
                                          <p:spTgt spid="75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76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77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76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iterate>
                                    <p:tmAbs val="0"/>
                                  </p:iterate>
                                  <p:childTnLst>
                                    <p:set>
                                      <p:cBhvr>
                                        <p:cTn id="32" fill="hold"/>
                                        <p:tgtEl>
                                          <p:spTgt spid="77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7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78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774"/>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500"/>
                                  </p:stCondLst>
                                  <p:iterate>
                                    <p:tmAbs val="0"/>
                                  </p:iterate>
                                  <p:childTnLst>
                                    <p:set>
                                      <p:cBhvr>
                                        <p:cTn id="47" fill="hold"/>
                                        <p:tgtEl>
                                          <p:spTgt spid="78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p:tmAbs val="0"/>
                                  </p:iterate>
                                  <p:childTnLst>
                                    <p:set>
                                      <p:cBhvr>
                                        <p:cTn id="51" fill="hold"/>
                                        <p:tgtEl>
                                          <p:spTgt spid="78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p:tmAbs val="0"/>
                                  </p:iterate>
                                  <p:childTnLst>
                                    <p:set>
                                      <p:cBhvr>
                                        <p:cTn id="55" fill="hold"/>
                                        <p:tgtEl>
                                          <p:spTgt spid="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 grpId="0" animBg="1" advAuto="0"/>
      <p:bldP spid="756" grpId="0" animBg="1" advAuto="0"/>
      <p:bldP spid="759" grpId="0" animBg="1" advAuto="0"/>
      <p:bldP spid="762" grpId="0" animBg="1" advAuto="0"/>
      <p:bldP spid="765" grpId="0" animBg="1" advAuto="0"/>
      <p:bldP spid="768" grpId="0" animBg="1" advAuto="0"/>
      <p:bldP spid="771" grpId="0" animBg="1" advAuto="0"/>
      <p:bldP spid="774" grpId="0" animBg="1" advAuto="0"/>
      <p:bldP spid="776" grpId="0" animBg="1" advAuto="0"/>
      <p:bldP spid="777" grpId="0" animBg="1" advAuto="0"/>
      <p:bldP spid="780" grpId="0" animBg="1" advAuto="0"/>
      <p:bldP spid="781" grpId="0" animBg="1" advAuto="0"/>
      <p:bldP spid="782" grpId="0" animBg="1" advAuto="0"/>
      <p:bldP spid="785" grpId="0" animBg="1" advAuto="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9" name="Basic algorithm (Tahoe)"/>
          <p:cNvSpPr txBox="1">
            <a:spLocks noGrp="1"/>
          </p:cNvSpPr>
          <p:nvPr>
            <p:ph type="title"/>
          </p:nvPr>
        </p:nvSpPr>
        <p:spPr>
          <a:prstGeom prst="rect">
            <a:avLst/>
          </a:prstGeom>
        </p:spPr>
        <p:txBody>
          <a:bodyPr/>
          <a:lstStyle/>
          <a:p>
            <a:r>
              <a:t>Basic algorithm (Tahoe)</a:t>
            </a:r>
          </a:p>
        </p:txBody>
      </p:sp>
      <p:sp>
        <p:nvSpPr>
          <p:cNvPr id="790" name="Set window to 1 MSS,  increase exponentially…"/>
          <p:cNvSpPr txBox="1">
            <a:spLocks noGrp="1"/>
          </p:cNvSpPr>
          <p:nvPr>
            <p:ph type="body" idx="1"/>
          </p:nvPr>
        </p:nvSpPr>
        <p:spPr>
          <a:xfrm>
            <a:off x="958304" y="2453530"/>
            <a:ext cx="11088192" cy="6086605"/>
          </a:xfrm>
          <a:prstGeom prst="rect">
            <a:avLst/>
          </a:prstGeom>
        </p:spPr>
        <p:txBody>
          <a:bodyPr anchor="t"/>
          <a:lstStyle/>
          <a:p>
            <a:r>
              <a:t>Set window to 1 MSS, </a:t>
            </a:r>
            <a:br/>
            <a:r>
              <a:t>increase exponentially</a:t>
            </a:r>
          </a:p>
          <a:p>
            <a:r>
              <a:t>On timeout, reset window to 1 MSS, </a:t>
            </a:r>
            <a:br/>
            <a:r>
              <a:t>set ssthresh to last window/2</a:t>
            </a:r>
          </a:p>
          <a:p>
            <a:r>
              <a:t>On reaching ssthresh, </a:t>
            </a:r>
            <a:br/>
            <a:r>
              <a:t>transition to linear increase</a:t>
            </a:r>
          </a:p>
        </p:txBody>
      </p:sp>
      <p:sp>
        <p:nvSpPr>
          <p:cNvPr id="791"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40</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9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7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79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79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 grpId="0" build="p" animBg="1" advAuto="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5"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96" name="Rectangle"/>
          <p:cNvSpPr/>
          <p:nvPr/>
        </p:nvSpPr>
        <p:spPr>
          <a:xfrm>
            <a:off x="9228756" y="-187354"/>
            <a:ext cx="2886977"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9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41</a:t>
            </a:fld>
            <a:endParaRPr/>
          </a:p>
        </p:txBody>
      </p:sp>
      <p:sp>
        <p:nvSpPr>
          <p:cNvPr id="798"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99"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800"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801"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804" name="Group"/>
          <p:cNvGrpSpPr/>
          <p:nvPr/>
        </p:nvGrpSpPr>
        <p:grpSpPr>
          <a:xfrm>
            <a:off x="3937694" y="1743325"/>
            <a:ext cx="3343388" cy="843194"/>
            <a:chOff x="0" y="0"/>
            <a:chExt cx="3343387" cy="843193"/>
          </a:xfrm>
        </p:grpSpPr>
        <p:sp>
          <p:nvSpPr>
            <p:cNvPr id="802" name="Line"/>
            <p:cNvSpPr/>
            <p:nvPr/>
          </p:nvSpPr>
          <p:spPr>
            <a:xfrm flipH="1" flipV="1">
              <a:off x="0" y="385074"/>
              <a:ext cx="3343388" cy="458120"/>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03" name="SEQ 3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sp>
        <p:nvSpPr>
          <p:cNvPr id="805" name="N=400 bytes"/>
          <p:cNvSpPr/>
          <p:nvPr/>
        </p:nvSpPr>
        <p:spPr>
          <a:xfrm>
            <a:off x="678655" y="1549400"/>
            <a:ext cx="2527620" cy="698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N=400 bytes</a:t>
            </a:r>
          </a:p>
        </p:txBody>
      </p:sp>
      <p:sp>
        <p:nvSpPr>
          <p:cNvPr id="806" name="N=500 bytes"/>
          <p:cNvSpPr/>
          <p:nvPr/>
        </p:nvSpPr>
        <p:spPr>
          <a:xfrm>
            <a:off x="655767" y="5970026"/>
            <a:ext cx="2527619"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N=500 bytes</a:t>
            </a:r>
          </a:p>
        </p:txBody>
      </p:sp>
      <p:sp>
        <p:nvSpPr>
          <p:cNvPr id="807" name="ssthresh= 200 bytes"/>
          <p:cNvSpPr/>
          <p:nvPr/>
        </p:nvSpPr>
        <p:spPr>
          <a:xfrm>
            <a:off x="1143736" y="8346229"/>
            <a:ext cx="2247901" cy="11557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942193"/>
                </a:solidFill>
                <a:latin typeface="Courier"/>
                <a:ea typeface="Courier"/>
                <a:cs typeface="Courier"/>
                <a:sym typeface="Courier"/>
              </a:defRPr>
            </a:pPr>
            <a:r>
              <a:t>ssthresh=</a:t>
            </a:r>
            <a:br/>
            <a:r>
              <a:t>200 bytes</a:t>
            </a:r>
          </a:p>
        </p:txBody>
      </p:sp>
      <p:sp>
        <p:nvSpPr>
          <p:cNvPr id="808" name="300 - 399"/>
          <p:cNvSpPr/>
          <p:nvPr/>
        </p:nvSpPr>
        <p:spPr>
          <a:xfrm>
            <a:off x="974024" y="2006736"/>
            <a:ext cx="21717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000">
                <a:solidFill>
                  <a:srgbClr val="424242"/>
                </a:solidFill>
                <a:latin typeface="+mn-lt"/>
                <a:ea typeface="+mn-ea"/>
                <a:cs typeface="+mn-cs"/>
                <a:sym typeface="Chalkboard SE Regular"/>
              </a:defRPr>
            </a:lvl1pPr>
          </a:lstStyle>
          <a:p>
            <a:r>
              <a:t>300 - 399</a:t>
            </a:r>
          </a:p>
        </p:txBody>
      </p:sp>
      <p:sp>
        <p:nvSpPr>
          <p:cNvPr id="809" name="400 - 499"/>
          <p:cNvSpPr/>
          <p:nvPr/>
        </p:nvSpPr>
        <p:spPr>
          <a:xfrm>
            <a:off x="897824" y="2463936"/>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000">
                <a:solidFill>
                  <a:srgbClr val="424242"/>
                </a:solidFill>
                <a:latin typeface="+mn-lt"/>
                <a:ea typeface="+mn-ea"/>
                <a:cs typeface="+mn-cs"/>
                <a:sym typeface="Chalkboard SE Regular"/>
              </a:defRPr>
            </a:lvl1pPr>
          </a:lstStyle>
          <a:p>
            <a:r>
              <a:t>400 - 499</a:t>
            </a:r>
          </a:p>
        </p:txBody>
      </p:sp>
      <p:sp>
        <p:nvSpPr>
          <p:cNvPr id="810" name="500 - 599"/>
          <p:cNvSpPr/>
          <p:nvPr/>
        </p:nvSpPr>
        <p:spPr>
          <a:xfrm>
            <a:off x="974024" y="2887695"/>
            <a:ext cx="21717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000">
                <a:solidFill>
                  <a:srgbClr val="424242"/>
                </a:solidFill>
                <a:latin typeface="+mn-lt"/>
                <a:ea typeface="+mn-ea"/>
                <a:cs typeface="+mn-cs"/>
                <a:sym typeface="Chalkboard SE Regular"/>
              </a:defRPr>
            </a:lvl1pPr>
          </a:lstStyle>
          <a:p>
            <a:r>
              <a:t>500 - 599</a:t>
            </a:r>
          </a:p>
        </p:txBody>
      </p:sp>
      <p:sp>
        <p:nvSpPr>
          <p:cNvPr id="811" name="600 - 699"/>
          <p:cNvSpPr/>
          <p:nvPr/>
        </p:nvSpPr>
        <p:spPr>
          <a:xfrm>
            <a:off x="897824" y="3344895"/>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000">
                <a:solidFill>
                  <a:srgbClr val="424242"/>
                </a:solidFill>
                <a:latin typeface="+mn-lt"/>
                <a:ea typeface="+mn-ea"/>
                <a:cs typeface="+mn-cs"/>
                <a:sym typeface="Chalkboard SE Regular"/>
              </a:defRPr>
            </a:lvl1pPr>
          </a:lstStyle>
          <a:p>
            <a:r>
              <a:t>600 - 699</a:t>
            </a:r>
          </a:p>
        </p:txBody>
      </p:sp>
      <p:grpSp>
        <p:nvGrpSpPr>
          <p:cNvPr id="814" name="Group"/>
          <p:cNvGrpSpPr/>
          <p:nvPr/>
        </p:nvGrpSpPr>
        <p:grpSpPr>
          <a:xfrm>
            <a:off x="3937694" y="2085742"/>
            <a:ext cx="4559643" cy="991621"/>
            <a:chOff x="0" y="0"/>
            <a:chExt cx="4559641" cy="991620"/>
          </a:xfrm>
        </p:grpSpPr>
        <p:sp>
          <p:nvSpPr>
            <p:cNvPr id="812" name="Line"/>
            <p:cNvSpPr/>
            <p:nvPr/>
          </p:nvSpPr>
          <p:spPr>
            <a:xfrm flipH="1" flipV="1">
              <a:off x="-1" y="3850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13" name="SEQ 4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400</a:t>
              </a:r>
            </a:p>
          </p:txBody>
        </p:sp>
      </p:grpSp>
      <p:grpSp>
        <p:nvGrpSpPr>
          <p:cNvPr id="817" name="Group"/>
          <p:cNvGrpSpPr/>
          <p:nvPr/>
        </p:nvGrpSpPr>
        <p:grpSpPr>
          <a:xfrm>
            <a:off x="3937694" y="2428158"/>
            <a:ext cx="4559643" cy="991622"/>
            <a:chOff x="0" y="0"/>
            <a:chExt cx="4559641" cy="991620"/>
          </a:xfrm>
        </p:grpSpPr>
        <p:sp>
          <p:nvSpPr>
            <p:cNvPr id="815" name="Line"/>
            <p:cNvSpPr/>
            <p:nvPr/>
          </p:nvSpPr>
          <p:spPr>
            <a:xfrm flipH="1" flipV="1">
              <a:off x="-1" y="3850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16" name="SEQ 5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500</a:t>
              </a:r>
            </a:p>
          </p:txBody>
        </p:sp>
      </p:grpSp>
      <p:grpSp>
        <p:nvGrpSpPr>
          <p:cNvPr id="820" name="Group"/>
          <p:cNvGrpSpPr/>
          <p:nvPr/>
        </p:nvGrpSpPr>
        <p:grpSpPr>
          <a:xfrm>
            <a:off x="3937694" y="2794511"/>
            <a:ext cx="4559643" cy="991621"/>
            <a:chOff x="0" y="0"/>
            <a:chExt cx="4559641" cy="991620"/>
          </a:xfrm>
        </p:grpSpPr>
        <p:sp>
          <p:nvSpPr>
            <p:cNvPr id="818" name="Line"/>
            <p:cNvSpPr/>
            <p:nvPr/>
          </p:nvSpPr>
          <p:spPr>
            <a:xfrm flipH="1" flipV="1">
              <a:off x="-1" y="3850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19" name="SEQ 6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600</a:t>
              </a:r>
            </a:p>
          </p:txBody>
        </p:sp>
      </p:grpSp>
      <p:sp>
        <p:nvSpPr>
          <p:cNvPr id="821" name="X"/>
          <p:cNvSpPr/>
          <p:nvPr/>
        </p:nvSpPr>
        <p:spPr>
          <a:xfrm>
            <a:off x="7035688" y="1998214"/>
            <a:ext cx="558801" cy="1022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5000">
                <a:solidFill>
                  <a:srgbClr val="942193"/>
                </a:solidFill>
                <a:latin typeface="+mn-lt"/>
                <a:ea typeface="+mn-ea"/>
                <a:cs typeface="+mn-cs"/>
                <a:sym typeface="Chalkboard SE Regular"/>
              </a:defRPr>
            </a:lvl1pPr>
          </a:lstStyle>
          <a:p>
            <a:r>
              <a:t>X</a:t>
            </a:r>
          </a:p>
        </p:txBody>
      </p:sp>
      <p:grpSp>
        <p:nvGrpSpPr>
          <p:cNvPr id="824" name="Group"/>
          <p:cNvGrpSpPr/>
          <p:nvPr/>
        </p:nvGrpSpPr>
        <p:grpSpPr>
          <a:xfrm>
            <a:off x="3850506" y="3112201"/>
            <a:ext cx="4641483" cy="1350393"/>
            <a:chOff x="91902" y="0"/>
            <a:chExt cx="4641482" cy="1350391"/>
          </a:xfrm>
        </p:grpSpPr>
        <p:sp>
          <p:nvSpPr>
            <p:cNvPr id="822" name="Line"/>
            <p:cNvSpPr/>
            <p:nvPr/>
          </p:nvSpPr>
          <p:spPr>
            <a:xfrm flipV="1">
              <a:off x="91902" y="-1"/>
              <a:ext cx="4641483" cy="1350393"/>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23" name="ACK 300"/>
            <p:cNvSpPr/>
            <p:nvPr/>
          </p:nvSpPr>
          <p:spPr>
            <a:xfrm rot="20637173">
              <a:off x="662798" y="566338"/>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300</a:t>
              </a:r>
            </a:p>
          </p:txBody>
        </p:sp>
      </p:grpSp>
      <p:grpSp>
        <p:nvGrpSpPr>
          <p:cNvPr id="827" name="Group"/>
          <p:cNvGrpSpPr/>
          <p:nvPr/>
        </p:nvGrpSpPr>
        <p:grpSpPr>
          <a:xfrm>
            <a:off x="3850506" y="3502489"/>
            <a:ext cx="4641483" cy="1350392"/>
            <a:chOff x="91902" y="0"/>
            <a:chExt cx="4641482" cy="1350391"/>
          </a:xfrm>
        </p:grpSpPr>
        <p:sp>
          <p:nvSpPr>
            <p:cNvPr id="825" name="Line"/>
            <p:cNvSpPr/>
            <p:nvPr/>
          </p:nvSpPr>
          <p:spPr>
            <a:xfrm flipV="1">
              <a:off x="91902" y="-1"/>
              <a:ext cx="4641483" cy="1350393"/>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26" name="ACK 300"/>
            <p:cNvSpPr/>
            <p:nvPr/>
          </p:nvSpPr>
          <p:spPr>
            <a:xfrm rot="20637173">
              <a:off x="662798" y="566338"/>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300</a:t>
              </a:r>
            </a:p>
          </p:txBody>
        </p:sp>
      </p:grpSp>
      <p:grpSp>
        <p:nvGrpSpPr>
          <p:cNvPr id="830" name="Group"/>
          <p:cNvGrpSpPr/>
          <p:nvPr/>
        </p:nvGrpSpPr>
        <p:grpSpPr>
          <a:xfrm>
            <a:off x="3850506" y="3856873"/>
            <a:ext cx="4641483" cy="1350393"/>
            <a:chOff x="91902" y="0"/>
            <a:chExt cx="4641482" cy="1350391"/>
          </a:xfrm>
        </p:grpSpPr>
        <p:sp>
          <p:nvSpPr>
            <p:cNvPr id="828" name="Line"/>
            <p:cNvSpPr/>
            <p:nvPr/>
          </p:nvSpPr>
          <p:spPr>
            <a:xfrm flipV="1">
              <a:off x="91902" y="-1"/>
              <a:ext cx="4641483" cy="1350393"/>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29" name="ACK 300"/>
            <p:cNvSpPr/>
            <p:nvPr/>
          </p:nvSpPr>
          <p:spPr>
            <a:xfrm rot="20637173">
              <a:off x="662798" y="566338"/>
              <a:ext cx="1431242"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300</a:t>
              </a:r>
            </a:p>
          </p:txBody>
        </p:sp>
      </p:grpSp>
      <p:sp>
        <p:nvSpPr>
          <p:cNvPr id="831" name="fast  retransmit"/>
          <p:cNvSpPr/>
          <p:nvPr/>
        </p:nvSpPr>
        <p:spPr>
          <a:xfrm>
            <a:off x="1089237" y="4785776"/>
            <a:ext cx="2527620" cy="1022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l">
              <a:defRPr sz="2800">
                <a:solidFill>
                  <a:srgbClr val="942193"/>
                </a:solidFill>
                <a:latin typeface="Courier"/>
                <a:ea typeface="Courier"/>
                <a:cs typeface="Courier"/>
                <a:sym typeface="Courier"/>
              </a:defRPr>
            </a:pPr>
            <a:r>
              <a:t>fast </a:t>
            </a:r>
            <a:br/>
            <a:r>
              <a:t>retransmit</a:t>
            </a:r>
          </a:p>
        </p:txBody>
      </p:sp>
      <p:grpSp>
        <p:nvGrpSpPr>
          <p:cNvPr id="834" name="Group"/>
          <p:cNvGrpSpPr/>
          <p:nvPr/>
        </p:nvGrpSpPr>
        <p:grpSpPr>
          <a:xfrm>
            <a:off x="3750643" y="5681215"/>
            <a:ext cx="4559643" cy="991621"/>
            <a:chOff x="0" y="0"/>
            <a:chExt cx="4559641" cy="991620"/>
          </a:xfrm>
        </p:grpSpPr>
        <p:sp>
          <p:nvSpPr>
            <p:cNvPr id="832" name="Line"/>
            <p:cNvSpPr/>
            <p:nvPr/>
          </p:nvSpPr>
          <p:spPr>
            <a:xfrm flipH="1" flipV="1">
              <a:off x="-1" y="3850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33" name="SEQ 3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300</a:t>
              </a:r>
            </a:p>
          </p:txBody>
        </p:sp>
      </p:grpSp>
      <p:grpSp>
        <p:nvGrpSpPr>
          <p:cNvPr id="837" name="Group"/>
          <p:cNvGrpSpPr/>
          <p:nvPr/>
        </p:nvGrpSpPr>
        <p:grpSpPr>
          <a:xfrm>
            <a:off x="3769324" y="6043347"/>
            <a:ext cx="4559642" cy="991621"/>
            <a:chOff x="0" y="0"/>
            <a:chExt cx="4559641" cy="991620"/>
          </a:xfrm>
        </p:grpSpPr>
        <p:sp>
          <p:nvSpPr>
            <p:cNvPr id="835" name="Line"/>
            <p:cNvSpPr/>
            <p:nvPr/>
          </p:nvSpPr>
          <p:spPr>
            <a:xfrm flipH="1" flipV="1">
              <a:off x="-1" y="385074"/>
              <a:ext cx="4559643" cy="60654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36" name="SEQ 700"/>
            <p:cNvSpPr/>
            <p:nvPr/>
          </p:nvSpPr>
          <p:spPr>
            <a:xfrm rot="440164">
              <a:off x="320150"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700</a:t>
              </a:r>
            </a:p>
          </p:txBody>
        </p:sp>
      </p:grpSp>
      <p:sp>
        <p:nvSpPr>
          <p:cNvPr id="838" name="700 - 799"/>
          <p:cNvSpPr/>
          <p:nvPr/>
        </p:nvSpPr>
        <p:spPr>
          <a:xfrm>
            <a:off x="889864" y="6427894"/>
            <a:ext cx="2247901"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3000">
                <a:solidFill>
                  <a:srgbClr val="424242"/>
                </a:solidFill>
                <a:latin typeface="+mn-lt"/>
                <a:ea typeface="+mn-ea"/>
                <a:cs typeface="+mn-cs"/>
                <a:sym typeface="Chalkboard SE Regular"/>
              </a:defRPr>
            </a:lvl1pPr>
          </a:lstStyle>
          <a:p>
            <a:r>
              <a:t>700 - 799</a:t>
            </a:r>
          </a:p>
        </p:txBody>
      </p:sp>
      <p:pic>
        <p:nvPicPr>
          <p:cNvPr id="839" name="Oval Oval" descr="Oval Oval"/>
          <p:cNvPicPr>
            <a:picLocks/>
          </p:cNvPicPr>
          <p:nvPr/>
        </p:nvPicPr>
        <p:blipFill>
          <a:blip r:embed="rId3"/>
          <a:stretch>
            <a:fillRect/>
          </a:stretch>
        </p:blipFill>
        <p:spPr>
          <a:xfrm>
            <a:off x="966710" y="2441600"/>
            <a:ext cx="2601953" cy="1724636"/>
          </a:xfrm>
          <a:prstGeom prst="rect">
            <a:avLst/>
          </a:prstGeom>
        </p:spPr>
      </p:pic>
      <p:grpSp>
        <p:nvGrpSpPr>
          <p:cNvPr id="843" name="Group"/>
          <p:cNvGrpSpPr/>
          <p:nvPr/>
        </p:nvGrpSpPr>
        <p:grpSpPr>
          <a:xfrm>
            <a:off x="3709723" y="6745710"/>
            <a:ext cx="4641483" cy="1350393"/>
            <a:chOff x="91902" y="0"/>
            <a:chExt cx="4641482" cy="1350391"/>
          </a:xfrm>
        </p:grpSpPr>
        <p:sp>
          <p:nvSpPr>
            <p:cNvPr id="841" name="Line"/>
            <p:cNvSpPr/>
            <p:nvPr/>
          </p:nvSpPr>
          <p:spPr>
            <a:xfrm flipV="1">
              <a:off x="91902" y="-1"/>
              <a:ext cx="4641483" cy="1350393"/>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42" name="ACK 700"/>
            <p:cNvSpPr/>
            <p:nvPr/>
          </p:nvSpPr>
          <p:spPr>
            <a:xfrm rot="20637173">
              <a:off x="1584304" y="279115"/>
              <a:ext cx="1431241" cy="4932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pPr>
                <a:defRPr>
                  <a:solidFill>
                    <a:srgbClr val="942193"/>
                  </a:solidFill>
                </a:defRPr>
              </a:pPr>
              <a:r>
                <a:rPr>
                  <a:solidFill>
                    <a:srgbClr val="424242"/>
                  </a:solidFill>
                </a:rPr>
                <a:t>ACK 700</a:t>
              </a:r>
            </a:p>
          </p:txBody>
        </p:sp>
      </p:grpSp>
      <p:sp>
        <p:nvSpPr>
          <p:cNvPr id="844" name="N=200 bytes"/>
          <p:cNvSpPr/>
          <p:nvPr/>
        </p:nvSpPr>
        <p:spPr>
          <a:xfrm>
            <a:off x="701544" y="7729961"/>
            <a:ext cx="248184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r">
              <a:defRPr sz="2800">
                <a:solidFill>
                  <a:srgbClr val="942193"/>
                </a:solidFill>
                <a:latin typeface="Courier"/>
                <a:ea typeface="Courier"/>
                <a:cs typeface="Courier"/>
                <a:sym typeface="Courier"/>
              </a:defRPr>
            </a:lvl1pPr>
          </a:lstStyle>
          <a:p>
            <a:r>
              <a:t>N=200 bytes</a:t>
            </a:r>
          </a:p>
        </p:txBody>
      </p:sp>
      <p:grpSp>
        <p:nvGrpSpPr>
          <p:cNvPr id="847" name="Group"/>
          <p:cNvGrpSpPr/>
          <p:nvPr/>
        </p:nvGrpSpPr>
        <p:grpSpPr>
          <a:xfrm>
            <a:off x="3741303" y="7834142"/>
            <a:ext cx="4559643" cy="967686"/>
            <a:chOff x="0" y="0"/>
            <a:chExt cx="4559641" cy="967684"/>
          </a:xfrm>
        </p:grpSpPr>
        <p:sp>
          <p:nvSpPr>
            <p:cNvPr id="845" name="Line"/>
            <p:cNvSpPr/>
            <p:nvPr/>
          </p:nvSpPr>
          <p:spPr>
            <a:xfrm flipH="1" flipV="1">
              <a:off x="-1" y="361139"/>
              <a:ext cx="4559643" cy="60654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46" name="SEQ 800"/>
            <p:cNvSpPr/>
            <p:nvPr/>
          </p:nvSpPr>
          <p:spPr>
            <a:xfrm rot="440164">
              <a:off x="511632" y="104877"/>
              <a:ext cx="1673428" cy="4793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SEQ 800</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8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8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8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8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837"/>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83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83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iterate>
                                    <p:tmAbs val="0"/>
                                  </p:iterate>
                                  <p:childTnLst>
                                    <p:set>
                                      <p:cBhvr>
                                        <p:cTn id="41" fill="hold"/>
                                        <p:tgtEl>
                                          <p:spTgt spid="80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p:tmAbs val="0"/>
                                  </p:iterate>
                                  <p:childTnLst>
                                    <p:set>
                                      <p:cBhvr>
                                        <p:cTn id="45" fill="hold"/>
                                        <p:tgtEl>
                                          <p:spTgt spid="84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iterate>
                                    <p:tmAbs val="0"/>
                                  </p:iterate>
                                  <p:childTnLst>
                                    <p:set>
                                      <p:cBhvr>
                                        <p:cTn id="49" fill="hold"/>
                                        <p:tgtEl>
                                          <p:spTgt spid="84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iterate>
                                    <p:tmAbs val="0"/>
                                  </p:iterate>
                                  <p:childTnLst>
                                    <p:set>
                                      <p:cBhvr>
                                        <p:cTn id="53" fill="hold"/>
                                        <p:tgtEl>
                                          <p:spTgt spid="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 grpId="0" animBg="1" advAuto="0"/>
      <p:bldP spid="821" grpId="0" animBg="1" advAuto="0"/>
      <p:bldP spid="824" grpId="0" animBg="1" advAuto="0"/>
      <p:bldP spid="827" grpId="0" animBg="1" advAuto="0"/>
      <p:bldP spid="830" grpId="0" animBg="1" advAuto="0"/>
      <p:bldP spid="831" grpId="0" animBg="1" advAuto="0"/>
      <p:bldP spid="834" grpId="0" animBg="1" advAuto="0"/>
      <p:bldP spid="837" grpId="0" animBg="1" advAuto="0"/>
      <p:bldP spid="838" grpId="0" animBg="1" advAuto="0"/>
      <p:bldP spid="839" grpId="0" animBg="1" advAuto="0"/>
      <p:bldP spid="843" grpId="0" animBg="1" advAuto="0"/>
      <p:bldP spid="844" grpId="0" animBg="1" advAuto="0"/>
      <p:bldP spid="847" grpId="0" animBg="1" advAuto="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51" name="Basic algorithm (Reno)"/>
          <p:cNvSpPr txBox="1">
            <a:spLocks noGrp="1"/>
          </p:cNvSpPr>
          <p:nvPr>
            <p:ph type="title"/>
          </p:nvPr>
        </p:nvSpPr>
        <p:spPr>
          <a:prstGeom prst="rect">
            <a:avLst/>
          </a:prstGeom>
        </p:spPr>
        <p:txBody>
          <a:bodyPr/>
          <a:lstStyle/>
          <a:p>
            <a:r>
              <a:t>Basic algorithm (Reno)</a:t>
            </a:r>
          </a:p>
        </p:txBody>
      </p:sp>
      <p:sp>
        <p:nvSpPr>
          <p:cNvPr id="852" name="Set window to 1 MSS, increase exponentially…"/>
          <p:cNvSpPr txBox="1">
            <a:spLocks noGrp="1"/>
          </p:cNvSpPr>
          <p:nvPr>
            <p:ph type="body" idx="1"/>
          </p:nvPr>
        </p:nvSpPr>
        <p:spPr>
          <a:xfrm>
            <a:off x="686208" y="2286087"/>
            <a:ext cx="12525118" cy="7156020"/>
          </a:xfrm>
          <a:prstGeom prst="rect">
            <a:avLst/>
          </a:prstGeom>
        </p:spPr>
        <p:txBody>
          <a:bodyPr anchor="t"/>
          <a:lstStyle/>
          <a:p>
            <a:pPr>
              <a:spcBef>
                <a:spcPts val="3000"/>
              </a:spcBef>
            </a:pPr>
            <a:r>
              <a:t>Set window to 1 MSS, increase exponentially</a:t>
            </a:r>
          </a:p>
          <a:p>
            <a:pPr>
              <a:spcBef>
                <a:spcPts val="3000"/>
              </a:spcBef>
            </a:pPr>
            <a:r>
              <a:t>On timeout, reset window to 1 MSS, </a:t>
            </a:r>
            <a:br/>
            <a:r>
              <a:t>set ssthresh to last window/2, retransmit</a:t>
            </a:r>
          </a:p>
          <a:p>
            <a:pPr>
              <a:spcBef>
                <a:spcPts val="3000"/>
              </a:spcBef>
            </a:pPr>
            <a:r>
              <a:rPr>
                <a:solidFill>
                  <a:srgbClr val="942193"/>
                </a:solidFill>
              </a:rPr>
              <a:t>On receiving 3 duplicate ACKs, </a:t>
            </a:r>
            <a:br>
              <a:rPr>
                <a:solidFill>
                  <a:srgbClr val="942193"/>
                </a:solidFill>
              </a:rPr>
            </a:br>
            <a:r>
              <a:rPr>
                <a:solidFill>
                  <a:srgbClr val="942193"/>
                </a:solidFill>
              </a:rPr>
              <a:t>set window to ssthresh (+inflation), retransmit</a:t>
            </a:r>
            <a:r>
              <a:t> </a:t>
            </a:r>
          </a:p>
          <a:p>
            <a:pPr>
              <a:spcBef>
                <a:spcPts val="3000"/>
              </a:spcBef>
            </a:pPr>
            <a:r>
              <a:t>On reaching ssthresh transition </a:t>
            </a:r>
            <a:br/>
            <a:r>
              <a:t>to linear increase</a:t>
            </a:r>
          </a:p>
        </p:txBody>
      </p:sp>
      <p:sp>
        <p:nvSpPr>
          <p:cNvPr id="853"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42</a:t>
            </a:fld>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57" name="ssthresh = window/2"/>
          <p:cNvSpPr/>
          <p:nvPr/>
        </p:nvSpPr>
        <p:spPr>
          <a:xfrm>
            <a:off x="1054100" y="7505700"/>
            <a:ext cx="37973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ssthresh = window/2</a:t>
            </a:r>
          </a:p>
        </p:txBody>
      </p:sp>
      <p:sp>
        <p:nvSpPr>
          <p:cNvPr id="858" name="new ACK"/>
          <p:cNvSpPr/>
          <p:nvPr/>
        </p:nvSpPr>
        <p:spPr>
          <a:xfrm>
            <a:off x="1295400" y="914400"/>
            <a:ext cx="33274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new ACK</a:t>
            </a:r>
          </a:p>
        </p:txBody>
      </p:sp>
      <p:sp>
        <p:nvSpPr>
          <p:cNvPr id="859" name="window = window + MSS"/>
          <p:cNvSpPr/>
          <p:nvPr/>
        </p:nvSpPr>
        <p:spPr>
          <a:xfrm>
            <a:off x="1295400" y="1524000"/>
            <a:ext cx="4340284"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window = window + MSS</a:t>
            </a:r>
          </a:p>
        </p:txBody>
      </p:sp>
      <p:sp>
        <p:nvSpPr>
          <p:cNvPr id="860" name="exponential increase"/>
          <p:cNvSpPr/>
          <p:nvPr/>
        </p:nvSpPr>
        <p:spPr>
          <a:xfrm>
            <a:off x="2032000" y="3454400"/>
            <a:ext cx="2692400" cy="2692400"/>
          </a:xfrm>
          <a:prstGeom prst="ellipse">
            <a:avLst/>
          </a:prstGeom>
          <a:ln w="508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3200">
                <a:solidFill>
                  <a:srgbClr val="424242"/>
                </a:solidFill>
                <a:latin typeface="+mn-lt"/>
                <a:ea typeface="+mn-ea"/>
                <a:cs typeface="+mn-cs"/>
                <a:sym typeface="Chalkboard SE Regular"/>
              </a:defRPr>
            </a:lvl1pPr>
          </a:lstStyle>
          <a:p>
            <a:r>
              <a:t>exponential increase</a:t>
            </a:r>
          </a:p>
        </p:txBody>
      </p:sp>
      <p:sp>
        <p:nvSpPr>
          <p:cNvPr id="861" name="Line"/>
          <p:cNvSpPr/>
          <p:nvPr/>
        </p:nvSpPr>
        <p:spPr>
          <a:xfrm>
            <a:off x="4618152" y="3417729"/>
            <a:ext cx="3924401" cy="674793"/>
          </a:xfrm>
          <a:custGeom>
            <a:avLst/>
            <a:gdLst/>
            <a:ahLst/>
            <a:cxnLst>
              <a:cxn ang="0">
                <a:pos x="wd2" y="hd2"/>
              </a:cxn>
              <a:cxn ang="5400000">
                <a:pos x="wd2" y="hd2"/>
              </a:cxn>
              <a:cxn ang="10800000">
                <a:pos x="wd2" y="hd2"/>
              </a:cxn>
              <a:cxn ang="16200000">
                <a:pos x="wd2" y="hd2"/>
              </a:cxn>
            </a:cxnLst>
            <a:rect l="0" t="0" r="r" b="b"/>
            <a:pathLst>
              <a:path w="21600" h="18077" extrusionOk="0">
                <a:moveTo>
                  <a:pt x="0" y="18077"/>
                </a:moveTo>
                <a:cubicBezTo>
                  <a:pt x="0" y="18077"/>
                  <a:pt x="3075" y="3570"/>
                  <a:pt x="7295" y="502"/>
                </a:cubicBezTo>
                <a:cubicBezTo>
                  <a:pt x="12832" y="-3523"/>
                  <a:pt x="21600" y="17993"/>
                  <a:pt x="21600" y="17993"/>
                </a:cubicBezTo>
              </a:path>
            </a:pathLst>
          </a:custGeom>
          <a:ln w="50800">
            <a:solidFill>
              <a:srgbClr val="424242"/>
            </a:solidFill>
            <a:miter lim="400000"/>
            <a:tailEnd type="stealth"/>
          </a:ln>
        </p:spPr>
        <p:txBody>
          <a:bodyPr lIns="50800" tIns="50800" rIns="50800" bIns="50800" anchor="ctr"/>
          <a:lstStyle/>
          <a:p>
            <a:endParaRPr/>
          </a:p>
        </p:txBody>
      </p:sp>
      <p:sp>
        <p:nvSpPr>
          <p:cNvPr id="862" name="Line"/>
          <p:cNvSpPr/>
          <p:nvPr/>
        </p:nvSpPr>
        <p:spPr>
          <a:xfrm>
            <a:off x="1295391" y="1624081"/>
            <a:ext cx="3817836" cy="1"/>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863" name="Line"/>
          <p:cNvSpPr/>
          <p:nvPr/>
        </p:nvSpPr>
        <p:spPr>
          <a:xfrm rot="18480000">
            <a:off x="9866333" y="2523180"/>
            <a:ext cx="1577155" cy="1302825"/>
          </a:xfrm>
          <a:custGeom>
            <a:avLst/>
            <a:gdLst/>
            <a:ahLst/>
            <a:cxnLst>
              <a:cxn ang="0">
                <a:pos x="wd2" y="hd2"/>
              </a:cxn>
              <a:cxn ang="5400000">
                <a:pos x="wd2" y="hd2"/>
              </a:cxn>
              <a:cxn ang="10800000">
                <a:pos x="wd2" y="hd2"/>
              </a:cxn>
              <a:cxn ang="16200000">
                <a:pos x="wd2" y="hd2"/>
              </a:cxn>
            </a:cxnLst>
            <a:rect l="0" t="0" r="r" b="b"/>
            <a:pathLst>
              <a:path w="20209" h="20626" extrusionOk="0">
                <a:moveTo>
                  <a:pt x="0" y="5206"/>
                </a:moveTo>
                <a:cubicBezTo>
                  <a:pt x="0" y="5206"/>
                  <a:pt x="4430" y="-680"/>
                  <a:pt x="10761" y="65"/>
                </a:cubicBezTo>
                <a:cubicBezTo>
                  <a:pt x="15897" y="669"/>
                  <a:pt x="18042" y="3367"/>
                  <a:pt x="19888" y="8309"/>
                </a:cubicBezTo>
                <a:cubicBezTo>
                  <a:pt x="21600" y="12891"/>
                  <a:pt x="16142" y="20920"/>
                  <a:pt x="11249" y="20618"/>
                </a:cubicBezTo>
                <a:cubicBezTo>
                  <a:pt x="7346" y="20377"/>
                  <a:pt x="1467" y="15481"/>
                  <a:pt x="1467" y="15481"/>
                </a:cubicBezTo>
              </a:path>
            </a:pathLst>
          </a:custGeom>
          <a:ln w="50800">
            <a:solidFill>
              <a:srgbClr val="424242"/>
            </a:solidFill>
            <a:miter lim="400000"/>
            <a:tailEnd type="stealth"/>
          </a:ln>
        </p:spPr>
        <p:txBody>
          <a:bodyPr lIns="50800" tIns="50800" rIns="50800" bIns="50800" anchor="ctr"/>
          <a:lstStyle/>
          <a:p>
            <a:endParaRPr/>
          </a:p>
        </p:txBody>
      </p:sp>
      <p:sp>
        <p:nvSpPr>
          <p:cNvPr id="864" name="Line"/>
          <p:cNvSpPr/>
          <p:nvPr/>
        </p:nvSpPr>
        <p:spPr>
          <a:xfrm rot="10800000" flipH="1">
            <a:off x="4559474" y="5476654"/>
            <a:ext cx="3924301" cy="584201"/>
          </a:xfrm>
          <a:custGeom>
            <a:avLst/>
            <a:gdLst/>
            <a:ahLst/>
            <a:cxnLst>
              <a:cxn ang="0">
                <a:pos x="wd2" y="hd2"/>
              </a:cxn>
              <a:cxn ang="5400000">
                <a:pos x="wd2" y="hd2"/>
              </a:cxn>
              <a:cxn ang="10800000">
                <a:pos x="wd2" y="hd2"/>
              </a:cxn>
              <a:cxn ang="16200000">
                <a:pos x="wd2" y="hd2"/>
              </a:cxn>
            </a:cxnLst>
            <a:rect l="0" t="0" r="r" b="b"/>
            <a:pathLst>
              <a:path w="21600" h="19344" extrusionOk="0">
                <a:moveTo>
                  <a:pt x="0" y="19344"/>
                </a:moveTo>
                <a:cubicBezTo>
                  <a:pt x="0" y="19344"/>
                  <a:pt x="10863" y="-2256"/>
                  <a:pt x="15143" y="194"/>
                </a:cubicBezTo>
                <a:cubicBezTo>
                  <a:pt x="18595" y="2169"/>
                  <a:pt x="21600" y="12683"/>
                  <a:pt x="21600" y="12683"/>
                </a:cubicBezTo>
              </a:path>
            </a:pathLst>
          </a:custGeom>
          <a:ln w="50800">
            <a:solidFill>
              <a:srgbClr val="424242"/>
            </a:solidFill>
            <a:miter lim="400000"/>
            <a:headEnd type="stealth"/>
          </a:ln>
        </p:spPr>
        <p:txBody>
          <a:bodyPr lIns="50800" tIns="50800" rIns="50800" bIns="50800" anchor="ctr"/>
          <a:lstStyle/>
          <a:p>
            <a:endParaRPr/>
          </a:p>
        </p:txBody>
      </p:sp>
      <p:sp>
        <p:nvSpPr>
          <p:cNvPr id="865" name="linear increase"/>
          <p:cNvSpPr/>
          <p:nvPr/>
        </p:nvSpPr>
        <p:spPr>
          <a:xfrm>
            <a:off x="8229600" y="3581400"/>
            <a:ext cx="2692400" cy="2692400"/>
          </a:xfrm>
          <a:prstGeom prst="ellipse">
            <a:avLst/>
          </a:prstGeom>
          <a:ln w="508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3200">
                <a:solidFill>
                  <a:srgbClr val="424242"/>
                </a:solidFill>
                <a:latin typeface="+mn-lt"/>
                <a:ea typeface="+mn-ea"/>
                <a:cs typeface="+mn-cs"/>
                <a:sym typeface="Chalkboard SE Regular"/>
              </a:defRPr>
            </a:lvl1pPr>
          </a:lstStyle>
          <a:p>
            <a:r>
              <a:t>linear increase</a:t>
            </a:r>
          </a:p>
        </p:txBody>
      </p:sp>
      <p:sp>
        <p:nvSpPr>
          <p:cNvPr id="866" name="Line"/>
          <p:cNvSpPr/>
          <p:nvPr/>
        </p:nvSpPr>
        <p:spPr>
          <a:xfrm rot="14823033">
            <a:off x="1594539" y="2352245"/>
            <a:ext cx="1577155" cy="1302825"/>
          </a:xfrm>
          <a:custGeom>
            <a:avLst/>
            <a:gdLst/>
            <a:ahLst/>
            <a:cxnLst>
              <a:cxn ang="0">
                <a:pos x="wd2" y="hd2"/>
              </a:cxn>
              <a:cxn ang="5400000">
                <a:pos x="wd2" y="hd2"/>
              </a:cxn>
              <a:cxn ang="10800000">
                <a:pos x="wd2" y="hd2"/>
              </a:cxn>
              <a:cxn ang="16200000">
                <a:pos x="wd2" y="hd2"/>
              </a:cxn>
            </a:cxnLst>
            <a:rect l="0" t="0" r="r" b="b"/>
            <a:pathLst>
              <a:path w="20209" h="20626" extrusionOk="0">
                <a:moveTo>
                  <a:pt x="0" y="5206"/>
                </a:moveTo>
                <a:cubicBezTo>
                  <a:pt x="0" y="5206"/>
                  <a:pt x="4430" y="-680"/>
                  <a:pt x="10761" y="65"/>
                </a:cubicBezTo>
                <a:cubicBezTo>
                  <a:pt x="15897" y="669"/>
                  <a:pt x="18042" y="3367"/>
                  <a:pt x="19888" y="8309"/>
                </a:cubicBezTo>
                <a:cubicBezTo>
                  <a:pt x="21600" y="12891"/>
                  <a:pt x="16142" y="20920"/>
                  <a:pt x="11249" y="20618"/>
                </a:cubicBezTo>
                <a:cubicBezTo>
                  <a:pt x="7346" y="20377"/>
                  <a:pt x="1467" y="15481"/>
                  <a:pt x="1467" y="15481"/>
                </a:cubicBezTo>
              </a:path>
            </a:pathLst>
          </a:custGeom>
          <a:ln w="50800">
            <a:solidFill>
              <a:srgbClr val="424242"/>
            </a:solidFill>
            <a:miter lim="400000"/>
            <a:tailEnd type="stealth"/>
          </a:ln>
        </p:spPr>
        <p:txBody>
          <a:bodyPr lIns="50800" tIns="50800" rIns="50800" bIns="50800" anchor="ctr"/>
          <a:lstStyle/>
          <a:p>
            <a:endParaRPr/>
          </a:p>
        </p:txBody>
      </p:sp>
      <p:sp>
        <p:nvSpPr>
          <p:cNvPr id="867" name="timeout"/>
          <p:cNvSpPr/>
          <p:nvPr/>
        </p:nvSpPr>
        <p:spPr>
          <a:xfrm>
            <a:off x="1041400" y="6896100"/>
            <a:ext cx="33274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timeout</a:t>
            </a:r>
          </a:p>
        </p:txBody>
      </p:sp>
      <p:sp>
        <p:nvSpPr>
          <p:cNvPr id="868" name="window = MSS"/>
          <p:cNvSpPr/>
          <p:nvPr/>
        </p:nvSpPr>
        <p:spPr>
          <a:xfrm>
            <a:off x="1054100" y="7950200"/>
            <a:ext cx="37973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window = MSS</a:t>
            </a:r>
          </a:p>
        </p:txBody>
      </p:sp>
      <p:sp>
        <p:nvSpPr>
          <p:cNvPr id="869" name="Line"/>
          <p:cNvSpPr/>
          <p:nvPr/>
        </p:nvSpPr>
        <p:spPr>
          <a:xfrm flipV="1">
            <a:off x="1041393" y="7604518"/>
            <a:ext cx="3329969" cy="2"/>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870" name="Line"/>
          <p:cNvSpPr/>
          <p:nvPr/>
        </p:nvSpPr>
        <p:spPr>
          <a:xfrm rot="8498417">
            <a:off x="1147456" y="5624646"/>
            <a:ext cx="1577155" cy="1302825"/>
          </a:xfrm>
          <a:custGeom>
            <a:avLst/>
            <a:gdLst/>
            <a:ahLst/>
            <a:cxnLst>
              <a:cxn ang="0">
                <a:pos x="wd2" y="hd2"/>
              </a:cxn>
              <a:cxn ang="5400000">
                <a:pos x="wd2" y="hd2"/>
              </a:cxn>
              <a:cxn ang="10800000">
                <a:pos x="wd2" y="hd2"/>
              </a:cxn>
              <a:cxn ang="16200000">
                <a:pos x="wd2" y="hd2"/>
              </a:cxn>
            </a:cxnLst>
            <a:rect l="0" t="0" r="r" b="b"/>
            <a:pathLst>
              <a:path w="20209" h="20626" extrusionOk="0">
                <a:moveTo>
                  <a:pt x="0" y="5206"/>
                </a:moveTo>
                <a:cubicBezTo>
                  <a:pt x="0" y="5206"/>
                  <a:pt x="4430" y="-680"/>
                  <a:pt x="10761" y="65"/>
                </a:cubicBezTo>
                <a:cubicBezTo>
                  <a:pt x="15897" y="669"/>
                  <a:pt x="18042" y="3367"/>
                  <a:pt x="19888" y="8309"/>
                </a:cubicBezTo>
                <a:cubicBezTo>
                  <a:pt x="21600" y="12891"/>
                  <a:pt x="16142" y="20920"/>
                  <a:pt x="11249" y="20618"/>
                </a:cubicBezTo>
                <a:cubicBezTo>
                  <a:pt x="7346" y="20377"/>
                  <a:pt x="1467" y="15481"/>
                  <a:pt x="1467" y="15481"/>
                </a:cubicBezTo>
              </a:path>
            </a:pathLst>
          </a:custGeom>
          <a:ln w="50800">
            <a:solidFill>
              <a:srgbClr val="424242"/>
            </a:solidFill>
            <a:miter lim="400000"/>
            <a:tailEnd type="stealth"/>
          </a:ln>
        </p:spPr>
        <p:txBody>
          <a:bodyPr lIns="50800" tIns="50800" rIns="50800" bIns="50800" anchor="ctr"/>
          <a:lstStyle/>
          <a:p>
            <a:endParaRPr/>
          </a:p>
        </p:txBody>
      </p:sp>
      <p:sp>
        <p:nvSpPr>
          <p:cNvPr id="871" name="window &gt;= ssthresh"/>
          <p:cNvSpPr/>
          <p:nvPr/>
        </p:nvSpPr>
        <p:spPr>
          <a:xfrm>
            <a:off x="4902200" y="2730500"/>
            <a:ext cx="3722145"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window &gt;= ssthresh</a:t>
            </a:r>
          </a:p>
        </p:txBody>
      </p:sp>
      <p:sp>
        <p:nvSpPr>
          <p:cNvPr id="872" name="new ACK"/>
          <p:cNvSpPr/>
          <p:nvPr/>
        </p:nvSpPr>
        <p:spPr>
          <a:xfrm>
            <a:off x="6375400" y="977900"/>
            <a:ext cx="33274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new ACK</a:t>
            </a:r>
          </a:p>
        </p:txBody>
      </p:sp>
      <p:sp>
        <p:nvSpPr>
          <p:cNvPr id="873" name="window = window + MSS*MSS/window"/>
          <p:cNvSpPr/>
          <p:nvPr/>
        </p:nvSpPr>
        <p:spPr>
          <a:xfrm>
            <a:off x="6375400" y="1587500"/>
            <a:ext cx="6551128"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window = window + MSS*MSS/window</a:t>
            </a:r>
          </a:p>
        </p:txBody>
      </p:sp>
      <p:sp>
        <p:nvSpPr>
          <p:cNvPr id="874" name="Line"/>
          <p:cNvSpPr/>
          <p:nvPr/>
        </p:nvSpPr>
        <p:spPr>
          <a:xfrm>
            <a:off x="6375399" y="1692605"/>
            <a:ext cx="6050491" cy="1716"/>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875" name="timeout"/>
          <p:cNvSpPr/>
          <p:nvPr/>
        </p:nvSpPr>
        <p:spPr>
          <a:xfrm>
            <a:off x="5029200" y="5930900"/>
            <a:ext cx="33274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timeout</a:t>
            </a:r>
          </a:p>
        </p:txBody>
      </p:sp>
      <p:sp>
        <p:nvSpPr>
          <p:cNvPr id="876" name="ssthresh = window/2"/>
          <p:cNvSpPr/>
          <p:nvPr/>
        </p:nvSpPr>
        <p:spPr>
          <a:xfrm>
            <a:off x="5029200" y="6578600"/>
            <a:ext cx="37973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ssthresh = window/2</a:t>
            </a:r>
          </a:p>
        </p:txBody>
      </p:sp>
      <p:sp>
        <p:nvSpPr>
          <p:cNvPr id="877" name="window = MSS"/>
          <p:cNvSpPr/>
          <p:nvPr/>
        </p:nvSpPr>
        <p:spPr>
          <a:xfrm>
            <a:off x="5029200" y="7023100"/>
            <a:ext cx="37973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window = MSS</a:t>
            </a:r>
          </a:p>
        </p:txBody>
      </p:sp>
      <p:sp>
        <p:nvSpPr>
          <p:cNvPr id="878" name="Line"/>
          <p:cNvSpPr/>
          <p:nvPr/>
        </p:nvSpPr>
        <p:spPr>
          <a:xfrm>
            <a:off x="5029200" y="6626928"/>
            <a:ext cx="3071382" cy="2"/>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879" name="retransmit"/>
          <p:cNvSpPr/>
          <p:nvPr/>
        </p:nvSpPr>
        <p:spPr>
          <a:xfrm>
            <a:off x="1054100" y="8420100"/>
            <a:ext cx="20955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retransmit</a:t>
            </a:r>
          </a:p>
        </p:txBody>
      </p:sp>
      <p:sp>
        <p:nvSpPr>
          <p:cNvPr id="880" name="retransmit"/>
          <p:cNvSpPr/>
          <p:nvPr/>
        </p:nvSpPr>
        <p:spPr>
          <a:xfrm>
            <a:off x="5029200" y="7505700"/>
            <a:ext cx="2095500" cy="685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800">
                <a:solidFill>
                  <a:srgbClr val="0433FF"/>
                </a:solidFill>
                <a:latin typeface="+mn-lt"/>
                <a:ea typeface="+mn-ea"/>
                <a:cs typeface="+mn-cs"/>
                <a:sym typeface="Chalkboard SE Regular"/>
              </a:defRPr>
            </a:lvl1pPr>
          </a:lstStyle>
          <a:p>
            <a:r>
              <a:t>retransmit</a:t>
            </a:r>
          </a:p>
        </p:txBody>
      </p:sp>
      <p:sp>
        <p:nvSpPr>
          <p:cNvPr id="881"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43</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8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8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8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8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8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8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8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87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87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p:tmAbs val="0"/>
                                  </p:iterate>
                                  <p:childTnLst>
                                    <p:set>
                                      <p:cBhvr>
                                        <p:cTn id="50" fill="hold"/>
                                        <p:tgtEl>
                                          <p:spTgt spid="87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p:tmAbs val="0"/>
                                  </p:iterate>
                                  <p:childTnLst>
                                    <p:set>
                                      <p:cBhvr>
                                        <p:cTn id="54" fill="hold"/>
                                        <p:tgtEl>
                                          <p:spTgt spid="8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p:tmAbs val="0"/>
                                  </p:iterate>
                                  <p:childTnLst>
                                    <p:set>
                                      <p:cBhvr>
                                        <p:cTn id="58" fill="hold"/>
                                        <p:tgtEl>
                                          <p:spTgt spid="8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p:tmAbs val="0"/>
                                  </p:iterate>
                                  <p:childTnLst>
                                    <p:set>
                                      <p:cBhvr>
                                        <p:cTn id="62" fill="hold"/>
                                        <p:tgtEl>
                                          <p:spTgt spid="87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p:tmAbs val="0"/>
                                  </p:iterate>
                                  <p:childTnLst>
                                    <p:set>
                                      <p:cBhvr>
                                        <p:cTn id="66" fill="hold"/>
                                        <p:tgtEl>
                                          <p:spTgt spid="87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p:tmAbs val="0"/>
                                  </p:iterate>
                                  <p:childTnLst>
                                    <p:set>
                                      <p:cBhvr>
                                        <p:cTn id="70" fill="hold"/>
                                        <p:tgtEl>
                                          <p:spTgt spid="87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p:tmAbs val="0"/>
                                  </p:iterate>
                                  <p:childTnLst>
                                    <p:set>
                                      <p:cBhvr>
                                        <p:cTn id="74" fill="hold"/>
                                        <p:tgtEl>
                                          <p:spTgt spid="86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p:tmAbs val="0"/>
                                  </p:iterate>
                                  <p:childTnLst>
                                    <p:set>
                                      <p:cBhvr>
                                        <p:cTn id="78" fill="hold"/>
                                        <p:tgtEl>
                                          <p:spTgt spid="87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p:tmAbs val="0"/>
                                  </p:iterate>
                                  <p:childTnLst>
                                    <p:set>
                                      <p:cBhvr>
                                        <p:cTn id="82" fill="hold"/>
                                        <p:tgtEl>
                                          <p:spTgt spid="87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p:tmAbs val="0"/>
                                  </p:iterate>
                                  <p:childTnLst>
                                    <p:set>
                                      <p:cBhvr>
                                        <p:cTn id="86" fill="hold"/>
                                        <p:tgtEl>
                                          <p:spTgt spid="87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p:tmAbs val="0"/>
                                  </p:iterate>
                                  <p:childTnLst>
                                    <p:set>
                                      <p:cBhvr>
                                        <p:cTn id="90" fill="hold"/>
                                        <p:tgtEl>
                                          <p:spTgt spid="87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p:tmAbs val="0"/>
                                  </p:iterate>
                                  <p:childTnLst>
                                    <p:set>
                                      <p:cBhvr>
                                        <p:cTn id="94" fill="hold"/>
                                        <p:tgtEl>
                                          <p:spTgt spid="88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p:tmAbs val="0"/>
                                  </p:iterate>
                                  <p:childTnLst>
                                    <p:set>
                                      <p:cBhvr>
                                        <p:cTn id="98" fill="hold"/>
                                        <p:tgtEl>
                                          <p:spTgt spid="8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 grpId="0" animBg="1" advAuto="0"/>
      <p:bldP spid="858" grpId="0" animBg="1" advAuto="0"/>
      <p:bldP spid="859" grpId="0" animBg="1" advAuto="0"/>
      <p:bldP spid="860" grpId="0" animBg="1" advAuto="0"/>
      <p:bldP spid="861" grpId="0" animBg="1" advAuto="0"/>
      <p:bldP spid="862" grpId="0" animBg="1" advAuto="0"/>
      <p:bldP spid="863" grpId="0" animBg="1" advAuto="0"/>
      <p:bldP spid="864" grpId="0" animBg="1" advAuto="0"/>
      <p:bldP spid="865" grpId="0" animBg="1" advAuto="0"/>
      <p:bldP spid="866" grpId="0" animBg="1" advAuto="0"/>
      <p:bldP spid="867" grpId="0" animBg="1" advAuto="0"/>
      <p:bldP spid="868" grpId="0" animBg="1" advAuto="0"/>
      <p:bldP spid="869" grpId="0" animBg="1" advAuto="0"/>
      <p:bldP spid="870" grpId="0" animBg="1" advAuto="0"/>
      <p:bldP spid="871" grpId="0" animBg="1" advAuto="0"/>
      <p:bldP spid="872" grpId="0" animBg="1" advAuto="0"/>
      <p:bldP spid="873" grpId="0" animBg="1" advAuto="0"/>
      <p:bldP spid="874" grpId="0" animBg="1" advAuto="0"/>
      <p:bldP spid="875" grpId="0" animBg="1" advAuto="0"/>
      <p:bldP spid="876" grpId="0" animBg="1" advAuto="0"/>
      <p:bldP spid="877" grpId="0" animBg="1" advAuto="0"/>
      <p:bldP spid="878" grpId="0" animBg="1" advAuto="0"/>
      <p:bldP spid="879" grpId="0" animBg="1" advAuto="0"/>
      <p:bldP spid="880" grpId="0" animBg="1" advAuto="0"/>
    </p:bldLst>
  </p:timing>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85" name="ssthresh = window/2"/>
          <p:cNvSpPr/>
          <p:nvPr/>
        </p:nvSpPr>
        <p:spPr>
          <a:xfrm>
            <a:off x="1869152" y="7596858"/>
            <a:ext cx="3203083" cy="537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ssthresh = window/2</a:t>
            </a:r>
          </a:p>
        </p:txBody>
      </p:sp>
      <p:grpSp>
        <p:nvGrpSpPr>
          <p:cNvPr id="908" name="Group"/>
          <p:cNvGrpSpPr/>
          <p:nvPr/>
        </p:nvGrpSpPr>
        <p:grpSpPr>
          <a:xfrm>
            <a:off x="340653" y="914399"/>
            <a:ext cx="10214432" cy="6042862"/>
            <a:chOff x="0" y="0"/>
            <a:chExt cx="10214431" cy="6042860"/>
          </a:xfrm>
        </p:grpSpPr>
        <p:sp>
          <p:nvSpPr>
            <p:cNvPr id="886" name="Line"/>
            <p:cNvSpPr/>
            <p:nvPr/>
          </p:nvSpPr>
          <p:spPr>
            <a:xfrm>
              <a:off x="3736084" y="4148485"/>
              <a:ext cx="2408003" cy="2"/>
            </a:xfrm>
            <a:prstGeom prst="line">
              <a:avLst/>
            </a:prstGeom>
            <a:noFill/>
            <a:ln w="38100" cap="flat">
              <a:solidFill>
                <a:srgbClr val="424242"/>
              </a:solidFill>
              <a:custDash>
                <a:ds d="200000" sp="200000"/>
              </a:custDash>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87" name="ssthresh = window/2"/>
            <p:cNvSpPr/>
            <p:nvPr/>
          </p:nvSpPr>
          <p:spPr>
            <a:xfrm>
              <a:off x="9962" y="5116854"/>
              <a:ext cx="3251265" cy="5376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ssthresh = window/2</a:t>
              </a:r>
            </a:p>
          </p:txBody>
        </p:sp>
        <p:sp>
          <p:nvSpPr>
            <p:cNvPr id="888" name="new ACK"/>
            <p:cNvSpPr/>
            <p:nvPr/>
          </p:nvSpPr>
          <p:spPr>
            <a:xfrm>
              <a:off x="872244" y="0"/>
              <a:ext cx="2608724" cy="5376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new ACK</a:t>
              </a:r>
            </a:p>
          </p:txBody>
        </p:sp>
        <p:sp>
          <p:nvSpPr>
            <p:cNvPr id="889" name="window = window + MSS"/>
            <p:cNvSpPr/>
            <p:nvPr/>
          </p:nvSpPr>
          <p:spPr>
            <a:xfrm>
              <a:off x="872244" y="480071"/>
              <a:ext cx="3658427" cy="53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window = window + MSS</a:t>
              </a:r>
            </a:p>
          </p:txBody>
        </p:sp>
        <p:sp>
          <p:nvSpPr>
            <p:cNvPr id="890" name="exponential increase"/>
            <p:cNvSpPr/>
            <p:nvPr/>
          </p:nvSpPr>
          <p:spPr>
            <a:xfrm>
              <a:off x="1449750" y="1977104"/>
              <a:ext cx="2139447" cy="2139444"/>
            </a:xfrm>
            <a:prstGeom prst="ellipse">
              <a:avLst/>
            </a:prstGeom>
            <a:noFill/>
            <a:ln w="50800" cap="flat">
              <a:solidFill>
                <a:srgbClr val="424242"/>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defRPr sz="2600">
                  <a:solidFill>
                    <a:srgbClr val="424242"/>
                  </a:solidFill>
                  <a:latin typeface="+mn-lt"/>
                  <a:ea typeface="+mn-ea"/>
                  <a:cs typeface="+mn-cs"/>
                  <a:sym typeface="Chalkboard SE Regular"/>
                </a:defRPr>
              </a:lvl1pPr>
            </a:lstStyle>
            <a:p>
              <a:r>
                <a:t>exponential increase</a:t>
              </a:r>
            </a:p>
          </p:txBody>
        </p:sp>
        <p:sp>
          <p:nvSpPr>
            <p:cNvPr id="891" name="Line"/>
            <p:cNvSpPr/>
            <p:nvPr/>
          </p:nvSpPr>
          <p:spPr>
            <a:xfrm>
              <a:off x="3477329" y="1962641"/>
              <a:ext cx="3076789" cy="529046"/>
            </a:xfrm>
            <a:custGeom>
              <a:avLst/>
              <a:gdLst/>
              <a:ahLst/>
              <a:cxnLst>
                <a:cxn ang="0">
                  <a:pos x="wd2" y="hd2"/>
                </a:cxn>
                <a:cxn ang="5400000">
                  <a:pos x="wd2" y="hd2"/>
                </a:cxn>
                <a:cxn ang="10800000">
                  <a:pos x="wd2" y="hd2"/>
                </a:cxn>
                <a:cxn ang="16200000">
                  <a:pos x="wd2" y="hd2"/>
                </a:cxn>
              </a:cxnLst>
              <a:rect l="0" t="0" r="r" b="b"/>
              <a:pathLst>
                <a:path w="21600" h="18077" extrusionOk="0">
                  <a:moveTo>
                    <a:pt x="0" y="18077"/>
                  </a:moveTo>
                  <a:cubicBezTo>
                    <a:pt x="0" y="18077"/>
                    <a:pt x="3075" y="3570"/>
                    <a:pt x="7295" y="502"/>
                  </a:cubicBezTo>
                  <a:cubicBezTo>
                    <a:pt x="12832" y="-3523"/>
                    <a:pt x="21600" y="17993"/>
                    <a:pt x="21600" y="17993"/>
                  </a:cubicBezTo>
                </a:path>
              </a:pathLst>
            </a:custGeom>
            <a:noFill/>
            <a:ln w="50800" cap="flat">
              <a:solidFill>
                <a:srgbClr val="424242"/>
              </a:solidFill>
              <a:prstDash val="solid"/>
              <a:miter lim="400000"/>
              <a:tailEnd type="stealth" w="med" len="med"/>
            </a:ln>
            <a:effectLst/>
          </p:spPr>
          <p:txBody>
            <a:bodyPr wrap="square" lIns="50800" tIns="50800" rIns="50800" bIns="50800" numCol="1" anchor="ctr">
              <a:noAutofit/>
            </a:bodyPr>
            <a:lstStyle/>
            <a:p>
              <a:endParaRPr/>
            </a:p>
          </p:txBody>
        </p:sp>
        <p:sp>
          <p:nvSpPr>
            <p:cNvPr id="892" name="Line"/>
            <p:cNvSpPr/>
            <p:nvPr/>
          </p:nvSpPr>
          <p:spPr>
            <a:xfrm>
              <a:off x="872237" y="556397"/>
              <a:ext cx="2993243" cy="1"/>
            </a:xfrm>
            <a:prstGeom prst="line">
              <a:avLst/>
            </a:prstGeom>
            <a:noFill/>
            <a:ln w="38100" cap="flat">
              <a:solidFill>
                <a:srgbClr val="424242"/>
              </a:solidFill>
              <a:custDash>
                <a:ds d="200000" sp="200000"/>
              </a:custDash>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93" name="Line"/>
            <p:cNvSpPr/>
            <p:nvPr/>
          </p:nvSpPr>
          <p:spPr>
            <a:xfrm rot="17917344">
              <a:off x="7376064" y="1172407"/>
              <a:ext cx="1236505" cy="1021429"/>
            </a:xfrm>
            <a:custGeom>
              <a:avLst/>
              <a:gdLst/>
              <a:ahLst/>
              <a:cxnLst>
                <a:cxn ang="0">
                  <a:pos x="wd2" y="hd2"/>
                </a:cxn>
                <a:cxn ang="5400000">
                  <a:pos x="wd2" y="hd2"/>
                </a:cxn>
                <a:cxn ang="10800000">
                  <a:pos x="wd2" y="hd2"/>
                </a:cxn>
                <a:cxn ang="16200000">
                  <a:pos x="wd2" y="hd2"/>
                </a:cxn>
              </a:cxnLst>
              <a:rect l="0" t="0" r="r" b="b"/>
              <a:pathLst>
                <a:path w="20209" h="20626" extrusionOk="0">
                  <a:moveTo>
                    <a:pt x="0" y="5206"/>
                  </a:moveTo>
                  <a:cubicBezTo>
                    <a:pt x="0" y="5206"/>
                    <a:pt x="4430" y="-680"/>
                    <a:pt x="10760" y="65"/>
                  </a:cubicBezTo>
                  <a:cubicBezTo>
                    <a:pt x="15897" y="669"/>
                    <a:pt x="18042" y="3367"/>
                    <a:pt x="19888" y="8309"/>
                  </a:cubicBezTo>
                  <a:cubicBezTo>
                    <a:pt x="21600" y="12892"/>
                    <a:pt x="16142" y="20920"/>
                    <a:pt x="11249" y="20618"/>
                  </a:cubicBezTo>
                  <a:cubicBezTo>
                    <a:pt x="7346" y="20377"/>
                    <a:pt x="1467" y="15481"/>
                    <a:pt x="1467" y="15481"/>
                  </a:cubicBezTo>
                </a:path>
              </a:pathLst>
            </a:custGeom>
            <a:noFill/>
            <a:ln w="50800" cap="flat">
              <a:solidFill>
                <a:srgbClr val="424242"/>
              </a:solidFill>
              <a:prstDash val="solid"/>
              <a:miter lim="400000"/>
              <a:tailEnd type="stealth" w="med" len="med"/>
            </a:ln>
            <a:effectLst/>
          </p:spPr>
          <p:txBody>
            <a:bodyPr wrap="square" lIns="50800" tIns="50800" rIns="50800" bIns="50800" numCol="1" anchor="ctr">
              <a:noAutofit/>
            </a:bodyPr>
            <a:lstStyle/>
            <a:p>
              <a:endParaRPr/>
            </a:p>
          </p:txBody>
        </p:sp>
        <p:sp>
          <p:nvSpPr>
            <p:cNvPr id="894" name="Line"/>
            <p:cNvSpPr/>
            <p:nvPr/>
          </p:nvSpPr>
          <p:spPr>
            <a:xfrm rot="10800000" flipH="1">
              <a:off x="3431320" y="3576854"/>
              <a:ext cx="3076693" cy="458021"/>
            </a:xfrm>
            <a:custGeom>
              <a:avLst/>
              <a:gdLst/>
              <a:ahLst/>
              <a:cxnLst>
                <a:cxn ang="0">
                  <a:pos x="wd2" y="hd2"/>
                </a:cxn>
                <a:cxn ang="5400000">
                  <a:pos x="wd2" y="hd2"/>
                </a:cxn>
                <a:cxn ang="10800000">
                  <a:pos x="wd2" y="hd2"/>
                </a:cxn>
                <a:cxn ang="16200000">
                  <a:pos x="wd2" y="hd2"/>
                </a:cxn>
              </a:cxnLst>
              <a:rect l="0" t="0" r="r" b="b"/>
              <a:pathLst>
                <a:path w="21600" h="19344" extrusionOk="0">
                  <a:moveTo>
                    <a:pt x="0" y="19344"/>
                  </a:moveTo>
                  <a:cubicBezTo>
                    <a:pt x="0" y="19344"/>
                    <a:pt x="10863" y="-2256"/>
                    <a:pt x="15143" y="194"/>
                  </a:cubicBezTo>
                  <a:cubicBezTo>
                    <a:pt x="18595" y="2169"/>
                    <a:pt x="21600" y="12683"/>
                    <a:pt x="21600" y="12683"/>
                  </a:cubicBezTo>
                </a:path>
              </a:pathLst>
            </a:custGeom>
            <a:noFill/>
            <a:ln w="50800" cap="flat">
              <a:solidFill>
                <a:srgbClr val="424242"/>
              </a:solidFill>
              <a:prstDash val="solid"/>
              <a:miter lim="400000"/>
              <a:headEnd type="stealth" w="med" len="med"/>
            </a:ln>
            <a:effectLst/>
          </p:spPr>
          <p:txBody>
            <a:bodyPr wrap="square" lIns="50800" tIns="50800" rIns="50800" bIns="50800" numCol="1" anchor="ctr">
              <a:noAutofit/>
            </a:bodyPr>
            <a:lstStyle/>
            <a:p>
              <a:endParaRPr/>
            </a:p>
          </p:txBody>
        </p:sp>
        <p:sp>
          <p:nvSpPr>
            <p:cNvPr id="895" name="linear increase"/>
            <p:cNvSpPr/>
            <p:nvPr/>
          </p:nvSpPr>
          <p:spPr>
            <a:xfrm>
              <a:off x="6308737" y="2090960"/>
              <a:ext cx="2110884" cy="2110881"/>
            </a:xfrm>
            <a:prstGeom prst="ellipse">
              <a:avLst/>
            </a:prstGeom>
            <a:noFill/>
            <a:ln w="50800" cap="flat">
              <a:solidFill>
                <a:srgbClr val="424242"/>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defRPr sz="2800">
                  <a:solidFill>
                    <a:srgbClr val="424242"/>
                  </a:solidFill>
                  <a:latin typeface="+mn-lt"/>
                  <a:ea typeface="+mn-ea"/>
                  <a:cs typeface="+mn-cs"/>
                  <a:sym typeface="Chalkboard SE Regular"/>
                </a:defRPr>
              </a:lvl1pPr>
            </a:lstStyle>
            <a:p>
              <a:r>
                <a:t>linear increase</a:t>
              </a:r>
            </a:p>
          </p:txBody>
        </p:sp>
        <p:sp>
          <p:nvSpPr>
            <p:cNvPr id="896" name="Line"/>
            <p:cNvSpPr/>
            <p:nvPr/>
          </p:nvSpPr>
          <p:spPr>
            <a:xfrm rot="14823033">
              <a:off x="1106776" y="1127280"/>
              <a:ext cx="1236511" cy="1021433"/>
            </a:xfrm>
            <a:custGeom>
              <a:avLst/>
              <a:gdLst/>
              <a:ahLst/>
              <a:cxnLst>
                <a:cxn ang="0">
                  <a:pos x="wd2" y="hd2"/>
                </a:cxn>
                <a:cxn ang="5400000">
                  <a:pos x="wd2" y="hd2"/>
                </a:cxn>
                <a:cxn ang="10800000">
                  <a:pos x="wd2" y="hd2"/>
                </a:cxn>
                <a:cxn ang="16200000">
                  <a:pos x="wd2" y="hd2"/>
                </a:cxn>
              </a:cxnLst>
              <a:rect l="0" t="0" r="r" b="b"/>
              <a:pathLst>
                <a:path w="20209" h="20626" extrusionOk="0">
                  <a:moveTo>
                    <a:pt x="0" y="5206"/>
                  </a:moveTo>
                  <a:cubicBezTo>
                    <a:pt x="0" y="5206"/>
                    <a:pt x="4430" y="-680"/>
                    <a:pt x="10761" y="65"/>
                  </a:cubicBezTo>
                  <a:cubicBezTo>
                    <a:pt x="15897" y="669"/>
                    <a:pt x="18042" y="3367"/>
                    <a:pt x="19888" y="8309"/>
                  </a:cubicBezTo>
                  <a:cubicBezTo>
                    <a:pt x="21600" y="12892"/>
                    <a:pt x="16142" y="20920"/>
                    <a:pt x="11249" y="20618"/>
                  </a:cubicBezTo>
                  <a:cubicBezTo>
                    <a:pt x="7346" y="20377"/>
                    <a:pt x="1467" y="15481"/>
                    <a:pt x="1467" y="15481"/>
                  </a:cubicBezTo>
                </a:path>
              </a:pathLst>
            </a:custGeom>
            <a:noFill/>
            <a:ln w="50800" cap="flat">
              <a:solidFill>
                <a:srgbClr val="424242"/>
              </a:solidFill>
              <a:prstDash val="solid"/>
              <a:miter lim="400000"/>
              <a:tailEnd type="stealth" w="med" len="med"/>
            </a:ln>
            <a:effectLst/>
          </p:spPr>
          <p:txBody>
            <a:bodyPr wrap="square" lIns="50800" tIns="50800" rIns="50800" bIns="50800" numCol="1" anchor="ctr">
              <a:noAutofit/>
            </a:bodyPr>
            <a:lstStyle/>
            <a:p>
              <a:endParaRPr/>
            </a:p>
          </p:txBody>
        </p:sp>
        <p:sp>
          <p:nvSpPr>
            <p:cNvPr id="897" name="timeout"/>
            <p:cNvSpPr/>
            <p:nvPr/>
          </p:nvSpPr>
          <p:spPr>
            <a:xfrm>
              <a:off x="5" y="4638919"/>
              <a:ext cx="2608724" cy="5376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timeout</a:t>
              </a:r>
            </a:p>
          </p:txBody>
        </p:sp>
        <p:sp>
          <p:nvSpPr>
            <p:cNvPr id="898" name="window = MSS"/>
            <p:cNvSpPr/>
            <p:nvPr/>
          </p:nvSpPr>
          <p:spPr>
            <a:xfrm>
              <a:off x="9962" y="5505184"/>
              <a:ext cx="2977132" cy="5376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window = MSS</a:t>
              </a:r>
            </a:p>
          </p:txBody>
        </p:sp>
        <p:sp>
          <p:nvSpPr>
            <p:cNvPr id="899" name="Line"/>
            <p:cNvSpPr/>
            <p:nvPr/>
          </p:nvSpPr>
          <p:spPr>
            <a:xfrm flipV="1">
              <a:off x="0" y="5194328"/>
              <a:ext cx="2610726" cy="2"/>
            </a:xfrm>
            <a:prstGeom prst="line">
              <a:avLst/>
            </a:prstGeom>
            <a:noFill/>
            <a:ln w="38100" cap="flat">
              <a:solidFill>
                <a:srgbClr val="424242"/>
              </a:solidFill>
              <a:custDash>
                <a:ds d="200000" sp="200000"/>
              </a:custDash>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900" name="Line"/>
            <p:cNvSpPr/>
            <p:nvPr/>
          </p:nvSpPr>
          <p:spPr>
            <a:xfrm rot="8498417">
              <a:off x="756259" y="3692892"/>
              <a:ext cx="1236515" cy="1021434"/>
            </a:xfrm>
            <a:custGeom>
              <a:avLst/>
              <a:gdLst/>
              <a:ahLst/>
              <a:cxnLst>
                <a:cxn ang="0">
                  <a:pos x="wd2" y="hd2"/>
                </a:cxn>
                <a:cxn ang="5400000">
                  <a:pos x="wd2" y="hd2"/>
                </a:cxn>
                <a:cxn ang="10800000">
                  <a:pos x="wd2" y="hd2"/>
                </a:cxn>
                <a:cxn ang="16200000">
                  <a:pos x="wd2" y="hd2"/>
                </a:cxn>
              </a:cxnLst>
              <a:rect l="0" t="0" r="r" b="b"/>
              <a:pathLst>
                <a:path w="20209" h="20626" extrusionOk="0">
                  <a:moveTo>
                    <a:pt x="0" y="5206"/>
                  </a:moveTo>
                  <a:cubicBezTo>
                    <a:pt x="0" y="5206"/>
                    <a:pt x="4430" y="-680"/>
                    <a:pt x="10761" y="65"/>
                  </a:cubicBezTo>
                  <a:cubicBezTo>
                    <a:pt x="15897" y="669"/>
                    <a:pt x="18042" y="3367"/>
                    <a:pt x="19888" y="8309"/>
                  </a:cubicBezTo>
                  <a:cubicBezTo>
                    <a:pt x="21600" y="12892"/>
                    <a:pt x="16142" y="20920"/>
                    <a:pt x="11249" y="20618"/>
                  </a:cubicBezTo>
                  <a:cubicBezTo>
                    <a:pt x="7346" y="20377"/>
                    <a:pt x="1467" y="15481"/>
                    <a:pt x="1467" y="15481"/>
                  </a:cubicBezTo>
                </a:path>
              </a:pathLst>
            </a:custGeom>
            <a:noFill/>
            <a:ln w="50800" cap="flat">
              <a:solidFill>
                <a:srgbClr val="424242"/>
              </a:solidFill>
              <a:prstDash val="solid"/>
              <a:miter lim="400000"/>
              <a:tailEnd type="stealth" w="med" len="med"/>
            </a:ln>
            <a:effectLst/>
          </p:spPr>
          <p:txBody>
            <a:bodyPr wrap="square" lIns="50800" tIns="50800" rIns="50800" bIns="50800" numCol="1" anchor="ctr">
              <a:noAutofit/>
            </a:bodyPr>
            <a:lstStyle/>
            <a:p>
              <a:endParaRPr/>
            </a:p>
          </p:txBody>
        </p:sp>
        <p:sp>
          <p:nvSpPr>
            <p:cNvPr id="901" name="window &gt;= ssthresh"/>
            <p:cNvSpPr/>
            <p:nvPr/>
          </p:nvSpPr>
          <p:spPr>
            <a:xfrm>
              <a:off x="3719927" y="1416022"/>
              <a:ext cx="2997201" cy="53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window &gt;= ssthresh</a:t>
              </a:r>
            </a:p>
          </p:txBody>
        </p:sp>
        <p:sp>
          <p:nvSpPr>
            <p:cNvPr id="902" name="new ACK"/>
            <p:cNvSpPr/>
            <p:nvPr/>
          </p:nvSpPr>
          <p:spPr>
            <a:xfrm>
              <a:off x="4855031" y="49784"/>
              <a:ext cx="2608724" cy="5376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new ACK</a:t>
              </a:r>
            </a:p>
          </p:txBody>
        </p:sp>
        <p:sp>
          <p:nvSpPr>
            <p:cNvPr id="903" name="window = window + MSS * [factor&lt;1]"/>
            <p:cNvSpPr/>
            <p:nvPr/>
          </p:nvSpPr>
          <p:spPr>
            <a:xfrm>
              <a:off x="4855031" y="529856"/>
              <a:ext cx="5359401" cy="53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window = window + MSS * [factor&lt;1]</a:t>
              </a:r>
            </a:p>
          </p:txBody>
        </p:sp>
        <p:sp>
          <p:nvSpPr>
            <p:cNvPr id="904" name="Line"/>
            <p:cNvSpPr/>
            <p:nvPr/>
          </p:nvSpPr>
          <p:spPr>
            <a:xfrm>
              <a:off x="4855032" y="610121"/>
              <a:ext cx="4743663" cy="1346"/>
            </a:xfrm>
            <a:prstGeom prst="line">
              <a:avLst/>
            </a:prstGeom>
            <a:noFill/>
            <a:ln w="38100" cap="flat">
              <a:solidFill>
                <a:srgbClr val="424242"/>
              </a:solidFill>
              <a:custDash>
                <a:ds d="200000" sp="200000"/>
              </a:custDash>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905" name="timeout"/>
            <p:cNvSpPr/>
            <p:nvPr/>
          </p:nvSpPr>
          <p:spPr>
            <a:xfrm>
              <a:off x="3736090" y="3602799"/>
              <a:ext cx="2608724" cy="5376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timeout</a:t>
              </a:r>
            </a:p>
          </p:txBody>
        </p:sp>
        <p:sp>
          <p:nvSpPr>
            <p:cNvPr id="906" name="ssthresh = window/2"/>
            <p:cNvSpPr/>
            <p:nvPr/>
          </p:nvSpPr>
          <p:spPr>
            <a:xfrm>
              <a:off x="3736090" y="4110600"/>
              <a:ext cx="3275246" cy="5376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ssthresh = window/2</a:t>
              </a:r>
            </a:p>
          </p:txBody>
        </p:sp>
        <p:sp>
          <p:nvSpPr>
            <p:cNvPr id="907" name="window = MSS"/>
            <p:cNvSpPr/>
            <p:nvPr/>
          </p:nvSpPr>
          <p:spPr>
            <a:xfrm>
              <a:off x="3736090" y="4410020"/>
              <a:ext cx="2977131" cy="5376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0433FF"/>
                  </a:solidFill>
                  <a:latin typeface="+mn-lt"/>
                  <a:ea typeface="+mn-ea"/>
                  <a:cs typeface="+mn-cs"/>
                  <a:sym typeface="Chalkboard SE Regular"/>
                </a:defRPr>
              </a:lvl1pPr>
            </a:lstStyle>
            <a:p>
              <a:r>
                <a:t>window = MSS</a:t>
              </a:r>
            </a:p>
          </p:txBody>
        </p:sp>
      </p:grpSp>
      <p:sp>
        <p:nvSpPr>
          <p:cNvPr id="909" name="fast recovery"/>
          <p:cNvSpPr/>
          <p:nvPr/>
        </p:nvSpPr>
        <p:spPr>
          <a:xfrm>
            <a:off x="5930900" y="6769100"/>
            <a:ext cx="2110883" cy="2110880"/>
          </a:xfrm>
          <a:prstGeom prst="ellipse">
            <a:avLst/>
          </a:prstGeom>
          <a:ln w="50800">
            <a:solidFill>
              <a:srgbClr val="42424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2800">
                <a:solidFill>
                  <a:srgbClr val="424242"/>
                </a:solidFill>
                <a:latin typeface="+mn-lt"/>
                <a:ea typeface="+mn-ea"/>
                <a:cs typeface="+mn-cs"/>
                <a:sym typeface="Chalkboard SE Regular"/>
              </a:defRPr>
            </a:lvl1pPr>
          </a:lstStyle>
          <a:p>
            <a:r>
              <a:t>fast recovery</a:t>
            </a:r>
          </a:p>
        </p:txBody>
      </p:sp>
      <p:sp>
        <p:nvSpPr>
          <p:cNvPr id="910" name="Line"/>
          <p:cNvSpPr/>
          <p:nvPr/>
        </p:nvSpPr>
        <p:spPr>
          <a:xfrm rot="5492415">
            <a:off x="7145110" y="5571864"/>
            <a:ext cx="2601104" cy="812505"/>
          </a:xfrm>
          <a:custGeom>
            <a:avLst/>
            <a:gdLst/>
            <a:ahLst/>
            <a:cxnLst>
              <a:cxn ang="0">
                <a:pos x="wd2" y="hd2"/>
              </a:cxn>
              <a:cxn ang="5400000">
                <a:pos x="wd2" y="hd2"/>
              </a:cxn>
              <a:cxn ang="10800000">
                <a:pos x="wd2" y="hd2"/>
              </a:cxn>
              <a:cxn ang="16200000">
                <a:pos x="wd2" y="hd2"/>
              </a:cxn>
            </a:cxnLst>
            <a:rect l="0" t="0" r="r" b="b"/>
            <a:pathLst>
              <a:path w="21600" h="20933" extrusionOk="0">
                <a:moveTo>
                  <a:pt x="0" y="4757"/>
                </a:moveTo>
                <a:cubicBezTo>
                  <a:pt x="2898" y="2031"/>
                  <a:pt x="5896" y="453"/>
                  <a:pt x="8922" y="61"/>
                </a:cubicBezTo>
                <a:cubicBezTo>
                  <a:pt x="14547" y="-667"/>
                  <a:pt x="20433" y="5059"/>
                  <a:pt x="21600" y="20933"/>
                </a:cubicBezTo>
              </a:path>
            </a:pathLst>
          </a:custGeom>
          <a:ln w="50800">
            <a:solidFill>
              <a:srgbClr val="424242"/>
            </a:solidFill>
            <a:miter lim="400000"/>
            <a:tailEnd type="stealth"/>
          </a:ln>
        </p:spPr>
        <p:txBody>
          <a:bodyPr lIns="50800" tIns="50800" rIns="50800" bIns="50800" anchor="ctr"/>
          <a:lstStyle/>
          <a:p>
            <a:endParaRPr/>
          </a:p>
        </p:txBody>
      </p:sp>
      <p:sp>
        <p:nvSpPr>
          <p:cNvPr id="911" name="Line"/>
          <p:cNvSpPr/>
          <p:nvPr/>
        </p:nvSpPr>
        <p:spPr>
          <a:xfrm rot="12799968">
            <a:off x="2439937" y="6060721"/>
            <a:ext cx="3873501" cy="857616"/>
          </a:xfrm>
          <a:custGeom>
            <a:avLst/>
            <a:gdLst/>
            <a:ahLst/>
            <a:cxnLst>
              <a:cxn ang="0">
                <a:pos x="wd2" y="hd2"/>
              </a:cxn>
              <a:cxn ang="5400000">
                <a:pos x="wd2" y="hd2"/>
              </a:cxn>
              <a:cxn ang="10800000">
                <a:pos x="wd2" y="hd2"/>
              </a:cxn>
              <a:cxn ang="16200000">
                <a:pos x="wd2" y="hd2"/>
              </a:cxn>
            </a:cxnLst>
            <a:rect l="0" t="0" r="r" b="b"/>
            <a:pathLst>
              <a:path w="21600" h="19315" extrusionOk="0">
                <a:moveTo>
                  <a:pt x="0" y="6444"/>
                </a:moveTo>
                <a:cubicBezTo>
                  <a:pt x="0" y="6444"/>
                  <a:pt x="5789" y="-2285"/>
                  <a:pt x="10337" y="576"/>
                </a:cubicBezTo>
                <a:cubicBezTo>
                  <a:pt x="13727" y="2708"/>
                  <a:pt x="21600" y="19315"/>
                  <a:pt x="21600" y="19315"/>
                </a:cubicBezTo>
              </a:path>
            </a:pathLst>
          </a:custGeom>
          <a:ln w="50800">
            <a:solidFill>
              <a:srgbClr val="424242"/>
            </a:solidFill>
            <a:miter lim="400000"/>
            <a:headEnd type="stealth"/>
          </a:ln>
        </p:spPr>
        <p:txBody>
          <a:bodyPr lIns="50800" tIns="50800" rIns="50800" bIns="50800" anchor="ctr"/>
          <a:lstStyle/>
          <a:p>
            <a:endParaRPr/>
          </a:p>
        </p:txBody>
      </p:sp>
      <p:sp>
        <p:nvSpPr>
          <p:cNvPr id="912" name="Line"/>
          <p:cNvSpPr/>
          <p:nvPr/>
        </p:nvSpPr>
        <p:spPr>
          <a:xfrm rot="481210">
            <a:off x="7999038" y="7559615"/>
            <a:ext cx="1169964" cy="1092201"/>
          </a:xfrm>
          <a:custGeom>
            <a:avLst/>
            <a:gdLst/>
            <a:ahLst/>
            <a:cxnLst>
              <a:cxn ang="0">
                <a:pos x="wd2" y="hd2"/>
              </a:cxn>
              <a:cxn ang="5400000">
                <a:pos x="wd2" y="hd2"/>
              </a:cxn>
              <a:cxn ang="10800000">
                <a:pos x="wd2" y="hd2"/>
              </a:cxn>
              <a:cxn ang="16200000">
                <a:pos x="wd2" y="hd2"/>
              </a:cxn>
            </a:cxnLst>
            <a:rect l="0" t="0" r="r" b="b"/>
            <a:pathLst>
              <a:path w="20239" h="20626" extrusionOk="0">
                <a:moveTo>
                  <a:pt x="466" y="5206"/>
                </a:moveTo>
                <a:cubicBezTo>
                  <a:pt x="466" y="5206"/>
                  <a:pt x="4801" y="-680"/>
                  <a:pt x="10995" y="65"/>
                </a:cubicBezTo>
                <a:cubicBezTo>
                  <a:pt x="16020" y="669"/>
                  <a:pt x="18119" y="3367"/>
                  <a:pt x="19925" y="8309"/>
                </a:cubicBezTo>
                <a:cubicBezTo>
                  <a:pt x="21600" y="12891"/>
                  <a:pt x="16260" y="20920"/>
                  <a:pt x="11472" y="20618"/>
                </a:cubicBezTo>
                <a:cubicBezTo>
                  <a:pt x="7654" y="20377"/>
                  <a:pt x="0" y="15570"/>
                  <a:pt x="0" y="15570"/>
                </a:cubicBezTo>
              </a:path>
            </a:pathLst>
          </a:custGeom>
          <a:ln w="50800">
            <a:solidFill>
              <a:srgbClr val="424242"/>
            </a:solidFill>
            <a:miter lim="400000"/>
            <a:tailEnd type="stealth"/>
          </a:ln>
        </p:spPr>
        <p:txBody>
          <a:bodyPr lIns="50800" tIns="50800" rIns="50800" bIns="50800" anchor="ctr"/>
          <a:lstStyle/>
          <a:p>
            <a:endParaRPr/>
          </a:p>
        </p:txBody>
      </p:sp>
      <p:sp>
        <p:nvSpPr>
          <p:cNvPr id="913" name="3 duplicate ACKs"/>
          <p:cNvSpPr/>
          <p:nvPr/>
        </p:nvSpPr>
        <p:spPr>
          <a:xfrm>
            <a:off x="1932652" y="7114258"/>
            <a:ext cx="2608724" cy="537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3 duplicate ACKs</a:t>
            </a:r>
          </a:p>
        </p:txBody>
      </p:sp>
      <p:sp>
        <p:nvSpPr>
          <p:cNvPr id="914" name="window = threshold + 3 MSS"/>
          <p:cNvSpPr/>
          <p:nvPr/>
        </p:nvSpPr>
        <p:spPr>
          <a:xfrm>
            <a:off x="1874483" y="7979996"/>
            <a:ext cx="4156235"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window = threshold + 3 MSS</a:t>
            </a:r>
          </a:p>
        </p:txBody>
      </p:sp>
      <p:sp>
        <p:nvSpPr>
          <p:cNvPr id="915" name="Line"/>
          <p:cNvSpPr/>
          <p:nvPr/>
        </p:nvSpPr>
        <p:spPr>
          <a:xfrm flipV="1">
            <a:off x="1932652" y="7622301"/>
            <a:ext cx="2610726" cy="2"/>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16" name="ssthresh = window/2"/>
          <p:cNvSpPr/>
          <p:nvPr/>
        </p:nvSpPr>
        <p:spPr>
          <a:xfrm>
            <a:off x="8828775" y="4274077"/>
            <a:ext cx="3261172" cy="537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ssthresh = window/2</a:t>
            </a:r>
          </a:p>
        </p:txBody>
      </p:sp>
      <p:sp>
        <p:nvSpPr>
          <p:cNvPr id="917" name="3 duplicate ACKs"/>
          <p:cNvSpPr/>
          <p:nvPr/>
        </p:nvSpPr>
        <p:spPr>
          <a:xfrm>
            <a:off x="8892275" y="3791477"/>
            <a:ext cx="2608723" cy="537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3 duplicate ACKs</a:t>
            </a:r>
          </a:p>
        </p:txBody>
      </p:sp>
      <p:sp>
        <p:nvSpPr>
          <p:cNvPr id="918" name="window = ssthresh + 3 MSS"/>
          <p:cNvSpPr/>
          <p:nvPr/>
        </p:nvSpPr>
        <p:spPr>
          <a:xfrm>
            <a:off x="8828775" y="4655077"/>
            <a:ext cx="4361323"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window = ssthresh + 3 MSS</a:t>
            </a:r>
          </a:p>
        </p:txBody>
      </p:sp>
      <p:sp>
        <p:nvSpPr>
          <p:cNvPr id="919" name="Line"/>
          <p:cNvSpPr/>
          <p:nvPr/>
        </p:nvSpPr>
        <p:spPr>
          <a:xfrm flipV="1">
            <a:off x="8892275" y="4299519"/>
            <a:ext cx="2610726" cy="2"/>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20" name="window = window + MSS"/>
          <p:cNvSpPr/>
          <p:nvPr/>
        </p:nvSpPr>
        <p:spPr>
          <a:xfrm>
            <a:off x="9283700" y="7888837"/>
            <a:ext cx="3659517"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window = window + MSS</a:t>
            </a:r>
          </a:p>
        </p:txBody>
      </p:sp>
      <p:sp>
        <p:nvSpPr>
          <p:cNvPr id="921" name="duplicate ACK"/>
          <p:cNvSpPr/>
          <p:nvPr/>
        </p:nvSpPr>
        <p:spPr>
          <a:xfrm>
            <a:off x="9347200" y="7404100"/>
            <a:ext cx="2608723" cy="537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duplicate ACK</a:t>
            </a:r>
          </a:p>
        </p:txBody>
      </p:sp>
      <p:sp>
        <p:nvSpPr>
          <p:cNvPr id="922" name="Line"/>
          <p:cNvSpPr/>
          <p:nvPr/>
        </p:nvSpPr>
        <p:spPr>
          <a:xfrm flipV="1">
            <a:off x="9347199" y="7912143"/>
            <a:ext cx="2610727" cy="1"/>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23" name="Line"/>
          <p:cNvSpPr/>
          <p:nvPr/>
        </p:nvSpPr>
        <p:spPr>
          <a:xfrm rot="16292415">
            <a:off x="6252211" y="5343600"/>
            <a:ext cx="1629156" cy="1235695"/>
          </a:xfrm>
          <a:custGeom>
            <a:avLst/>
            <a:gdLst/>
            <a:ahLst/>
            <a:cxnLst>
              <a:cxn ang="0">
                <a:pos x="wd2" y="hd2"/>
              </a:cxn>
              <a:cxn ang="5400000">
                <a:pos x="wd2" y="hd2"/>
              </a:cxn>
              <a:cxn ang="10800000">
                <a:pos x="wd2" y="hd2"/>
              </a:cxn>
              <a:cxn ang="16200000">
                <a:pos x="wd2" y="hd2"/>
              </a:cxn>
            </a:cxnLst>
            <a:rect l="0" t="0" r="r" b="b"/>
            <a:pathLst>
              <a:path w="21600" h="20845" extrusionOk="0">
                <a:moveTo>
                  <a:pt x="0" y="2761"/>
                </a:moveTo>
                <a:cubicBezTo>
                  <a:pt x="4278" y="-171"/>
                  <a:pt x="5938" y="-755"/>
                  <a:pt x="10319" y="949"/>
                </a:cubicBezTo>
                <a:cubicBezTo>
                  <a:pt x="15523" y="2972"/>
                  <a:pt x="15285" y="12259"/>
                  <a:pt x="21600" y="20845"/>
                </a:cubicBezTo>
              </a:path>
            </a:pathLst>
          </a:custGeom>
          <a:ln w="50800">
            <a:solidFill>
              <a:srgbClr val="424242"/>
            </a:solidFill>
            <a:miter lim="400000"/>
            <a:tailEnd type="stealth"/>
          </a:ln>
        </p:spPr>
        <p:txBody>
          <a:bodyPr lIns="50800" tIns="50800" rIns="50800" bIns="50800" anchor="ctr"/>
          <a:lstStyle/>
          <a:p>
            <a:endParaRPr/>
          </a:p>
        </p:txBody>
      </p:sp>
      <p:sp>
        <p:nvSpPr>
          <p:cNvPr id="924" name="new ACK"/>
          <p:cNvSpPr/>
          <p:nvPr/>
        </p:nvSpPr>
        <p:spPr>
          <a:xfrm>
            <a:off x="6651875" y="5393788"/>
            <a:ext cx="1441443" cy="796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new ACK</a:t>
            </a:r>
          </a:p>
        </p:txBody>
      </p:sp>
      <p:sp>
        <p:nvSpPr>
          <p:cNvPr id="925" name="timeout"/>
          <p:cNvSpPr/>
          <p:nvPr/>
        </p:nvSpPr>
        <p:spPr>
          <a:xfrm>
            <a:off x="4724400" y="6438900"/>
            <a:ext cx="1257300" cy="533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timeout</a:t>
            </a:r>
          </a:p>
        </p:txBody>
      </p:sp>
      <p:sp>
        <p:nvSpPr>
          <p:cNvPr id="926" name="Line"/>
          <p:cNvSpPr/>
          <p:nvPr/>
        </p:nvSpPr>
        <p:spPr>
          <a:xfrm rot="1999968">
            <a:off x="2758920" y="6001487"/>
            <a:ext cx="3566632" cy="48823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0"/>
                  <a:pt x="5019" y="2606"/>
                  <a:pt x="9959" y="8264"/>
                </a:cubicBezTo>
                <a:cubicBezTo>
                  <a:pt x="13641" y="12481"/>
                  <a:pt x="21600" y="21600"/>
                  <a:pt x="21600" y="21600"/>
                </a:cubicBezTo>
              </a:path>
            </a:pathLst>
          </a:custGeom>
          <a:ln w="50800">
            <a:solidFill>
              <a:srgbClr val="424242"/>
            </a:solidFill>
            <a:miter lim="400000"/>
            <a:headEnd type="stealth"/>
          </a:ln>
        </p:spPr>
        <p:txBody>
          <a:bodyPr lIns="50800" tIns="50800" rIns="50800" bIns="50800" anchor="ctr"/>
          <a:lstStyle/>
          <a:p>
            <a:endParaRPr/>
          </a:p>
        </p:txBody>
      </p:sp>
      <p:sp>
        <p:nvSpPr>
          <p:cNvPr id="927" name="fast retransmit"/>
          <p:cNvSpPr/>
          <p:nvPr/>
        </p:nvSpPr>
        <p:spPr>
          <a:xfrm>
            <a:off x="1869152" y="8371558"/>
            <a:ext cx="2390283"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fast retransmit</a:t>
            </a:r>
          </a:p>
        </p:txBody>
      </p:sp>
      <p:sp>
        <p:nvSpPr>
          <p:cNvPr id="928" name="fast retransmit"/>
          <p:cNvSpPr/>
          <p:nvPr/>
        </p:nvSpPr>
        <p:spPr>
          <a:xfrm>
            <a:off x="8827473" y="5036914"/>
            <a:ext cx="2390283"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fast retransmit</a:t>
            </a:r>
          </a:p>
        </p:txBody>
      </p:sp>
      <p:sp>
        <p:nvSpPr>
          <p:cNvPr id="929" name="retransmit"/>
          <p:cNvSpPr/>
          <p:nvPr/>
        </p:nvSpPr>
        <p:spPr>
          <a:xfrm>
            <a:off x="368300" y="6819900"/>
            <a:ext cx="2977131" cy="537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retransmit</a:t>
            </a:r>
          </a:p>
        </p:txBody>
      </p:sp>
      <p:sp>
        <p:nvSpPr>
          <p:cNvPr id="930" name="retransmit"/>
          <p:cNvSpPr/>
          <p:nvPr/>
        </p:nvSpPr>
        <p:spPr>
          <a:xfrm>
            <a:off x="4378416" y="5626465"/>
            <a:ext cx="1536701"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retransmit</a:t>
            </a:r>
          </a:p>
        </p:txBody>
      </p:sp>
      <p:sp>
        <p:nvSpPr>
          <p:cNvPr id="931"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44</a:t>
            </a:fld>
            <a:endParaRPr/>
          </a:p>
        </p:txBody>
      </p:sp>
      <p:sp>
        <p:nvSpPr>
          <p:cNvPr id="932" name="window = ssthresh"/>
          <p:cNvSpPr/>
          <p:nvPr/>
        </p:nvSpPr>
        <p:spPr>
          <a:xfrm>
            <a:off x="6613132" y="5947875"/>
            <a:ext cx="2737726"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l">
              <a:defRPr sz="2400">
                <a:solidFill>
                  <a:srgbClr val="0433FF"/>
                </a:solidFill>
                <a:latin typeface="+mn-lt"/>
                <a:ea typeface="+mn-ea"/>
                <a:cs typeface="+mn-cs"/>
                <a:sym typeface="Chalkboard SE Regular"/>
              </a:defRPr>
            </a:lvl1pPr>
          </a:lstStyle>
          <a:p>
            <a:r>
              <a:t>window = ssthresh</a:t>
            </a:r>
          </a:p>
        </p:txBody>
      </p:sp>
      <p:sp>
        <p:nvSpPr>
          <p:cNvPr id="933" name="Line"/>
          <p:cNvSpPr/>
          <p:nvPr/>
        </p:nvSpPr>
        <p:spPr>
          <a:xfrm flipV="1">
            <a:off x="6676631" y="6007619"/>
            <a:ext cx="2610727" cy="2"/>
          </a:xfrm>
          <a:prstGeom prst="line">
            <a:avLst/>
          </a:prstGeom>
          <a:ln w="38100">
            <a:solidFill>
              <a:srgbClr val="424242"/>
            </a:solidFill>
            <a:custDash>
              <a:ds d="200000" sp="200000"/>
            </a:custDash>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9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9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8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9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9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9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90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9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9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9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9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p:tmAbs val="0"/>
                                  </p:iterate>
                                  <p:childTnLst>
                                    <p:set>
                                      <p:cBhvr>
                                        <p:cTn id="50" fill="hold"/>
                                        <p:tgtEl>
                                          <p:spTgt spid="9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p:tmAbs val="0"/>
                                  </p:iterate>
                                  <p:childTnLst>
                                    <p:set>
                                      <p:cBhvr>
                                        <p:cTn id="54" fill="hold"/>
                                        <p:tgtEl>
                                          <p:spTgt spid="9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p:tmAbs val="0"/>
                                  </p:iterate>
                                  <p:childTnLst>
                                    <p:set>
                                      <p:cBhvr>
                                        <p:cTn id="58" fill="hold"/>
                                        <p:tgtEl>
                                          <p:spTgt spid="9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p:tmAbs val="0"/>
                                  </p:iterate>
                                  <p:childTnLst>
                                    <p:set>
                                      <p:cBhvr>
                                        <p:cTn id="62" fill="hold"/>
                                        <p:tgtEl>
                                          <p:spTgt spid="9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p:tmAbs val="0"/>
                                  </p:iterate>
                                  <p:childTnLst>
                                    <p:set>
                                      <p:cBhvr>
                                        <p:cTn id="66" fill="hold"/>
                                        <p:tgtEl>
                                          <p:spTgt spid="9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p:tmAbs val="0"/>
                                  </p:iterate>
                                  <p:childTnLst>
                                    <p:set>
                                      <p:cBhvr>
                                        <p:cTn id="70" fill="hold"/>
                                        <p:tgtEl>
                                          <p:spTgt spid="9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p:tmAbs val="0"/>
                                  </p:iterate>
                                  <p:childTnLst>
                                    <p:set>
                                      <p:cBhvr>
                                        <p:cTn id="74" fill="hold"/>
                                        <p:tgtEl>
                                          <p:spTgt spid="92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p:tmAbs val="0"/>
                                  </p:iterate>
                                  <p:childTnLst>
                                    <p:set>
                                      <p:cBhvr>
                                        <p:cTn id="78" fill="hold"/>
                                        <p:tgtEl>
                                          <p:spTgt spid="9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p:tmAbs val="0"/>
                                  </p:iterate>
                                  <p:childTnLst>
                                    <p:set>
                                      <p:cBhvr>
                                        <p:cTn id="82" fill="hold"/>
                                        <p:tgtEl>
                                          <p:spTgt spid="9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p:tmAbs val="0"/>
                                  </p:iterate>
                                  <p:childTnLst>
                                    <p:set>
                                      <p:cBhvr>
                                        <p:cTn id="86" fill="hold"/>
                                        <p:tgtEl>
                                          <p:spTgt spid="9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p:tmAbs val="0"/>
                                  </p:iterate>
                                  <p:childTnLst>
                                    <p:set>
                                      <p:cBhvr>
                                        <p:cTn id="90" fill="hold"/>
                                        <p:tgtEl>
                                          <p:spTgt spid="93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p:tmAbs val="0"/>
                                  </p:iterate>
                                  <p:childTnLst>
                                    <p:set>
                                      <p:cBhvr>
                                        <p:cTn id="94" fill="hold"/>
                                        <p:tgtEl>
                                          <p:spTgt spid="9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 grpId="0" animBg="1" advAuto="0"/>
      <p:bldP spid="909" grpId="0" animBg="1" advAuto="0"/>
      <p:bldP spid="910" grpId="0" animBg="1" advAuto="0"/>
      <p:bldP spid="911" grpId="0" animBg="1" advAuto="0"/>
      <p:bldP spid="912" grpId="0" animBg="1" advAuto="0"/>
      <p:bldP spid="913" grpId="0" animBg="1" advAuto="0"/>
      <p:bldP spid="914" grpId="0" animBg="1" advAuto="0"/>
      <p:bldP spid="915" grpId="0" animBg="1" advAuto="0"/>
      <p:bldP spid="916" grpId="0" animBg="1" advAuto="0"/>
      <p:bldP spid="917" grpId="0" animBg="1" advAuto="0"/>
      <p:bldP spid="918" grpId="0" animBg="1" advAuto="0"/>
      <p:bldP spid="919" grpId="0" animBg="1" advAuto="0"/>
      <p:bldP spid="920" grpId="0" animBg="1" advAuto="0"/>
      <p:bldP spid="921" grpId="0" animBg="1" advAuto="0"/>
      <p:bldP spid="922" grpId="0" animBg="1" advAuto="0"/>
      <p:bldP spid="923" grpId="0" animBg="1" advAuto="0"/>
      <p:bldP spid="924" grpId="0" animBg="1" advAuto="0"/>
      <p:bldP spid="925" grpId="0" animBg="1" advAuto="0"/>
      <p:bldP spid="926" grpId="0" animBg="1" advAuto="0"/>
      <p:bldP spid="927" grpId="0" animBg="1" advAuto="0"/>
      <p:bldP spid="928" grpId="0" animBg="1" advAuto="0"/>
      <p:bldP spid="932" grpId="0" animBg="1" advAuto="0"/>
      <p:bldP spid="933" grpId="0" animBg="1" advAuto="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7" name="TCP terminology"/>
          <p:cNvSpPr txBox="1">
            <a:spLocks noGrp="1"/>
          </p:cNvSpPr>
          <p:nvPr>
            <p:ph type="title"/>
          </p:nvPr>
        </p:nvSpPr>
        <p:spPr>
          <a:prstGeom prst="rect">
            <a:avLst/>
          </a:prstGeom>
        </p:spPr>
        <p:txBody>
          <a:bodyPr/>
          <a:lstStyle/>
          <a:p>
            <a:r>
              <a:t>TCP terminology</a:t>
            </a:r>
          </a:p>
        </p:txBody>
      </p:sp>
      <p:sp>
        <p:nvSpPr>
          <p:cNvPr id="938" name="Exponential increase = slow start…"/>
          <p:cNvSpPr txBox="1">
            <a:spLocks noGrp="1"/>
          </p:cNvSpPr>
          <p:nvPr>
            <p:ph type="body" idx="1"/>
          </p:nvPr>
        </p:nvSpPr>
        <p:spPr>
          <a:xfrm>
            <a:off x="1083146" y="2487954"/>
            <a:ext cx="10838508" cy="6276292"/>
          </a:xfrm>
          <a:prstGeom prst="rect">
            <a:avLst/>
          </a:prstGeom>
        </p:spPr>
        <p:txBody>
          <a:bodyPr anchor="t"/>
          <a:lstStyle/>
          <a:p>
            <a:pPr>
              <a:spcBef>
                <a:spcPts val="0"/>
              </a:spcBef>
            </a:pPr>
            <a:r>
              <a:rPr dirty="0"/>
              <a:t>Exponential increase = </a:t>
            </a:r>
            <a:r>
              <a:rPr dirty="0">
                <a:solidFill>
                  <a:srgbClr val="942193"/>
                </a:solidFill>
              </a:rPr>
              <a:t>slow start</a:t>
            </a:r>
          </a:p>
          <a:p>
            <a:pPr lvl="1">
              <a:spcBef>
                <a:spcPts val="4000"/>
              </a:spcBef>
            </a:pPr>
            <a:r>
              <a:rPr dirty="0"/>
              <a:t>it’s called slow, because it starts from a small window; but it’s not really slow,  </a:t>
            </a:r>
            <a:br>
              <a:rPr dirty="0"/>
            </a:br>
            <a:r>
              <a:rPr dirty="0"/>
              <a:t>the window increases exponentially</a:t>
            </a:r>
          </a:p>
          <a:p>
            <a:pPr>
              <a:spcBef>
                <a:spcPts val="0"/>
              </a:spcBef>
            </a:pPr>
            <a:r>
              <a:rPr dirty="0"/>
              <a:t>Linear increase = </a:t>
            </a:r>
            <a:r>
              <a:rPr dirty="0">
                <a:solidFill>
                  <a:srgbClr val="942193"/>
                </a:solidFill>
              </a:rPr>
              <a:t>congestion avoidance</a:t>
            </a:r>
          </a:p>
          <a:p>
            <a:pPr lvl="1">
              <a:spcBef>
                <a:spcPts val="0"/>
              </a:spcBef>
            </a:pPr>
            <a:r>
              <a:rPr dirty="0"/>
              <a:t>this term does make sense; it means that TCP expects congestion, so it increases the window more cautiously</a:t>
            </a:r>
          </a:p>
        </p:txBody>
      </p:sp>
      <p:sp>
        <p:nvSpPr>
          <p:cNvPr id="939"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45</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93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93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9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93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9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8" grpId="0" build="p"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55E74-3D22-91FA-FF9B-3E0F203D2A1E}"/>
              </a:ext>
            </a:extLst>
          </p:cNvPr>
          <p:cNvSpPr>
            <a:spLocks noGrp="1"/>
          </p:cNvSpPr>
          <p:nvPr>
            <p:ph type="title"/>
          </p:nvPr>
        </p:nvSpPr>
        <p:spPr/>
        <p:txBody>
          <a:bodyPr/>
          <a:lstStyle/>
          <a:p>
            <a:r>
              <a:rPr lang="en-CH" dirty="0"/>
              <a:t>TCP Reno and New Reno</a:t>
            </a:r>
          </a:p>
        </p:txBody>
      </p:sp>
      <p:sp>
        <p:nvSpPr>
          <p:cNvPr id="4" name="Rectangle 1">
            <a:extLst>
              <a:ext uri="{FF2B5EF4-FFF2-40B4-BE49-F238E27FC236}">
                <a16:creationId xmlns:a16="http://schemas.microsoft.com/office/drawing/2014/main" id="{6CAB0DE7-88CF-2121-478D-F175CA4330A9}"/>
              </a:ext>
            </a:extLst>
          </p:cNvPr>
          <p:cNvSpPr>
            <a:spLocks noGrp="1" noChangeArrowheads="1"/>
          </p:cNvSpPr>
          <p:nvPr>
            <p:ph type="body" idx="1"/>
          </p:nvPr>
        </p:nvSpPr>
        <p:spPr bwMode="auto">
          <a:xfrm>
            <a:off x="357809" y="2948444"/>
            <a:ext cx="1238328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CH" altLang="en-CH" sz="3600" b="1" i="0" u="none" strike="noStrike" cap="none" normalizeH="0" baseline="0" dirty="0">
                <a:ln>
                  <a:noFill/>
                </a:ln>
                <a:solidFill>
                  <a:schemeClr val="tx1"/>
                </a:solidFill>
                <a:effectLst/>
                <a:latin typeface="Arial" panose="020B0604020202020204" pitchFamily="34" charset="0"/>
              </a:rPr>
              <a:t>TCP Reno</a:t>
            </a:r>
            <a:r>
              <a:rPr kumimoji="0" lang="en-CH" altLang="en-CH" sz="3600" b="0" i="0" u="none" strike="noStrike" cap="none" normalizeH="0" baseline="0" dirty="0">
                <a:ln>
                  <a:noFill/>
                </a:ln>
                <a:solidFill>
                  <a:schemeClr val="tx1"/>
                </a:solidFill>
                <a:effectLst/>
                <a:latin typeface="Arial" panose="020B0604020202020204" pitchFamily="34" charset="0"/>
              </a:rPr>
              <a:t> detects packet loss via </a:t>
            </a:r>
            <a:r>
              <a:rPr kumimoji="0" lang="en-CH" altLang="en-CH" sz="3600" b="1" i="0" u="none" strike="noStrike" cap="none" normalizeH="0" baseline="0" dirty="0">
                <a:ln>
                  <a:noFill/>
                </a:ln>
                <a:solidFill>
                  <a:schemeClr val="tx1"/>
                </a:solidFill>
                <a:effectLst/>
                <a:latin typeface="Arial" panose="020B0604020202020204" pitchFamily="34" charset="0"/>
              </a:rPr>
              <a:t>3 duplicate </a:t>
            </a:r>
            <a:r>
              <a:rPr kumimoji="0" lang="en-CH" altLang="en-CH" sz="3600" b="1" i="0" u="none" strike="noStrike" cap="none" normalizeH="0" baseline="0" dirty="0" err="1">
                <a:ln>
                  <a:noFill/>
                </a:ln>
                <a:solidFill>
                  <a:schemeClr val="tx1"/>
                </a:solidFill>
                <a:effectLst/>
                <a:latin typeface="Arial" panose="020B0604020202020204" pitchFamily="34" charset="0"/>
              </a:rPr>
              <a:t>ACKs</a:t>
            </a:r>
            <a:r>
              <a:rPr kumimoji="0" lang="en-CH" altLang="en-CH" sz="3600" b="0" i="0" u="none" strike="noStrike" cap="none" normalizeH="0" baseline="0" dirty="0">
                <a:ln>
                  <a:noFill/>
                </a:ln>
                <a:solidFill>
                  <a:schemeClr val="tx1"/>
                </a:solidFill>
                <a:effectLst/>
                <a:latin typeface="Arial" panose="020B0604020202020204" pitchFamily="34" charset="0"/>
              </a:rPr>
              <a:t> and performs </a:t>
            </a:r>
            <a:r>
              <a:rPr kumimoji="0" lang="en-CH" altLang="en-CH" sz="3600" b="0" i="1" u="none" strike="noStrike" cap="none" normalizeH="0" baseline="0" dirty="0">
                <a:ln>
                  <a:noFill/>
                </a:ln>
                <a:solidFill>
                  <a:schemeClr val="tx1"/>
                </a:solidFill>
                <a:effectLst/>
                <a:latin typeface="Arial" panose="020B0604020202020204" pitchFamily="34" charset="0"/>
              </a:rPr>
              <a:t>fast retransmit + fast recovery</a:t>
            </a:r>
          </a:p>
          <a:p>
            <a:pPr marL="444500" lvl="1" indent="0" algn="just" defTabSz="914400" eaLnBrk="0" fontAlgn="base" hangingPunct="0">
              <a:spcBef>
                <a:spcPct val="0"/>
              </a:spcBef>
              <a:spcAft>
                <a:spcPct val="0"/>
              </a:spcAft>
              <a:buClrTx/>
              <a:buSzTx/>
            </a:pPr>
            <a:r>
              <a:rPr kumimoji="0" lang="en-CH" altLang="en-CH" sz="3000" b="0" i="0" u="none" strike="noStrike" cap="none" normalizeH="0" baseline="0" dirty="0">
                <a:ln>
                  <a:noFill/>
                </a:ln>
                <a:solidFill>
                  <a:schemeClr val="tx1"/>
                </a:solidFill>
                <a:effectLst/>
                <a:latin typeface="Arial" panose="020B0604020202020204" pitchFamily="34" charset="0"/>
              </a:rPr>
              <a:t>it assumes </a:t>
            </a:r>
            <a:r>
              <a:rPr kumimoji="0" lang="en-CH" altLang="en-CH" sz="3000" b="1" i="0" u="none" strike="noStrike" cap="none" normalizeH="0" baseline="0" dirty="0">
                <a:ln>
                  <a:noFill/>
                </a:ln>
                <a:solidFill>
                  <a:schemeClr val="tx1"/>
                </a:solidFill>
                <a:effectLst/>
                <a:latin typeface="Arial" panose="020B0604020202020204" pitchFamily="34" charset="0"/>
              </a:rPr>
              <a:t>only one packet is lost</a:t>
            </a:r>
            <a:r>
              <a:rPr kumimoji="0" lang="en-CH" altLang="en-CH" sz="3000" b="0" i="0" u="none" strike="noStrike" cap="none" normalizeH="0" baseline="0" dirty="0">
                <a:ln>
                  <a:noFill/>
                </a:ln>
                <a:solidFill>
                  <a:schemeClr val="tx1"/>
                </a:solidFill>
                <a:effectLst/>
                <a:latin typeface="Arial" panose="020B0604020202020204" pitchFamily="34" charset="0"/>
              </a:rPr>
              <a:t>; </a:t>
            </a:r>
          </a:p>
          <a:p>
            <a:pPr marL="444500" lvl="1" indent="0" algn="just" defTabSz="914400" eaLnBrk="0" fontAlgn="base" hangingPunct="0">
              <a:spcBef>
                <a:spcPct val="0"/>
              </a:spcBef>
              <a:spcAft>
                <a:spcPct val="0"/>
              </a:spcAft>
              <a:buClrTx/>
              <a:buSzTx/>
            </a:pPr>
            <a:r>
              <a:rPr kumimoji="0" lang="en-CH" altLang="en-CH" sz="3000" b="0" i="0" u="none" strike="noStrike" cap="none" normalizeH="0" baseline="0" dirty="0">
                <a:ln>
                  <a:noFill/>
                </a:ln>
                <a:solidFill>
                  <a:schemeClr val="tx1"/>
                </a:solidFill>
                <a:effectLst/>
                <a:latin typeface="Arial" panose="020B0604020202020204" pitchFamily="34" charset="0"/>
              </a:rPr>
              <a:t>if multiple packets are lost in the same window, it often falls back to slow start.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CH" altLang="en-CH"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CH" altLang="en-CH" sz="3600" b="1" i="0" u="none" strike="noStrike" cap="none" normalizeH="0" baseline="0" dirty="0">
                <a:ln>
                  <a:noFill/>
                </a:ln>
                <a:solidFill>
                  <a:schemeClr val="tx1"/>
                </a:solidFill>
                <a:effectLst/>
                <a:latin typeface="Arial" panose="020B0604020202020204" pitchFamily="34" charset="0"/>
              </a:rPr>
              <a:t>TCP New Reno</a:t>
            </a:r>
            <a:r>
              <a:rPr kumimoji="0" lang="en-CH" altLang="en-CH" sz="3600" b="0" i="0" u="none" strike="noStrike" cap="none" normalizeH="0" baseline="0" dirty="0">
                <a:ln>
                  <a:noFill/>
                </a:ln>
                <a:solidFill>
                  <a:schemeClr val="tx1"/>
                </a:solidFill>
                <a:effectLst/>
                <a:latin typeface="Arial" panose="020B0604020202020204" pitchFamily="34" charset="0"/>
              </a:rPr>
              <a:t> improves this by handling </a:t>
            </a:r>
            <a:r>
              <a:rPr kumimoji="0" lang="en-CH" altLang="en-CH" sz="3600" b="1" i="0" u="none" strike="noStrike" cap="none" normalizeH="0" baseline="0" dirty="0">
                <a:ln>
                  <a:noFill/>
                </a:ln>
                <a:solidFill>
                  <a:schemeClr val="tx1"/>
                </a:solidFill>
                <a:effectLst/>
                <a:latin typeface="Arial" panose="020B0604020202020204" pitchFamily="34" charset="0"/>
              </a:rPr>
              <a:t>multiple packet losses within one window</a:t>
            </a:r>
            <a:r>
              <a:rPr kumimoji="0" lang="en-CH" altLang="en-CH" sz="36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CH" altLang="en-CH" sz="3600" b="0" i="0" u="none" strike="noStrike" cap="none" normalizeH="0" baseline="0" dirty="0">
                <a:ln>
                  <a:noFill/>
                </a:ln>
                <a:solidFill>
                  <a:schemeClr val="tx1"/>
                </a:solidFill>
                <a:effectLst/>
                <a:latin typeface="Arial" panose="020B0604020202020204" pitchFamily="34" charset="0"/>
              </a:rPr>
              <a:t>it stays in fast recovery and retransmits missing packets one-by-one </a:t>
            </a:r>
            <a:r>
              <a:rPr kumimoji="0" lang="en-CH" altLang="en-CH" sz="3600" b="1" i="0" u="none" strike="noStrike" cap="none" normalizeH="0" baseline="0" dirty="0">
                <a:ln>
                  <a:noFill/>
                </a:ln>
                <a:solidFill>
                  <a:srgbClr val="FF0000"/>
                </a:solidFill>
                <a:effectLst/>
                <a:latin typeface="Arial" panose="020B0604020202020204" pitchFamily="34" charset="0"/>
              </a:rPr>
              <a:t>without returning to slow start</a:t>
            </a:r>
            <a:r>
              <a:rPr kumimoji="0" lang="en-CH" altLang="en-CH" sz="36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626562688"/>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4D552-E020-E6D2-6B69-809887A3AFAD}"/>
              </a:ext>
            </a:extLst>
          </p:cNvPr>
          <p:cNvSpPr>
            <a:spLocks noGrp="1"/>
          </p:cNvSpPr>
          <p:nvPr>
            <p:ph type="title"/>
          </p:nvPr>
        </p:nvSpPr>
        <p:spPr>
          <a:xfrm>
            <a:off x="271670" y="254000"/>
            <a:ext cx="12733130" cy="2438400"/>
          </a:xfrm>
        </p:spPr>
        <p:txBody>
          <a:bodyPr/>
          <a:lstStyle/>
          <a:p>
            <a:r>
              <a:rPr lang="en-GB" dirty="0"/>
              <a:t>TCP Binary Increase Congestion Control (often called TCP Binary)</a:t>
            </a:r>
            <a:endParaRPr lang="en-CH" dirty="0"/>
          </a:p>
        </p:txBody>
      </p:sp>
      <p:sp>
        <p:nvSpPr>
          <p:cNvPr id="3" name="Text Placeholder 2">
            <a:extLst>
              <a:ext uri="{FF2B5EF4-FFF2-40B4-BE49-F238E27FC236}">
                <a16:creationId xmlns:a16="http://schemas.microsoft.com/office/drawing/2014/main" id="{EDE7C16B-50CE-53AF-07DF-A90A5660656E}"/>
              </a:ext>
            </a:extLst>
          </p:cNvPr>
          <p:cNvSpPr>
            <a:spLocks noGrp="1"/>
          </p:cNvSpPr>
          <p:nvPr>
            <p:ph type="body" idx="1"/>
          </p:nvPr>
        </p:nvSpPr>
        <p:spPr>
          <a:xfrm>
            <a:off x="131417" y="3179419"/>
            <a:ext cx="12597295" cy="5715000"/>
          </a:xfrm>
        </p:spPr>
        <p:txBody>
          <a:bodyPr/>
          <a:lstStyle/>
          <a:p>
            <a:r>
              <a:rPr lang="en-GB" dirty="0"/>
              <a:t>designed for </a:t>
            </a:r>
            <a:r>
              <a:rPr lang="en-GB" b="1" dirty="0"/>
              <a:t>high-speed, long-distance networks </a:t>
            </a:r>
            <a:r>
              <a:rPr lang="en-GB" dirty="0"/>
              <a:t>(high bandwidth-delay product).</a:t>
            </a:r>
            <a:endParaRPr lang="en-CH" dirty="0"/>
          </a:p>
          <a:p>
            <a:r>
              <a:rPr lang="en-GB" dirty="0"/>
              <a:t>Instead of linear growth, it uses a binary search strategy to find the optimal congestion window after packet loss.</a:t>
            </a:r>
            <a:endParaRPr lang="en-CH" dirty="0"/>
          </a:p>
          <a:p>
            <a:r>
              <a:rPr lang="en-GB" dirty="0"/>
              <a:t>It increases the window quickly at first, then more cautiously as it approaches the previous maximum.</a:t>
            </a:r>
            <a:endParaRPr lang="en-CH" dirty="0"/>
          </a:p>
        </p:txBody>
      </p:sp>
    </p:spTree>
    <p:extLst>
      <p:ext uri="{BB962C8B-B14F-4D97-AF65-F5344CB8AC3E}">
        <p14:creationId xmlns:p14="http://schemas.microsoft.com/office/powerpoint/2010/main" val="95681955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A809-0EFB-F735-050E-CBF7812C5B54}"/>
              </a:ext>
            </a:extLst>
          </p:cNvPr>
          <p:cNvSpPr>
            <a:spLocks noGrp="1"/>
          </p:cNvSpPr>
          <p:nvPr>
            <p:ph type="title"/>
          </p:nvPr>
        </p:nvSpPr>
        <p:spPr/>
        <p:txBody>
          <a:bodyPr/>
          <a:lstStyle/>
          <a:p>
            <a:r>
              <a:rPr lang="en-CH" dirty="0"/>
              <a:t>Congestion window evolution</a:t>
            </a:r>
          </a:p>
        </p:txBody>
      </p:sp>
      <p:pic>
        <p:nvPicPr>
          <p:cNvPr id="6" name="Picture 5">
            <a:extLst>
              <a:ext uri="{FF2B5EF4-FFF2-40B4-BE49-F238E27FC236}">
                <a16:creationId xmlns:a16="http://schemas.microsoft.com/office/drawing/2014/main" id="{B8E55A7B-CB68-790C-F68E-C0751785CAD9}"/>
              </a:ext>
            </a:extLst>
          </p:cNvPr>
          <p:cNvPicPr>
            <a:picLocks noChangeAspect="1"/>
          </p:cNvPicPr>
          <p:nvPr/>
        </p:nvPicPr>
        <p:blipFill>
          <a:blip r:embed="rId2"/>
          <a:stretch>
            <a:fillRect/>
          </a:stretch>
        </p:blipFill>
        <p:spPr>
          <a:xfrm>
            <a:off x="1198010" y="3122542"/>
            <a:ext cx="10364512" cy="6099196"/>
          </a:xfrm>
          <a:prstGeom prst="rect">
            <a:avLst/>
          </a:prstGeom>
        </p:spPr>
      </p:pic>
    </p:spTree>
    <p:extLst>
      <p:ext uri="{BB962C8B-B14F-4D97-AF65-F5344CB8AC3E}">
        <p14:creationId xmlns:p14="http://schemas.microsoft.com/office/powerpoint/2010/main" val="4210960658"/>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05FD3-E20E-0929-7697-FF6068EB097C}"/>
              </a:ext>
            </a:extLst>
          </p:cNvPr>
          <p:cNvSpPr>
            <a:spLocks noGrp="1"/>
          </p:cNvSpPr>
          <p:nvPr>
            <p:ph type="title"/>
          </p:nvPr>
        </p:nvSpPr>
        <p:spPr>
          <a:xfrm>
            <a:off x="1349513" y="-196574"/>
            <a:ext cx="10464800" cy="2438400"/>
          </a:xfrm>
        </p:spPr>
        <p:txBody>
          <a:bodyPr/>
          <a:lstStyle/>
          <a:p>
            <a:r>
              <a:rPr lang="en-CH" dirty="0"/>
              <a:t>TCP Cubic</a:t>
            </a:r>
          </a:p>
        </p:txBody>
      </p:sp>
      <p:sp>
        <p:nvSpPr>
          <p:cNvPr id="3" name="Text Placeholder 2">
            <a:extLst>
              <a:ext uri="{FF2B5EF4-FFF2-40B4-BE49-F238E27FC236}">
                <a16:creationId xmlns:a16="http://schemas.microsoft.com/office/drawing/2014/main" id="{FD67DE6F-8194-B048-4885-07FE186FC139}"/>
              </a:ext>
            </a:extLst>
          </p:cNvPr>
          <p:cNvSpPr>
            <a:spLocks noGrp="1"/>
          </p:cNvSpPr>
          <p:nvPr>
            <p:ph type="body" idx="1"/>
          </p:nvPr>
        </p:nvSpPr>
        <p:spPr>
          <a:xfrm>
            <a:off x="316948" y="2669209"/>
            <a:ext cx="12312374" cy="6342270"/>
          </a:xfrm>
        </p:spPr>
        <p:txBody>
          <a:bodyPr/>
          <a:lstStyle/>
          <a:p>
            <a:r>
              <a:rPr lang="en-CH" sz="4000" dirty="0"/>
              <a:t>Why another TCP version?</a:t>
            </a:r>
          </a:p>
          <a:p>
            <a:pPr lvl="1"/>
            <a:r>
              <a:rPr lang="en-CH" sz="2800" dirty="0"/>
              <a:t>I</a:t>
            </a:r>
            <a:r>
              <a:rPr lang="en-GB" sz="2800" dirty="0" err="1"/>
              <a:t>mproves</a:t>
            </a:r>
            <a:r>
              <a:rPr lang="en-GB" sz="2800" dirty="0"/>
              <a:t> the performance of TCP in high-speed and long-distance networks. </a:t>
            </a:r>
            <a:endParaRPr lang="en-CH" sz="2800" dirty="0"/>
          </a:p>
          <a:p>
            <a:pPr lvl="1"/>
            <a:r>
              <a:rPr lang="en-CH" sz="2800" dirty="0"/>
              <a:t>I</a:t>
            </a:r>
            <a:r>
              <a:rPr lang="en-GB" sz="2800" dirty="0" err="1"/>
              <a:t>mprove</a:t>
            </a:r>
            <a:r>
              <a:rPr lang="en-CH" sz="2800" dirty="0"/>
              <a:t>s overt</a:t>
            </a:r>
            <a:r>
              <a:rPr lang="en-GB" sz="2800" dirty="0"/>
              <a:t> TCP BIC with better fairness and easy implementation.</a:t>
            </a:r>
            <a:endParaRPr lang="en-CH" sz="2800" dirty="0"/>
          </a:p>
          <a:p>
            <a:r>
              <a:rPr lang="en-GB" sz="3600" dirty="0"/>
              <a:t>The window growth function is </a:t>
            </a:r>
            <a:endParaRPr lang="en-CH" sz="3600" dirty="0"/>
          </a:p>
          <a:p>
            <a:pPr marL="317500" indent="0" algn="ctr">
              <a:buNone/>
            </a:pPr>
            <a:r>
              <a:rPr lang="en-GB" dirty="0"/>
              <a:t> </a:t>
            </a:r>
            <a:r>
              <a:rPr lang="en-GB" b="1" dirty="0"/>
              <a:t>W(t) = C(t - K)</a:t>
            </a:r>
            <a:r>
              <a:rPr lang="en-GB" b="1" baseline="30000" dirty="0"/>
              <a:t>3</a:t>
            </a:r>
            <a:r>
              <a:rPr lang="en-GB" b="1" dirty="0"/>
              <a:t> + </a:t>
            </a:r>
            <a:r>
              <a:rPr lang="en-GB" b="1" dirty="0" err="1"/>
              <a:t>Wmax</a:t>
            </a:r>
            <a:endParaRPr lang="en-CH" b="1" dirty="0"/>
          </a:p>
          <a:p>
            <a:pPr marL="317500" indent="0">
              <a:buNone/>
            </a:pPr>
            <a:r>
              <a:rPr lang="en-GB" sz="2800" b="1" dirty="0"/>
              <a:t>C</a:t>
            </a:r>
            <a:r>
              <a:rPr lang="en-GB" sz="2800" dirty="0"/>
              <a:t> represents scaling constant, </a:t>
            </a:r>
            <a:r>
              <a:rPr lang="en-GB" sz="2800" b="1" dirty="0"/>
              <a:t>t</a:t>
            </a:r>
            <a:r>
              <a:rPr lang="en-GB" sz="2800" dirty="0"/>
              <a:t> represents time passed since last window reduction, </a:t>
            </a:r>
            <a:r>
              <a:rPr lang="en-GB" sz="2800" b="1" dirty="0"/>
              <a:t>K</a:t>
            </a:r>
            <a:r>
              <a:rPr lang="en-GB" sz="2800" dirty="0"/>
              <a:t> represents time taken by function to increase W to </a:t>
            </a:r>
            <a:r>
              <a:rPr lang="en-GB" sz="2800" dirty="0" err="1"/>
              <a:t>Wmax</a:t>
            </a:r>
            <a:r>
              <a:rPr lang="en-GB" sz="2800" dirty="0"/>
              <a:t>, and </a:t>
            </a:r>
            <a:r>
              <a:rPr lang="en-GB" sz="2800" b="1" dirty="0" err="1"/>
              <a:t>Wmax</a:t>
            </a:r>
            <a:r>
              <a:rPr lang="en-GB" sz="2800" dirty="0"/>
              <a:t> represents window size before the last reduction.</a:t>
            </a:r>
          </a:p>
          <a:p>
            <a:endParaRPr lang="en-CH" dirty="0"/>
          </a:p>
        </p:txBody>
      </p:sp>
    </p:spTree>
    <p:extLst>
      <p:ext uri="{BB962C8B-B14F-4D97-AF65-F5344CB8AC3E}">
        <p14:creationId xmlns:p14="http://schemas.microsoft.com/office/powerpoint/2010/main" val="252377047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EBF694-01A1-7F31-2D55-2C65FCA3427F}"/>
              </a:ext>
            </a:extLst>
          </p:cNvPr>
          <p:cNvSpPr>
            <a:spLocks noGrp="1"/>
          </p:cNvSpPr>
          <p:nvPr>
            <p:ph type="body" idx="1"/>
          </p:nvPr>
        </p:nvSpPr>
        <p:spPr>
          <a:xfrm>
            <a:off x="1078949" y="3875156"/>
            <a:ext cx="10464800" cy="5715000"/>
          </a:xfrm>
        </p:spPr>
        <p:txBody>
          <a:bodyPr/>
          <a:lstStyle/>
          <a:p>
            <a:pPr marL="317500" indent="0">
              <a:buNone/>
            </a:pPr>
            <a:endParaRPr lang="en-CH" dirty="0"/>
          </a:p>
          <a:p>
            <a:endParaRPr lang="en-CH" dirty="0"/>
          </a:p>
        </p:txBody>
      </p:sp>
      <p:grpSp>
        <p:nvGrpSpPr>
          <p:cNvPr id="5" name="Group 4">
            <a:extLst>
              <a:ext uri="{FF2B5EF4-FFF2-40B4-BE49-F238E27FC236}">
                <a16:creationId xmlns:a16="http://schemas.microsoft.com/office/drawing/2014/main" id="{7C681FB9-549E-DC55-4770-FE2332128C2F}"/>
              </a:ext>
            </a:extLst>
          </p:cNvPr>
          <p:cNvGrpSpPr/>
          <p:nvPr/>
        </p:nvGrpSpPr>
        <p:grpSpPr>
          <a:xfrm>
            <a:off x="653279" y="645889"/>
            <a:ext cx="12127219" cy="7836929"/>
            <a:chOff x="871329" y="1875183"/>
            <a:chExt cx="11003724" cy="6810226"/>
          </a:xfrm>
        </p:grpSpPr>
        <p:pic>
          <p:nvPicPr>
            <p:cNvPr id="2050" name="Picture 2" descr="TCP CUBIC Algorithm Phase Diagram">
              <a:extLst>
                <a:ext uri="{FF2B5EF4-FFF2-40B4-BE49-F238E27FC236}">
                  <a16:creationId xmlns:a16="http://schemas.microsoft.com/office/drawing/2014/main" id="{819A1401-B94E-1473-826A-E3A969D99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329" y="2343771"/>
              <a:ext cx="10605053" cy="63416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87E2219-28A1-52F7-1320-E792C3738F29}"/>
                </a:ext>
              </a:extLst>
            </p:cNvPr>
            <p:cNvSpPr/>
            <p:nvPr/>
          </p:nvSpPr>
          <p:spPr>
            <a:xfrm>
              <a:off x="9263270" y="1875183"/>
              <a:ext cx="2611783" cy="1358347"/>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CH"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spTree>
    <p:extLst>
      <p:ext uri="{BB962C8B-B14F-4D97-AF65-F5344CB8AC3E}">
        <p14:creationId xmlns:p14="http://schemas.microsoft.com/office/powerpoint/2010/main" val="1428541965"/>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4289-2F5B-57BA-EC27-D2FAF08D1606}"/>
              </a:ext>
            </a:extLst>
          </p:cNvPr>
          <p:cNvSpPr>
            <a:spLocks noGrp="1"/>
          </p:cNvSpPr>
          <p:nvPr>
            <p:ph type="title"/>
          </p:nvPr>
        </p:nvSpPr>
        <p:spPr>
          <a:xfrm>
            <a:off x="-2718904" y="55218"/>
            <a:ext cx="10464800" cy="2438400"/>
          </a:xfrm>
        </p:spPr>
        <p:txBody>
          <a:bodyPr/>
          <a:lstStyle/>
          <a:p>
            <a:r>
              <a:rPr lang="en-CH" dirty="0"/>
              <a:t>TCP Cubic</a:t>
            </a:r>
          </a:p>
        </p:txBody>
      </p:sp>
      <p:sp>
        <p:nvSpPr>
          <p:cNvPr id="3" name="Text Placeholder 2">
            <a:extLst>
              <a:ext uri="{FF2B5EF4-FFF2-40B4-BE49-F238E27FC236}">
                <a16:creationId xmlns:a16="http://schemas.microsoft.com/office/drawing/2014/main" id="{D677DB44-AA03-4B6B-8374-23ECE694DDB0}"/>
              </a:ext>
            </a:extLst>
          </p:cNvPr>
          <p:cNvSpPr>
            <a:spLocks noGrp="1"/>
          </p:cNvSpPr>
          <p:nvPr>
            <p:ph type="body" idx="1"/>
          </p:nvPr>
        </p:nvSpPr>
        <p:spPr>
          <a:xfrm>
            <a:off x="330199" y="3437835"/>
            <a:ext cx="12259365" cy="5715000"/>
          </a:xfrm>
        </p:spPr>
        <p:txBody>
          <a:bodyPr/>
          <a:lstStyle/>
          <a:p>
            <a:pPr marL="0" indent="0">
              <a:spcBef>
                <a:spcPts val="0"/>
              </a:spcBef>
              <a:buNone/>
            </a:pPr>
            <a:r>
              <a:rPr lang="en-GB" sz="2400" b="1" dirty="0"/>
              <a:t>Concave Region</a:t>
            </a:r>
            <a:endParaRPr lang="en-CH" sz="2400" b="1" dirty="0"/>
          </a:p>
          <a:p>
            <a:pPr marL="0" indent="0">
              <a:spcBef>
                <a:spcPts val="0"/>
              </a:spcBef>
              <a:buNone/>
            </a:pPr>
            <a:r>
              <a:rPr lang="en-GB" sz="2400" dirty="0"/>
              <a:t>Just after a loss event, when t &lt; K, it represents the concave region of cubic function. In this region, the window increases quickly but at decreasing rate. This helps to recover quickly towards the previous </a:t>
            </a:r>
            <a:r>
              <a:rPr lang="en-GB" sz="2400" dirty="0" err="1"/>
              <a:t>Wmax</a:t>
            </a:r>
            <a:r>
              <a:rPr lang="en-GB" sz="2400" dirty="0"/>
              <a:t> value. It is also known as Fast Recovery region.</a:t>
            </a:r>
          </a:p>
          <a:p>
            <a:pPr marL="0" indent="0">
              <a:spcBef>
                <a:spcPts val="0"/>
              </a:spcBef>
              <a:buNone/>
            </a:pPr>
            <a:r>
              <a:rPr lang="en-GB" sz="2400" b="1" dirty="0"/>
              <a:t>Plateau Region (Cautious Probing)</a:t>
            </a:r>
          </a:p>
          <a:p>
            <a:pPr marL="0" indent="0">
              <a:spcBef>
                <a:spcPts val="0"/>
              </a:spcBef>
              <a:buNone/>
            </a:pPr>
            <a:r>
              <a:rPr lang="en-GB" sz="2400" dirty="0"/>
              <a:t>When t ≈ K, the window is near </a:t>
            </a:r>
            <a:r>
              <a:rPr lang="en-GB" sz="2400" dirty="0" err="1"/>
              <a:t>Wmax</a:t>
            </a:r>
            <a:r>
              <a:rPr lang="en-GB" sz="2400" dirty="0"/>
              <a:t>. The cubic function flattens out, so there is slow growth in this region. It helps in avoiding immediate congestion after reaching the previous maximum. It is also known as Cautious Probing region.</a:t>
            </a:r>
          </a:p>
          <a:p>
            <a:pPr marL="0" indent="0">
              <a:spcBef>
                <a:spcPts val="0"/>
              </a:spcBef>
              <a:buNone/>
            </a:pPr>
            <a:r>
              <a:rPr lang="en-GB" sz="2400" b="1" dirty="0"/>
              <a:t>Convex Region (Aggressive Probing)</a:t>
            </a:r>
          </a:p>
          <a:p>
            <a:pPr marL="0" indent="0">
              <a:spcBef>
                <a:spcPts val="0"/>
              </a:spcBef>
              <a:buNone/>
            </a:pPr>
            <a:r>
              <a:rPr lang="en-GB" sz="2400" dirty="0"/>
              <a:t>When t &gt; K, after surpassing </a:t>
            </a:r>
            <a:r>
              <a:rPr lang="en-GB" sz="2400" dirty="0" err="1"/>
              <a:t>Wmax</a:t>
            </a:r>
            <a:r>
              <a:rPr lang="en-GB" sz="2400" dirty="0"/>
              <a:t> without loss, the function enters the convex region. This window increases at a very fast rate to probe for additional available bandwidth. It is also known as Aggressive Probing region.</a:t>
            </a:r>
          </a:p>
          <a:p>
            <a:pPr marL="0" indent="0">
              <a:spcBef>
                <a:spcPts val="0"/>
              </a:spcBef>
              <a:buNone/>
            </a:pPr>
            <a:r>
              <a:rPr lang="en-GB" sz="2400" b="1" dirty="0"/>
              <a:t>TCP-Friendly Region</a:t>
            </a:r>
          </a:p>
          <a:p>
            <a:pPr marL="0" indent="0">
              <a:spcBef>
                <a:spcPts val="0"/>
              </a:spcBef>
              <a:buNone/>
            </a:pPr>
            <a:r>
              <a:rPr lang="en-GB" sz="2400" dirty="0"/>
              <a:t>In TCP-Friendly region, the cubic function grows slower than TCP Reno. CUBIC algorithm switches to a TCP-friendly mode to ensure fairness with standard TCP flows.</a:t>
            </a:r>
            <a:endParaRPr lang="en-CH" sz="2400" dirty="0"/>
          </a:p>
        </p:txBody>
      </p:sp>
      <p:grpSp>
        <p:nvGrpSpPr>
          <p:cNvPr id="6" name="Group 5">
            <a:extLst>
              <a:ext uri="{FF2B5EF4-FFF2-40B4-BE49-F238E27FC236}">
                <a16:creationId xmlns:a16="http://schemas.microsoft.com/office/drawing/2014/main" id="{B77AECC3-51B7-C227-73B5-1EC3132AD800}"/>
              </a:ext>
            </a:extLst>
          </p:cNvPr>
          <p:cNvGrpSpPr/>
          <p:nvPr/>
        </p:nvGrpSpPr>
        <p:grpSpPr>
          <a:xfrm>
            <a:off x="6795052" y="145773"/>
            <a:ext cx="5350566" cy="3381762"/>
            <a:chOff x="6795052" y="145773"/>
            <a:chExt cx="5350566" cy="3381762"/>
          </a:xfrm>
        </p:grpSpPr>
        <p:pic>
          <p:nvPicPr>
            <p:cNvPr id="4" name="Picture 2" descr="TCP CUBIC Algorithm Phase Diagram">
              <a:extLst>
                <a:ext uri="{FF2B5EF4-FFF2-40B4-BE49-F238E27FC236}">
                  <a16:creationId xmlns:a16="http://schemas.microsoft.com/office/drawing/2014/main" id="{C277E97D-470B-E2D7-FEF8-46D7A75BB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5052" y="327990"/>
              <a:ext cx="5350566" cy="319954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95B8E7C-C221-ED5B-C66B-8C47AE0F6FA9}"/>
                </a:ext>
              </a:extLst>
            </p:cNvPr>
            <p:cNvSpPr/>
            <p:nvPr/>
          </p:nvSpPr>
          <p:spPr>
            <a:xfrm>
              <a:off x="11012557" y="145773"/>
              <a:ext cx="1027043" cy="457200"/>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CH"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spTree>
    <p:extLst>
      <p:ext uri="{BB962C8B-B14F-4D97-AF65-F5344CB8AC3E}">
        <p14:creationId xmlns:p14="http://schemas.microsoft.com/office/powerpoint/2010/main" val="4085187743"/>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B4DB-D5CF-5D27-9FF2-DB22BDA077EC}"/>
              </a:ext>
            </a:extLst>
          </p:cNvPr>
          <p:cNvSpPr>
            <a:spLocks noGrp="1"/>
          </p:cNvSpPr>
          <p:nvPr>
            <p:ph type="title"/>
          </p:nvPr>
        </p:nvSpPr>
        <p:spPr/>
        <p:txBody>
          <a:bodyPr/>
          <a:lstStyle/>
          <a:p>
            <a:r>
              <a:rPr lang="en-CH" dirty="0"/>
              <a:t>What “TCP friendly” means?</a:t>
            </a:r>
          </a:p>
        </p:txBody>
      </p:sp>
      <p:sp>
        <p:nvSpPr>
          <p:cNvPr id="3" name="Text Placeholder 2">
            <a:extLst>
              <a:ext uri="{FF2B5EF4-FFF2-40B4-BE49-F238E27FC236}">
                <a16:creationId xmlns:a16="http://schemas.microsoft.com/office/drawing/2014/main" id="{6DB2E519-ED79-9946-E122-0E22A428D0AB}"/>
              </a:ext>
            </a:extLst>
          </p:cNvPr>
          <p:cNvSpPr>
            <a:spLocks noGrp="1"/>
          </p:cNvSpPr>
          <p:nvPr>
            <p:ph type="body" idx="1"/>
          </p:nvPr>
        </p:nvSpPr>
        <p:spPr>
          <a:xfrm>
            <a:off x="239151" y="2768600"/>
            <a:ext cx="12393637" cy="5715000"/>
          </a:xfrm>
        </p:spPr>
        <p:txBody>
          <a:bodyPr/>
          <a:lstStyle/>
          <a:p>
            <a:r>
              <a:rPr lang="en-GB" sz="3200" dirty="0"/>
              <a:t>In networks with </a:t>
            </a:r>
            <a:r>
              <a:rPr lang="en-GB" sz="3200" b="1" dirty="0"/>
              <a:t>short RTT or moderate BDP</a:t>
            </a:r>
            <a:r>
              <a:rPr lang="en-GB" sz="3200" dirty="0"/>
              <a:t>, CUBIC is tuned so that its </a:t>
            </a:r>
            <a:r>
              <a:rPr lang="en-GB" sz="3200" b="1" dirty="0"/>
              <a:t>long‑term average window size (and thus throughput)</a:t>
            </a:r>
            <a:r>
              <a:rPr lang="en-GB" sz="3200" dirty="0"/>
              <a:t> is roughly </a:t>
            </a:r>
            <a:r>
              <a:rPr lang="en-GB" sz="3200" b="1" dirty="0"/>
              <a:t>the same as standard TCP under the same loss rate</a:t>
            </a:r>
            <a:r>
              <a:rPr lang="en-GB" sz="3200" dirty="0"/>
              <a:t>.</a:t>
            </a:r>
          </a:p>
          <a:p>
            <a:r>
              <a:rPr lang="en-GB" sz="3200" dirty="0"/>
              <a:t>This fairness to TCP is important because:</a:t>
            </a:r>
          </a:p>
          <a:p>
            <a:pPr lvl="1"/>
            <a:r>
              <a:rPr lang="en-GB" sz="2800" dirty="0"/>
              <a:t>Many flows on the Internet still use standard TCP.</a:t>
            </a:r>
          </a:p>
          <a:p>
            <a:pPr lvl="1"/>
            <a:r>
              <a:rPr lang="en-GB" sz="2800" dirty="0"/>
              <a:t>An overly aggressive new algorithm would “steal” bandwidth and hurt those flows.</a:t>
            </a:r>
          </a:p>
          <a:p>
            <a:endParaRPr lang="en-CH" sz="3200" dirty="0"/>
          </a:p>
        </p:txBody>
      </p:sp>
    </p:spTree>
    <p:extLst>
      <p:ext uri="{BB962C8B-B14F-4D97-AF65-F5344CB8AC3E}">
        <p14:creationId xmlns:p14="http://schemas.microsoft.com/office/powerpoint/2010/main" val="1793637108"/>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8A29B-2FCC-7B91-13CE-A3B951F9DCC7}"/>
              </a:ext>
            </a:extLst>
          </p:cNvPr>
          <p:cNvSpPr>
            <a:spLocks noGrp="1"/>
          </p:cNvSpPr>
          <p:nvPr>
            <p:ph type="title"/>
          </p:nvPr>
        </p:nvSpPr>
        <p:spPr/>
        <p:txBody>
          <a:bodyPr/>
          <a:lstStyle/>
          <a:p>
            <a:r>
              <a:rPr lang="en-GB" dirty="0"/>
              <a:t>Loss Handling</a:t>
            </a:r>
            <a:r>
              <a:rPr lang="en-CH" dirty="0"/>
              <a:t> in TCP CUBIC</a:t>
            </a:r>
          </a:p>
        </p:txBody>
      </p:sp>
      <p:sp>
        <p:nvSpPr>
          <p:cNvPr id="3" name="Text Placeholder 2">
            <a:extLst>
              <a:ext uri="{FF2B5EF4-FFF2-40B4-BE49-F238E27FC236}">
                <a16:creationId xmlns:a16="http://schemas.microsoft.com/office/drawing/2014/main" id="{70DA3539-6707-69DF-70B0-676BCAEBCEB9}"/>
              </a:ext>
            </a:extLst>
          </p:cNvPr>
          <p:cNvSpPr>
            <a:spLocks noGrp="1"/>
          </p:cNvSpPr>
          <p:nvPr>
            <p:ph type="body" idx="1"/>
          </p:nvPr>
        </p:nvSpPr>
        <p:spPr>
          <a:xfrm>
            <a:off x="636104" y="2768600"/>
            <a:ext cx="11681792" cy="5715000"/>
          </a:xfrm>
        </p:spPr>
        <p:txBody>
          <a:bodyPr/>
          <a:lstStyle/>
          <a:p>
            <a:pPr marL="317500" indent="0">
              <a:buNone/>
            </a:pPr>
            <a:r>
              <a:rPr lang="en-GB" sz="2800" dirty="0"/>
              <a:t>In case of packet loss, CUBIC algorithm does the following</a:t>
            </a:r>
            <a:r>
              <a:rPr lang="en-CH" sz="2800" dirty="0"/>
              <a:t>:</a:t>
            </a:r>
            <a:endParaRPr lang="en-GB" sz="2800" dirty="0"/>
          </a:p>
          <a:p>
            <a:r>
              <a:rPr lang="en-GB" sz="2800" dirty="0"/>
              <a:t>It sets </a:t>
            </a:r>
            <a:r>
              <a:rPr lang="en-GB" sz="2800" dirty="0" err="1"/>
              <a:t>Wmax</a:t>
            </a:r>
            <a:r>
              <a:rPr lang="en-GB" sz="2800" dirty="0"/>
              <a:t> to the current </a:t>
            </a:r>
            <a:r>
              <a:rPr lang="en-GB" sz="2800" dirty="0" err="1"/>
              <a:t>cwnd</a:t>
            </a:r>
            <a:r>
              <a:rPr lang="en-GB" sz="2800" dirty="0"/>
              <a:t>.</a:t>
            </a:r>
          </a:p>
          <a:p>
            <a:r>
              <a:rPr lang="en-GB" sz="2800" dirty="0"/>
              <a:t>It reduces </a:t>
            </a:r>
            <a:r>
              <a:rPr lang="en-GB" sz="2800" dirty="0" err="1"/>
              <a:t>cwnd</a:t>
            </a:r>
            <a:r>
              <a:rPr lang="en-GB" sz="2800" dirty="0"/>
              <a:t> using multiplicative decrease to 70% of current </a:t>
            </a:r>
            <a:r>
              <a:rPr lang="en-GB" sz="2800" dirty="0" err="1"/>
              <a:t>cwnd</a:t>
            </a:r>
            <a:r>
              <a:rPr lang="en-GB" sz="2800" dirty="0"/>
              <a:t> (β = 0.7).</a:t>
            </a:r>
          </a:p>
          <a:p>
            <a:r>
              <a:rPr lang="en-GB" sz="2800" dirty="0"/>
              <a:t>It resets the timer t = 0.</a:t>
            </a:r>
          </a:p>
          <a:p>
            <a:r>
              <a:rPr lang="en-GB" sz="2800" dirty="0"/>
              <a:t>It calculates K = ((</a:t>
            </a:r>
            <a:r>
              <a:rPr lang="en-GB" sz="2800" dirty="0" err="1"/>
              <a:t>Wmax</a:t>
            </a:r>
            <a:r>
              <a:rPr lang="en-GB" sz="2800" dirty="0"/>
              <a:t> - </a:t>
            </a:r>
            <a:r>
              <a:rPr lang="en-GB" sz="2800" dirty="0" err="1"/>
              <a:t>cwnd</a:t>
            </a:r>
            <a:r>
              <a:rPr lang="en-GB" sz="2800" dirty="0"/>
              <a:t>)/C)</a:t>
            </a:r>
            <a:r>
              <a:rPr lang="en-CH" sz="2800" dirty="0"/>
              <a:t>^(</a:t>
            </a:r>
            <a:r>
              <a:rPr lang="en-GB" sz="2800" dirty="0"/>
              <a:t>1/3</a:t>
            </a:r>
            <a:r>
              <a:rPr lang="en-CH" sz="2800" dirty="0"/>
              <a:t>)</a:t>
            </a:r>
            <a:r>
              <a:rPr lang="en-GB" sz="2800" dirty="0"/>
              <a:t> for the new cubic iteration.</a:t>
            </a:r>
            <a:endParaRPr lang="en-CH" sz="2800" dirty="0"/>
          </a:p>
        </p:txBody>
      </p:sp>
    </p:spTree>
    <p:extLst>
      <p:ext uri="{BB962C8B-B14F-4D97-AF65-F5344CB8AC3E}">
        <p14:creationId xmlns:p14="http://schemas.microsoft.com/office/powerpoint/2010/main" val="2173900032"/>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D9E64-7F08-08AB-84A4-7055C5AF608F}"/>
              </a:ext>
            </a:extLst>
          </p:cNvPr>
          <p:cNvSpPr>
            <a:spLocks noGrp="1"/>
          </p:cNvSpPr>
          <p:nvPr>
            <p:ph type="title"/>
          </p:nvPr>
        </p:nvSpPr>
        <p:spPr>
          <a:xfrm>
            <a:off x="1177234" y="-150192"/>
            <a:ext cx="10464800" cy="2438400"/>
          </a:xfrm>
        </p:spPr>
        <p:txBody>
          <a:bodyPr/>
          <a:lstStyle/>
          <a:p>
            <a:r>
              <a:rPr lang="en-CH" dirty="0"/>
              <a:t>TCP CUBIC: Pros and cons</a:t>
            </a:r>
          </a:p>
        </p:txBody>
      </p:sp>
      <p:sp>
        <p:nvSpPr>
          <p:cNvPr id="3" name="Text Placeholder 2">
            <a:extLst>
              <a:ext uri="{FF2B5EF4-FFF2-40B4-BE49-F238E27FC236}">
                <a16:creationId xmlns:a16="http://schemas.microsoft.com/office/drawing/2014/main" id="{ACCAE4B8-7D5C-A4B1-73F3-87CC7F2C8192}"/>
              </a:ext>
            </a:extLst>
          </p:cNvPr>
          <p:cNvSpPr>
            <a:spLocks noGrp="1"/>
          </p:cNvSpPr>
          <p:nvPr>
            <p:ph type="body" idx="1"/>
          </p:nvPr>
        </p:nvSpPr>
        <p:spPr>
          <a:xfrm>
            <a:off x="373269" y="2377661"/>
            <a:ext cx="12258261" cy="5715000"/>
          </a:xfrm>
        </p:spPr>
        <p:txBody>
          <a:bodyPr/>
          <a:lstStyle/>
          <a:p>
            <a:pPr marL="0" indent="0">
              <a:spcBef>
                <a:spcPts val="0"/>
              </a:spcBef>
              <a:buNone/>
            </a:pPr>
            <a:r>
              <a:rPr lang="en-GB" sz="3200" b="1" dirty="0"/>
              <a:t>The advantages of TCP CUBIC are</a:t>
            </a:r>
            <a:r>
              <a:rPr lang="en-CH" sz="3200" b="1" dirty="0"/>
              <a:t>:</a:t>
            </a:r>
            <a:endParaRPr lang="en-GB" sz="3200" b="1" dirty="0"/>
          </a:p>
          <a:p>
            <a:pPr marL="0" indent="0">
              <a:spcBef>
                <a:spcPts val="0"/>
              </a:spcBef>
              <a:buNone/>
            </a:pPr>
            <a:endParaRPr lang="en-GB" sz="3200" dirty="0"/>
          </a:p>
          <a:p>
            <a:pPr marL="457200" indent="-457200">
              <a:spcBef>
                <a:spcPts val="0"/>
              </a:spcBef>
            </a:pPr>
            <a:r>
              <a:rPr lang="en-GB" sz="3200" dirty="0"/>
              <a:t>Better scalability in high bandwidth-delay product networks.</a:t>
            </a:r>
          </a:p>
          <a:p>
            <a:pPr marL="457200" indent="-457200">
              <a:spcBef>
                <a:spcPts val="0"/>
              </a:spcBef>
            </a:pPr>
            <a:r>
              <a:rPr lang="en-GB" sz="3200" b="1" dirty="0"/>
              <a:t>Window growth does not depend on RTT </a:t>
            </a:r>
            <a:r>
              <a:rPr lang="en-GB" sz="3200" dirty="0"/>
              <a:t>which </a:t>
            </a:r>
            <a:r>
              <a:rPr lang="en-GB" sz="3200" b="1" dirty="0"/>
              <a:t>makes bandwidth sharing fair.</a:t>
            </a:r>
          </a:p>
          <a:p>
            <a:pPr marL="457200" indent="-457200">
              <a:spcBef>
                <a:spcPts val="0"/>
              </a:spcBef>
            </a:pPr>
            <a:r>
              <a:rPr lang="en-GB" sz="3200" b="1" dirty="0"/>
              <a:t>Simpler implementation </a:t>
            </a:r>
            <a:r>
              <a:rPr lang="en-GB" sz="3200" dirty="0"/>
              <a:t>than TCP BIC since CUBIC has single cubic function.</a:t>
            </a:r>
            <a:endParaRPr lang="en-CH" sz="3200" dirty="0"/>
          </a:p>
          <a:p>
            <a:pPr marL="457200" indent="-457200">
              <a:spcBef>
                <a:spcPts val="0"/>
              </a:spcBef>
            </a:pPr>
            <a:endParaRPr lang="en-GB" sz="3200" dirty="0"/>
          </a:p>
          <a:p>
            <a:pPr marL="0" indent="0">
              <a:spcBef>
                <a:spcPts val="0"/>
              </a:spcBef>
              <a:buNone/>
            </a:pPr>
            <a:r>
              <a:rPr lang="en-CH" sz="3200" b="1" dirty="0"/>
              <a:t>L</a:t>
            </a:r>
            <a:r>
              <a:rPr lang="en-GB" sz="3200" b="1" dirty="0"/>
              <a:t>imitations</a:t>
            </a:r>
            <a:r>
              <a:rPr lang="en-CH" sz="3200" b="1" dirty="0"/>
              <a:t>:</a:t>
            </a:r>
            <a:endParaRPr lang="en-GB" sz="3200" b="1" dirty="0"/>
          </a:p>
          <a:p>
            <a:pPr marL="0" indent="0">
              <a:spcBef>
                <a:spcPts val="0"/>
              </a:spcBef>
              <a:buNone/>
            </a:pPr>
            <a:endParaRPr lang="en-GB" sz="3200" dirty="0"/>
          </a:p>
          <a:p>
            <a:pPr marL="457200" indent="-457200">
              <a:spcBef>
                <a:spcPts val="0"/>
              </a:spcBef>
            </a:pPr>
            <a:r>
              <a:rPr lang="en-GB" sz="3200" dirty="0"/>
              <a:t>In some network conditions, it leads to </a:t>
            </a:r>
            <a:r>
              <a:rPr lang="en-CH" sz="3200" dirty="0"/>
              <a:t>(some extra) </a:t>
            </a:r>
            <a:r>
              <a:rPr lang="en-GB" sz="3200" dirty="0"/>
              <a:t>packet loss.</a:t>
            </a:r>
          </a:p>
        </p:txBody>
      </p:sp>
    </p:spTree>
    <p:extLst>
      <p:ext uri="{BB962C8B-B14F-4D97-AF65-F5344CB8AC3E}">
        <p14:creationId xmlns:p14="http://schemas.microsoft.com/office/powerpoint/2010/main" val="4074062939"/>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A96B91-34D4-3FFA-4C8A-1371A068D916}"/>
              </a:ext>
            </a:extLst>
          </p:cNvPr>
          <p:cNvPicPr>
            <a:picLocks noChangeAspect="1"/>
          </p:cNvPicPr>
          <p:nvPr/>
        </p:nvPicPr>
        <p:blipFill>
          <a:blip r:embed="rId2"/>
          <a:stretch>
            <a:fillRect/>
          </a:stretch>
        </p:blipFill>
        <p:spPr>
          <a:xfrm>
            <a:off x="355276" y="2855844"/>
            <a:ext cx="12649524" cy="3399182"/>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1584F34C-2505-C440-E40C-CEF5716B4404}"/>
                  </a:ext>
                </a:extLst>
              </p14:cNvPr>
              <p14:cNvContentPartPr/>
              <p14:nvPr/>
            </p14:nvContentPartPr>
            <p14:xfrm>
              <a:off x="1058760" y="3309840"/>
              <a:ext cx="11667600" cy="6234120"/>
            </p14:xfrm>
          </p:contentPart>
        </mc:Choice>
        <mc:Fallback>
          <p:pic>
            <p:nvPicPr>
              <p:cNvPr id="6" name="Ink 5">
                <a:extLst>
                  <a:ext uri="{FF2B5EF4-FFF2-40B4-BE49-F238E27FC236}">
                    <a16:creationId xmlns:a16="http://schemas.microsoft.com/office/drawing/2014/main" id="{1584F34C-2505-C440-E40C-CEF5716B4404}"/>
                  </a:ext>
                </a:extLst>
              </p:cNvPr>
              <p:cNvPicPr/>
              <p:nvPr/>
            </p:nvPicPr>
            <p:blipFill>
              <a:blip r:embed="rId4"/>
              <a:stretch>
                <a:fillRect/>
              </a:stretch>
            </p:blipFill>
            <p:spPr>
              <a:xfrm>
                <a:off x="1049400" y="3300480"/>
                <a:ext cx="11686320" cy="6252840"/>
              </a:xfrm>
              <a:prstGeom prst="rect">
                <a:avLst/>
              </a:prstGeom>
            </p:spPr>
          </p:pic>
        </mc:Fallback>
      </mc:AlternateContent>
    </p:spTree>
    <p:extLst>
      <p:ext uri="{BB962C8B-B14F-4D97-AF65-F5344CB8AC3E}">
        <p14:creationId xmlns:p14="http://schemas.microsoft.com/office/powerpoint/2010/main" val="3180159907"/>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3C4E-129D-D396-5F92-B22D560CF79F}"/>
              </a:ext>
            </a:extLst>
          </p:cNvPr>
          <p:cNvSpPr>
            <a:spLocks noGrp="1"/>
          </p:cNvSpPr>
          <p:nvPr>
            <p:ph type="title"/>
          </p:nvPr>
        </p:nvSpPr>
        <p:spPr/>
        <p:txBody>
          <a:bodyPr/>
          <a:lstStyle/>
          <a:p>
            <a:r>
              <a:rPr lang="en-GB" dirty="0"/>
              <a:t>QUIC and TCP: Why a New Transport?</a:t>
            </a:r>
            <a:endParaRPr lang="en-CH" dirty="0"/>
          </a:p>
        </p:txBody>
      </p:sp>
      <p:sp>
        <p:nvSpPr>
          <p:cNvPr id="3" name="Text Placeholder 2">
            <a:extLst>
              <a:ext uri="{FF2B5EF4-FFF2-40B4-BE49-F238E27FC236}">
                <a16:creationId xmlns:a16="http://schemas.microsoft.com/office/drawing/2014/main" id="{F277C5FA-691C-8C83-FB3F-E13404AC6B8C}"/>
              </a:ext>
            </a:extLst>
          </p:cNvPr>
          <p:cNvSpPr>
            <a:spLocks noGrp="1"/>
          </p:cNvSpPr>
          <p:nvPr>
            <p:ph type="body" idx="1"/>
          </p:nvPr>
        </p:nvSpPr>
        <p:spPr>
          <a:xfrm>
            <a:off x="549965" y="2768600"/>
            <a:ext cx="12105861" cy="5715000"/>
          </a:xfrm>
        </p:spPr>
        <p:txBody>
          <a:bodyPr/>
          <a:lstStyle/>
          <a:p>
            <a:r>
              <a:rPr lang="en-GB" dirty="0"/>
              <a:t>TCP is the classic Internet transport, widely used for reliable, ordered delivery between endpoints.</a:t>
            </a:r>
          </a:p>
          <a:p>
            <a:r>
              <a:rPr lang="en-GB" b="1" dirty="0"/>
              <a:t>QUIC</a:t>
            </a:r>
            <a:r>
              <a:rPr lang="en-GB" dirty="0"/>
              <a:t> is a modern transport built over UDP, designed to provide reliable delivery, low-latency setup, and secure communication.</a:t>
            </a:r>
          </a:p>
          <a:p>
            <a:r>
              <a:rPr lang="en-GB" dirty="0"/>
              <a:t>Main motivation: improve web performance, especially for modern applications and HTTP/3.</a:t>
            </a:r>
            <a:endParaRPr lang="en-CH" dirty="0"/>
          </a:p>
        </p:txBody>
      </p:sp>
    </p:spTree>
    <p:extLst>
      <p:ext uri="{BB962C8B-B14F-4D97-AF65-F5344CB8AC3E}">
        <p14:creationId xmlns:p14="http://schemas.microsoft.com/office/powerpoint/2010/main" val="3432325579"/>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04B73-AA64-EF51-04E5-1B0B5D03E9CD}"/>
              </a:ext>
            </a:extLst>
          </p:cNvPr>
          <p:cNvSpPr>
            <a:spLocks noGrp="1"/>
          </p:cNvSpPr>
          <p:nvPr>
            <p:ph type="title"/>
          </p:nvPr>
        </p:nvSpPr>
        <p:spPr/>
        <p:txBody>
          <a:bodyPr/>
          <a:lstStyle/>
          <a:p>
            <a:r>
              <a:rPr lang="en-GB" dirty="0"/>
              <a:t>How QUIC Differs from TCP</a:t>
            </a:r>
            <a:endParaRPr lang="en-CH" dirty="0"/>
          </a:p>
        </p:txBody>
      </p:sp>
      <p:sp>
        <p:nvSpPr>
          <p:cNvPr id="3" name="Text Placeholder 2">
            <a:extLst>
              <a:ext uri="{FF2B5EF4-FFF2-40B4-BE49-F238E27FC236}">
                <a16:creationId xmlns:a16="http://schemas.microsoft.com/office/drawing/2014/main" id="{A52BC4E0-467C-C3F3-DDDA-CE1F68C485BE}"/>
              </a:ext>
            </a:extLst>
          </p:cNvPr>
          <p:cNvSpPr>
            <a:spLocks noGrp="1"/>
          </p:cNvSpPr>
          <p:nvPr>
            <p:ph type="body" idx="1"/>
          </p:nvPr>
        </p:nvSpPr>
        <p:spPr>
          <a:xfrm>
            <a:off x="172277" y="3676374"/>
            <a:ext cx="12423913" cy="5715000"/>
          </a:xfrm>
        </p:spPr>
        <p:txBody>
          <a:bodyPr/>
          <a:lstStyle/>
          <a:p>
            <a:r>
              <a:rPr lang="fr-FR" b="1" dirty="0"/>
              <a:t>Faster connection setup</a:t>
            </a:r>
            <a:r>
              <a:rPr lang="fr-FR" dirty="0"/>
              <a:t>: QUIC combines transport and security setup more efficiently, enabling 1-RTT setup and 0-RTT resumption in some cases.</a:t>
            </a:r>
          </a:p>
          <a:p>
            <a:r>
              <a:rPr lang="fr-FR" b="1" dirty="0"/>
              <a:t>Built-in security</a:t>
            </a:r>
            <a:r>
              <a:rPr lang="fr-FR" dirty="0"/>
              <a:t>: QUIC integrates TLS 1.3 into the protocol; </a:t>
            </a:r>
            <a:r>
              <a:rPr lang="fr-FR" u="sng" dirty="0"/>
              <a:t>encryption is mandatory</a:t>
            </a:r>
            <a:r>
              <a:rPr lang="fr-FR" dirty="0"/>
              <a:t>.</a:t>
            </a:r>
          </a:p>
          <a:p>
            <a:r>
              <a:rPr lang="fr-FR" b="1" dirty="0"/>
              <a:t>Runs over UDP in user space</a:t>
            </a:r>
            <a:r>
              <a:rPr lang="fr-FR" dirty="0"/>
              <a:t>: this makes deployment and protocol evolution easier than kernel-based TCP changes.</a:t>
            </a:r>
          </a:p>
          <a:p>
            <a:endParaRPr lang="fr-FR" dirty="0"/>
          </a:p>
          <a:p>
            <a:endParaRPr lang="en-CH" dirty="0"/>
          </a:p>
        </p:txBody>
      </p:sp>
    </p:spTree>
    <p:extLst>
      <p:ext uri="{BB962C8B-B14F-4D97-AF65-F5344CB8AC3E}">
        <p14:creationId xmlns:p14="http://schemas.microsoft.com/office/powerpoint/2010/main" val="2839761177"/>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D34D3-7DCF-F02F-B523-BF2F6C054801}"/>
              </a:ext>
            </a:extLst>
          </p:cNvPr>
          <p:cNvSpPr>
            <a:spLocks noGrp="1"/>
          </p:cNvSpPr>
          <p:nvPr>
            <p:ph type="title"/>
          </p:nvPr>
        </p:nvSpPr>
        <p:spPr/>
        <p:txBody>
          <a:bodyPr/>
          <a:lstStyle/>
          <a:p>
            <a:r>
              <a:rPr lang="fr-FR" dirty="0"/>
              <a:t>Key Technical Advantages</a:t>
            </a:r>
            <a:endParaRPr lang="en-CH" dirty="0"/>
          </a:p>
        </p:txBody>
      </p:sp>
      <p:sp>
        <p:nvSpPr>
          <p:cNvPr id="3" name="Text Placeholder 2">
            <a:extLst>
              <a:ext uri="{FF2B5EF4-FFF2-40B4-BE49-F238E27FC236}">
                <a16:creationId xmlns:a16="http://schemas.microsoft.com/office/drawing/2014/main" id="{844CAA04-2F64-CBAA-58B9-319CA4797573}"/>
              </a:ext>
            </a:extLst>
          </p:cNvPr>
          <p:cNvSpPr>
            <a:spLocks noGrp="1"/>
          </p:cNvSpPr>
          <p:nvPr>
            <p:ph type="body" idx="1"/>
          </p:nvPr>
        </p:nvSpPr>
        <p:spPr>
          <a:xfrm>
            <a:off x="318052" y="2768600"/>
            <a:ext cx="12211878" cy="5715000"/>
          </a:xfrm>
        </p:spPr>
        <p:txBody>
          <a:bodyPr/>
          <a:lstStyle/>
          <a:p>
            <a:r>
              <a:rPr lang="en-GB" sz="3600" dirty="0"/>
              <a:t>Independent streams: QUIC supports </a:t>
            </a:r>
            <a:r>
              <a:rPr lang="en-GB" sz="3600" b="1" dirty="0"/>
              <a:t>multiple streams in one connection</a:t>
            </a:r>
            <a:r>
              <a:rPr lang="en-GB" sz="3600" dirty="0"/>
              <a:t>, so loss in one stream does not block delivery of others at the transport level.</a:t>
            </a:r>
          </a:p>
          <a:p>
            <a:r>
              <a:rPr lang="en-GB" sz="3600" b="1" dirty="0"/>
              <a:t>Connection migration: QUIC can keep a connection alive when the client changes IP address or network path</a:t>
            </a:r>
            <a:r>
              <a:rPr lang="en-GB" sz="3600" dirty="0"/>
              <a:t>, such as Wi‑Fi to mobile.</a:t>
            </a:r>
          </a:p>
          <a:p>
            <a:r>
              <a:rPr lang="en-GB" sz="3600" b="1" dirty="0"/>
              <a:t>Better latency </a:t>
            </a:r>
            <a:r>
              <a:rPr lang="en-GB" sz="3600" b="1" dirty="0" err="1"/>
              <a:t>behavior</a:t>
            </a:r>
            <a:r>
              <a:rPr lang="en-GB" sz="3600" dirty="0"/>
              <a:t>: QUIC was designed for lower handshake delay and improved responsiveness on today’s Internet paths.</a:t>
            </a:r>
            <a:endParaRPr lang="en-CH" sz="3600" dirty="0"/>
          </a:p>
        </p:txBody>
      </p:sp>
    </p:spTree>
    <p:extLst>
      <p:ext uri="{BB962C8B-B14F-4D97-AF65-F5344CB8AC3E}">
        <p14:creationId xmlns:p14="http://schemas.microsoft.com/office/powerpoint/2010/main" val="74683204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4776C-1550-41C0-18B6-FBE4411A280A}"/>
              </a:ext>
            </a:extLst>
          </p:cNvPr>
          <p:cNvSpPr>
            <a:spLocks noGrp="1"/>
          </p:cNvSpPr>
          <p:nvPr>
            <p:ph type="title"/>
          </p:nvPr>
        </p:nvSpPr>
        <p:spPr/>
        <p:txBody>
          <a:bodyPr/>
          <a:lstStyle/>
          <a:p>
            <a:r>
              <a:rPr lang="en-CH" dirty="0"/>
              <a:t>Flow Control in TCP</a:t>
            </a:r>
          </a:p>
        </p:txBody>
      </p:sp>
      <p:sp>
        <p:nvSpPr>
          <p:cNvPr id="5" name="Text Placeholder 4">
            <a:extLst>
              <a:ext uri="{FF2B5EF4-FFF2-40B4-BE49-F238E27FC236}">
                <a16:creationId xmlns:a16="http://schemas.microsoft.com/office/drawing/2014/main" id="{A1EBEED0-920D-20DA-939D-08203B22A6A8}"/>
              </a:ext>
            </a:extLst>
          </p:cNvPr>
          <p:cNvSpPr>
            <a:spLocks noGrp="1"/>
          </p:cNvSpPr>
          <p:nvPr>
            <p:ph type="body" sz="quarter" idx="1"/>
          </p:nvPr>
        </p:nvSpPr>
        <p:spPr/>
        <p:txBody>
          <a:bodyPr/>
          <a:lstStyle/>
          <a:p>
            <a:endParaRPr lang="en-CH"/>
          </a:p>
        </p:txBody>
      </p:sp>
    </p:spTree>
    <p:extLst>
      <p:ext uri="{BB962C8B-B14F-4D97-AF65-F5344CB8AC3E}">
        <p14:creationId xmlns:p14="http://schemas.microsoft.com/office/powerpoint/2010/main" val="2333056464"/>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2" name="Rectangle"/>
          <p:cNvSpPr/>
          <p:nvPr/>
        </p:nvSpPr>
        <p:spPr>
          <a:xfrm>
            <a:off x="833823" y="-187354"/>
            <a:ext cx="2527620"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153" name="Rectangle"/>
          <p:cNvSpPr/>
          <p:nvPr/>
        </p:nvSpPr>
        <p:spPr>
          <a:xfrm>
            <a:off x="9228756" y="-187354"/>
            <a:ext cx="278197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154" name="Rounded Rectangle"/>
          <p:cNvSpPr/>
          <p:nvPr/>
        </p:nvSpPr>
        <p:spPr>
          <a:xfrm>
            <a:off x="8927603" y="1308100"/>
            <a:ext cx="3918101" cy="8174385"/>
          </a:xfrm>
          <a:prstGeom prst="roundRect">
            <a:avLst>
              <a:gd name="adj" fmla="val 4862"/>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155" name="Alice’s computer"/>
          <p:cNvSpPr/>
          <p:nvPr/>
        </p:nvSpPr>
        <p:spPr>
          <a:xfrm>
            <a:off x="-150365"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1156" name="Bob’s computer"/>
          <p:cNvSpPr/>
          <p:nvPr/>
        </p:nvSpPr>
        <p:spPr>
          <a:xfrm>
            <a:off x="8676853" y="435168"/>
            <a:ext cx="4419601" cy="818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115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60</a:t>
            </a:fld>
            <a:endParaRPr/>
          </a:p>
        </p:txBody>
      </p:sp>
      <p:sp>
        <p:nvSpPr>
          <p:cNvPr id="1158" name="Rounded Rectangle"/>
          <p:cNvSpPr/>
          <p:nvPr/>
        </p:nvSpPr>
        <p:spPr>
          <a:xfrm>
            <a:off x="133864" y="1308100"/>
            <a:ext cx="3506621" cy="8174385"/>
          </a:xfrm>
          <a:prstGeom prst="roundRect">
            <a:avLst>
              <a:gd name="adj" fmla="val 5433"/>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1161" name="Group"/>
          <p:cNvGrpSpPr/>
          <p:nvPr/>
        </p:nvGrpSpPr>
        <p:grpSpPr>
          <a:xfrm>
            <a:off x="4061051" y="1897003"/>
            <a:ext cx="4625991" cy="1084564"/>
            <a:chOff x="0" y="0"/>
            <a:chExt cx="4625989" cy="1084563"/>
          </a:xfrm>
        </p:grpSpPr>
        <p:sp>
          <p:nvSpPr>
            <p:cNvPr id="1159" name="rx-win 100"/>
            <p:cNvSpPr/>
            <p:nvPr/>
          </p:nvSpPr>
          <p:spPr>
            <a:xfrm rot="21154737">
              <a:off x="1896053" y="143989"/>
              <a:ext cx="2274102" cy="685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942193"/>
                  </a:solidFill>
                  <a:latin typeface="Courier"/>
                  <a:ea typeface="Courier"/>
                  <a:cs typeface="Courier"/>
                  <a:sym typeface="Courier"/>
                </a:defRPr>
              </a:lvl1pPr>
            </a:lstStyle>
            <a:p>
              <a:r>
                <a:t>rx-win 100</a:t>
              </a:r>
            </a:p>
          </p:txBody>
        </p:sp>
        <p:sp>
          <p:nvSpPr>
            <p:cNvPr id="1160" name="Line"/>
            <p:cNvSpPr/>
            <p:nvPr/>
          </p:nvSpPr>
          <p:spPr>
            <a:xfrm flipV="1">
              <a:off x="-1" y="458029"/>
              <a:ext cx="4625991" cy="626535"/>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1164" name="Group"/>
          <p:cNvGrpSpPr/>
          <p:nvPr/>
        </p:nvGrpSpPr>
        <p:grpSpPr>
          <a:xfrm>
            <a:off x="4062484" y="2979890"/>
            <a:ext cx="4559448" cy="1044195"/>
            <a:chOff x="0" y="0"/>
            <a:chExt cx="4559446" cy="1044193"/>
          </a:xfrm>
        </p:grpSpPr>
        <p:sp>
          <p:nvSpPr>
            <p:cNvPr id="1162" name="Line"/>
            <p:cNvSpPr/>
            <p:nvPr/>
          </p:nvSpPr>
          <p:spPr>
            <a:xfrm flipH="1" flipV="1">
              <a:off x="-1" y="526585"/>
              <a:ext cx="4559448" cy="517609"/>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1163" name="[100 bytes]"/>
            <p:cNvSpPr/>
            <p:nvPr/>
          </p:nvSpPr>
          <p:spPr>
            <a:xfrm rot="380164">
              <a:off x="236574" y="133753"/>
              <a:ext cx="2461911" cy="685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424242"/>
                  </a:solidFill>
                  <a:latin typeface="Courier"/>
                  <a:ea typeface="Courier"/>
                  <a:cs typeface="Courier"/>
                  <a:sym typeface="Courier"/>
                </a:defRPr>
              </a:lvl1pPr>
            </a:lstStyle>
            <a:p>
              <a:r>
                <a:t>[100 bytes]</a:t>
              </a:r>
            </a:p>
          </p:txBody>
        </p:sp>
      </p:grpSp>
      <p:grpSp>
        <p:nvGrpSpPr>
          <p:cNvPr id="1167" name="Group"/>
          <p:cNvGrpSpPr/>
          <p:nvPr/>
        </p:nvGrpSpPr>
        <p:grpSpPr>
          <a:xfrm>
            <a:off x="4027643" y="3991506"/>
            <a:ext cx="4625991" cy="1116961"/>
            <a:chOff x="0" y="0"/>
            <a:chExt cx="4625989" cy="1116959"/>
          </a:xfrm>
        </p:grpSpPr>
        <p:sp>
          <p:nvSpPr>
            <p:cNvPr id="1165" name="Line"/>
            <p:cNvSpPr/>
            <p:nvPr/>
          </p:nvSpPr>
          <p:spPr>
            <a:xfrm flipV="1">
              <a:off x="-1" y="490425"/>
              <a:ext cx="4625991" cy="6265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1166" name="rx-win 0"/>
            <p:cNvSpPr/>
            <p:nvPr/>
          </p:nvSpPr>
          <p:spPr>
            <a:xfrm rot="21154737">
              <a:off x="2126031" y="133655"/>
              <a:ext cx="2114080" cy="685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942193"/>
                  </a:solidFill>
                  <a:latin typeface="Courier"/>
                  <a:ea typeface="Courier"/>
                  <a:cs typeface="Courier"/>
                  <a:sym typeface="Courier"/>
                </a:defRPr>
              </a:lvl1pPr>
            </a:lstStyle>
            <a:p>
              <a:r>
                <a:t>rx-win 0</a:t>
              </a:r>
            </a:p>
          </p:txBody>
        </p:sp>
      </p:grpSp>
      <p:sp>
        <p:nvSpPr>
          <p:cNvPr id="1168" name="Line"/>
          <p:cNvSpPr/>
          <p:nvPr/>
        </p:nvSpPr>
        <p:spPr>
          <a:xfrm flipH="1" flipV="1">
            <a:off x="4062484" y="5605709"/>
            <a:ext cx="4559447"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grpSp>
        <p:nvGrpSpPr>
          <p:cNvPr id="1171" name="Group"/>
          <p:cNvGrpSpPr/>
          <p:nvPr/>
        </p:nvGrpSpPr>
        <p:grpSpPr>
          <a:xfrm>
            <a:off x="3950184" y="5910508"/>
            <a:ext cx="4625991" cy="1116960"/>
            <a:chOff x="0" y="0"/>
            <a:chExt cx="4625989" cy="1116959"/>
          </a:xfrm>
        </p:grpSpPr>
        <p:sp>
          <p:nvSpPr>
            <p:cNvPr id="1169" name="Line"/>
            <p:cNvSpPr/>
            <p:nvPr/>
          </p:nvSpPr>
          <p:spPr>
            <a:xfrm flipV="1">
              <a:off x="-1" y="490425"/>
              <a:ext cx="4625991" cy="6265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1170" name="rx-win 0"/>
            <p:cNvSpPr/>
            <p:nvPr/>
          </p:nvSpPr>
          <p:spPr>
            <a:xfrm rot="21154737">
              <a:off x="2126031" y="133655"/>
              <a:ext cx="2114080" cy="685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942193"/>
                  </a:solidFill>
                  <a:latin typeface="Courier"/>
                  <a:ea typeface="Courier"/>
                  <a:cs typeface="Courier"/>
                  <a:sym typeface="Courier"/>
                </a:defRPr>
              </a:lvl1pPr>
            </a:lstStyle>
            <a:p>
              <a:r>
                <a:t>rx-win 0</a:t>
              </a:r>
            </a:p>
          </p:txBody>
        </p:sp>
      </p:grpSp>
      <p:sp>
        <p:nvSpPr>
          <p:cNvPr id="1172" name="Line"/>
          <p:cNvSpPr/>
          <p:nvPr/>
        </p:nvSpPr>
        <p:spPr>
          <a:xfrm flipH="1" flipV="1">
            <a:off x="4015456" y="7302343"/>
            <a:ext cx="4559448" cy="517610"/>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grpSp>
        <p:nvGrpSpPr>
          <p:cNvPr id="1175" name="Group"/>
          <p:cNvGrpSpPr/>
          <p:nvPr/>
        </p:nvGrpSpPr>
        <p:grpSpPr>
          <a:xfrm>
            <a:off x="3903157" y="7607141"/>
            <a:ext cx="4625991" cy="1116961"/>
            <a:chOff x="0" y="0"/>
            <a:chExt cx="4625989" cy="1116959"/>
          </a:xfrm>
        </p:grpSpPr>
        <p:sp>
          <p:nvSpPr>
            <p:cNvPr id="1173" name="Line"/>
            <p:cNvSpPr/>
            <p:nvPr/>
          </p:nvSpPr>
          <p:spPr>
            <a:xfrm flipV="1">
              <a:off x="-1" y="490425"/>
              <a:ext cx="4625991" cy="626536"/>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1174" name="rx-win 50"/>
            <p:cNvSpPr/>
            <p:nvPr/>
          </p:nvSpPr>
          <p:spPr>
            <a:xfrm rot="21154737">
              <a:off x="2126031" y="133655"/>
              <a:ext cx="2114080" cy="685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l">
                <a:defRPr sz="2400">
                  <a:solidFill>
                    <a:srgbClr val="942193"/>
                  </a:solidFill>
                  <a:latin typeface="Courier"/>
                  <a:ea typeface="Courier"/>
                  <a:cs typeface="Courier"/>
                  <a:sym typeface="Courier"/>
                </a:defRPr>
              </a:lvl1pPr>
            </a:lstStyle>
            <a:p>
              <a:r>
                <a:t>rx-win 50</a:t>
              </a:r>
            </a:p>
          </p:txBody>
        </p:sp>
      </p:grpSp>
      <p:grpSp>
        <p:nvGrpSpPr>
          <p:cNvPr id="1179" name="Group"/>
          <p:cNvGrpSpPr/>
          <p:nvPr/>
        </p:nvGrpSpPr>
        <p:grpSpPr>
          <a:xfrm>
            <a:off x="9592174" y="2688596"/>
            <a:ext cx="1800783" cy="1271206"/>
            <a:chOff x="0" y="0"/>
            <a:chExt cx="1800782" cy="1271204"/>
          </a:xfrm>
        </p:grpSpPr>
        <p:sp>
          <p:nvSpPr>
            <p:cNvPr id="1176" name="Line"/>
            <p:cNvSpPr/>
            <p:nvPr/>
          </p:nvSpPr>
          <p:spPr>
            <a:xfrm flipV="1">
              <a:off x="0" y="1255338"/>
              <a:ext cx="1799527"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1177" name="Line"/>
            <p:cNvSpPr/>
            <p:nvPr/>
          </p:nvSpPr>
          <p:spPr>
            <a:xfrm flipH="1" flipV="1">
              <a:off x="1798402" y="0"/>
              <a:ext cx="1" cy="1271205"/>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1178" name="Line"/>
            <p:cNvSpPr/>
            <p:nvPr/>
          </p:nvSpPr>
          <p:spPr>
            <a:xfrm flipH="1" flipV="1">
              <a:off x="24144" y="12430"/>
              <a:ext cx="1776639" cy="2"/>
            </a:xfrm>
            <a:prstGeom prst="line">
              <a:avLst/>
            </a:prstGeom>
            <a:noFill/>
            <a:ln w="25400" cap="flat">
              <a:solidFill>
                <a:srgbClr val="424242"/>
              </a:solidFill>
              <a:prstDash val="solid"/>
              <a:miter lim="400000"/>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sp>
        <p:nvSpPr>
          <p:cNvPr id="1180" name="receive buffer"/>
          <p:cNvSpPr txBox="1"/>
          <p:nvPr/>
        </p:nvSpPr>
        <p:spPr>
          <a:xfrm>
            <a:off x="9592174" y="1440221"/>
            <a:ext cx="1812027" cy="1112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00">
                <a:solidFill>
                  <a:srgbClr val="942193"/>
                </a:solidFill>
                <a:latin typeface="+mn-lt"/>
                <a:ea typeface="+mn-ea"/>
                <a:cs typeface="+mn-cs"/>
                <a:sym typeface="Chalkboard SE Regular"/>
              </a:defRPr>
            </a:lvl1pPr>
          </a:lstStyle>
          <a:p>
            <a:r>
              <a:t>receive buffer</a:t>
            </a:r>
          </a:p>
        </p:txBody>
      </p:sp>
      <p:sp>
        <p:nvSpPr>
          <p:cNvPr id="1181" name="Rectangle"/>
          <p:cNvSpPr/>
          <p:nvPr/>
        </p:nvSpPr>
        <p:spPr>
          <a:xfrm>
            <a:off x="10023509" y="2739396"/>
            <a:ext cx="1321688" cy="1166769"/>
          </a:xfrm>
          <a:prstGeom prst="rect">
            <a:avLst/>
          </a:prstGeom>
          <a:solidFill>
            <a:srgbClr val="942193"/>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182" name="Rectangle"/>
          <p:cNvSpPr/>
          <p:nvPr/>
        </p:nvSpPr>
        <p:spPr>
          <a:xfrm>
            <a:off x="9608642" y="2743708"/>
            <a:ext cx="684113" cy="1166769"/>
          </a:xfrm>
          <a:prstGeom prst="rect">
            <a:avLst/>
          </a:prstGeom>
          <a:solidFill>
            <a:srgbClr val="942193"/>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1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1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1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1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17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iterate>
                                    <p:tmAbs val="0"/>
                                  </p:iterate>
                                  <p:childTnLst>
                                    <p:set>
                                      <p:cBhvr>
                                        <p:cTn id="34" fill="hold">
                                          <p:stCondLst>
                                            <p:cond delay="0"/>
                                          </p:stCondLst>
                                        </p:cTn>
                                        <p:tgtEl>
                                          <p:spTgt spid="118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11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1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 grpId="0" animBg="1" advAuto="0"/>
      <p:bldP spid="1164" grpId="0" animBg="1" advAuto="0"/>
      <p:bldP spid="1167" grpId="0" animBg="1" advAuto="0"/>
      <p:bldP spid="1168" grpId="0" animBg="1" advAuto="0"/>
      <p:bldP spid="1171" grpId="0" animBg="1" advAuto="0"/>
      <p:bldP spid="1172" grpId="0" animBg="1" advAuto="0"/>
      <p:bldP spid="1175" grpId="0" animBg="1" advAuto="0"/>
      <p:bldP spid="1181" grpId="0" animBg="1" advAuto="0"/>
      <p:bldP spid="1182" grpId="0" animBg="1" advAuto="0"/>
      <p:bldP spid="1182" grpId="1" animBg="1" advAuto="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6" name="Flow control"/>
          <p:cNvSpPr txBox="1">
            <a:spLocks noGrp="1"/>
          </p:cNvSpPr>
          <p:nvPr>
            <p:ph type="title"/>
          </p:nvPr>
        </p:nvSpPr>
        <p:spPr>
          <a:xfrm>
            <a:off x="1270000" y="654050"/>
            <a:ext cx="10464800" cy="1638300"/>
          </a:xfrm>
          <a:prstGeom prst="rect">
            <a:avLst/>
          </a:prstGeom>
        </p:spPr>
        <p:txBody>
          <a:bodyPr/>
          <a:lstStyle/>
          <a:p>
            <a:r>
              <a:t>Flow control</a:t>
            </a:r>
          </a:p>
        </p:txBody>
      </p:sp>
      <p:sp>
        <p:nvSpPr>
          <p:cNvPr id="1187" name="Goal: not overwhelm the receiver…"/>
          <p:cNvSpPr txBox="1">
            <a:spLocks noGrp="1"/>
          </p:cNvSpPr>
          <p:nvPr>
            <p:ph type="body" idx="1"/>
          </p:nvPr>
        </p:nvSpPr>
        <p:spPr>
          <a:xfrm>
            <a:off x="1114102" y="2493716"/>
            <a:ext cx="10584772" cy="5459400"/>
          </a:xfrm>
          <a:prstGeom prst="rect">
            <a:avLst/>
          </a:prstGeom>
        </p:spPr>
        <p:txBody>
          <a:bodyPr anchor="t"/>
          <a:lstStyle/>
          <a:p>
            <a:pPr>
              <a:spcBef>
                <a:spcPts val="0"/>
              </a:spcBef>
            </a:pPr>
            <a:r>
              <a:t>Goal: not overwhelm the </a:t>
            </a:r>
            <a:r>
              <a:rPr>
                <a:solidFill>
                  <a:srgbClr val="942193"/>
                </a:solidFill>
              </a:rPr>
              <a:t>receiver</a:t>
            </a:r>
          </a:p>
          <a:p>
            <a:pPr lvl="1">
              <a:spcBef>
                <a:spcPts val="4000"/>
              </a:spcBef>
            </a:pPr>
            <a:r>
              <a:t>not send at a rate that the </a:t>
            </a:r>
            <a:br/>
            <a:r>
              <a:t>receiver cannot handle</a:t>
            </a:r>
          </a:p>
          <a:p>
            <a:pPr>
              <a:spcBef>
                <a:spcPts val="0"/>
              </a:spcBef>
            </a:pPr>
            <a:r>
              <a:t>How: “</a:t>
            </a:r>
            <a:r>
              <a:rPr>
                <a:solidFill>
                  <a:srgbClr val="942193"/>
                </a:solidFill>
              </a:rPr>
              <a:t>receiver window</a:t>
            </a:r>
            <a:r>
              <a:t>”</a:t>
            </a:r>
          </a:p>
          <a:p>
            <a:pPr lvl="1">
              <a:spcBef>
                <a:spcPts val="0"/>
              </a:spcBef>
            </a:pPr>
            <a:r>
              <a:t>spare room in receiver’s rx buffer</a:t>
            </a:r>
          </a:p>
          <a:p>
            <a:pPr lvl="1">
              <a:spcBef>
                <a:spcPts val="0"/>
              </a:spcBef>
            </a:pPr>
            <a:r>
              <a:t>receiver communicates it to sender </a:t>
            </a:r>
            <a:br/>
            <a:r>
              <a:t>as TCP header field</a:t>
            </a:r>
          </a:p>
        </p:txBody>
      </p:sp>
      <p:sp>
        <p:nvSpPr>
          <p:cNvPr id="1188" name="Slide Number"/>
          <p:cNvSpPr txBox="1">
            <a:spLocks noGrp="1"/>
          </p:cNvSpPr>
          <p:nvPr>
            <p:ph type="sldNum" sz="quarter" idx="2"/>
          </p:nvPr>
        </p:nvSpPr>
        <p:spPr>
          <a:xfrm>
            <a:off x="11872937" y="8864600"/>
            <a:ext cx="346026" cy="381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61</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18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18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18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118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11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 grpId="0" build="p" animBg="1" advAuto="0"/>
    </p:bldLst>
  </p:timing>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Chalkboard SE Regular"/>
        <a:ea typeface="Chalkboard SE Regular"/>
        <a:cs typeface="Chalkboard SE Regular"/>
      </a:majorFont>
      <a:minorFont>
        <a:latin typeface="Chalkboard SE Regular"/>
        <a:ea typeface="Chalkboard SE Regular"/>
        <a:cs typeface="Chalkboard SE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Chalkboard SE Regular"/>
        <a:ea typeface="Chalkboard SE Regular"/>
        <a:cs typeface="Chalkboard SE Regular"/>
      </a:majorFont>
      <a:minorFont>
        <a:latin typeface="Chalkboard SE Regular"/>
        <a:ea typeface="Chalkboard SE Regular"/>
        <a:cs typeface="Chalkboard SE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3346</TotalTime>
  <Words>7445</Words>
  <Application>Microsoft Office PowerPoint</Application>
  <PresentationFormat>Custom</PresentationFormat>
  <Paragraphs>895</Paragraphs>
  <Slides>61</Slides>
  <Notes>45</Notes>
  <HiddenSlides>13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Chalkboard SE Regular</vt:lpstr>
      <vt:lpstr>Gill Sans</vt:lpstr>
      <vt:lpstr>Lucida Grande</vt:lpstr>
      <vt:lpstr>Times New Roman</vt:lpstr>
      <vt:lpstr>White</vt:lpstr>
      <vt:lpstr>The Transport Layer Part 2</vt:lpstr>
      <vt:lpstr>Outline</vt:lpstr>
      <vt:lpstr>Outline</vt:lpstr>
      <vt:lpstr>UDP: reliability elements</vt:lpstr>
      <vt:lpstr>PowerPoint Presentation</vt:lpstr>
      <vt:lpstr>Outline (from last lecture)</vt:lpstr>
      <vt:lpstr>TCP: reliability elements</vt:lpstr>
      <vt:lpstr>TCP: reliability elements</vt:lpstr>
      <vt:lpstr>PowerPoint Presentation</vt:lpstr>
      <vt:lpstr>SEQs &amp; ACKs</vt:lpstr>
      <vt:lpstr>PowerPoint Presentation</vt:lpstr>
      <vt:lpstr>PowerPoint Presentation</vt:lpstr>
      <vt:lpstr>Simple things to remember</vt:lpstr>
      <vt:lpstr>TCP: reliability elements</vt:lpstr>
      <vt:lpstr>PowerPoint Presentation</vt:lpstr>
      <vt:lpstr>PowerPoint Presentation</vt:lpstr>
      <vt:lpstr>Timeout calculation </vt:lpstr>
      <vt:lpstr>PowerPoint Presentation</vt:lpstr>
      <vt:lpstr>Two retransmission triggers</vt:lpstr>
      <vt:lpstr>TCP: reliability elements</vt:lpstr>
      <vt:lpstr>Is TCP Go-back-N or SR?</vt:lpstr>
      <vt:lpstr>Other key elements of TCP</vt:lpstr>
      <vt:lpstr>TCP elements</vt:lpstr>
      <vt:lpstr>PowerPoint Presentation</vt:lpstr>
      <vt:lpstr>PowerPoint Presentation</vt:lpstr>
      <vt:lpstr>Connection setup</vt:lpstr>
      <vt:lpstr>Congestion control</vt:lpstr>
      <vt:lpstr>Bandwidth-delay product</vt:lpstr>
      <vt:lpstr>PowerPoint Presentation</vt:lpstr>
      <vt:lpstr>PowerPoint Presentation</vt:lpstr>
      <vt:lpstr>TCP congestion windows is managed via self-clocking</vt:lpstr>
      <vt:lpstr>PowerPoint Presentation</vt:lpstr>
      <vt:lpstr>Speed of increase in window size is exponential!</vt:lpstr>
      <vt:lpstr>PowerPoint Presentation</vt:lpstr>
      <vt:lpstr>PowerPoint Presentation</vt:lpstr>
      <vt:lpstr>PowerPoint Presentation</vt:lpstr>
      <vt:lpstr>Increase window size</vt:lpstr>
      <vt:lpstr>PowerPoint Presentation</vt:lpstr>
      <vt:lpstr>PowerPoint Presentation</vt:lpstr>
      <vt:lpstr>Basic algorithm (Tahoe)</vt:lpstr>
      <vt:lpstr>PowerPoint Presentation</vt:lpstr>
      <vt:lpstr>Basic algorithm (Reno)</vt:lpstr>
      <vt:lpstr>PowerPoint Presentation</vt:lpstr>
      <vt:lpstr>PowerPoint Presentation</vt:lpstr>
      <vt:lpstr>TCP terminology</vt:lpstr>
      <vt:lpstr>TCP Reno and New Reno</vt:lpstr>
      <vt:lpstr>TCP Binary Increase Congestion Control (often called TCP Binary)</vt:lpstr>
      <vt:lpstr>Congestion window evolution</vt:lpstr>
      <vt:lpstr>TCP Cubic</vt:lpstr>
      <vt:lpstr>PowerPoint Presentation</vt:lpstr>
      <vt:lpstr>TCP Cubic</vt:lpstr>
      <vt:lpstr>What “TCP friendly” means?</vt:lpstr>
      <vt:lpstr>Loss Handling in TCP CUBIC</vt:lpstr>
      <vt:lpstr>TCP CUBIC: Pros and cons</vt:lpstr>
      <vt:lpstr>PowerPoint Presentation</vt:lpstr>
      <vt:lpstr>QUIC and TCP: Why a New Transport?</vt:lpstr>
      <vt:lpstr>How QUIC Differs from TCP</vt:lpstr>
      <vt:lpstr>Key Technical Advantages</vt:lpstr>
      <vt:lpstr>Flow Control in TCP</vt:lpstr>
      <vt:lpstr>PowerPoint Presentation</vt:lpstr>
      <vt:lpstr>Flow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Transport Layer</dc:title>
  <dc:creator>Gianluca Rizzo</dc:creator>
  <cp:lastModifiedBy>Rizzo Gianluca</cp:lastModifiedBy>
  <cp:revision>44</cp:revision>
  <dcterms:modified xsi:type="dcterms:W3CDTF">2026-04-30T14:30:13Z</dcterms:modified>
</cp:coreProperties>
</file>