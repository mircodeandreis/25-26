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4"/>
  </p:notesMasterIdLst>
  <p:sldIdLst>
    <p:sldId id="256" r:id="rId2"/>
    <p:sldId id="257" r:id="rId3"/>
    <p:sldId id="359" r:id="rId4"/>
    <p:sldId id="361" r:id="rId5"/>
    <p:sldId id="360" r:id="rId6"/>
    <p:sldId id="362" r:id="rId7"/>
    <p:sldId id="363" r:id="rId8"/>
    <p:sldId id="364" r:id="rId9"/>
    <p:sldId id="258" r:id="rId10"/>
    <p:sldId id="365" r:id="rId11"/>
    <p:sldId id="297" r:id="rId12"/>
    <p:sldId id="260" r:id="rId13"/>
    <p:sldId id="298" r:id="rId14"/>
    <p:sldId id="366" r:id="rId15"/>
    <p:sldId id="261" r:id="rId16"/>
    <p:sldId id="262" r:id="rId17"/>
    <p:sldId id="263" r:id="rId18"/>
    <p:sldId id="264" r:id="rId19"/>
    <p:sldId id="265" r:id="rId20"/>
    <p:sldId id="266" r:id="rId21"/>
    <p:sldId id="267" r:id="rId22"/>
    <p:sldId id="268" r:id="rId23"/>
    <p:sldId id="269" r:id="rId24"/>
    <p:sldId id="270" r:id="rId25"/>
    <p:sldId id="271" r:id="rId26"/>
    <p:sldId id="272" r:id="rId27"/>
    <p:sldId id="273" r:id="rId28"/>
    <p:sldId id="274" r:id="rId29"/>
    <p:sldId id="275" r:id="rId30"/>
    <p:sldId id="276" r:id="rId31"/>
    <p:sldId id="277" r:id="rId32"/>
    <p:sldId id="278" r:id="rId33"/>
    <p:sldId id="279" r:id="rId34"/>
    <p:sldId id="280" r:id="rId35"/>
    <p:sldId id="281" r:id="rId36"/>
    <p:sldId id="282" r:id="rId37"/>
    <p:sldId id="283" r:id="rId38"/>
    <p:sldId id="284" r:id="rId39"/>
    <p:sldId id="285" r:id="rId40"/>
    <p:sldId id="286" r:id="rId41"/>
    <p:sldId id="287" r:id="rId42"/>
    <p:sldId id="288" r:id="rId43"/>
    <p:sldId id="289" r:id="rId44"/>
    <p:sldId id="290" r:id="rId45"/>
    <p:sldId id="299" r:id="rId46"/>
    <p:sldId id="291" r:id="rId47"/>
    <p:sldId id="292" r:id="rId48"/>
    <p:sldId id="293" r:id="rId49"/>
    <p:sldId id="294" r:id="rId50"/>
    <p:sldId id="295" r:id="rId51"/>
    <p:sldId id="296" r:id="rId52"/>
    <p:sldId id="300" r:id="rId53"/>
  </p:sldIdLst>
  <p:sldSz cx="13004800" cy="97536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tabLst/>
      <a:defRPr kumimoji="0" sz="4200" b="0" i="0" u="none" strike="noStrike" cap="none" spc="0" normalizeH="0" baseline="0">
        <a:ln>
          <a:noFill/>
        </a:ln>
        <a:solidFill>
          <a:srgbClr val="000000"/>
        </a:solidFill>
        <a:effectLst/>
        <a:uFillTx/>
        <a:latin typeface="Gill Sans"/>
        <a:ea typeface="Gill Sans"/>
        <a:cs typeface="Gill Sans"/>
        <a:sym typeface="Gill Sans"/>
      </a:defRPr>
    </a:lvl1pPr>
    <a:lvl2pPr marL="0" marR="0" indent="342900" algn="ctr" defTabSz="584200" rtl="0" fontAlgn="auto" latinLnBrk="0" hangingPunct="0">
      <a:lnSpc>
        <a:spcPct val="100000"/>
      </a:lnSpc>
      <a:spcBef>
        <a:spcPts val="0"/>
      </a:spcBef>
      <a:spcAft>
        <a:spcPts val="0"/>
      </a:spcAft>
      <a:buClrTx/>
      <a:buSzTx/>
      <a:buFontTx/>
      <a:buNone/>
      <a:tabLst/>
      <a:defRPr kumimoji="0" sz="4200" b="0" i="0" u="none" strike="noStrike" cap="none" spc="0" normalizeH="0" baseline="0">
        <a:ln>
          <a:noFill/>
        </a:ln>
        <a:solidFill>
          <a:srgbClr val="000000"/>
        </a:solidFill>
        <a:effectLst/>
        <a:uFillTx/>
        <a:latin typeface="Gill Sans"/>
        <a:ea typeface="Gill Sans"/>
        <a:cs typeface="Gill Sans"/>
        <a:sym typeface="Gill Sans"/>
      </a:defRPr>
    </a:lvl2pPr>
    <a:lvl3pPr marL="0" marR="0" indent="685800" algn="ctr" defTabSz="584200" rtl="0" fontAlgn="auto" latinLnBrk="0" hangingPunct="0">
      <a:lnSpc>
        <a:spcPct val="100000"/>
      </a:lnSpc>
      <a:spcBef>
        <a:spcPts val="0"/>
      </a:spcBef>
      <a:spcAft>
        <a:spcPts val="0"/>
      </a:spcAft>
      <a:buClrTx/>
      <a:buSzTx/>
      <a:buFontTx/>
      <a:buNone/>
      <a:tabLst/>
      <a:defRPr kumimoji="0" sz="4200" b="0" i="0" u="none" strike="noStrike" cap="none" spc="0" normalizeH="0" baseline="0">
        <a:ln>
          <a:noFill/>
        </a:ln>
        <a:solidFill>
          <a:srgbClr val="000000"/>
        </a:solidFill>
        <a:effectLst/>
        <a:uFillTx/>
        <a:latin typeface="Gill Sans"/>
        <a:ea typeface="Gill Sans"/>
        <a:cs typeface="Gill Sans"/>
        <a:sym typeface="Gill Sans"/>
      </a:defRPr>
    </a:lvl3pPr>
    <a:lvl4pPr marL="0" marR="0" indent="1028700" algn="ctr" defTabSz="584200" rtl="0" fontAlgn="auto" latinLnBrk="0" hangingPunct="0">
      <a:lnSpc>
        <a:spcPct val="100000"/>
      </a:lnSpc>
      <a:spcBef>
        <a:spcPts val="0"/>
      </a:spcBef>
      <a:spcAft>
        <a:spcPts val="0"/>
      </a:spcAft>
      <a:buClrTx/>
      <a:buSzTx/>
      <a:buFontTx/>
      <a:buNone/>
      <a:tabLst/>
      <a:defRPr kumimoji="0" sz="4200" b="0" i="0" u="none" strike="noStrike" cap="none" spc="0" normalizeH="0" baseline="0">
        <a:ln>
          <a:noFill/>
        </a:ln>
        <a:solidFill>
          <a:srgbClr val="000000"/>
        </a:solidFill>
        <a:effectLst/>
        <a:uFillTx/>
        <a:latin typeface="Gill Sans"/>
        <a:ea typeface="Gill Sans"/>
        <a:cs typeface="Gill Sans"/>
        <a:sym typeface="Gill Sans"/>
      </a:defRPr>
    </a:lvl4pPr>
    <a:lvl5pPr marL="0" marR="0" indent="1371600" algn="ctr" defTabSz="584200" rtl="0" fontAlgn="auto" latinLnBrk="0" hangingPunct="0">
      <a:lnSpc>
        <a:spcPct val="100000"/>
      </a:lnSpc>
      <a:spcBef>
        <a:spcPts val="0"/>
      </a:spcBef>
      <a:spcAft>
        <a:spcPts val="0"/>
      </a:spcAft>
      <a:buClrTx/>
      <a:buSzTx/>
      <a:buFontTx/>
      <a:buNone/>
      <a:tabLst/>
      <a:defRPr kumimoji="0" sz="4200" b="0" i="0" u="none" strike="noStrike" cap="none" spc="0" normalizeH="0" baseline="0">
        <a:ln>
          <a:noFill/>
        </a:ln>
        <a:solidFill>
          <a:srgbClr val="000000"/>
        </a:solidFill>
        <a:effectLst/>
        <a:uFillTx/>
        <a:latin typeface="Gill Sans"/>
        <a:ea typeface="Gill Sans"/>
        <a:cs typeface="Gill Sans"/>
        <a:sym typeface="Gill Sans"/>
      </a:defRPr>
    </a:lvl5pPr>
    <a:lvl6pPr marL="0" marR="0" indent="1714500" algn="ctr" defTabSz="584200" rtl="0" fontAlgn="auto" latinLnBrk="0" hangingPunct="0">
      <a:lnSpc>
        <a:spcPct val="100000"/>
      </a:lnSpc>
      <a:spcBef>
        <a:spcPts val="0"/>
      </a:spcBef>
      <a:spcAft>
        <a:spcPts val="0"/>
      </a:spcAft>
      <a:buClrTx/>
      <a:buSzTx/>
      <a:buFontTx/>
      <a:buNone/>
      <a:tabLst/>
      <a:defRPr kumimoji="0" sz="4200" b="0" i="0" u="none" strike="noStrike" cap="none" spc="0" normalizeH="0" baseline="0">
        <a:ln>
          <a:noFill/>
        </a:ln>
        <a:solidFill>
          <a:srgbClr val="000000"/>
        </a:solidFill>
        <a:effectLst/>
        <a:uFillTx/>
        <a:latin typeface="Gill Sans"/>
        <a:ea typeface="Gill Sans"/>
        <a:cs typeface="Gill Sans"/>
        <a:sym typeface="Gill Sans"/>
      </a:defRPr>
    </a:lvl6pPr>
    <a:lvl7pPr marL="0" marR="0" indent="2057400" algn="ctr" defTabSz="584200" rtl="0" fontAlgn="auto" latinLnBrk="0" hangingPunct="0">
      <a:lnSpc>
        <a:spcPct val="100000"/>
      </a:lnSpc>
      <a:spcBef>
        <a:spcPts val="0"/>
      </a:spcBef>
      <a:spcAft>
        <a:spcPts val="0"/>
      </a:spcAft>
      <a:buClrTx/>
      <a:buSzTx/>
      <a:buFontTx/>
      <a:buNone/>
      <a:tabLst/>
      <a:defRPr kumimoji="0" sz="4200" b="0" i="0" u="none" strike="noStrike" cap="none" spc="0" normalizeH="0" baseline="0">
        <a:ln>
          <a:noFill/>
        </a:ln>
        <a:solidFill>
          <a:srgbClr val="000000"/>
        </a:solidFill>
        <a:effectLst/>
        <a:uFillTx/>
        <a:latin typeface="Gill Sans"/>
        <a:ea typeface="Gill Sans"/>
        <a:cs typeface="Gill Sans"/>
        <a:sym typeface="Gill Sans"/>
      </a:defRPr>
    </a:lvl7pPr>
    <a:lvl8pPr marL="0" marR="0" indent="2400300" algn="ctr" defTabSz="584200" rtl="0" fontAlgn="auto" latinLnBrk="0" hangingPunct="0">
      <a:lnSpc>
        <a:spcPct val="100000"/>
      </a:lnSpc>
      <a:spcBef>
        <a:spcPts val="0"/>
      </a:spcBef>
      <a:spcAft>
        <a:spcPts val="0"/>
      </a:spcAft>
      <a:buClrTx/>
      <a:buSzTx/>
      <a:buFontTx/>
      <a:buNone/>
      <a:tabLst/>
      <a:defRPr kumimoji="0" sz="4200" b="0" i="0" u="none" strike="noStrike" cap="none" spc="0" normalizeH="0" baseline="0">
        <a:ln>
          <a:noFill/>
        </a:ln>
        <a:solidFill>
          <a:srgbClr val="000000"/>
        </a:solidFill>
        <a:effectLst/>
        <a:uFillTx/>
        <a:latin typeface="Gill Sans"/>
        <a:ea typeface="Gill Sans"/>
        <a:cs typeface="Gill Sans"/>
        <a:sym typeface="Gill Sans"/>
      </a:defRPr>
    </a:lvl8pPr>
    <a:lvl9pPr marL="0" marR="0" indent="2743200" algn="ctr" defTabSz="584200" rtl="0" fontAlgn="auto" latinLnBrk="0" hangingPunct="0">
      <a:lnSpc>
        <a:spcPct val="100000"/>
      </a:lnSpc>
      <a:spcBef>
        <a:spcPts val="0"/>
      </a:spcBef>
      <a:spcAft>
        <a:spcPts val="0"/>
      </a:spcAft>
      <a:buClrTx/>
      <a:buSzTx/>
      <a:buFontTx/>
      <a:buNone/>
      <a:tabLst/>
      <a:defRPr kumimoji="0" sz="4200" b="0" i="0" u="none" strike="noStrike" cap="none" spc="0" normalizeH="0" baseline="0">
        <a:ln>
          <a:noFill/>
        </a:ln>
        <a:solidFill>
          <a:srgbClr val="000000"/>
        </a:solidFill>
        <a:effectLst/>
        <a:uFillTx/>
        <a:latin typeface="Gill Sans"/>
        <a:ea typeface="Gill Sans"/>
        <a:cs typeface="Gill Sans"/>
        <a:sym typeface="Gill San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35BB226-8DB1-7D1A-E076-196121B34FB4}" name="Rizzo Gianluca" initials="GR" userId="S::gianluca.rizzo@hes-so.ch::528c5794-2917-4097-b8b9-b26d728b1be7"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lumOff val="-13575"/>
            </a:schemeClr>
          </a:solidFill>
        </a:fill>
      </a:tcStyle>
    </a:firstCol>
    <a:lastRow>
      <a:tcTxStyle>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hueOff val="114395"/>
              <a:lumOff val="-24975"/>
            </a:schemeClr>
          </a:solidFill>
        </a:fill>
      </a:tcStyle>
    </a:firstRow>
  </a:tblStyle>
  <a:tblStyle styleId="{C7B018BB-80A7-4F77-B60F-C8B233D01FF8}" styleName="">
    <a:tblBg/>
    <a:wholeTbl>
      <a:tcTxStyle>
        <a:font>
          <a:latin typeface="Helvetica Neue"/>
          <a:ea typeface="Helvetica Neue"/>
          <a:cs typeface="Helvetica Neue"/>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a:font>
          <a:latin typeface="Helvetica Neue Medium"/>
          <a:ea typeface="Helvetica Neue Medium"/>
          <a:cs typeface="Helvetica Neue Medium"/>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3">
              <a:hueOff val="362282"/>
              <a:satOff val="31803"/>
              <a:lumOff val="-18242"/>
            </a:schemeClr>
          </a:solidFill>
        </a:fill>
      </a:tcStyle>
    </a:firstCol>
    <a:lastRow>
      <a:tcTxStyle>
        <a:font>
          <a:latin typeface="Helvetica Neue"/>
          <a:ea typeface="Helvetica Neue"/>
          <a:cs typeface="Helvetica Neue"/>
        </a:font>
        <a:srgbClr val="000000"/>
      </a:tcTxStyle>
      <a:tcStyle>
        <a:tcBdr>
          <a:left>
            <a:ln w="12700" cap="flat">
              <a:solidFill>
                <a:srgbClr val="606060"/>
              </a:solidFill>
              <a:prstDash val="solid"/>
              <a:miter lim="400000"/>
            </a:ln>
          </a:left>
          <a:right>
            <a:ln w="12700" cap="flat">
              <a:solidFill>
                <a:srgbClr val="606060"/>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EBEBEB"/>
          </a:solidFill>
        </a:fill>
      </a:tcStyle>
    </a:lastRow>
    <a:firstRow>
      <a:tcTxStyle>
        <a:font>
          <a:latin typeface="Helvetica Neue Medium"/>
          <a:ea typeface="Helvetica Neue Medium"/>
          <a:cs typeface="Helvetica Neue Medium"/>
        </a:font>
        <a:srgbClr val="FFFFFF"/>
      </a:tcTxStyle>
      <a:tcStyle>
        <a:tcBdr>
          <a:left>
            <a:ln w="12700" cap="flat">
              <a:solidFill>
                <a:srgbClr val="929292"/>
              </a:solidFill>
              <a:prstDash val="solid"/>
              <a:miter lim="400000"/>
            </a:ln>
          </a:left>
          <a:right>
            <a:ln w="12700" cap="flat">
              <a:solidFill>
                <a:srgbClr val="929292"/>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929292"/>
              </a:solidFill>
              <a:prstDash val="solid"/>
              <a:miter lim="400000"/>
            </a:ln>
          </a:insideH>
          <a:insideV>
            <a:ln w="12700" cap="flat">
              <a:solidFill>
                <a:srgbClr val="929292"/>
              </a:solidFill>
              <a:prstDash val="solid"/>
              <a:miter lim="400000"/>
            </a:ln>
          </a:insideV>
        </a:tcBdr>
        <a:fill>
          <a:solidFill>
            <a:srgbClr val="017101"/>
          </a:solidFill>
        </a:fill>
      </a:tcStyle>
    </a:firstRow>
  </a:tblStyle>
  <a:tblStyle styleId="{EEE7283C-3CF3-47DC-8721-378D4A62B228}" styleName="">
    <a:tblBg/>
    <a:wholeTbl>
      <a:tcTxStyle>
        <a:font>
          <a:latin typeface="Helvetica Neue Light"/>
          <a:ea typeface="Helvetica Neue Light"/>
          <a:cs typeface="Helvetica Neue Light"/>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FAF7E9"/>
          </a:solidFill>
        </a:fill>
      </a:tcStyle>
    </a:wholeTbl>
    <a:band2H>
      <a:tcTxStyle/>
      <a:tcStyle>
        <a:tcBdr/>
        <a:fill>
          <a:solidFill>
            <a:srgbClr val="EDEADD"/>
          </a:solidFill>
        </a:fill>
      </a:tcStyle>
    </a:band2H>
    <a:firstCol>
      <a:tcTxStyle>
        <a:font>
          <a:latin typeface="Helvetica Neue Medium"/>
          <a:ea typeface="Helvetica Neue Medium"/>
          <a:cs typeface="Helvetica Neue Medium"/>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9BA00"/>
          </a:solidFill>
        </a:fill>
      </a:tcStyle>
    </a:firstCol>
    <a:lastRow>
      <a:tcTxStyle>
        <a:font>
          <a:latin typeface="Helvetica Neue Medium"/>
          <a:ea typeface="Helvetica Neue Medium"/>
          <a:cs typeface="Helvetica Neue Medium"/>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lastRow>
    <a:firstRow>
      <a:tcTxStyle>
        <a:font>
          <a:latin typeface="Helvetica Neue Medium"/>
          <a:ea typeface="Helvetica Neue Medium"/>
          <a:cs typeface="Helvetica Neue Medium"/>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firstRow>
  </a:tblStyle>
  <a:tblStyle styleId="{CF821DB8-F4EB-4A41-A1BA-3FCAFE7338EE}" styleName="">
    <a:tblBg/>
    <a:wholeTbl>
      <a:tcTxStyle>
        <a:font>
          <a:latin typeface="Helvetica Neue"/>
          <a:ea typeface="Helvetica Neue"/>
          <a:cs typeface="Helvetica Neue"/>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EBEBEB"/>
          </a:solidFill>
        </a:fill>
      </a:tcStyle>
    </a:wholeTbl>
    <a:band2H>
      <a:tcTxStyle/>
      <a:tcStyle>
        <a:tcBdr/>
        <a:fill>
          <a:solidFill>
            <a:srgbClr val="DADBDA"/>
          </a:solidFill>
        </a:fill>
      </a:tcStyle>
    </a:band2H>
    <a:firstCol>
      <a:tcTxStyle b="on">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chemeClr val="accent6">
              <a:hueOff val="-146070"/>
              <a:satOff val="-10048"/>
              <a:lumOff val="-30626"/>
            </a:schemeClr>
          </a:solidFill>
        </a:fill>
      </a:tcStyle>
    </a:firstCol>
    <a:lastRow>
      <a:tcTxStyle b="on">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lastRow>
    <a:firstRow>
      <a:tcTxStyle b="on">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firstRow>
  </a:tblStyle>
  <a:tblStyle styleId="{33BA23B1-9221-436E-865A-0063620EA4FD}" styleName="">
    <a:tblBg/>
    <a:wholeTbl>
      <a:tcTxStyle>
        <a:font>
          <a:latin typeface="Helvetica Neue"/>
          <a:ea typeface="Helvetica Neue"/>
          <a:cs typeface="Helvetica Neue"/>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B5B5C1"/>
          </a:solidFill>
        </a:fill>
      </a:tcStyle>
    </a:wholeTbl>
    <a:band2H>
      <a:tcTxStyle/>
      <a:tcStyle>
        <a:tcBdr/>
        <a:fill>
          <a:solidFill>
            <a:srgbClr val="9A9AA5"/>
          </a:solidFill>
        </a:fill>
      </a:tcStyle>
    </a:band2H>
    <a:firstCol>
      <a:tcTxStyle b="on">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85F"/>
          </a:solidFill>
        </a:fill>
      </a:tcStyle>
    </a:firstCol>
    <a:lastRow>
      <a:tcTxStyle b="on">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lastRow>
    <a:firstRow>
      <a:tcTxStyle b="on">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firstRow>
  </a:tblStyle>
  <a:tblStyle styleId="{2708684C-4D16-4618-839F-0558EEFCDFE6}" styleName="">
    <a:tblBg/>
    <a:wholeTbl>
      <a:tcTxStyle>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a:font>
          <a:latin typeface="Helvetica Neue"/>
          <a:ea typeface="Helvetica Neue"/>
          <a:cs typeface="Helvetica Neue"/>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 styleId="{8F44A2F1-9E1F-4B54-A3A2-5F16C0AD49E2}" styleName="">
    <a:tblBg/>
    <a:wholeTbl>
      <a:tcTxStyle b="off" i="off">
        <a:font>
          <a:latin typeface="Gill Sans"/>
          <a:ea typeface="Gill Sans"/>
          <a:cs typeface="Gill Sans"/>
        </a:font>
        <a:srgbClr val="000000"/>
      </a:tcTxStyle>
      <a:tcStyle>
        <a:tcBdr>
          <a:left>
            <a:ln w="25400" cap="flat">
              <a:solidFill>
                <a:srgbClr val="000000"/>
              </a:solidFill>
              <a:prstDash val="solid"/>
              <a:miter lim="400000"/>
            </a:ln>
          </a:left>
          <a:right>
            <a:ln w="25400" cap="flat">
              <a:solidFill>
                <a:srgbClr val="000000"/>
              </a:solidFill>
              <a:prstDash val="solid"/>
              <a:miter lim="400000"/>
            </a:ln>
          </a:right>
          <a:top>
            <a:ln w="25400" cap="flat">
              <a:solidFill>
                <a:srgbClr val="000000"/>
              </a:solidFill>
              <a:prstDash val="solid"/>
              <a:miter lim="400000"/>
            </a:ln>
          </a:top>
          <a:bottom>
            <a:ln w="25400" cap="flat">
              <a:solidFill>
                <a:srgbClr val="000000"/>
              </a:solidFill>
              <a:prstDash val="solid"/>
              <a:miter lim="400000"/>
            </a:ln>
          </a:bottom>
          <a:insideH>
            <a:ln w="25400" cap="flat">
              <a:solidFill>
                <a:srgbClr val="000000"/>
              </a:solidFill>
              <a:prstDash val="solid"/>
              <a:miter lim="400000"/>
            </a:ln>
          </a:insideH>
          <a:insideV>
            <a:ln w="25400" cap="flat">
              <a:solidFill>
                <a:srgbClr val="000000"/>
              </a:solidFill>
              <a:prstDash val="solid"/>
              <a:miter lim="400000"/>
            </a:ln>
          </a:insideV>
        </a:tcBdr>
        <a:fill>
          <a:noFill/>
        </a:fill>
      </a:tcStyle>
    </a:wholeTbl>
    <a:band2H>
      <a:tcTxStyle/>
      <a:tcStyle>
        <a:tcBdr/>
        <a:fill>
          <a:solidFill>
            <a:srgbClr val="C5C7C9">
              <a:alpha val="30000"/>
            </a:srgbClr>
          </a:solidFill>
        </a:fill>
      </a:tcStyle>
    </a:band2H>
    <a:firstCol>
      <a:tcTxStyle b="off" i="off">
        <a:font>
          <a:latin typeface="Gill Sans"/>
          <a:ea typeface="Gill Sans"/>
          <a:cs typeface="Gill Sans"/>
        </a:font>
        <a:srgbClr val="FFFFFF"/>
      </a:tcTxStyle>
      <a:tcStyle>
        <a:tcBdr>
          <a:left>
            <a:ln w="25400" cap="flat">
              <a:solidFill>
                <a:srgbClr val="000000"/>
              </a:solidFill>
              <a:prstDash val="solid"/>
              <a:miter lim="400000"/>
            </a:ln>
          </a:left>
          <a:right>
            <a:ln w="25400" cap="flat">
              <a:solidFill>
                <a:srgbClr val="000000"/>
              </a:solidFill>
              <a:prstDash val="solid"/>
              <a:miter lim="400000"/>
            </a:ln>
          </a:right>
          <a:top>
            <a:ln w="25400" cap="flat">
              <a:solidFill>
                <a:srgbClr val="000000"/>
              </a:solidFill>
              <a:prstDash val="solid"/>
              <a:miter lim="400000"/>
            </a:ln>
          </a:top>
          <a:bottom>
            <a:ln w="25400" cap="flat">
              <a:solidFill>
                <a:srgbClr val="000000"/>
              </a:solidFill>
              <a:prstDash val="solid"/>
              <a:miter lim="400000"/>
            </a:ln>
          </a:bottom>
          <a:insideH>
            <a:ln w="25400" cap="flat">
              <a:solidFill>
                <a:srgbClr val="000000"/>
              </a:solidFill>
              <a:prstDash val="solid"/>
              <a:miter lim="400000"/>
            </a:ln>
          </a:insideH>
          <a:insideV>
            <a:ln w="25400" cap="flat">
              <a:solidFill>
                <a:srgbClr val="000000"/>
              </a:solidFill>
              <a:prstDash val="solid"/>
              <a:miter lim="400000"/>
            </a:ln>
          </a:insideV>
        </a:tcBdr>
        <a:fill>
          <a:noFill/>
        </a:fill>
      </a:tcStyle>
    </a:firstCol>
    <a:lastRow>
      <a:tcTxStyle b="off" i="off">
        <a:font>
          <a:latin typeface="Gill Sans"/>
          <a:ea typeface="Gill Sans"/>
          <a:cs typeface="Gill Sans"/>
        </a:font>
        <a:srgbClr val="FFFFFF"/>
      </a:tcTxStyle>
      <a:tcStyle>
        <a:tcBdr>
          <a:left>
            <a:ln w="25400" cap="flat">
              <a:solidFill>
                <a:srgbClr val="000000"/>
              </a:solidFill>
              <a:prstDash val="solid"/>
              <a:miter lim="400000"/>
            </a:ln>
          </a:left>
          <a:right>
            <a:ln w="25400" cap="flat">
              <a:solidFill>
                <a:srgbClr val="000000"/>
              </a:solidFill>
              <a:prstDash val="solid"/>
              <a:miter lim="400000"/>
            </a:ln>
          </a:right>
          <a:top>
            <a:ln w="25400" cap="flat">
              <a:solidFill>
                <a:srgbClr val="000000"/>
              </a:solidFill>
              <a:prstDash val="solid"/>
              <a:miter lim="400000"/>
            </a:ln>
          </a:top>
          <a:bottom>
            <a:ln w="25400" cap="flat">
              <a:solidFill>
                <a:srgbClr val="000000"/>
              </a:solidFill>
              <a:prstDash val="solid"/>
              <a:miter lim="400000"/>
            </a:ln>
          </a:bottom>
          <a:insideH>
            <a:ln w="25400" cap="flat">
              <a:solidFill>
                <a:srgbClr val="000000"/>
              </a:solidFill>
              <a:prstDash val="solid"/>
              <a:miter lim="400000"/>
            </a:ln>
          </a:insideH>
          <a:insideV>
            <a:ln w="25400" cap="flat">
              <a:solidFill>
                <a:srgbClr val="000000"/>
              </a:solidFill>
              <a:prstDash val="solid"/>
              <a:miter lim="400000"/>
            </a:ln>
          </a:insideV>
        </a:tcBdr>
        <a:fill>
          <a:noFill/>
        </a:fill>
      </a:tcStyle>
    </a:lastRow>
    <a:firstRow>
      <a:tcTxStyle b="off" i="off">
        <a:font>
          <a:latin typeface="Gill Sans"/>
          <a:ea typeface="Gill Sans"/>
          <a:cs typeface="Gill Sans"/>
        </a:font>
        <a:srgbClr val="FFFFFF"/>
      </a:tcTxStyle>
      <a:tcStyle>
        <a:tcBdr>
          <a:left>
            <a:ln w="25400" cap="flat">
              <a:solidFill>
                <a:srgbClr val="000000"/>
              </a:solidFill>
              <a:prstDash val="solid"/>
              <a:miter lim="400000"/>
            </a:ln>
          </a:left>
          <a:right>
            <a:ln w="25400" cap="flat">
              <a:solidFill>
                <a:srgbClr val="000000"/>
              </a:solidFill>
              <a:prstDash val="solid"/>
              <a:miter lim="400000"/>
            </a:ln>
          </a:right>
          <a:top>
            <a:ln w="25400" cap="flat">
              <a:solidFill>
                <a:srgbClr val="000000"/>
              </a:solidFill>
              <a:prstDash val="solid"/>
              <a:miter lim="400000"/>
            </a:ln>
          </a:top>
          <a:bottom>
            <a:ln w="25400" cap="flat">
              <a:solidFill>
                <a:srgbClr val="000000"/>
              </a:solidFill>
              <a:prstDash val="solid"/>
              <a:miter lim="400000"/>
            </a:ln>
          </a:bottom>
          <a:insideH>
            <a:ln w="25400" cap="flat">
              <a:solidFill>
                <a:srgbClr val="000000"/>
              </a:solidFill>
              <a:prstDash val="solid"/>
              <a:miter lim="400000"/>
            </a:ln>
          </a:insideH>
          <a:insideV>
            <a:ln w="25400" cap="flat">
              <a:solidFill>
                <a:srgbClr val="000000"/>
              </a:solidFill>
              <a:prstDash val="solid"/>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59144" autoAdjust="0"/>
  </p:normalViewPr>
  <p:slideViewPr>
    <p:cSldViewPr snapToGrid="0">
      <p:cViewPr varScale="1">
        <p:scale>
          <a:sx n="42" d="100"/>
          <a:sy n="42" d="100"/>
        </p:scale>
        <p:origin x="2286" y="5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microsoft.com/office/2018/10/relationships/authors" Target="author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7" name="Shape 37"/>
          <p:cNvSpPr>
            <a:spLocks noGrp="1" noRot="1" noChangeAspect="1"/>
          </p:cNvSpPr>
          <p:nvPr>
            <p:ph type="sldImg"/>
          </p:nvPr>
        </p:nvSpPr>
        <p:spPr>
          <a:xfrm>
            <a:off x="1143000" y="685800"/>
            <a:ext cx="4572000" cy="3429000"/>
          </a:xfrm>
          <a:prstGeom prst="rect">
            <a:avLst/>
          </a:prstGeom>
        </p:spPr>
        <p:txBody>
          <a:bodyPr/>
          <a:lstStyle/>
          <a:p>
            <a:endParaRPr/>
          </a:p>
        </p:txBody>
      </p:sp>
      <p:sp>
        <p:nvSpPr>
          <p:cNvPr id="38" name="Shape 38"/>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584200" latinLnBrk="0">
      <a:defRPr sz="2200">
        <a:latin typeface="Lucida Grande"/>
        <a:ea typeface="Lucida Grande"/>
        <a:cs typeface="Lucida Grande"/>
        <a:sym typeface="Lucida Grande"/>
      </a:defRPr>
    </a:lvl1pPr>
    <a:lvl2pPr defTabSz="584200" latinLnBrk="0">
      <a:defRPr sz="2200">
        <a:latin typeface="Lucida Grande"/>
        <a:ea typeface="Lucida Grande"/>
        <a:cs typeface="Lucida Grande"/>
        <a:sym typeface="Lucida Grande"/>
      </a:defRPr>
    </a:lvl2pPr>
    <a:lvl3pPr defTabSz="584200" latinLnBrk="0">
      <a:defRPr sz="2200">
        <a:latin typeface="Lucida Grande"/>
        <a:ea typeface="Lucida Grande"/>
        <a:cs typeface="Lucida Grande"/>
        <a:sym typeface="Lucida Grande"/>
      </a:defRPr>
    </a:lvl3pPr>
    <a:lvl4pPr defTabSz="584200" latinLnBrk="0">
      <a:defRPr sz="2200">
        <a:latin typeface="Lucida Grande"/>
        <a:ea typeface="Lucida Grande"/>
        <a:cs typeface="Lucida Grande"/>
        <a:sym typeface="Lucida Grande"/>
      </a:defRPr>
    </a:lvl4pPr>
    <a:lvl5pPr defTabSz="584200" latinLnBrk="0">
      <a:defRPr sz="2200">
        <a:latin typeface="Lucida Grande"/>
        <a:ea typeface="Lucida Grande"/>
        <a:cs typeface="Lucida Grande"/>
        <a:sym typeface="Lucida Grande"/>
      </a:defRPr>
    </a:lvl5pPr>
    <a:lvl6pPr defTabSz="584200" latinLnBrk="0">
      <a:defRPr sz="2200">
        <a:latin typeface="Lucida Grande"/>
        <a:ea typeface="Lucida Grande"/>
        <a:cs typeface="Lucida Grande"/>
        <a:sym typeface="Lucida Grande"/>
      </a:defRPr>
    </a:lvl6pPr>
    <a:lvl7pPr defTabSz="584200" latinLnBrk="0">
      <a:defRPr sz="2200">
        <a:latin typeface="Lucida Grande"/>
        <a:ea typeface="Lucida Grande"/>
        <a:cs typeface="Lucida Grande"/>
        <a:sym typeface="Lucida Grande"/>
      </a:defRPr>
    </a:lvl7pPr>
    <a:lvl8pPr defTabSz="584200" latinLnBrk="0">
      <a:defRPr sz="2200">
        <a:latin typeface="Lucida Grande"/>
        <a:ea typeface="Lucida Grande"/>
        <a:cs typeface="Lucida Grande"/>
        <a:sym typeface="Lucida Grande"/>
      </a:defRPr>
    </a:lvl8pPr>
    <a:lvl9pPr defTabSz="584200" latinLnBrk="0">
      <a:defRPr sz="2200">
        <a:latin typeface="Lucida Grande"/>
        <a:ea typeface="Lucida Grande"/>
        <a:cs typeface="Lucida Grande"/>
        <a:sym typeface="Lucida Grand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Shape 43"/>
          <p:cNvSpPr>
            <a:spLocks noGrp="1" noRot="1" noChangeAspect="1"/>
          </p:cNvSpPr>
          <p:nvPr>
            <p:ph type="sldImg"/>
          </p:nvPr>
        </p:nvSpPr>
        <p:spPr>
          <a:prstGeom prst="rect">
            <a:avLst/>
          </a:prstGeom>
        </p:spPr>
        <p:txBody>
          <a:bodyPr/>
          <a:lstStyle/>
          <a:p>
            <a:endParaRPr/>
          </a:p>
        </p:txBody>
      </p:sp>
      <p:sp>
        <p:nvSpPr>
          <p:cNvPr id="44" name="Shape 44"/>
          <p:cNvSpPr>
            <a:spLocks noGrp="1"/>
          </p:cNvSpPr>
          <p:nvPr>
            <p:ph type="body" sz="quarter" idx="1"/>
          </p:nvPr>
        </p:nvSpPr>
        <p:spPr>
          <a:prstGeom prst="rect">
            <a:avLst/>
          </a:prstGeom>
        </p:spPr>
        <p:txBody>
          <a:bodyPr/>
          <a:lstStyle/>
          <a:p>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Shape 64"/>
          <p:cNvSpPr>
            <a:spLocks noGrp="1" noRot="1" noChangeAspect="1"/>
          </p:cNvSpPr>
          <p:nvPr>
            <p:ph type="sldImg"/>
          </p:nvPr>
        </p:nvSpPr>
        <p:spPr>
          <a:prstGeom prst="rect">
            <a:avLst/>
          </a:prstGeom>
        </p:spPr>
        <p:txBody>
          <a:bodyPr/>
          <a:lstStyle/>
          <a:p>
            <a:endParaRPr/>
          </a:p>
        </p:txBody>
      </p:sp>
      <p:sp>
        <p:nvSpPr>
          <p:cNvPr id="65" name="Shape 65"/>
          <p:cNvSpPr>
            <a:spLocks noGrp="1"/>
          </p:cNvSpPr>
          <p:nvPr>
            <p:ph type="body" sz="quarter" idx="1"/>
          </p:nvPr>
        </p:nvSpPr>
        <p:spPr>
          <a:prstGeom prst="rect">
            <a:avLst/>
          </a:prstGeom>
        </p:spPr>
        <p:txBody>
          <a:bodyPr/>
          <a:lstStyle/>
          <a:p>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LEARNED HOW TO MAKE TWO end systems communicate, exchange information as IP packets.</a:t>
            </a:r>
          </a:p>
          <a:p>
            <a:endParaRPr lang="en-US" dirty="0"/>
          </a:p>
          <a:p>
            <a:r>
              <a:rPr lang="en-US" dirty="0"/>
              <a:t>Can’t we have just applications which plug directly on the network layer?</a:t>
            </a:r>
          </a:p>
          <a:p>
            <a:endParaRPr lang="en-US" dirty="0"/>
          </a:p>
          <a:p>
            <a:endParaRPr lang="en-US" dirty="0"/>
          </a:p>
        </p:txBody>
      </p:sp>
    </p:spTree>
    <p:extLst>
      <p:ext uri="{BB962C8B-B14F-4D97-AF65-F5344CB8AC3E}">
        <p14:creationId xmlns:p14="http://schemas.microsoft.com/office/powerpoint/2010/main" val="33866399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Shape 70"/>
          <p:cNvSpPr>
            <a:spLocks noGrp="1" noRot="1" noChangeAspect="1"/>
          </p:cNvSpPr>
          <p:nvPr>
            <p:ph type="sldImg"/>
          </p:nvPr>
        </p:nvSpPr>
        <p:spPr>
          <a:prstGeom prst="rect">
            <a:avLst/>
          </a:prstGeom>
        </p:spPr>
        <p:txBody>
          <a:bodyPr/>
          <a:lstStyle/>
          <a:p>
            <a:endParaRPr/>
          </a:p>
        </p:txBody>
      </p:sp>
      <p:sp>
        <p:nvSpPr>
          <p:cNvPr id="71" name="Shape 71"/>
          <p:cNvSpPr>
            <a:spLocks noGrp="1"/>
          </p:cNvSpPr>
          <p:nvPr>
            <p:ph type="body" sz="quarter" idx="1"/>
          </p:nvPr>
        </p:nvSpPr>
        <p:spPr>
          <a:prstGeom prst="rect">
            <a:avLst/>
          </a:prstGeom>
        </p:spPr>
        <p:txBody>
          <a:bodyPr/>
          <a:lstStyle/>
          <a:p>
            <a:r>
              <a:rPr dirty="0"/>
              <a:t>The first one (process-to-process communication) has to do with the fact that the transport layer is right below the application layer (where the various processes run). Hence, </a:t>
            </a:r>
            <a:r>
              <a:rPr b="1" dirty="0"/>
              <a:t>the transport layer is the one that first receives messages from processes and the one that finally delivers messages to processes.</a:t>
            </a:r>
          </a:p>
          <a:p>
            <a:endParaRPr dirty="0"/>
          </a:p>
          <a:p>
            <a:r>
              <a:rPr dirty="0"/>
              <a:t>The second one (reliable data delivery) is about </a:t>
            </a:r>
            <a:r>
              <a:rPr b="1" dirty="0"/>
              <a:t>offering to the application layer the illusion of a reliable network</a:t>
            </a:r>
            <a:r>
              <a:rPr dirty="0"/>
              <a:t>. The Internet is actually not reliable — packets may get corrupted or lost. However, the transport layer can try to recover from corruption and loss such that the application does not know that they happened.</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Shape 97"/>
          <p:cNvSpPr>
            <a:spLocks noGrp="1" noRot="1" noChangeAspect="1"/>
          </p:cNvSpPr>
          <p:nvPr>
            <p:ph type="sldImg"/>
          </p:nvPr>
        </p:nvSpPr>
        <p:spPr>
          <a:prstGeom prst="rect">
            <a:avLst/>
          </a:prstGeom>
        </p:spPr>
        <p:txBody>
          <a:bodyPr/>
          <a:lstStyle/>
          <a:p>
            <a:endParaRPr/>
          </a:p>
        </p:txBody>
      </p:sp>
      <p:sp>
        <p:nvSpPr>
          <p:cNvPr id="98" name="Shape 98"/>
          <p:cNvSpPr>
            <a:spLocks noGrp="1"/>
          </p:cNvSpPr>
          <p:nvPr>
            <p:ph type="body" sz="quarter" idx="1"/>
          </p:nvPr>
        </p:nvSpPr>
        <p:spPr>
          <a:prstGeom prst="rect">
            <a:avLst/>
          </a:prstGeom>
        </p:spPr>
        <p:txBody>
          <a:bodyPr/>
          <a:lstStyle/>
          <a:p>
            <a:r>
              <a:t>Let’s look at the structure of a typical Internet packet.</a:t>
            </a:r>
          </a:p>
          <a:p>
            <a:r>
              <a:t>You have gotten a sense of this structure through the labs and the Wireshark took,</a:t>
            </a:r>
            <a:br/>
            <a:r>
              <a:t>but let’s look at it more carefully now.</a:t>
            </a:r>
          </a:p>
          <a:p>
            <a:endParaRPr/>
          </a:p>
          <a:p>
            <a:r>
              <a:t>First a process creates a message,</a:t>
            </a:r>
          </a:p>
          <a:p>
            <a:r>
              <a:t>then the transport layer adds a transport-layer header,</a:t>
            </a:r>
          </a:p>
          <a:p>
            <a:r>
              <a:t>and then the network layer adds a network-layer header.</a:t>
            </a:r>
          </a:p>
          <a:p>
            <a:endParaRPr/>
          </a:p>
          <a:p>
            <a:r>
              <a:t>Of the various header fields that the transport and network layer add,</a:t>
            </a:r>
          </a:p>
          <a:p>
            <a:r>
              <a:t>today we will focus on the source and destination IP addresses and the source and destination port numbers.</a:t>
            </a:r>
          </a:p>
          <a:p>
            <a:r>
              <a:t>These fields together specify a packet’s source and destination end-systems and processes.</a:t>
            </a:r>
          </a:p>
          <a:p>
            <a:endParaRPr/>
          </a:p>
          <a:p>
            <a:r>
              <a:t>Let’s also introduce two new terms:</a:t>
            </a:r>
          </a:p>
          <a:p>
            <a:pPr marL="616857" indent="-299357">
              <a:buSzPct val="95000"/>
              <a:buChar char="-"/>
            </a:pPr>
            <a:r>
              <a:t>A “segment” is the part of a packet that includes the app-layer message and the transport-layer header.</a:t>
            </a:r>
          </a:p>
          <a:p>
            <a:pPr marL="616857" indent="-299357">
              <a:buSzPct val="95000"/>
              <a:buChar char="-"/>
            </a:pPr>
            <a:r>
              <a:t>A “datagram” is the part of a packet that includes the app-layer message, the transport-layer header, and the network-layer header.</a:t>
            </a:r>
          </a:p>
          <a:p>
            <a:endParaRPr/>
          </a:p>
          <a:p>
            <a:r>
              <a:t>So, a packet typically includes a datagram, which typically includes a segment.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Shape 121"/>
          <p:cNvSpPr>
            <a:spLocks noGrp="1" noRot="1" noChangeAspect="1"/>
          </p:cNvSpPr>
          <p:nvPr>
            <p:ph type="sldImg"/>
          </p:nvPr>
        </p:nvSpPr>
        <p:spPr>
          <a:prstGeom prst="rect">
            <a:avLst/>
          </a:prstGeom>
        </p:spPr>
        <p:txBody>
          <a:bodyPr/>
          <a:lstStyle/>
          <a:p>
            <a:endParaRPr/>
          </a:p>
        </p:txBody>
      </p:sp>
      <p:sp>
        <p:nvSpPr>
          <p:cNvPr id="122" name="Shape 122"/>
          <p:cNvSpPr>
            <a:spLocks noGrp="1"/>
          </p:cNvSpPr>
          <p:nvPr>
            <p:ph type="body" sz="quarter" idx="1"/>
          </p:nvPr>
        </p:nvSpPr>
        <p:spPr>
          <a:prstGeom prst="rect">
            <a:avLst/>
          </a:prstGeom>
        </p:spPr>
        <p:txBody>
          <a:bodyPr/>
          <a:lstStyle/>
          <a:p>
            <a:r>
              <a:rPr dirty="0"/>
              <a:t>Suppose a process S wants to use UDP as its transport-layer protocol to send a message to a remote process:</a:t>
            </a:r>
          </a:p>
          <a:p>
            <a:endParaRPr dirty="0"/>
          </a:p>
          <a:p>
            <a:pPr marL="616857" indent="-299357">
              <a:buSzPct val="95000"/>
              <a:buChar char="-"/>
            </a:pPr>
            <a:r>
              <a:rPr dirty="0"/>
              <a:t>First, the process asks the transport layer to open a UDP socket. In response, the transport layer creates a UDP socket and associates it with this process. </a:t>
            </a:r>
          </a:p>
          <a:p>
            <a:pPr marL="616857" indent="-299357">
              <a:buSzPct val="95000"/>
              <a:buChar char="-"/>
            </a:pPr>
            <a:r>
              <a:rPr dirty="0"/>
              <a:t>Second, the process asks the transport layer to bind the socket to a particular (local) IP address and port number. In response, the transport layer adds this information to the socket.</a:t>
            </a:r>
          </a:p>
          <a:p>
            <a:pPr marL="616857" indent="-299357">
              <a:buSzPct val="95000"/>
              <a:buChar char="-"/>
            </a:pPr>
            <a:endParaRPr dirty="0"/>
          </a:p>
          <a:p>
            <a:pPr marL="616857" indent="-299357">
              <a:buSzPct val="95000"/>
              <a:buChar char="-"/>
            </a:pPr>
            <a:r>
              <a:rPr dirty="0"/>
              <a:t>At this point, the process is ready to send a message through this socket. To do this, it calls a function and provides as arguments a pointer or reference to the message, the destination IP address, and the destination port number. In response, the transport layer starts putting together a packet: the message that the process is sending, the destination IP address and port number that the process passed as arguments through the </a:t>
            </a:r>
            <a:r>
              <a:rPr dirty="0" err="1"/>
              <a:t>sendto</a:t>
            </a:r>
            <a:r>
              <a:rPr dirty="0"/>
              <a:t> function, and the source IP address and port number that are associated with this socket. </a:t>
            </a:r>
          </a:p>
          <a:p>
            <a:pPr marL="1111250" lvl="1" indent="-349250">
              <a:buSzPct val="95000"/>
              <a:buChar char="-"/>
            </a:pPr>
            <a:r>
              <a:rPr dirty="0"/>
              <a:t>To be precise, the transport layer creates only the transport-layer header (which contains the source and destination port numbers, not the source and destination IP addresses), but it still keeps track of the source and destination IP addresses, because it needs to provide them to the network layer, which will create the network-layer header.</a:t>
            </a:r>
          </a:p>
          <a:p>
            <a:pPr marL="616857" indent="-299357">
              <a:buSzPct val="95000"/>
              <a:buChar char="-"/>
            </a:pPr>
            <a:endParaRPr dirty="0"/>
          </a:p>
          <a:p>
            <a:pPr marL="616857" indent="-299357">
              <a:buSzPct val="95000"/>
              <a:buChar char="-"/>
            </a:pPr>
            <a:r>
              <a:rPr dirty="0"/>
              <a:t>If the process does not need the socket any more, it asks the transport layer to close it. In response, the transport layer deletes the socket.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 name="Shape 145"/>
          <p:cNvSpPr>
            <a:spLocks noGrp="1" noRot="1" noChangeAspect="1"/>
          </p:cNvSpPr>
          <p:nvPr>
            <p:ph type="sldImg"/>
          </p:nvPr>
        </p:nvSpPr>
        <p:spPr>
          <a:prstGeom prst="rect">
            <a:avLst/>
          </a:prstGeom>
        </p:spPr>
        <p:txBody>
          <a:bodyPr/>
          <a:lstStyle/>
          <a:p>
            <a:endParaRPr/>
          </a:p>
        </p:txBody>
      </p:sp>
      <p:sp>
        <p:nvSpPr>
          <p:cNvPr id="146" name="Shape 146"/>
          <p:cNvSpPr>
            <a:spLocks noGrp="1"/>
          </p:cNvSpPr>
          <p:nvPr>
            <p:ph type="body" sz="quarter" idx="1"/>
          </p:nvPr>
        </p:nvSpPr>
        <p:spPr>
          <a:prstGeom prst="rect">
            <a:avLst/>
          </a:prstGeom>
        </p:spPr>
        <p:txBody>
          <a:bodyPr/>
          <a:lstStyle/>
          <a:p>
            <a:r>
              <a:t>Now consider the receiving end: A process R wants to use UDP to receive a message from a remote process:</a:t>
            </a:r>
          </a:p>
          <a:p>
            <a:endParaRPr/>
          </a:p>
          <a:p>
            <a:pPr marL="616857" indent="-299357">
              <a:buSzPct val="95000"/>
              <a:buChar char="-"/>
            </a:pPr>
            <a:r>
              <a:t>First, the process asks the transport layer to open a UDP socket. In response, the transport layer creates a UDP socket and associates it with this process.</a:t>
            </a:r>
          </a:p>
          <a:p>
            <a:pPr marL="616857" indent="-299357">
              <a:buSzPct val="95000"/>
              <a:buChar char="-"/>
            </a:pPr>
            <a:endParaRPr/>
          </a:p>
          <a:p>
            <a:pPr marL="616857" indent="-299357">
              <a:buSzPct val="95000"/>
              <a:buChar char="-"/>
            </a:pPr>
            <a:r>
              <a:t>Second, the process asks the transport layer to bind the socket to a particular (local) IP address and port number. In response, the transport layer adds this information to the socket.</a:t>
            </a:r>
          </a:p>
          <a:p>
            <a:pPr marL="616857" indent="-299357">
              <a:buSzPct val="95000"/>
              <a:buChar char="-"/>
            </a:pPr>
            <a:endParaRPr/>
          </a:p>
          <a:p>
            <a:pPr marL="616857" indent="-299357">
              <a:buSzPct val="95000"/>
              <a:buChar char="-"/>
            </a:pPr>
            <a:r>
              <a:t>At this point, the process is ready to receive a message through this socket. To do this, it calls a function and provides as argument the number of bytes that it wants to receive.</a:t>
            </a:r>
          </a:p>
          <a:p>
            <a:endParaRPr/>
          </a:p>
          <a:p>
            <a:pPr marL="616857" indent="-299357">
              <a:buSzPct val="95000"/>
              <a:buChar char="-"/>
            </a:pPr>
            <a:r>
              <a:t>If a packet arrives from the network layer, the transport layer reads the headers and identifies which of the many processes that are running in the local application layer this packet is meant for. In this particular example, the transport layer will read from the packet’s headers that the destination IP address is 5.5.5.5 and the destination port number is 5000. Then it will ask: “Do I have a socket with this IP address and port number? Yes, I do, for process R”, so it will pass 100 bytes from the message to this process.</a:t>
            </a:r>
          </a:p>
          <a:p>
            <a:pPr marL="616857" indent="-299357">
              <a:buSzPct val="95000"/>
              <a:buChar char="-"/>
            </a:pPr>
            <a:endParaRPr/>
          </a:p>
          <a:p>
            <a:pPr marL="616857" indent="-299357">
              <a:buSzPct val="95000"/>
              <a:buChar char="-"/>
            </a:pPr>
            <a:r>
              <a:t>If the process does not need the socket any more, it asks the transport layer to close it. In response, the transport layer deletes the socket.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 name="Shape 176"/>
          <p:cNvSpPr>
            <a:spLocks noGrp="1" noRot="1" noChangeAspect="1"/>
          </p:cNvSpPr>
          <p:nvPr>
            <p:ph type="sldImg"/>
          </p:nvPr>
        </p:nvSpPr>
        <p:spPr>
          <a:prstGeom prst="rect">
            <a:avLst/>
          </a:prstGeom>
        </p:spPr>
        <p:txBody>
          <a:bodyPr/>
          <a:lstStyle/>
          <a:p>
            <a:endParaRPr/>
          </a:p>
        </p:txBody>
      </p:sp>
      <p:sp>
        <p:nvSpPr>
          <p:cNvPr id="177" name="Shape 177"/>
          <p:cNvSpPr>
            <a:spLocks noGrp="1"/>
          </p:cNvSpPr>
          <p:nvPr>
            <p:ph type="body" sz="quarter" idx="1"/>
          </p:nvPr>
        </p:nvSpPr>
        <p:spPr>
          <a:prstGeom prst="rect">
            <a:avLst/>
          </a:prstGeom>
        </p:spPr>
        <p:txBody>
          <a:bodyPr/>
          <a:lstStyle/>
          <a:p>
            <a:r>
              <a:t>Now suppose a process S wants to use TCP as its transport-layer protocol to send a message to another process. </a:t>
            </a:r>
          </a:p>
          <a:p>
            <a:endParaRPr/>
          </a:p>
          <a:p>
            <a:r>
              <a:t>The first two steps are similar to the UDP scenario:</a:t>
            </a:r>
          </a:p>
          <a:p>
            <a:pPr marL="616857" indent="-299357">
              <a:buSzPct val="95000"/>
              <a:buChar char="-"/>
            </a:pPr>
            <a:r>
              <a:t>First, the process asks the transport layer to open a TCP socket. In response, the transport layer creates a TCP socket and associates it with this process.</a:t>
            </a:r>
          </a:p>
          <a:p>
            <a:pPr marL="616857" indent="-299357">
              <a:buSzPct val="95000"/>
              <a:buChar char="-"/>
            </a:pPr>
            <a:r>
              <a:t>Second, the process asks the transport layer to bind the socket to a particular (local) IP address and port number. In response, the transport layer adds this information to the socket.</a:t>
            </a:r>
          </a:p>
          <a:p>
            <a:endParaRPr/>
          </a:p>
          <a:p>
            <a:r>
              <a:t>The next steps differ. Unlike UDP, a TCP sender establishes a connection to a TCP receiver:</a:t>
            </a:r>
          </a:p>
          <a:p>
            <a:pPr marL="616857" indent="-299357">
              <a:buSzPct val="95000"/>
              <a:buChar char="-"/>
            </a:pPr>
            <a:endParaRPr/>
          </a:p>
          <a:p>
            <a:pPr marL="616857" indent="-299357">
              <a:buSzPct val="95000"/>
              <a:buChar char="-"/>
            </a:pPr>
            <a:r>
              <a:t>The process asks the transport layer to connect the socket to a particular remote IP address and port number. In response, the transport layer adds this information to the socket and sends a TCP connection setup packet to the remote process. </a:t>
            </a:r>
          </a:p>
          <a:p>
            <a:pPr marL="616857" indent="-299357">
              <a:buSzPct val="95000"/>
              <a:buChar char="-"/>
            </a:pPr>
            <a:endParaRPr/>
          </a:p>
          <a:p>
            <a:pPr marL="616857" indent="-299357">
              <a:buSzPct val="95000"/>
              <a:buChar char="-"/>
            </a:pPr>
            <a:r>
              <a:t>If the connect function returns successfully, the process is ready to send a message through this socket. For this, it calls a function called “send” and provides as argument a pointer or reference to the message. In response, the transport layer starts putting together a packet with all the necessary information, including source and destination IP addresses and port numbers. </a:t>
            </a:r>
          </a:p>
          <a:p>
            <a:pPr marL="1111250" lvl="1" indent="-349250">
              <a:buSzPct val="95000"/>
              <a:buChar char="-"/>
            </a:pPr>
            <a:r>
              <a:t>Unlike with UDP, the process does not provide the destination IP address and destination port number as arguments to the send function, because the socket is already connected to a specific remote IP address and port number.</a:t>
            </a:r>
          </a:p>
          <a:p>
            <a:pPr marL="616857" indent="-299357">
              <a:buSzPct val="95000"/>
              <a:buChar char="-"/>
            </a:pPr>
            <a:endParaRPr/>
          </a:p>
          <a:p>
            <a:pPr marL="616857" indent="-299357">
              <a:buSzPct val="95000"/>
              <a:buChar char="-"/>
            </a:pPr>
            <a:r>
              <a:t>If the process does not need the socket any more, it asks the transport layer to close it. In response, the transport layer deletes the socket.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 name="Shape 201"/>
          <p:cNvSpPr>
            <a:spLocks noGrp="1" noRot="1" noChangeAspect="1"/>
          </p:cNvSpPr>
          <p:nvPr>
            <p:ph type="sldImg"/>
          </p:nvPr>
        </p:nvSpPr>
        <p:spPr>
          <a:prstGeom prst="rect">
            <a:avLst/>
          </a:prstGeom>
        </p:spPr>
        <p:txBody>
          <a:bodyPr/>
          <a:lstStyle/>
          <a:p>
            <a:endParaRPr/>
          </a:p>
        </p:txBody>
      </p:sp>
      <p:sp>
        <p:nvSpPr>
          <p:cNvPr id="202" name="Shape 202"/>
          <p:cNvSpPr>
            <a:spLocks noGrp="1"/>
          </p:cNvSpPr>
          <p:nvPr>
            <p:ph type="body" sz="quarter" idx="1"/>
          </p:nvPr>
        </p:nvSpPr>
        <p:spPr>
          <a:prstGeom prst="rect">
            <a:avLst/>
          </a:prstGeom>
        </p:spPr>
        <p:txBody>
          <a:bodyPr/>
          <a:lstStyle/>
          <a:p>
            <a:r>
              <a:t>Now consider the receiving end: A process R wants to use TCP to receive a message from another process:</a:t>
            </a:r>
          </a:p>
          <a:p>
            <a:endParaRPr/>
          </a:p>
          <a:p>
            <a:r>
              <a:t>Again, the first two steps are similar to the UDP scenario:</a:t>
            </a:r>
          </a:p>
          <a:p>
            <a:pPr marL="616857" indent="-299357">
              <a:buSzPct val="95000"/>
              <a:buChar char="-"/>
            </a:pPr>
            <a:r>
              <a:t>First, the process asks the transport layer to open a TCP socket. In response, the transport layer creates a TCP socket and associates it with this process.</a:t>
            </a:r>
          </a:p>
          <a:p>
            <a:pPr marL="616857" indent="-299357">
              <a:buSzPct val="95000"/>
              <a:buChar char="-"/>
            </a:pPr>
            <a:r>
              <a:t>Second, the process asks the transport layer to bind the socket to a particular (local) IP address and port number. In response, the transport layer adds this information to the socket.</a:t>
            </a:r>
          </a:p>
          <a:p>
            <a:endParaRPr/>
          </a:p>
          <a:p>
            <a:r>
              <a:t>The next steps differs:</a:t>
            </a:r>
          </a:p>
          <a:p>
            <a:pPr marL="616857" indent="-299357">
              <a:buSzPct val="95000"/>
              <a:buChar char="-"/>
            </a:pPr>
            <a:r>
              <a:t>The process tells the transport layer that it wants to use this socket to listen for TCP connection-setup requests from remote processes.</a:t>
            </a:r>
          </a:p>
          <a:p>
            <a:pPr marL="616857" indent="-299357">
              <a:buSzPct val="95000"/>
              <a:buChar char="-"/>
            </a:pPr>
            <a:r>
              <a:t>When a new TCP connection-setup request arrives, the transport layer reads the destination IP address and destination port number and sees that there exists a TCP socket listening for TCP connection-setup requests at this IP address and port number. Hence, it passes the request to process R.</a:t>
            </a:r>
          </a:p>
          <a:p>
            <a:pPr marL="616857" indent="-299357">
              <a:buSzPct val="95000"/>
              <a:buChar char="-"/>
            </a:pPr>
            <a:r>
              <a:t>If the process chooses to accept the request, it says so to the transport layer. In response, the transport layer…</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 name="Shape 229"/>
          <p:cNvSpPr>
            <a:spLocks noGrp="1" noRot="1" noChangeAspect="1"/>
          </p:cNvSpPr>
          <p:nvPr>
            <p:ph type="sldImg"/>
          </p:nvPr>
        </p:nvSpPr>
        <p:spPr>
          <a:prstGeom prst="rect">
            <a:avLst/>
          </a:prstGeom>
        </p:spPr>
        <p:txBody>
          <a:bodyPr/>
          <a:lstStyle/>
          <a:p>
            <a:endParaRPr/>
          </a:p>
        </p:txBody>
      </p:sp>
      <p:sp>
        <p:nvSpPr>
          <p:cNvPr id="230" name="Shape 230"/>
          <p:cNvSpPr>
            <a:spLocks noGrp="1"/>
          </p:cNvSpPr>
          <p:nvPr>
            <p:ph type="body" sz="quarter" idx="1"/>
          </p:nvPr>
        </p:nvSpPr>
        <p:spPr>
          <a:prstGeom prst="rect">
            <a:avLst/>
          </a:prstGeom>
        </p:spPr>
        <p:txBody>
          <a:bodyPr/>
          <a:lstStyle/>
          <a:p>
            <a:r>
              <a:t>…creates a new TCP “connection socket,” which is connected to the specific remote IP address and port number.</a:t>
            </a:r>
          </a:p>
          <a:p>
            <a:endParaRPr/>
          </a:p>
          <a:p>
            <a:pPr marL="616857" indent="-299357">
              <a:buSzPct val="95000"/>
              <a:buChar char="-"/>
            </a:pPr>
            <a:r>
              <a:t>At this point, the process is ready to receive a message through this socket. For this, it calls a function called “recv” and provides as argument the number of bytes that it wants to receive.</a:t>
            </a:r>
          </a:p>
          <a:p>
            <a:pPr marL="616857" indent="-299357">
              <a:buSzPct val="95000"/>
              <a:buChar char="-"/>
            </a:pPr>
            <a:endParaRPr/>
          </a:p>
          <a:p>
            <a:pPr marL="616857" indent="-299357">
              <a:buSzPct val="95000"/>
              <a:buChar char="-"/>
            </a:pPr>
            <a:r>
              <a:t>If a packet arrives from the network layer, the transport layer reads the headers and identifies which of all the processes running at the local application layer this packet is meant for. In this particular example, the transport layer will read from the packet’s headers that the source IP address is 1.1.1.1, the destination IP address is 5.5.5.5, the source port number is 1000, and the destination port number is 5000. Then it will ask: “Do I have a socket with these IP addresses and port numbers? Yes, I do, for process R”, so it will pass 100 bytes from the message to this process.</a:t>
            </a:r>
          </a:p>
          <a:p>
            <a:endParaRPr/>
          </a:p>
          <a:p>
            <a:pPr marL="616857" indent="-299357">
              <a:buSzPct val="95000"/>
              <a:buChar char="-"/>
            </a:pPr>
            <a:r>
              <a:t>If the process does not need the socket any more, it asks the transport layer to close it. In response, the transport layer deletes the socket.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 name="Shape 239"/>
          <p:cNvSpPr>
            <a:spLocks noGrp="1" noRot="1" noChangeAspect="1"/>
          </p:cNvSpPr>
          <p:nvPr>
            <p:ph type="sldImg"/>
          </p:nvPr>
        </p:nvSpPr>
        <p:spPr>
          <a:prstGeom prst="rect">
            <a:avLst/>
          </a:prstGeom>
        </p:spPr>
        <p:txBody>
          <a:bodyPr/>
          <a:lstStyle/>
          <a:p>
            <a:endParaRPr/>
          </a:p>
        </p:txBody>
      </p:sp>
      <p:sp>
        <p:nvSpPr>
          <p:cNvPr id="240" name="Shape 240"/>
          <p:cNvSpPr>
            <a:spLocks noGrp="1"/>
          </p:cNvSpPr>
          <p:nvPr>
            <p:ph type="body" sz="quarter" idx="1"/>
          </p:nvPr>
        </p:nvSpPr>
        <p:spPr>
          <a:prstGeom prst="rect">
            <a:avLst/>
          </a:prstGeom>
        </p:spPr>
        <p:txBody>
          <a:bodyPr/>
          <a:lstStyle/>
          <a:p>
            <a:r>
              <a:t>So, this is how the transport layer provides process-to-process communication:</a:t>
            </a:r>
          </a:p>
          <a:p>
            <a:pPr marL="616857" indent="-299357">
              <a:buSzPct val="95000"/>
              <a:buChar char="-"/>
            </a:pPr>
            <a:r>
              <a:t>At the sender side, we have “multiplexing”: the transport layer receives messages from many processes, through many sockets, and it “multiplexes” them, i.e, encapsulates them into segments which are sent over the same network.</a:t>
            </a:r>
          </a:p>
          <a:p>
            <a:pPr marL="616857" indent="-299357">
              <a:buSzPct val="95000"/>
              <a:buChar char="-"/>
            </a:pPr>
            <a:r>
              <a:t>At the receiver side, we have “demultiplexing”: upon receiving a segment from the network layer, the transport layer identifies the correct destination process, decapsulates the enclosed message, and passes it up.</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 name="Shape 245"/>
          <p:cNvSpPr>
            <a:spLocks noGrp="1" noRot="1" noChangeAspect="1"/>
          </p:cNvSpPr>
          <p:nvPr>
            <p:ph type="sldImg"/>
          </p:nvPr>
        </p:nvSpPr>
        <p:spPr>
          <a:prstGeom prst="rect">
            <a:avLst/>
          </a:prstGeom>
        </p:spPr>
        <p:txBody>
          <a:bodyPr/>
          <a:lstStyle/>
          <a:p>
            <a:endParaRPr/>
          </a:p>
        </p:txBody>
      </p:sp>
      <p:sp>
        <p:nvSpPr>
          <p:cNvPr id="246" name="Shape 246"/>
          <p:cNvSpPr>
            <a:spLocks noGrp="1"/>
          </p:cNvSpPr>
          <p:nvPr>
            <p:ph type="body" sz="quarter" idx="1"/>
          </p:nvPr>
        </p:nvSpPr>
        <p:spPr>
          <a:prstGeom prst="rect">
            <a:avLst/>
          </a:prstGeom>
        </p:spPr>
        <p:txBody>
          <a:bodyPr/>
          <a:lstStyle/>
          <a:p>
            <a:r>
              <a:rPr dirty="0"/>
              <a:t>Now let’s turn to reliable data delivery.</a:t>
            </a:r>
          </a:p>
          <a:p>
            <a:endParaRPr dirty="0"/>
          </a:p>
          <a:p>
            <a:r>
              <a:rPr dirty="0"/>
              <a:t>We will first build our own imaginary protocol for reliable data delivery, </a:t>
            </a:r>
            <a:br>
              <a:rPr dirty="0"/>
            </a:br>
            <a:r>
              <a:rPr dirty="0"/>
              <a:t>which does not correspond to any actual transport-layer technology (it’s neither UDP nor TCP),</a:t>
            </a:r>
            <a:br>
              <a:rPr dirty="0"/>
            </a:br>
            <a:r>
              <a:rPr dirty="0"/>
              <a:t>and we will examine UDP and TCP in the next lecture.</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 name="Shape 264"/>
          <p:cNvSpPr>
            <a:spLocks noGrp="1" noRot="1" noChangeAspect="1"/>
          </p:cNvSpPr>
          <p:nvPr>
            <p:ph type="sldImg"/>
          </p:nvPr>
        </p:nvSpPr>
        <p:spPr>
          <a:prstGeom prst="rect">
            <a:avLst/>
          </a:prstGeom>
        </p:spPr>
        <p:txBody>
          <a:bodyPr/>
          <a:lstStyle/>
          <a:p>
            <a:endParaRPr/>
          </a:p>
        </p:txBody>
      </p:sp>
      <p:sp>
        <p:nvSpPr>
          <p:cNvPr id="265" name="Shape 265"/>
          <p:cNvSpPr>
            <a:spLocks noGrp="1"/>
          </p:cNvSpPr>
          <p:nvPr>
            <p:ph type="body" sz="quarter" idx="1"/>
          </p:nvPr>
        </p:nvSpPr>
        <p:spPr>
          <a:prstGeom prst="rect">
            <a:avLst/>
          </a:prstGeom>
        </p:spPr>
        <p:txBody>
          <a:bodyPr/>
          <a:lstStyle/>
          <a:p>
            <a:r>
              <a:rPr dirty="0"/>
              <a:t>In this pictures, I have rotated the layers by 90 degrees, so that I can depict two end-systems, a sender and a receiver.</a:t>
            </a:r>
          </a:p>
          <a:p>
            <a:r>
              <a:rPr dirty="0"/>
              <a:t>On the left we have Alice’s app layer, which talks to Alice’s transport layer, which talks to the network, which talks to Bob’s transport layer, which talks to Bob’s app layer.</a:t>
            </a:r>
          </a:p>
          <a:p>
            <a:endParaRPr dirty="0"/>
          </a:p>
          <a:p>
            <a:r>
              <a:rPr dirty="0"/>
              <a:t>The network layer of the Internet is unreliable: it may corrupt or drop packets.</a:t>
            </a:r>
          </a:p>
          <a:p>
            <a:endParaRPr dirty="0"/>
          </a:p>
          <a:p>
            <a:r>
              <a:rPr dirty="0"/>
              <a:t>Let’s see how we can build a transport layer that provides reliable data transfer on top of an unreliable network. I.e., we want a transport layer that provides to the application layer the illusion of a reliable network.</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 name="Shape 279"/>
          <p:cNvSpPr>
            <a:spLocks noGrp="1" noRot="1" noChangeAspect="1"/>
          </p:cNvSpPr>
          <p:nvPr>
            <p:ph type="sldImg"/>
          </p:nvPr>
        </p:nvSpPr>
        <p:spPr>
          <a:prstGeom prst="rect">
            <a:avLst/>
          </a:prstGeom>
        </p:spPr>
        <p:txBody>
          <a:bodyPr/>
          <a:lstStyle/>
          <a:p>
            <a:endParaRPr/>
          </a:p>
        </p:txBody>
      </p:sp>
      <p:sp>
        <p:nvSpPr>
          <p:cNvPr id="280" name="Shape 280"/>
          <p:cNvSpPr>
            <a:spLocks noGrp="1"/>
          </p:cNvSpPr>
          <p:nvPr>
            <p:ph type="body" sz="quarter" idx="1"/>
          </p:nvPr>
        </p:nvSpPr>
        <p:spPr>
          <a:prstGeom prst="rect">
            <a:avLst/>
          </a:prstGeom>
        </p:spPr>
        <p:txBody>
          <a:bodyPr/>
          <a:lstStyle/>
          <a:p>
            <a:r>
              <a:rPr dirty="0"/>
              <a:t>Consider Alice’s and Bob’s computers. Suppose a process in Alice’s application layer wants to send a message to a process in Bob’s application layer.</a:t>
            </a:r>
            <a:endParaRPr lang="fr-CH" dirty="0"/>
          </a:p>
          <a:p>
            <a:endParaRPr lang="fr-CH" dirty="0"/>
          </a:p>
          <a:p>
            <a:r>
              <a:rPr dirty="0"/>
              <a:t> </a:t>
            </a:r>
            <a:r>
              <a:rPr sz="2800" b="1" dirty="0"/>
              <a:t>Suppose the message fits in a single segment.</a:t>
            </a:r>
          </a:p>
          <a:p>
            <a:endParaRPr dirty="0"/>
          </a:p>
          <a:p>
            <a:r>
              <a:rPr dirty="0"/>
              <a:t>Here is the minimum that happens:</a:t>
            </a:r>
          </a:p>
          <a:p>
            <a:pPr marL="616857" indent="-299357">
              <a:buSzPct val="95000"/>
              <a:buChar char="-"/>
            </a:pPr>
            <a:r>
              <a:rPr dirty="0"/>
              <a:t>Alice’s app layer calls a function, called </a:t>
            </a:r>
            <a:r>
              <a:rPr dirty="0" err="1"/>
              <a:t>rdt_send</a:t>
            </a:r>
            <a:r>
              <a:rPr dirty="0"/>
              <a:t> (reliable-data-</a:t>
            </a:r>
            <a:r>
              <a:rPr dirty="0" err="1"/>
              <a:t>transfer_send</a:t>
            </a:r>
            <a:r>
              <a:rPr dirty="0"/>
              <a:t>), to pass the message to the transport layer.</a:t>
            </a:r>
          </a:p>
          <a:p>
            <a:pPr marL="616857" indent="-299357">
              <a:buSzPct val="95000"/>
              <a:buChar char="-"/>
            </a:pPr>
            <a:r>
              <a:rPr dirty="0"/>
              <a:t>Alice’s transport layer calls another function, called </a:t>
            </a:r>
            <a:r>
              <a:rPr dirty="0" err="1"/>
              <a:t>udt_send</a:t>
            </a:r>
            <a:r>
              <a:rPr dirty="0"/>
              <a:t> (unreliable-data-</a:t>
            </a:r>
            <a:r>
              <a:rPr dirty="0" err="1"/>
              <a:t>transfer_send</a:t>
            </a:r>
            <a:r>
              <a:rPr dirty="0"/>
              <a:t>), to pass the segment to the network layer.</a:t>
            </a:r>
          </a:p>
          <a:p>
            <a:pPr marL="616857" indent="-299357">
              <a:buSzPct val="95000"/>
              <a:buChar char="-"/>
            </a:pPr>
            <a:r>
              <a:rPr dirty="0"/>
              <a:t>The segment traverses the network from Alice to Bob.</a:t>
            </a:r>
          </a:p>
          <a:p>
            <a:pPr marL="616857" indent="-299357">
              <a:buSzPct val="95000"/>
              <a:buChar char="-"/>
            </a:pPr>
            <a:r>
              <a:rPr dirty="0"/>
              <a:t>Bob’s network layer calls </a:t>
            </a:r>
            <a:r>
              <a:rPr dirty="0" err="1"/>
              <a:t>rdt_rcv</a:t>
            </a:r>
            <a:r>
              <a:rPr dirty="0"/>
              <a:t> (reliable-data-</a:t>
            </a:r>
            <a:r>
              <a:rPr dirty="0" err="1"/>
              <a:t>transfer_receive</a:t>
            </a:r>
            <a:r>
              <a:rPr dirty="0"/>
              <a:t>) to pass the segment to the transport layer.</a:t>
            </a:r>
          </a:p>
          <a:p>
            <a:pPr marL="616857" indent="-299357">
              <a:buSzPct val="95000"/>
              <a:buChar char="-"/>
            </a:pPr>
            <a:r>
              <a:rPr dirty="0"/>
              <a:t>And the transport layer calls </a:t>
            </a:r>
            <a:r>
              <a:rPr dirty="0" err="1"/>
              <a:t>deliver_data</a:t>
            </a:r>
            <a:r>
              <a:rPr dirty="0"/>
              <a:t> to pass the message to the app layer.</a:t>
            </a:r>
          </a:p>
          <a:p>
            <a:endParaRPr dirty="0"/>
          </a:p>
          <a:p>
            <a:r>
              <a:rPr dirty="0"/>
              <a:t>This transport layer that I just described does nothing but pass data between the application and network layers. It does nothing useful, it might as well not be there.</a:t>
            </a:r>
          </a:p>
          <a:p>
            <a:endParaRPr dirty="0"/>
          </a:p>
          <a:p>
            <a:r>
              <a:rPr dirty="0"/>
              <a:t>Now let’s start adding useful functionality.</a:t>
            </a:r>
          </a:p>
          <a:p>
            <a:endParaRPr dirty="0"/>
          </a:p>
          <a:p>
            <a:r>
              <a:rPr dirty="0"/>
              <a:t>First, the transport layer can detect that a segment was corrupted.</a:t>
            </a:r>
          </a:p>
          <a:p>
            <a:r>
              <a:rPr dirty="0"/>
              <a:t>This can be done by using a…</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 name="Shape 285"/>
          <p:cNvSpPr>
            <a:spLocks noGrp="1" noRot="1" noChangeAspect="1"/>
          </p:cNvSpPr>
          <p:nvPr>
            <p:ph type="sldImg"/>
          </p:nvPr>
        </p:nvSpPr>
        <p:spPr>
          <a:prstGeom prst="rect">
            <a:avLst/>
          </a:prstGeom>
        </p:spPr>
        <p:txBody>
          <a:bodyPr/>
          <a:lstStyle/>
          <a:p>
            <a:endParaRPr/>
          </a:p>
        </p:txBody>
      </p:sp>
      <p:sp>
        <p:nvSpPr>
          <p:cNvPr id="286" name="Shape 286"/>
          <p:cNvSpPr>
            <a:spLocks noGrp="1"/>
          </p:cNvSpPr>
          <p:nvPr>
            <p:ph type="body" sz="quarter" idx="1"/>
          </p:nvPr>
        </p:nvSpPr>
        <p:spPr>
          <a:prstGeom prst="rect">
            <a:avLst/>
          </a:prstGeom>
        </p:spPr>
        <p:txBody>
          <a:bodyPr/>
          <a:lstStyle/>
          <a:p>
            <a:r>
              <a:t>... checksum,</a:t>
            </a:r>
          </a:p>
          <a:p>
            <a:r>
              <a:t>which is redundant information that depends on the data,</a:t>
            </a:r>
          </a:p>
          <a:p>
            <a:r>
              <a:t>e.g., the sum of all the data bytes.</a:t>
            </a:r>
          </a:p>
          <a:p>
            <a:endParaRPr/>
          </a:p>
          <a:p>
            <a:r>
              <a:t>The sender adds a checksum to each segment.</a:t>
            </a:r>
          </a:p>
          <a:p>
            <a:r>
              <a:t>The receiver recomputes the checksum and determines whether the segment was corrupted or not.</a:t>
            </a:r>
          </a:p>
          <a:p>
            <a:endParaRPr/>
          </a:p>
          <a:p>
            <a:r>
              <a:t>Certain checksums make it possible to not only detect corruption but also correct limited forms of corruption, but we will not discuss this scenario today.</a:t>
            </a:r>
          </a:p>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 name="Shape 311"/>
          <p:cNvSpPr>
            <a:spLocks noGrp="1" noRot="1" noChangeAspect="1"/>
          </p:cNvSpPr>
          <p:nvPr>
            <p:ph type="sldImg"/>
          </p:nvPr>
        </p:nvSpPr>
        <p:spPr>
          <a:prstGeom prst="rect">
            <a:avLst/>
          </a:prstGeom>
        </p:spPr>
        <p:txBody>
          <a:bodyPr/>
          <a:lstStyle/>
          <a:p>
            <a:endParaRPr/>
          </a:p>
        </p:txBody>
      </p:sp>
      <p:sp>
        <p:nvSpPr>
          <p:cNvPr id="312" name="Shape 312"/>
          <p:cNvSpPr>
            <a:spLocks noGrp="1"/>
          </p:cNvSpPr>
          <p:nvPr>
            <p:ph type="body" sz="quarter" idx="1"/>
          </p:nvPr>
        </p:nvSpPr>
        <p:spPr>
          <a:prstGeom prst="rect">
            <a:avLst/>
          </a:prstGeom>
        </p:spPr>
        <p:txBody>
          <a:bodyPr/>
          <a:lstStyle/>
          <a:p>
            <a:r>
              <a:t>Suppose that Alice sends a segment to Bob, and Bob’s transport layer determines (using the checksum) that the segment was corrupted. </a:t>
            </a:r>
          </a:p>
          <a:p>
            <a:r>
              <a:t>What can it do next?</a:t>
            </a:r>
          </a:p>
          <a:p>
            <a:endParaRPr/>
          </a:p>
          <a:p>
            <a:r>
              <a:t>It can send back to Alice’s transport layer a negative ACK (NACK).</a:t>
            </a:r>
          </a:p>
          <a:p>
            <a:r>
              <a:t>In response, Alice’s transport layer retransmits the same segment.</a:t>
            </a:r>
          </a:p>
          <a:p>
            <a:r>
              <a:t>If the retransmitted segment arrives at its destination uncorrupted, Bob’s transport layer extracts the data, delivers it to the application layer, and sends back a positive ACK.</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 name="Shape 317"/>
          <p:cNvSpPr>
            <a:spLocks noGrp="1" noRot="1" noChangeAspect="1"/>
          </p:cNvSpPr>
          <p:nvPr>
            <p:ph type="sldImg"/>
          </p:nvPr>
        </p:nvSpPr>
        <p:spPr>
          <a:prstGeom prst="rect">
            <a:avLst/>
          </a:prstGeom>
        </p:spPr>
        <p:txBody>
          <a:bodyPr/>
          <a:lstStyle/>
          <a:p>
            <a:endParaRPr/>
          </a:p>
        </p:txBody>
      </p:sp>
      <p:sp>
        <p:nvSpPr>
          <p:cNvPr id="318" name="Shape 318"/>
          <p:cNvSpPr>
            <a:spLocks noGrp="1"/>
          </p:cNvSpPr>
          <p:nvPr>
            <p:ph type="body" sz="quarter" idx="1"/>
          </p:nvPr>
        </p:nvSpPr>
        <p:spPr>
          <a:prstGeom prst="rect">
            <a:avLst/>
          </a:prstGeom>
        </p:spPr>
        <p:txBody>
          <a:bodyPr/>
          <a:lstStyle/>
          <a:p>
            <a:r>
              <a:t>So: An important element of reliable data delivery is the combination of acknowledgments (ACKs) and retransmissions…</a:t>
            </a:r>
          </a:p>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5" name="Shape 345"/>
          <p:cNvSpPr>
            <a:spLocks noGrp="1" noRot="1" noChangeAspect="1"/>
          </p:cNvSpPr>
          <p:nvPr>
            <p:ph type="sldImg"/>
          </p:nvPr>
        </p:nvSpPr>
        <p:spPr>
          <a:prstGeom prst="rect">
            <a:avLst/>
          </a:prstGeom>
        </p:spPr>
        <p:txBody>
          <a:bodyPr/>
          <a:lstStyle/>
          <a:p>
            <a:endParaRPr/>
          </a:p>
        </p:txBody>
      </p:sp>
      <p:sp>
        <p:nvSpPr>
          <p:cNvPr id="346" name="Shape 346"/>
          <p:cNvSpPr>
            <a:spLocks noGrp="1"/>
          </p:cNvSpPr>
          <p:nvPr>
            <p:ph type="body" sz="quarter" idx="1"/>
          </p:nvPr>
        </p:nvSpPr>
        <p:spPr>
          <a:prstGeom prst="rect">
            <a:avLst/>
          </a:prstGeom>
        </p:spPr>
        <p:txBody>
          <a:bodyPr/>
          <a:lstStyle/>
          <a:p>
            <a:r>
              <a:rPr dirty="0"/>
              <a:t>Suppose that Alice sends a segment to Bob, and Bob’s transport layer sends back a positive ACK. However, the ACK gets corrupted, and Alice’s transport layer cannot tell if it’s a positive or a negative ACK. What must Alice’s transport layer do?</a:t>
            </a:r>
          </a:p>
          <a:p>
            <a:endParaRPr dirty="0"/>
          </a:p>
          <a:p>
            <a:r>
              <a:rPr dirty="0"/>
              <a:t>It must be conservative and retransmit the segment.</a:t>
            </a:r>
          </a:p>
          <a:p>
            <a:r>
              <a:rPr dirty="0"/>
              <a:t>However, Bob’s transport layer (which has already successfully received this segment) may now think that Alice’s transport layer is transmitting a new segment, whereas she is *re*transmitting the old one.</a:t>
            </a:r>
          </a:p>
          <a:p>
            <a:endParaRPr dirty="0"/>
          </a:p>
          <a:p>
            <a:r>
              <a:rPr b="1" dirty="0">
                <a:solidFill>
                  <a:srgbClr val="FF0000"/>
                </a:solidFill>
              </a:rPr>
              <a:t>To resolve this issue, we need sequence numbers:</a:t>
            </a:r>
          </a:p>
          <a:p>
            <a:r>
              <a:rPr dirty="0"/>
              <a:t>- When Alice’s transport layer sends a segment, it adds a sequence number to it.</a:t>
            </a:r>
          </a:p>
          <a:p>
            <a:r>
              <a:rPr dirty="0"/>
              <a:t>- If it retransmits the same segment, that segment has the same sequence number,</a:t>
            </a:r>
          </a:p>
          <a:p>
            <a:r>
              <a:rPr dirty="0"/>
              <a:t>so Bob knows that Alice is retransmitting the same segment.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4" name="Shape 374"/>
          <p:cNvSpPr>
            <a:spLocks noGrp="1" noRot="1" noChangeAspect="1"/>
          </p:cNvSpPr>
          <p:nvPr>
            <p:ph type="sldImg"/>
          </p:nvPr>
        </p:nvSpPr>
        <p:spPr>
          <a:prstGeom prst="rect">
            <a:avLst/>
          </a:prstGeom>
        </p:spPr>
        <p:txBody>
          <a:bodyPr/>
          <a:lstStyle/>
          <a:p>
            <a:endParaRPr/>
          </a:p>
        </p:txBody>
      </p:sp>
      <p:sp>
        <p:nvSpPr>
          <p:cNvPr id="375" name="Shape 375"/>
          <p:cNvSpPr>
            <a:spLocks noGrp="1"/>
          </p:cNvSpPr>
          <p:nvPr>
            <p:ph type="body" sz="quarter" idx="1"/>
          </p:nvPr>
        </p:nvSpPr>
        <p:spPr>
          <a:prstGeom prst="rect">
            <a:avLst/>
          </a:prstGeom>
        </p:spPr>
        <p:txBody>
          <a:bodyPr/>
          <a:lstStyle/>
          <a:p>
            <a:r>
              <a:t>- If Alice’s transport layer transmits a new segment, that has a different sequence number,</a:t>
            </a:r>
          </a:p>
          <a:p>
            <a:r>
              <a:t>so Bob’s transport layer knows that Alice is transmitting a new segment.</a:t>
            </a:r>
          </a:p>
          <a:p>
            <a:endParaRPr/>
          </a:p>
          <a:p>
            <a:r>
              <a:t>-&gt; How many sequence numbers do we need?</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0" name="Shape 380"/>
          <p:cNvSpPr>
            <a:spLocks noGrp="1" noRot="1" noChangeAspect="1"/>
          </p:cNvSpPr>
          <p:nvPr>
            <p:ph type="sldImg"/>
          </p:nvPr>
        </p:nvSpPr>
        <p:spPr>
          <a:prstGeom prst="rect">
            <a:avLst/>
          </a:prstGeom>
        </p:spPr>
        <p:txBody>
          <a:bodyPr/>
          <a:lstStyle/>
          <a:p>
            <a:endParaRPr/>
          </a:p>
        </p:txBody>
      </p:sp>
      <p:sp>
        <p:nvSpPr>
          <p:cNvPr id="381" name="Shape 381"/>
          <p:cNvSpPr>
            <a:spLocks noGrp="1"/>
          </p:cNvSpPr>
          <p:nvPr>
            <p:ph type="body" sz="quarter" idx="1"/>
          </p:nvPr>
        </p:nvSpPr>
        <p:spPr>
          <a:prstGeom prst="rect">
            <a:avLst/>
          </a:prstGeom>
        </p:spPr>
        <p:txBody>
          <a:bodyPr/>
          <a:lstStyle/>
          <a:p>
            <a:r>
              <a:t>So: Another important element of reliable data delivery is sequence numbers…</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8" name="Shape 408"/>
          <p:cNvSpPr>
            <a:spLocks noGrp="1" noRot="1" noChangeAspect="1"/>
          </p:cNvSpPr>
          <p:nvPr>
            <p:ph type="sldImg"/>
          </p:nvPr>
        </p:nvSpPr>
        <p:spPr>
          <a:prstGeom prst="rect">
            <a:avLst/>
          </a:prstGeom>
        </p:spPr>
        <p:txBody>
          <a:bodyPr/>
          <a:lstStyle/>
          <a:p>
            <a:endParaRPr/>
          </a:p>
        </p:txBody>
      </p:sp>
      <p:sp>
        <p:nvSpPr>
          <p:cNvPr id="409" name="Shape 409"/>
          <p:cNvSpPr>
            <a:spLocks noGrp="1"/>
          </p:cNvSpPr>
          <p:nvPr>
            <p:ph type="body" sz="quarter" idx="1"/>
          </p:nvPr>
        </p:nvSpPr>
        <p:spPr>
          <a:prstGeom prst="rect">
            <a:avLst/>
          </a:prstGeom>
        </p:spPr>
        <p:txBody>
          <a:bodyPr/>
          <a:lstStyle/>
          <a:p>
            <a:r>
              <a:rPr dirty="0"/>
              <a:t>For example, suppose Bob’s transport layer needs to send a NACK for segment 1.</a:t>
            </a:r>
          </a:p>
          <a:p>
            <a:r>
              <a:rPr dirty="0"/>
              <a:t>Instead… </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6" name="Shape 436"/>
          <p:cNvSpPr>
            <a:spLocks noGrp="1" noRot="1" noChangeAspect="1"/>
          </p:cNvSpPr>
          <p:nvPr>
            <p:ph type="sldImg"/>
          </p:nvPr>
        </p:nvSpPr>
        <p:spPr>
          <a:prstGeom prst="rect">
            <a:avLst/>
          </a:prstGeom>
        </p:spPr>
        <p:txBody>
          <a:bodyPr/>
          <a:lstStyle/>
          <a:p>
            <a:endParaRPr/>
          </a:p>
        </p:txBody>
      </p:sp>
      <p:sp>
        <p:nvSpPr>
          <p:cNvPr id="437" name="Shape 437"/>
          <p:cNvSpPr>
            <a:spLocks noGrp="1"/>
          </p:cNvSpPr>
          <p:nvPr>
            <p:ph type="body" sz="quarter" idx="1"/>
          </p:nvPr>
        </p:nvSpPr>
        <p:spPr>
          <a:prstGeom prst="rect">
            <a:avLst/>
          </a:prstGeom>
        </p:spPr>
        <p:txBody>
          <a:bodyPr/>
          <a:lstStyle/>
          <a:p>
            <a:r>
              <a:t>it can send a (second) ACK for segment 0, which means: “The last segment I received correctly from you had SEQ 0.” This is equivalent with Bob sending a NACK for segment 1.</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1" name="Shape 461"/>
          <p:cNvSpPr>
            <a:spLocks noGrp="1" noRot="1" noChangeAspect="1"/>
          </p:cNvSpPr>
          <p:nvPr>
            <p:ph type="sldImg"/>
          </p:nvPr>
        </p:nvSpPr>
        <p:spPr>
          <a:prstGeom prst="rect">
            <a:avLst/>
          </a:prstGeom>
        </p:spPr>
        <p:txBody>
          <a:bodyPr/>
          <a:lstStyle/>
          <a:p>
            <a:endParaRPr/>
          </a:p>
        </p:txBody>
      </p:sp>
      <p:sp>
        <p:nvSpPr>
          <p:cNvPr id="462" name="Shape 462"/>
          <p:cNvSpPr>
            <a:spLocks noGrp="1"/>
          </p:cNvSpPr>
          <p:nvPr>
            <p:ph type="body" sz="quarter" idx="1"/>
          </p:nvPr>
        </p:nvSpPr>
        <p:spPr>
          <a:prstGeom prst="rect">
            <a:avLst/>
          </a:prstGeom>
        </p:spPr>
        <p:txBody>
          <a:bodyPr/>
          <a:lstStyle/>
          <a:p>
            <a:r>
              <a:t>Now suppose Alice sends a segment to Bob, and the segment is lost.</a:t>
            </a:r>
          </a:p>
          <a:p>
            <a:r>
              <a:t>Now Alice’s transport layer receives no feedback at all about its segment.</a:t>
            </a:r>
          </a:p>
          <a:p>
            <a:endParaRPr/>
          </a:p>
          <a:p>
            <a:r>
              <a:t>To deal with this scenario, Alice’s transport layer uses timeouts:</a:t>
            </a:r>
          </a:p>
          <a:p>
            <a:r>
              <a:t>- Every time it transmits a segment, it starts a timer.</a:t>
            </a:r>
          </a:p>
          <a:p>
            <a:r>
              <a:t>- If the timer expires and Alice’s transport layer has not received an ACK for the segment,</a:t>
            </a:r>
          </a:p>
          <a:p>
            <a:r>
              <a:t>it assumes the segment lost and retransmits.</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 name="Shape 491"/>
          <p:cNvSpPr>
            <a:spLocks noGrp="1" noRot="1" noChangeAspect="1"/>
          </p:cNvSpPr>
          <p:nvPr>
            <p:ph type="sldImg"/>
          </p:nvPr>
        </p:nvSpPr>
        <p:spPr>
          <a:prstGeom prst="rect">
            <a:avLst/>
          </a:prstGeom>
        </p:spPr>
        <p:txBody>
          <a:bodyPr/>
          <a:lstStyle/>
          <a:p>
            <a:endParaRPr/>
          </a:p>
        </p:txBody>
      </p:sp>
      <p:sp>
        <p:nvSpPr>
          <p:cNvPr id="492" name="Shape 492"/>
          <p:cNvSpPr>
            <a:spLocks noGrp="1"/>
          </p:cNvSpPr>
          <p:nvPr>
            <p:ph type="body" sz="quarter" idx="1"/>
          </p:nvPr>
        </p:nvSpPr>
        <p:spPr>
          <a:prstGeom prst="rect">
            <a:avLst/>
          </a:prstGeom>
        </p:spPr>
        <p:txBody>
          <a:bodyPr/>
          <a:lstStyle/>
          <a:p>
            <a:r>
              <a:t>What if Alice’s segment reaches Bob, but Bob’s ACK is lost?</a:t>
            </a:r>
          </a:p>
          <a:p>
            <a:r>
              <a:t>Alice’s transport layer still times out and retransmits the segment.</a:t>
            </a:r>
          </a:p>
          <a:p>
            <a:endParaRPr/>
          </a:p>
          <a:p>
            <a:r>
              <a:t>In general, there is no way for Alice’s transport layer to know if a timeout is due to a segment really being lost or the ACK for the segment being lost. It must act conservatively and retransmit anyway.</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4" name="Shape 524"/>
          <p:cNvSpPr>
            <a:spLocks noGrp="1" noRot="1" noChangeAspect="1"/>
          </p:cNvSpPr>
          <p:nvPr>
            <p:ph type="sldImg"/>
          </p:nvPr>
        </p:nvSpPr>
        <p:spPr>
          <a:prstGeom prst="rect">
            <a:avLst/>
          </a:prstGeom>
        </p:spPr>
        <p:txBody>
          <a:bodyPr/>
          <a:lstStyle/>
          <a:p>
            <a:endParaRPr/>
          </a:p>
        </p:txBody>
      </p:sp>
      <p:sp>
        <p:nvSpPr>
          <p:cNvPr id="525" name="Shape 525"/>
          <p:cNvSpPr>
            <a:spLocks noGrp="1"/>
          </p:cNvSpPr>
          <p:nvPr>
            <p:ph type="body" sz="quarter" idx="1"/>
          </p:nvPr>
        </p:nvSpPr>
        <p:spPr>
          <a:prstGeom prst="rect">
            <a:avLst/>
          </a:prstGeom>
        </p:spPr>
        <p:txBody>
          <a:bodyPr/>
          <a:lstStyle/>
          <a:p>
            <a:r>
              <a:t>And what if Alice’s segment reaches Bob, and Bob’s ACK reaches Alice, but (due to some unpredicted network delay) after Alice’s transport layer has timed out?</a:t>
            </a:r>
          </a:p>
          <a:p>
            <a:endParaRPr/>
          </a:p>
          <a:p>
            <a:r>
              <a:t>There’s no way for Alice’s transport layer to avoid useless retransmissions like this one.</a:t>
            </a:r>
            <a:br/>
            <a:r>
              <a:t>However, when Alice’s transport layer receives the first (the delayed) ACK 0, it can immediately transmit SEQ 1 — it does not need to wait for Bob’s second ACK 0.</a:t>
            </a:r>
          </a:p>
          <a:p>
            <a:endParaRPr/>
          </a:p>
          <a:p>
            <a:r>
              <a:t>In the meantime, when Bob’s transport layer receives the retransmitted SEQ 0,</a:t>
            </a:r>
          </a:p>
          <a:p>
            <a:r>
              <a:t>it will ACK 0 again, and that’s OK. Alice’s transport layer will just ignore the second ACK 0.</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0" name="Shape 530"/>
          <p:cNvSpPr>
            <a:spLocks noGrp="1" noRot="1" noChangeAspect="1"/>
          </p:cNvSpPr>
          <p:nvPr>
            <p:ph type="sldImg"/>
          </p:nvPr>
        </p:nvSpPr>
        <p:spPr>
          <a:prstGeom prst="rect">
            <a:avLst/>
          </a:prstGeom>
        </p:spPr>
        <p:txBody>
          <a:bodyPr/>
          <a:lstStyle/>
          <a:p>
            <a:endParaRPr/>
          </a:p>
        </p:txBody>
      </p:sp>
      <p:sp>
        <p:nvSpPr>
          <p:cNvPr id="531" name="Shape 531"/>
          <p:cNvSpPr>
            <a:spLocks noGrp="1"/>
          </p:cNvSpPr>
          <p:nvPr>
            <p:ph type="body" sz="quarter" idx="1"/>
          </p:nvPr>
        </p:nvSpPr>
        <p:spPr>
          <a:prstGeom prst="rect">
            <a:avLst/>
          </a:prstGeom>
        </p:spPr>
        <p:txBody>
          <a:bodyPr/>
          <a:lstStyle/>
          <a:p>
            <a:r>
              <a:rPr dirty="0"/>
              <a:t>So: Yet another important element of reliable data delivery is the timeout…</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0" name="Shape 560"/>
          <p:cNvSpPr>
            <a:spLocks noGrp="1" noRot="1" noChangeAspect="1"/>
          </p:cNvSpPr>
          <p:nvPr>
            <p:ph type="sldImg"/>
          </p:nvPr>
        </p:nvSpPr>
        <p:spPr>
          <a:prstGeom prst="rect">
            <a:avLst/>
          </a:prstGeom>
        </p:spPr>
        <p:txBody>
          <a:bodyPr/>
          <a:lstStyle/>
          <a:p>
            <a:endParaRPr/>
          </a:p>
        </p:txBody>
      </p:sp>
      <p:sp>
        <p:nvSpPr>
          <p:cNvPr id="561" name="Shape 561"/>
          <p:cNvSpPr>
            <a:spLocks noGrp="1"/>
          </p:cNvSpPr>
          <p:nvPr>
            <p:ph type="body" sz="quarter" idx="1"/>
          </p:nvPr>
        </p:nvSpPr>
        <p:spPr>
          <a:prstGeom prst="rect">
            <a:avLst/>
          </a:prstGeom>
        </p:spPr>
        <p:txBody>
          <a:bodyPr/>
          <a:lstStyle/>
          <a:p>
            <a:r>
              <a:t>I have described to you a “stop-and-wait” transport-layer protocol,</a:t>
            </a:r>
            <a:br/>
            <a:r>
              <a:t>where the sender always sends only one segment and then waits for an ACK or a timeout.</a:t>
            </a:r>
          </a:p>
          <a:p>
            <a:r>
              <a:t>Here is what communication looks like when no segment is corrupted or lost.</a:t>
            </a:r>
          </a:p>
          <a:p>
            <a:endParaRPr/>
          </a:p>
          <a:p>
            <a:r>
              <a:t>—&gt;What is the problem with this protocol?</a:t>
            </a:r>
          </a:p>
          <a:p>
            <a:endParaRPr/>
          </a:p>
          <a:p>
            <a:r>
              <a:t>Performance and, in particular, throughput.</a:t>
            </a:r>
          </a:p>
          <a:p>
            <a:r>
              <a:t>Alice’s transport layer transmits one segment, then waits for an ACK.</a:t>
            </a:r>
          </a:p>
          <a:p>
            <a:r>
              <a:t>Then she transmits another segment, then waits for an ACK.</a:t>
            </a:r>
          </a:p>
          <a:p>
            <a:r>
              <a:t>And so on.</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4" name="Shape 574"/>
          <p:cNvSpPr>
            <a:spLocks noGrp="1" noRot="1" noChangeAspect="1"/>
          </p:cNvSpPr>
          <p:nvPr>
            <p:ph type="sldImg"/>
          </p:nvPr>
        </p:nvSpPr>
        <p:spPr>
          <a:prstGeom prst="rect">
            <a:avLst/>
          </a:prstGeom>
        </p:spPr>
        <p:txBody>
          <a:bodyPr/>
          <a:lstStyle/>
          <a:p>
            <a:endParaRPr/>
          </a:p>
        </p:txBody>
      </p:sp>
      <p:sp>
        <p:nvSpPr>
          <p:cNvPr id="575" name="Shape 575"/>
          <p:cNvSpPr>
            <a:spLocks noGrp="1"/>
          </p:cNvSpPr>
          <p:nvPr>
            <p:ph type="body" sz="quarter" idx="1"/>
          </p:nvPr>
        </p:nvSpPr>
        <p:spPr>
          <a:prstGeom prst="rect">
            <a:avLst/>
          </a:prstGeom>
        </p:spPr>
        <p:txBody>
          <a:bodyPr/>
          <a:lstStyle/>
          <a:p>
            <a:r>
              <a:t>Let’s go back, for a moment, to this view of sender and receiver.</a:t>
            </a:r>
          </a:p>
          <a:p>
            <a:r>
              <a:t>Suppose Alice’s and Bob’s computers are directly connected over one physical link of transmission rate 1 Gbps and propagation delay 15 msec.</a:t>
            </a:r>
          </a:p>
          <a:p>
            <a:r>
              <a:t>Suppose the segment size is 1000 bytes.</a:t>
            </a:r>
          </a:p>
          <a:p>
            <a:r>
              <a:t>Hence, the transmission delay for each segment is 8 usec. </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9" name="Shape 599"/>
          <p:cNvSpPr>
            <a:spLocks noGrp="1" noRot="1" noChangeAspect="1"/>
          </p:cNvSpPr>
          <p:nvPr>
            <p:ph type="sldImg"/>
          </p:nvPr>
        </p:nvSpPr>
        <p:spPr>
          <a:prstGeom prst="rect">
            <a:avLst/>
          </a:prstGeom>
        </p:spPr>
        <p:txBody>
          <a:bodyPr/>
          <a:lstStyle/>
          <a:p>
            <a:endParaRPr/>
          </a:p>
        </p:txBody>
      </p:sp>
      <p:sp>
        <p:nvSpPr>
          <p:cNvPr id="600" name="Shape 600"/>
          <p:cNvSpPr>
            <a:spLocks noGrp="1"/>
          </p:cNvSpPr>
          <p:nvPr>
            <p:ph type="body" sz="quarter" idx="1"/>
          </p:nvPr>
        </p:nvSpPr>
        <p:spPr>
          <a:prstGeom prst="rect">
            <a:avLst/>
          </a:prstGeom>
        </p:spPr>
        <p:txBody>
          <a:bodyPr/>
          <a:lstStyle/>
          <a:p>
            <a:r>
              <a:t>This means that Alice transmits for 8 usec and then does nothing for 30 msec.</a:t>
            </a:r>
          </a:p>
          <a:p>
            <a:r>
              <a:t>This is a long wait. </a:t>
            </a:r>
          </a:p>
          <a:p>
            <a:r>
              <a:t>Another way to put this is that Alice’s transport layer is busy only for 0.027% of the time.</a:t>
            </a:r>
          </a:p>
          <a:p>
            <a:r>
              <a:t>We call this number the *sender* or *channel utilization*.</a:t>
            </a:r>
          </a:p>
          <a:p>
            <a:r>
              <a:t>So, the stop-and-wait protocol has poor sender utilization.</a:t>
            </a:r>
          </a:p>
          <a:p>
            <a:endParaRPr/>
          </a:p>
          <a:p>
            <a:r>
              <a:t>—&gt;How can we improve sender utilization?</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7" name="Shape 657"/>
          <p:cNvSpPr>
            <a:spLocks noGrp="1" noRot="1" noChangeAspect="1"/>
          </p:cNvSpPr>
          <p:nvPr>
            <p:ph type="sldImg"/>
          </p:nvPr>
        </p:nvSpPr>
        <p:spPr>
          <a:prstGeom prst="rect">
            <a:avLst/>
          </a:prstGeom>
        </p:spPr>
        <p:txBody>
          <a:bodyPr/>
          <a:lstStyle/>
          <a:p>
            <a:endParaRPr/>
          </a:p>
        </p:txBody>
      </p:sp>
      <p:sp>
        <p:nvSpPr>
          <p:cNvPr id="658" name="Shape 658"/>
          <p:cNvSpPr>
            <a:spLocks noGrp="1"/>
          </p:cNvSpPr>
          <p:nvPr>
            <p:ph type="body" sz="quarter" idx="1"/>
          </p:nvPr>
        </p:nvSpPr>
        <p:spPr>
          <a:prstGeom prst="rect">
            <a:avLst/>
          </a:prstGeom>
        </p:spPr>
        <p:txBody>
          <a:bodyPr/>
          <a:lstStyle/>
          <a:p>
            <a:r>
              <a:rPr dirty="0"/>
              <a:t>Let’s introduce the notion of </a:t>
            </a:r>
            <a:r>
              <a:rPr b="1" dirty="0"/>
              <a:t>a sender window</a:t>
            </a:r>
            <a:r>
              <a:rPr dirty="0"/>
              <a:t>.</a:t>
            </a:r>
          </a:p>
          <a:p>
            <a:endParaRPr dirty="0"/>
          </a:p>
          <a:p>
            <a:r>
              <a:rPr dirty="0"/>
              <a:t>What I am showing here on the left are sequence numbers that Alice will use,</a:t>
            </a:r>
          </a:p>
          <a:p>
            <a:r>
              <a:rPr dirty="0"/>
              <a:t>and this rectangle indicates that she has a window of size 4,</a:t>
            </a:r>
          </a:p>
          <a:p>
            <a:r>
              <a:rPr dirty="0"/>
              <a:t>which means that she will send out up to 4 segments without waiting for an ACK.</a:t>
            </a:r>
          </a:p>
          <a:p>
            <a:endParaRPr dirty="0"/>
          </a:p>
          <a:p>
            <a:r>
              <a:rPr dirty="0"/>
              <a:t>For example:</a:t>
            </a:r>
          </a:p>
          <a:p>
            <a:r>
              <a:rPr dirty="0"/>
              <a:t>- She sends out segments 0 to 3, then stops.</a:t>
            </a:r>
          </a:p>
          <a:p>
            <a:r>
              <a:rPr dirty="0"/>
              <a:t>- When she receives Bob’s first ACK, she advances her window by 1 SEQ, </a:t>
            </a:r>
            <a:br>
              <a:rPr dirty="0"/>
            </a:br>
            <a:r>
              <a:rPr dirty="0"/>
              <a:t>which means that she can send out segment 4.</a:t>
            </a:r>
          </a:p>
          <a:p>
            <a:r>
              <a:rPr dirty="0"/>
              <a:t>- When she receives Bob’s second ACK, she advances her window by 1 more SEQ,</a:t>
            </a:r>
          </a:p>
          <a:p>
            <a:r>
              <a:rPr dirty="0"/>
              <a:t>which means that she can send out segment 5.</a:t>
            </a:r>
          </a:p>
          <a:p>
            <a:r>
              <a:rPr dirty="0"/>
              <a:t>- And so on.</a:t>
            </a:r>
          </a:p>
          <a:p>
            <a:endParaRPr dirty="0"/>
          </a:p>
          <a:p>
            <a:r>
              <a:rPr b="1" dirty="0"/>
              <a:t>At any point in time, she has sent no more than 4 unacknowledged segments.</a:t>
            </a:r>
          </a:p>
          <a:p>
            <a:r>
              <a:rPr b="1" dirty="0"/>
              <a:t>We say that her window size is 4.</a:t>
            </a:r>
          </a:p>
          <a:p>
            <a:endParaRPr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3" name="Shape 693"/>
          <p:cNvSpPr>
            <a:spLocks noGrp="1" noRot="1" noChangeAspect="1"/>
          </p:cNvSpPr>
          <p:nvPr>
            <p:ph type="sldImg"/>
          </p:nvPr>
        </p:nvSpPr>
        <p:spPr>
          <a:prstGeom prst="rect">
            <a:avLst/>
          </a:prstGeom>
        </p:spPr>
        <p:txBody>
          <a:bodyPr/>
          <a:lstStyle/>
          <a:p>
            <a:endParaRPr/>
          </a:p>
        </p:txBody>
      </p:sp>
      <p:sp>
        <p:nvSpPr>
          <p:cNvPr id="694" name="Shape 694"/>
          <p:cNvSpPr>
            <a:spLocks noGrp="1"/>
          </p:cNvSpPr>
          <p:nvPr>
            <p:ph type="body" sz="quarter" idx="1"/>
          </p:nvPr>
        </p:nvSpPr>
        <p:spPr>
          <a:prstGeom prst="rect">
            <a:avLst/>
          </a:prstGeom>
        </p:spPr>
        <p:txBody>
          <a:bodyPr/>
          <a:lstStyle/>
          <a:p>
            <a:r>
              <a:t>Let’s see by how much we have improved sender utilization:</a:t>
            </a:r>
          </a:p>
          <a:p>
            <a:endParaRPr/>
          </a:p>
          <a:p>
            <a:r>
              <a:t>Now Alice transmits 4 segments and waits for an ACK,</a:t>
            </a:r>
          </a:p>
          <a:p>
            <a:r>
              <a:t>so, she is busy for transmission delay times 4,</a:t>
            </a:r>
          </a:p>
          <a:p>
            <a:r>
              <a:t>divided by transmission delay + RTT.</a:t>
            </a:r>
          </a:p>
          <a:p>
            <a:endParaRPr/>
          </a:p>
          <a:p>
            <a:r>
              <a:t>So, we have improved sender utilization by a factor N,</a:t>
            </a:r>
          </a:p>
          <a:p>
            <a:r>
              <a:t>which is the sender’s window size — in our specific example, 4.</a:t>
            </a:r>
          </a:p>
          <a:p>
            <a:endParaRPr/>
          </a:p>
          <a:p>
            <a:r>
              <a:t>—&gt;How large would you make N?</a:t>
            </a:r>
          </a:p>
          <a:p>
            <a:r>
              <a:t>—&gt;Is there any reason to not increase N arbitrarily?</a:t>
            </a:r>
          </a:p>
          <a:p>
            <a:endParaRPr/>
          </a:p>
          <a:p>
            <a:endParaRPr/>
          </a:p>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9" name="Shape 699"/>
          <p:cNvSpPr>
            <a:spLocks noGrp="1" noRot="1" noChangeAspect="1"/>
          </p:cNvSpPr>
          <p:nvPr>
            <p:ph type="sldImg"/>
          </p:nvPr>
        </p:nvSpPr>
        <p:spPr>
          <a:prstGeom prst="rect">
            <a:avLst/>
          </a:prstGeom>
        </p:spPr>
        <p:txBody>
          <a:bodyPr/>
          <a:lstStyle/>
          <a:p>
            <a:endParaRPr/>
          </a:p>
        </p:txBody>
      </p:sp>
      <p:sp>
        <p:nvSpPr>
          <p:cNvPr id="700" name="Shape 700"/>
          <p:cNvSpPr>
            <a:spLocks noGrp="1"/>
          </p:cNvSpPr>
          <p:nvPr>
            <p:ph type="body" sz="quarter" idx="1"/>
          </p:nvPr>
        </p:nvSpPr>
        <p:spPr>
          <a:prstGeom prst="rect">
            <a:avLst/>
          </a:prstGeom>
        </p:spPr>
        <p:txBody>
          <a:bodyPr/>
          <a:lstStyle/>
          <a:p>
            <a:r>
              <a:t>We first put together what we call a “stop and wait” protocol:</a:t>
            </a:r>
          </a:p>
          <a:p>
            <a:r>
              <a:t>The sender sends out a segment, then does nothing until it receives an ACK from the receiver, or it times out.</a:t>
            </a:r>
          </a:p>
          <a:p>
            <a:endParaRPr/>
          </a:p>
          <a:p>
            <a:r>
              <a:t>Then we put together what we call a “pipelined” protocol,</a:t>
            </a:r>
          </a:p>
          <a:p>
            <a:r>
              <a:t>where the sender sends out multiple unacknowledged segments.</a:t>
            </a:r>
          </a:p>
          <a:p>
            <a:endParaRPr/>
          </a:p>
          <a:p>
            <a:r>
              <a:t>The advantage of pipelining is that it improves sender utilisation by a factor that is equal to the sender’s window size.</a:t>
            </a:r>
          </a:p>
          <a:p>
            <a:endParaRPr/>
          </a:p>
          <a:p>
            <a:r>
              <a:t>—</a:t>
            </a:r>
          </a:p>
          <a:p>
            <a:endParaRPr/>
          </a:p>
          <a:p>
            <a:r>
              <a:t>But what happens when we use pipelining and segments get corrupted or lost?</a:t>
            </a:r>
          </a:p>
          <a:p>
            <a:endParaRPr/>
          </a:p>
          <a:p>
            <a:r>
              <a:t>There are two protocols that address this scenario:</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9" name="Shape 699"/>
          <p:cNvSpPr>
            <a:spLocks noGrp="1" noRot="1" noChangeAspect="1"/>
          </p:cNvSpPr>
          <p:nvPr>
            <p:ph type="sldImg"/>
          </p:nvPr>
        </p:nvSpPr>
        <p:spPr>
          <a:prstGeom prst="rect">
            <a:avLst/>
          </a:prstGeom>
        </p:spPr>
        <p:txBody>
          <a:bodyPr/>
          <a:lstStyle/>
          <a:p>
            <a:endParaRPr/>
          </a:p>
        </p:txBody>
      </p:sp>
      <p:sp>
        <p:nvSpPr>
          <p:cNvPr id="700" name="Shape 700"/>
          <p:cNvSpPr>
            <a:spLocks noGrp="1"/>
          </p:cNvSpPr>
          <p:nvPr>
            <p:ph type="body" sz="quarter" idx="1"/>
          </p:nvPr>
        </p:nvSpPr>
        <p:spPr>
          <a:prstGeom prst="rect">
            <a:avLst/>
          </a:prstGeom>
        </p:spPr>
        <p:txBody>
          <a:bodyPr/>
          <a:lstStyle/>
          <a:p>
            <a:r>
              <a:rPr dirty="0"/>
              <a:t>We first put together what we call a “stop and wait” protocol:</a:t>
            </a:r>
          </a:p>
          <a:p>
            <a:r>
              <a:rPr dirty="0"/>
              <a:t>The sender sends out a segment, then does nothing until it receives an ACK from the receiver, or it times out.</a:t>
            </a:r>
          </a:p>
          <a:p>
            <a:endParaRPr dirty="0"/>
          </a:p>
          <a:p>
            <a:r>
              <a:rPr dirty="0"/>
              <a:t>Then we put together what we call a “pipelined” protocol,</a:t>
            </a:r>
          </a:p>
          <a:p>
            <a:r>
              <a:rPr dirty="0"/>
              <a:t>where the sender sends out multiple unacknowledged segments.</a:t>
            </a:r>
          </a:p>
          <a:p>
            <a:endParaRPr dirty="0"/>
          </a:p>
          <a:p>
            <a:r>
              <a:rPr dirty="0"/>
              <a:t>The advantage of pipelining is that it improves sender </a:t>
            </a:r>
            <a:r>
              <a:rPr dirty="0" err="1"/>
              <a:t>utilisation</a:t>
            </a:r>
            <a:r>
              <a:rPr dirty="0"/>
              <a:t> by a factor that is equal to the sender’s window size.</a:t>
            </a:r>
          </a:p>
          <a:p>
            <a:endParaRPr dirty="0"/>
          </a:p>
          <a:p>
            <a:r>
              <a:rPr dirty="0"/>
              <a:t>—</a:t>
            </a:r>
          </a:p>
        </p:txBody>
      </p:sp>
    </p:spTree>
    <p:extLst>
      <p:ext uri="{BB962C8B-B14F-4D97-AF65-F5344CB8AC3E}">
        <p14:creationId xmlns:p14="http://schemas.microsoft.com/office/powerpoint/2010/main" val="384162166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3" name="Shape 763"/>
          <p:cNvSpPr>
            <a:spLocks noGrp="1" noRot="1" noChangeAspect="1"/>
          </p:cNvSpPr>
          <p:nvPr>
            <p:ph type="sldImg"/>
          </p:nvPr>
        </p:nvSpPr>
        <p:spPr>
          <a:prstGeom prst="rect">
            <a:avLst/>
          </a:prstGeom>
        </p:spPr>
        <p:txBody>
          <a:bodyPr/>
          <a:lstStyle/>
          <a:p>
            <a:endParaRPr/>
          </a:p>
        </p:txBody>
      </p:sp>
      <p:sp>
        <p:nvSpPr>
          <p:cNvPr id="764" name="Shape 764"/>
          <p:cNvSpPr>
            <a:spLocks noGrp="1"/>
          </p:cNvSpPr>
          <p:nvPr>
            <p:ph type="body" sz="quarter" idx="1"/>
          </p:nvPr>
        </p:nvSpPr>
        <p:spPr>
          <a:prstGeom prst="rect">
            <a:avLst/>
          </a:prstGeom>
        </p:spPr>
        <p:txBody>
          <a:bodyPr/>
          <a:lstStyle/>
          <a:p>
            <a:r>
              <a:rPr dirty="0"/>
              <a:t>The first one is called Go-back-N:</a:t>
            </a:r>
          </a:p>
          <a:p>
            <a:endParaRPr dirty="0"/>
          </a:p>
          <a:p>
            <a:r>
              <a:rPr dirty="0"/>
              <a:t>The receiver never accepts any out-of-order segments:</a:t>
            </a:r>
          </a:p>
          <a:p>
            <a:r>
              <a:rPr dirty="0"/>
              <a:t>- The receiver also has a window, of size 1.</a:t>
            </a:r>
          </a:p>
          <a:p>
            <a:r>
              <a:rPr dirty="0"/>
              <a:t>- This means that the receiver is willing to accept only one SEQ. </a:t>
            </a:r>
          </a:p>
          <a:p>
            <a:r>
              <a:rPr dirty="0"/>
              <a:t>- It discards anything else.</a:t>
            </a:r>
          </a:p>
          <a:p>
            <a:endParaRPr dirty="0"/>
          </a:p>
          <a:p>
            <a:r>
              <a:rPr dirty="0"/>
              <a:t>For example:</a:t>
            </a:r>
          </a:p>
          <a:p>
            <a:endParaRPr dirty="0"/>
          </a:p>
          <a:p>
            <a:r>
              <a:rPr dirty="0"/>
              <a:t>- Alice sends segment 0, Bob receives it, and advances his window by 1 SEQ, which means that he is now ready to receive segment 1.</a:t>
            </a:r>
          </a:p>
          <a:p>
            <a:r>
              <a:rPr dirty="0"/>
              <a:t>- Alice sends segment 1, and now Bob is ready to receive segment 2.</a:t>
            </a:r>
          </a:p>
          <a:p>
            <a:r>
              <a:rPr dirty="0"/>
              <a:t>- Alice sends segment 2, but it is dropped.</a:t>
            </a:r>
          </a:p>
          <a:p>
            <a:r>
              <a:rPr dirty="0"/>
              <a:t>- When she sends segment 3, Bob discards it, because his window is stuck at 2.</a:t>
            </a:r>
          </a:p>
          <a:p>
            <a:endParaRPr dirty="0"/>
          </a:p>
          <a:p>
            <a:pPr marL="616857" indent="-299357">
              <a:buSzPct val="95000"/>
              <a:buChar char="-"/>
            </a:pPr>
            <a:r>
              <a:rPr dirty="0"/>
              <a:t>In the meantime, Bob has </a:t>
            </a:r>
            <a:r>
              <a:rPr dirty="0" err="1"/>
              <a:t>ACKed</a:t>
            </a:r>
            <a:r>
              <a:rPr dirty="0"/>
              <a:t> segment 0.</a:t>
            </a:r>
          </a:p>
          <a:p>
            <a:pPr marL="616857" indent="-299357">
              <a:buSzPct val="95000"/>
              <a:buChar char="-"/>
            </a:pPr>
            <a:r>
              <a:rPr dirty="0"/>
              <a:t>When Alice receives ACK 0, she advances her window by 1 SEQ, and sends segment 4, but Bob rejects it, because his window is still stuck at 2.</a:t>
            </a:r>
          </a:p>
          <a:p>
            <a:pPr marL="616857" indent="-299357">
              <a:buSzPct val="95000"/>
              <a:buChar char="-"/>
            </a:pPr>
            <a:r>
              <a:rPr dirty="0"/>
              <a:t>Bob has also </a:t>
            </a:r>
            <a:r>
              <a:rPr dirty="0" err="1"/>
              <a:t>ACKed</a:t>
            </a:r>
            <a:r>
              <a:rPr dirty="0"/>
              <a:t> segment 1.</a:t>
            </a:r>
          </a:p>
          <a:p>
            <a:pPr marL="616857" indent="-299357">
              <a:buSzPct val="95000"/>
              <a:buChar char="-"/>
            </a:pPr>
            <a:r>
              <a:rPr dirty="0"/>
              <a:t>When Alice receives ACK 1, she again advances her window by 1 SEQ, and sends segment 5, but Bob rejects it.</a:t>
            </a:r>
          </a:p>
          <a:p>
            <a:pPr marL="616857" indent="-299357">
              <a:buSzPct val="95000"/>
              <a:buChar char="-"/>
            </a:pPr>
            <a:r>
              <a:rPr dirty="0"/>
              <a:t>When Bob receives segment 3, he still ACKs segment 1, indicating that that is the last segment that he received in order.</a:t>
            </a:r>
          </a:p>
          <a:p>
            <a:endParaRPr dirty="0"/>
          </a:p>
          <a:p>
            <a:r>
              <a:rPr dirty="0"/>
              <a:t>When does Alice realize that something is wrong?</a:t>
            </a:r>
          </a:p>
          <a:p>
            <a:r>
              <a:rPr dirty="0"/>
              <a:t>When she times out waiting for an ACK for segment 2.</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3" name="Shape 823"/>
          <p:cNvSpPr>
            <a:spLocks noGrp="1" noRot="1" noChangeAspect="1"/>
          </p:cNvSpPr>
          <p:nvPr>
            <p:ph type="sldImg"/>
          </p:nvPr>
        </p:nvSpPr>
        <p:spPr>
          <a:prstGeom prst="rect">
            <a:avLst/>
          </a:prstGeom>
        </p:spPr>
        <p:txBody>
          <a:bodyPr/>
          <a:lstStyle/>
          <a:p>
            <a:endParaRPr/>
          </a:p>
        </p:txBody>
      </p:sp>
      <p:sp>
        <p:nvSpPr>
          <p:cNvPr id="824" name="Shape 824"/>
          <p:cNvSpPr>
            <a:spLocks noGrp="1"/>
          </p:cNvSpPr>
          <p:nvPr>
            <p:ph type="body" sz="quarter" idx="1"/>
          </p:nvPr>
        </p:nvSpPr>
        <p:spPr>
          <a:prstGeom prst="rect">
            <a:avLst/>
          </a:prstGeom>
        </p:spPr>
        <p:txBody>
          <a:bodyPr/>
          <a:lstStyle/>
          <a:p>
            <a:r>
              <a:t>At that point, she retransmits segment 2 plus all the subsequent segments that she has sent out, because she knows that Bob must have discarded them, since he did not receive her original segment 2. Once Bob has received all the retransmitted segments correctly and ACKed them, Alice can advance her window and move on.</a:t>
            </a:r>
          </a:p>
          <a:p>
            <a:endParaRPr/>
          </a:p>
          <a:p>
            <a:r>
              <a:t>In this approach, when Bob ACKs segment 1, that means that he has correctly received every segment up to and including 1. This is called a **cumulative ACK**.</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2" name="Shape 902"/>
          <p:cNvSpPr>
            <a:spLocks noGrp="1" noRot="1" noChangeAspect="1"/>
          </p:cNvSpPr>
          <p:nvPr>
            <p:ph type="sldImg"/>
          </p:nvPr>
        </p:nvSpPr>
        <p:spPr>
          <a:prstGeom prst="rect">
            <a:avLst/>
          </a:prstGeom>
        </p:spPr>
        <p:txBody>
          <a:bodyPr/>
          <a:lstStyle/>
          <a:p>
            <a:endParaRPr/>
          </a:p>
        </p:txBody>
      </p:sp>
      <p:sp>
        <p:nvSpPr>
          <p:cNvPr id="903" name="Shape 903"/>
          <p:cNvSpPr>
            <a:spLocks noGrp="1"/>
          </p:cNvSpPr>
          <p:nvPr>
            <p:ph type="body" sz="quarter" idx="1"/>
          </p:nvPr>
        </p:nvSpPr>
        <p:spPr>
          <a:prstGeom prst="rect">
            <a:avLst/>
          </a:prstGeom>
        </p:spPr>
        <p:txBody>
          <a:bodyPr/>
          <a:lstStyle/>
          <a:p>
            <a:r>
              <a:rPr dirty="0"/>
              <a:t>The other pipelining protocol is called Selective Repeat:</a:t>
            </a:r>
          </a:p>
          <a:p>
            <a:endParaRPr dirty="0"/>
          </a:p>
          <a:p>
            <a:r>
              <a:rPr dirty="0"/>
              <a:t>The receiver does accept a certain number of out-of-order segments:</a:t>
            </a:r>
          </a:p>
          <a:p>
            <a:r>
              <a:rPr dirty="0"/>
              <a:t>- The receiver has a window, same size as the sender’s (in our example 4),</a:t>
            </a:r>
          </a:p>
          <a:p>
            <a:r>
              <a:rPr dirty="0"/>
              <a:t>- which means that the receiver is willing to accept up to 4 out-of-order segments.</a:t>
            </a:r>
          </a:p>
          <a:p>
            <a:endParaRPr dirty="0"/>
          </a:p>
          <a:p>
            <a:r>
              <a:rPr dirty="0"/>
              <a:t>For example:</a:t>
            </a:r>
          </a:p>
          <a:p>
            <a:endParaRPr dirty="0"/>
          </a:p>
          <a:p>
            <a:pPr marL="616857" indent="-299357">
              <a:buSzPct val="95000"/>
              <a:buChar char="-"/>
            </a:pPr>
            <a:r>
              <a:rPr dirty="0"/>
              <a:t>When segment 0 arrives, Bob advances his window by 1 SEQ.</a:t>
            </a:r>
          </a:p>
          <a:p>
            <a:pPr marL="616857" indent="-299357">
              <a:buSzPct val="95000"/>
              <a:buChar char="-"/>
            </a:pPr>
            <a:r>
              <a:rPr dirty="0"/>
              <a:t>Same when segment 1 arrives.</a:t>
            </a:r>
          </a:p>
          <a:p>
            <a:pPr marL="616857" indent="-299357">
              <a:buSzPct val="95000"/>
              <a:buChar char="-"/>
            </a:pPr>
            <a:r>
              <a:rPr dirty="0"/>
              <a:t>Segment 2 is dropped.</a:t>
            </a:r>
          </a:p>
          <a:p>
            <a:pPr marL="616857" indent="-299357">
              <a:buSzPct val="95000"/>
              <a:buChar char="-"/>
            </a:pPr>
            <a:r>
              <a:rPr dirty="0"/>
              <a:t>When segment 3 arrives, Bob does not discard it, because SEQ 3 is inside his window, so he accepts and ACKs segment 3.</a:t>
            </a:r>
          </a:p>
          <a:p>
            <a:pPr marL="616857" indent="-299357">
              <a:buSzPct val="95000"/>
              <a:buChar char="-"/>
            </a:pPr>
            <a:endParaRPr dirty="0"/>
          </a:p>
          <a:p>
            <a:pPr marL="616857" indent="-299357">
              <a:buSzPct val="95000"/>
              <a:buChar char="-"/>
            </a:pPr>
            <a:r>
              <a:rPr dirty="0"/>
              <a:t>In the meantime, Bob has </a:t>
            </a:r>
            <a:r>
              <a:rPr dirty="0" err="1"/>
              <a:t>ACKed</a:t>
            </a:r>
            <a:r>
              <a:rPr dirty="0"/>
              <a:t> segment 0, causing Alice to advance her window by 1 SEQ and send out a new segment.</a:t>
            </a:r>
          </a:p>
          <a:p>
            <a:pPr marL="616857" indent="-299357">
              <a:buSzPct val="95000"/>
              <a:buChar char="-"/>
            </a:pPr>
            <a:r>
              <a:rPr dirty="0"/>
              <a:t>Same when Bob ACKs segment 1.</a:t>
            </a:r>
          </a:p>
          <a:p>
            <a:pPr marL="616857" indent="-299357">
              <a:buSzPct val="95000"/>
              <a:buChar char="-"/>
            </a:pPr>
            <a:r>
              <a:rPr dirty="0"/>
              <a:t>When Bob ACKs segment 3, Alice does not transmit a new segment, because her window is now closed.</a:t>
            </a:r>
          </a:p>
          <a:p>
            <a:pPr marL="616857" indent="-299357">
              <a:buSzPct val="95000"/>
              <a:buChar char="-"/>
            </a:pPr>
            <a:r>
              <a:rPr dirty="0"/>
              <a:t>Same when Bob ACKs segments 4 and 5.</a:t>
            </a:r>
          </a:p>
          <a:p>
            <a:endParaRPr dirty="0"/>
          </a:p>
          <a:p>
            <a:r>
              <a:rPr dirty="0"/>
              <a:t>Alice realizes that something is wrong when she times out waiting for an ACK for segment 2.</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0" name="Shape 950"/>
          <p:cNvSpPr>
            <a:spLocks noGrp="1" noRot="1" noChangeAspect="1"/>
          </p:cNvSpPr>
          <p:nvPr>
            <p:ph type="sldImg"/>
          </p:nvPr>
        </p:nvSpPr>
        <p:spPr>
          <a:prstGeom prst="rect">
            <a:avLst/>
          </a:prstGeom>
        </p:spPr>
        <p:txBody>
          <a:bodyPr/>
          <a:lstStyle/>
          <a:p>
            <a:endParaRPr/>
          </a:p>
        </p:txBody>
      </p:sp>
      <p:sp>
        <p:nvSpPr>
          <p:cNvPr id="951" name="Shape 951"/>
          <p:cNvSpPr>
            <a:spLocks noGrp="1"/>
          </p:cNvSpPr>
          <p:nvPr>
            <p:ph type="body" sz="quarter" idx="1"/>
          </p:nvPr>
        </p:nvSpPr>
        <p:spPr>
          <a:prstGeom prst="rect">
            <a:avLst/>
          </a:prstGeom>
        </p:spPr>
        <p:txBody>
          <a:bodyPr/>
          <a:lstStyle/>
          <a:p>
            <a:r>
              <a:t>At that point, she retransmits only segment 2. When Bob receives the retransmitted segment, he can finally advance his window and ACK 2. When Alice receives ACK 2, she also advances her window.</a:t>
            </a:r>
          </a:p>
          <a:p>
            <a:endParaRPr/>
          </a:p>
          <a:p>
            <a:r>
              <a:t>In this approach, when Bob ACKs segment 1, that means that he has correctly segment 1, it does not say anything about previous segments. This is called a **selective ACK**.</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6" name="Shape 956"/>
          <p:cNvSpPr>
            <a:spLocks noGrp="1" noRot="1" noChangeAspect="1"/>
          </p:cNvSpPr>
          <p:nvPr>
            <p:ph type="sldImg"/>
          </p:nvPr>
        </p:nvSpPr>
        <p:spPr>
          <a:prstGeom prst="rect">
            <a:avLst/>
          </a:prstGeom>
        </p:spPr>
        <p:txBody>
          <a:bodyPr/>
          <a:lstStyle/>
          <a:p>
            <a:endParaRPr/>
          </a:p>
        </p:txBody>
      </p:sp>
      <p:sp>
        <p:nvSpPr>
          <p:cNvPr id="957" name="Shape 957"/>
          <p:cNvSpPr>
            <a:spLocks noGrp="1"/>
          </p:cNvSpPr>
          <p:nvPr>
            <p:ph type="body" sz="quarter" idx="1"/>
          </p:nvPr>
        </p:nvSpPr>
        <p:spPr>
          <a:prstGeom prst="rect">
            <a:avLst/>
          </a:prstGeom>
        </p:spPr>
        <p:txBody>
          <a:bodyPr/>
          <a:lstStyle/>
          <a:p>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cSld name="Title &amp; Subtitle">
    <p:spTree>
      <p:nvGrpSpPr>
        <p:cNvPr id="1" name=""/>
        <p:cNvGrpSpPr/>
        <p:nvPr/>
      </p:nvGrpSpPr>
      <p:grpSpPr>
        <a:xfrm>
          <a:off x="0" y="0"/>
          <a:ext cx="0" cy="0"/>
          <a:chOff x="0" y="0"/>
          <a:chExt cx="0" cy="0"/>
        </a:xfrm>
      </p:grpSpPr>
      <p:sp>
        <p:nvSpPr>
          <p:cNvPr id="11" name="Title Text"/>
          <p:cNvSpPr txBox="1">
            <a:spLocks noGrp="1"/>
          </p:cNvSpPr>
          <p:nvPr>
            <p:ph type="title"/>
          </p:nvPr>
        </p:nvSpPr>
        <p:spPr>
          <a:prstGeom prst="rect">
            <a:avLst/>
          </a:prstGeom>
        </p:spPr>
        <p:txBody>
          <a:bodyPr/>
          <a:lstStyle/>
          <a:p>
            <a:r>
              <a:t>Title Text</a:t>
            </a:r>
          </a:p>
        </p:txBody>
      </p:sp>
      <p:sp>
        <p:nvSpPr>
          <p:cNvPr id="12" name="Body Level One…"/>
          <p:cNvSpPr txBox="1">
            <a:spLocks noGrp="1"/>
          </p:cNvSpPr>
          <p:nvPr>
            <p:ph type="body" sz="quarter"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1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Title &amp; Bullets">
    <p:spTree>
      <p:nvGrpSpPr>
        <p:cNvPr id="1" name=""/>
        <p:cNvGrpSpPr/>
        <p:nvPr/>
      </p:nvGrpSpPr>
      <p:grpSpPr>
        <a:xfrm>
          <a:off x="0" y="0"/>
          <a:ext cx="0" cy="0"/>
          <a:chOff x="0" y="0"/>
          <a:chExt cx="0" cy="0"/>
        </a:xfrm>
      </p:grpSpPr>
      <p:sp>
        <p:nvSpPr>
          <p:cNvPr id="20" name="Computer Networks"/>
          <p:cNvSpPr/>
          <p:nvPr/>
        </p:nvSpPr>
        <p:spPr>
          <a:xfrm>
            <a:off x="787400" y="8983755"/>
            <a:ext cx="2166690" cy="35859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lvl1pPr>
              <a:defRPr sz="1800">
                <a:solidFill>
                  <a:srgbClr val="919191"/>
                </a:solidFill>
                <a:latin typeface="Times New Roman"/>
                <a:ea typeface="Times New Roman"/>
                <a:cs typeface="Times New Roman"/>
                <a:sym typeface="Times New Roman"/>
              </a:defRPr>
            </a:lvl1pPr>
          </a:lstStyle>
          <a:p>
            <a:r>
              <a:t>Computer Networks</a:t>
            </a:r>
          </a:p>
        </p:txBody>
      </p:sp>
      <p:sp>
        <p:nvSpPr>
          <p:cNvPr id="21" name="Title Text"/>
          <p:cNvSpPr txBox="1">
            <a:spLocks noGrp="1"/>
          </p:cNvSpPr>
          <p:nvPr>
            <p:ph type="title"/>
          </p:nvPr>
        </p:nvSpPr>
        <p:spPr>
          <a:xfrm>
            <a:off x="1270000" y="254000"/>
            <a:ext cx="10464800" cy="2438400"/>
          </a:xfrm>
          <a:prstGeom prst="rect">
            <a:avLst/>
          </a:prstGeom>
        </p:spPr>
        <p:txBody>
          <a:bodyPr anchor="ctr"/>
          <a:lstStyle>
            <a:lvl1pPr>
              <a:defRPr sz="6400">
                <a:latin typeface="Times New Roman"/>
                <a:ea typeface="Times New Roman"/>
                <a:cs typeface="Times New Roman"/>
                <a:sym typeface="Times New Roman"/>
              </a:defRPr>
            </a:lvl1pPr>
          </a:lstStyle>
          <a:p>
            <a:r>
              <a:t>Title Text</a:t>
            </a:r>
          </a:p>
        </p:txBody>
      </p:sp>
      <p:sp>
        <p:nvSpPr>
          <p:cNvPr id="22" name="Body Level One…"/>
          <p:cNvSpPr txBox="1">
            <a:spLocks noGrp="1"/>
          </p:cNvSpPr>
          <p:nvPr>
            <p:ph type="body" idx="1"/>
          </p:nvPr>
        </p:nvSpPr>
        <p:spPr>
          <a:xfrm>
            <a:off x="1244600" y="2768600"/>
            <a:ext cx="10464800" cy="5715000"/>
          </a:xfrm>
          <a:prstGeom prst="rect">
            <a:avLst/>
          </a:prstGeom>
        </p:spPr>
        <p:txBody>
          <a:bodyPr anchor="ctr"/>
          <a:lstStyle>
            <a:lvl1pPr marL="889000" indent="-571500" algn="l">
              <a:spcBef>
                <a:spcPts val="4000"/>
              </a:spcBef>
              <a:buClr>
                <a:srgbClr val="008F00"/>
              </a:buClr>
              <a:buSzPct val="95000"/>
              <a:buChar char="•"/>
              <a:defRPr sz="4200"/>
            </a:lvl1pPr>
            <a:lvl2pPr marL="1333500" indent="-571500" algn="l">
              <a:spcBef>
                <a:spcPts val="2400"/>
              </a:spcBef>
              <a:buClr>
                <a:srgbClr val="008F00"/>
              </a:buClr>
              <a:buSzPct val="95000"/>
              <a:buChar char="•"/>
            </a:lvl2pPr>
            <a:lvl3pPr marL="1778000" indent="-571500" algn="l">
              <a:spcBef>
                <a:spcPts val="2400"/>
              </a:spcBef>
              <a:buClr>
                <a:srgbClr val="008F00"/>
              </a:buClr>
              <a:buSzPct val="95000"/>
              <a:buChar char="•"/>
              <a:defRPr i="1">
                <a:solidFill>
                  <a:srgbClr val="424242"/>
                </a:solidFill>
              </a:defRPr>
            </a:lvl3pPr>
            <a:lvl4pPr marL="2222500" indent="-571500" algn="l">
              <a:spcBef>
                <a:spcPts val="2400"/>
              </a:spcBef>
              <a:buClr>
                <a:srgbClr val="008F00"/>
              </a:buClr>
              <a:buSzPct val="95000"/>
              <a:buChar char="•"/>
              <a:defRPr i="1">
                <a:solidFill>
                  <a:srgbClr val="424242"/>
                </a:solidFill>
              </a:defRPr>
            </a:lvl4pPr>
            <a:lvl5pPr marL="2667000" indent="-571500" algn="l">
              <a:spcBef>
                <a:spcPts val="2400"/>
              </a:spcBef>
              <a:buClr>
                <a:srgbClr val="008F00"/>
              </a:buClr>
              <a:buSzPct val="95000"/>
              <a:buChar char="•"/>
              <a:defRPr i="1">
                <a:solidFill>
                  <a:srgbClr val="424242"/>
                </a:solidFill>
              </a:defRPr>
            </a:lvl5pPr>
          </a:lstStyle>
          <a:p>
            <a:r>
              <a:t>Body Level One</a:t>
            </a:r>
          </a:p>
          <a:p>
            <a:pPr lvl="1"/>
            <a:r>
              <a:t>Body Level Two</a:t>
            </a:r>
          </a:p>
          <a:p>
            <a:pPr lvl="2"/>
            <a:r>
              <a:t>Body Level Three</a:t>
            </a:r>
          </a:p>
          <a:p>
            <a:pPr lvl="3"/>
            <a:r>
              <a:t>Body Level Four</a:t>
            </a:r>
          </a:p>
          <a:p>
            <a:pPr lvl="4"/>
            <a:r>
              <a:t>Body Level Five</a:t>
            </a:r>
          </a:p>
        </p:txBody>
      </p:sp>
      <p:sp>
        <p:nvSpPr>
          <p:cNvPr id="23" name="Slide Number"/>
          <p:cNvSpPr txBox="1">
            <a:spLocks noGrp="1"/>
          </p:cNvSpPr>
          <p:nvPr>
            <p:ph type="sldNum" sz="quarter" idx="2"/>
          </p:nvPr>
        </p:nvSpPr>
        <p:spPr>
          <a:xfrm>
            <a:off x="11874499" y="9001311"/>
            <a:ext cx="342901" cy="358590"/>
          </a:xfrm>
          <a:prstGeom prst="rect">
            <a:avLst/>
          </a:prstGeom>
        </p:spPr>
        <p:txBody>
          <a:bodyPr/>
          <a:lstStyle>
            <a:lvl1pPr>
              <a:defRPr>
                <a:solidFill>
                  <a:srgbClr val="929292"/>
                </a:solidFill>
                <a:latin typeface="Times New Roman"/>
                <a:ea typeface="Times New Roman"/>
                <a:cs typeface="Times New Roman"/>
                <a:sym typeface="Times New Roman"/>
              </a:defRPr>
            </a:lvl1p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Empty">
    <p:spTree>
      <p:nvGrpSpPr>
        <p:cNvPr id="1" name=""/>
        <p:cNvGrpSpPr/>
        <p:nvPr/>
      </p:nvGrpSpPr>
      <p:grpSpPr>
        <a:xfrm>
          <a:off x="0" y="0"/>
          <a:ext cx="0" cy="0"/>
          <a:chOff x="0" y="0"/>
          <a:chExt cx="0" cy="0"/>
        </a:xfrm>
      </p:grpSpPr>
      <p:sp>
        <p:nvSpPr>
          <p:cNvPr id="30" name="Slide Number"/>
          <p:cNvSpPr txBox="1">
            <a:spLocks noGrp="1"/>
          </p:cNvSpPr>
          <p:nvPr>
            <p:ph type="sldNum" sz="quarter" idx="2"/>
          </p:nvPr>
        </p:nvSpPr>
        <p:spPr>
          <a:xfrm>
            <a:off x="11658599" y="9009155"/>
            <a:ext cx="342901" cy="358590"/>
          </a:xfrm>
          <a:prstGeom prst="rect">
            <a:avLst/>
          </a:prstGeom>
        </p:spPr>
        <p:txBody>
          <a:bodyPr/>
          <a:lstStyle>
            <a:lvl1pPr>
              <a:defRPr>
                <a:solidFill>
                  <a:srgbClr val="A9A9A9"/>
                </a:solidFill>
                <a:latin typeface="Times New Roman"/>
                <a:ea typeface="Times New Roman"/>
                <a:cs typeface="Times New Roman"/>
                <a:sym typeface="Times New Roman"/>
              </a:defRPr>
            </a:lvl1pPr>
          </a:lstStyle>
          <a:p>
            <a:fld id="{86CB4B4D-7CA3-9044-876B-883B54F8677D}" type="slidenum">
              <a:t>‹#›</a:t>
            </a:fld>
            <a:endParaRPr/>
          </a:p>
        </p:txBody>
      </p:sp>
      <p:sp>
        <p:nvSpPr>
          <p:cNvPr id="31" name="Computer Networks"/>
          <p:cNvSpPr/>
          <p:nvPr/>
        </p:nvSpPr>
        <p:spPr>
          <a:xfrm>
            <a:off x="812800" y="8983755"/>
            <a:ext cx="2120504" cy="35859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lvl1pPr>
              <a:defRPr sz="1800">
                <a:solidFill>
                  <a:srgbClr val="A9A9A9"/>
                </a:solidFill>
                <a:latin typeface="Times New Roman"/>
                <a:ea typeface="Times New Roman"/>
                <a:cs typeface="Times New Roman"/>
                <a:sym typeface="Times New Roman"/>
              </a:defRPr>
            </a:lvl1pPr>
          </a:lstStyle>
          <a:p>
            <a:r>
              <a:t>Computer Networks</a:t>
            </a: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1270000" y="1638300"/>
            <a:ext cx="10464800" cy="3302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b"/>
          <a:lstStyle/>
          <a:p>
            <a:r>
              <a:t>Title Text</a:t>
            </a:r>
          </a:p>
        </p:txBody>
      </p:sp>
      <p:sp>
        <p:nvSpPr>
          <p:cNvPr id="3" name="Body Level One…"/>
          <p:cNvSpPr txBox="1">
            <a:spLocks noGrp="1"/>
          </p:cNvSpPr>
          <p:nvPr>
            <p:ph type="body" idx="1"/>
          </p:nvPr>
        </p:nvSpPr>
        <p:spPr>
          <a:xfrm>
            <a:off x="1270000" y="5029200"/>
            <a:ext cx="10464800" cy="11303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lstStyle>
            <a:lvl3pPr>
              <a:defRPr>
                <a:solidFill>
                  <a:srgbClr val="000000"/>
                </a:solidFill>
                <a:latin typeface="Gill Sans"/>
                <a:ea typeface="Gill Sans"/>
                <a:cs typeface="Gill Sans"/>
                <a:sym typeface="Gill Sans"/>
              </a:defRPr>
            </a:lvl3pPr>
            <a:lvl4pPr>
              <a:defRPr>
                <a:solidFill>
                  <a:srgbClr val="000000"/>
                </a:solidFill>
                <a:latin typeface="Gill Sans"/>
                <a:ea typeface="Gill Sans"/>
                <a:cs typeface="Gill Sans"/>
                <a:sym typeface="Gill Sans"/>
              </a:defRPr>
            </a:lvl4pPr>
            <a:lvl5pPr>
              <a:defRPr>
                <a:solidFill>
                  <a:srgbClr val="000000"/>
                </a:solidFill>
                <a:latin typeface="Gill Sans"/>
                <a:ea typeface="Gill Sans"/>
                <a:cs typeface="Gill Sans"/>
                <a:sym typeface="Gill Sans"/>
              </a:defRPr>
            </a:lvl5pPr>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6324600" y="9258300"/>
            <a:ext cx="342900" cy="368300"/>
          </a:xfrm>
          <a:prstGeom prst="rect">
            <a:avLst/>
          </a:prstGeom>
          <a:ln w="12700">
            <a:miter lim="400000"/>
          </a:ln>
        </p:spPr>
        <p:txBody>
          <a:bodyPr wrap="none" lIns="50800" tIns="50800" rIns="50800" bIns="50800" anchor="b">
            <a:spAutoFit/>
          </a:bodyPr>
          <a:lstStyle>
            <a:lvl1pPr>
              <a:defRPr sz="1800"/>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ransition spd="med"/>
  <p:txStyles>
    <p:titleStyle>
      <a:lvl1pPr marL="0" marR="0" indent="0" algn="ctr" defTabSz="584200" rtl="0" latinLnBrk="0">
        <a:lnSpc>
          <a:spcPct val="100000"/>
        </a:lnSpc>
        <a:spcBef>
          <a:spcPts val="0"/>
        </a:spcBef>
        <a:spcAft>
          <a:spcPts val="0"/>
        </a:spcAft>
        <a:buClrTx/>
        <a:buSzTx/>
        <a:buFontTx/>
        <a:buNone/>
        <a:tabLst/>
        <a:defRPr sz="8400" b="0" i="0" u="none" strike="noStrike" cap="none" spc="0" baseline="0">
          <a:solidFill>
            <a:srgbClr val="424242"/>
          </a:solidFill>
          <a:uFillTx/>
          <a:latin typeface="+mn-lt"/>
          <a:ea typeface="+mn-ea"/>
          <a:cs typeface="+mn-cs"/>
          <a:sym typeface="Chalkboard SE Regular"/>
        </a:defRPr>
      </a:lvl1pPr>
      <a:lvl2pPr marL="0" marR="0" indent="0" algn="ctr" defTabSz="584200" rtl="0" latinLnBrk="0">
        <a:lnSpc>
          <a:spcPct val="100000"/>
        </a:lnSpc>
        <a:spcBef>
          <a:spcPts val="0"/>
        </a:spcBef>
        <a:spcAft>
          <a:spcPts val="0"/>
        </a:spcAft>
        <a:buClrTx/>
        <a:buSzTx/>
        <a:buFontTx/>
        <a:buNone/>
        <a:tabLst/>
        <a:defRPr sz="8400" b="0" i="0" u="none" strike="noStrike" cap="none" spc="0" baseline="0">
          <a:solidFill>
            <a:srgbClr val="424242"/>
          </a:solidFill>
          <a:uFillTx/>
          <a:latin typeface="+mn-lt"/>
          <a:ea typeface="+mn-ea"/>
          <a:cs typeface="+mn-cs"/>
          <a:sym typeface="Chalkboard SE Regular"/>
        </a:defRPr>
      </a:lvl2pPr>
      <a:lvl3pPr marL="0" marR="0" indent="0" algn="ctr" defTabSz="584200" rtl="0" latinLnBrk="0">
        <a:lnSpc>
          <a:spcPct val="100000"/>
        </a:lnSpc>
        <a:spcBef>
          <a:spcPts val="0"/>
        </a:spcBef>
        <a:spcAft>
          <a:spcPts val="0"/>
        </a:spcAft>
        <a:buClrTx/>
        <a:buSzTx/>
        <a:buFontTx/>
        <a:buNone/>
        <a:tabLst/>
        <a:defRPr sz="8400" b="0" i="0" u="none" strike="noStrike" cap="none" spc="0" baseline="0">
          <a:solidFill>
            <a:srgbClr val="424242"/>
          </a:solidFill>
          <a:uFillTx/>
          <a:latin typeface="+mn-lt"/>
          <a:ea typeface="+mn-ea"/>
          <a:cs typeface="+mn-cs"/>
          <a:sym typeface="Chalkboard SE Regular"/>
        </a:defRPr>
      </a:lvl3pPr>
      <a:lvl4pPr marL="0" marR="0" indent="0" algn="ctr" defTabSz="584200" rtl="0" latinLnBrk="0">
        <a:lnSpc>
          <a:spcPct val="100000"/>
        </a:lnSpc>
        <a:spcBef>
          <a:spcPts val="0"/>
        </a:spcBef>
        <a:spcAft>
          <a:spcPts val="0"/>
        </a:spcAft>
        <a:buClrTx/>
        <a:buSzTx/>
        <a:buFontTx/>
        <a:buNone/>
        <a:tabLst/>
        <a:defRPr sz="8400" b="0" i="0" u="none" strike="noStrike" cap="none" spc="0" baseline="0">
          <a:solidFill>
            <a:srgbClr val="424242"/>
          </a:solidFill>
          <a:uFillTx/>
          <a:latin typeface="+mn-lt"/>
          <a:ea typeface="+mn-ea"/>
          <a:cs typeface="+mn-cs"/>
          <a:sym typeface="Chalkboard SE Regular"/>
        </a:defRPr>
      </a:lvl4pPr>
      <a:lvl5pPr marL="0" marR="0" indent="0" algn="ctr" defTabSz="584200" rtl="0" latinLnBrk="0">
        <a:lnSpc>
          <a:spcPct val="100000"/>
        </a:lnSpc>
        <a:spcBef>
          <a:spcPts val="0"/>
        </a:spcBef>
        <a:spcAft>
          <a:spcPts val="0"/>
        </a:spcAft>
        <a:buClrTx/>
        <a:buSzTx/>
        <a:buFontTx/>
        <a:buNone/>
        <a:tabLst/>
        <a:defRPr sz="8400" b="0" i="0" u="none" strike="noStrike" cap="none" spc="0" baseline="0">
          <a:solidFill>
            <a:srgbClr val="424242"/>
          </a:solidFill>
          <a:uFillTx/>
          <a:latin typeface="+mn-lt"/>
          <a:ea typeface="+mn-ea"/>
          <a:cs typeface="+mn-cs"/>
          <a:sym typeface="Chalkboard SE Regular"/>
        </a:defRPr>
      </a:lvl5pPr>
      <a:lvl6pPr marL="0" marR="0" indent="0" algn="ctr" defTabSz="584200" rtl="0" latinLnBrk="0">
        <a:lnSpc>
          <a:spcPct val="100000"/>
        </a:lnSpc>
        <a:spcBef>
          <a:spcPts val="0"/>
        </a:spcBef>
        <a:spcAft>
          <a:spcPts val="0"/>
        </a:spcAft>
        <a:buClrTx/>
        <a:buSzTx/>
        <a:buFontTx/>
        <a:buNone/>
        <a:tabLst/>
        <a:defRPr sz="8400" b="0" i="0" u="none" strike="noStrike" cap="none" spc="0" baseline="0">
          <a:solidFill>
            <a:srgbClr val="424242"/>
          </a:solidFill>
          <a:uFillTx/>
          <a:latin typeface="+mn-lt"/>
          <a:ea typeface="+mn-ea"/>
          <a:cs typeface="+mn-cs"/>
          <a:sym typeface="Chalkboard SE Regular"/>
        </a:defRPr>
      </a:lvl6pPr>
      <a:lvl7pPr marL="0" marR="0" indent="0" algn="ctr" defTabSz="584200" rtl="0" latinLnBrk="0">
        <a:lnSpc>
          <a:spcPct val="100000"/>
        </a:lnSpc>
        <a:spcBef>
          <a:spcPts val="0"/>
        </a:spcBef>
        <a:spcAft>
          <a:spcPts val="0"/>
        </a:spcAft>
        <a:buClrTx/>
        <a:buSzTx/>
        <a:buFontTx/>
        <a:buNone/>
        <a:tabLst/>
        <a:defRPr sz="8400" b="0" i="0" u="none" strike="noStrike" cap="none" spc="0" baseline="0">
          <a:solidFill>
            <a:srgbClr val="424242"/>
          </a:solidFill>
          <a:uFillTx/>
          <a:latin typeface="+mn-lt"/>
          <a:ea typeface="+mn-ea"/>
          <a:cs typeface="+mn-cs"/>
          <a:sym typeface="Chalkboard SE Regular"/>
        </a:defRPr>
      </a:lvl7pPr>
      <a:lvl8pPr marL="0" marR="0" indent="0" algn="ctr" defTabSz="584200" rtl="0" latinLnBrk="0">
        <a:lnSpc>
          <a:spcPct val="100000"/>
        </a:lnSpc>
        <a:spcBef>
          <a:spcPts val="0"/>
        </a:spcBef>
        <a:spcAft>
          <a:spcPts val="0"/>
        </a:spcAft>
        <a:buClrTx/>
        <a:buSzTx/>
        <a:buFontTx/>
        <a:buNone/>
        <a:tabLst/>
        <a:defRPr sz="8400" b="0" i="0" u="none" strike="noStrike" cap="none" spc="0" baseline="0">
          <a:solidFill>
            <a:srgbClr val="424242"/>
          </a:solidFill>
          <a:uFillTx/>
          <a:latin typeface="+mn-lt"/>
          <a:ea typeface="+mn-ea"/>
          <a:cs typeface="+mn-cs"/>
          <a:sym typeface="Chalkboard SE Regular"/>
        </a:defRPr>
      </a:lvl8pPr>
      <a:lvl9pPr marL="0" marR="0" indent="0" algn="ctr" defTabSz="584200" rtl="0" latinLnBrk="0">
        <a:lnSpc>
          <a:spcPct val="100000"/>
        </a:lnSpc>
        <a:spcBef>
          <a:spcPts val="0"/>
        </a:spcBef>
        <a:spcAft>
          <a:spcPts val="0"/>
        </a:spcAft>
        <a:buClrTx/>
        <a:buSzTx/>
        <a:buFontTx/>
        <a:buNone/>
        <a:tabLst/>
        <a:defRPr sz="8400" b="0" i="0" u="none" strike="noStrike" cap="none" spc="0" baseline="0">
          <a:solidFill>
            <a:srgbClr val="424242"/>
          </a:solidFill>
          <a:uFillTx/>
          <a:latin typeface="+mn-lt"/>
          <a:ea typeface="+mn-ea"/>
          <a:cs typeface="+mn-cs"/>
          <a:sym typeface="Chalkboard SE Regular"/>
        </a:defRPr>
      </a:lvl9pPr>
    </p:titleStyle>
    <p:bodyStyle>
      <a:lvl1pPr marL="0" marR="0" indent="0" algn="ctr" defTabSz="584200" rtl="0" latinLnBrk="0">
        <a:lnSpc>
          <a:spcPct val="100000"/>
        </a:lnSpc>
        <a:spcBef>
          <a:spcPts val="0"/>
        </a:spcBef>
        <a:spcAft>
          <a:spcPts val="0"/>
        </a:spcAft>
        <a:buClrTx/>
        <a:buSzTx/>
        <a:buFontTx/>
        <a:buNone/>
        <a:tabLst/>
        <a:defRPr sz="3600" b="0" i="0" u="none" strike="noStrike" cap="none" spc="0" baseline="0">
          <a:solidFill>
            <a:srgbClr val="424242"/>
          </a:solidFill>
          <a:uFillTx/>
          <a:latin typeface="+mn-lt"/>
          <a:ea typeface="+mn-ea"/>
          <a:cs typeface="+mn-cs"/>
          <a:sym typeface="Chalkboard SE Regular"/>
        </a:defRPr>
      </a:lvl1pPr>
      <a:lvl2pPr marL="0" marR="0" indent="0" algn="ctr" defTabSz="584200" rtl="0" latinLnBrk="0">
        <a:lnSpc>
          <a:spcPct val="100000"/>
        </a:lnSpc>
        <a:spcBef>
          <a:spcPts val="0"/>
        </a:spcBef>
        <a:spcAft>
          <a:spcPts val="0"/>
        </a:spcAft>
        <a:buClrTx/>
        <a:buSzTx/>
        <a:buFontTx/>
        <a:buNone/>
        <a:tabLst/>
        <a:defRPr sz="3600" b="0" i="0" u="none" strike="noStrike" cap="none" spc="0" baseline="0">
          <a:solidFill>
            <a:srgbClr val="424242"/>
          </a:solidFill>
          <a:uFillTx/>
          <a:latin typeface="+mn-lt"/>
          <a:ea typeface="+mn-ea"/>
          <a:cs typeface="+mn-cs"/>
          <a:sym typeface="Chalkboard SE Regular"/>
        </a:defRPr>
      </a:lvl2pPr>
      <a:lvl3pPr marL="0" marR="0" indent="0" algn="ctr" defTabSz="584200" rtl="0" latinLnBrk="0">
        <a:lnSpc>
          <a:spcPct val="100000"/>
        </a:lnSpc>
        <a:spcBef>
          <a:spcPts val="0"/>
        </a:spcBef>
        <a:spcAft>
          <a:spcPts val="0"/>
        </a:spcAft>
        <a:buClrTx/>
        <a:buSzTx/>
        <a:buFontTx/>
        <a:buNone/>
        <a:tabLst/>
        <a:defRPr sz="3600" b="0" i="0" u="none" strike="noStrike" cap="none" spc="0" baseline="0">
          <a:solidFill>
            <a:srgbClr val="424242"/>
          </a:solidFill>
          <a:uFillTx/>
          <a:latin typeface="+mn-lt"/>
          <a:ea typeface="+mn-ea"/>
          <a:cs typeface="+mn-cs"/>
          <a:sym typeface="Chalkboard SE Regular"/>
        </a:defRPr>
      </a:lvl3pPr>
      <a:lvl4pPr marL="0" marR="0" indent="0" algn="ctr" defTabSz="584200" rtl="0" latinLnBrk="0">
        <a:lnSpc>
          <a:spcPct val="100000"/>
        </a:lnSpc>
        <a:spcBef>
          <a:spcPts val="0"/>
        </a:spcBef>
        <a:spcAft>
          <a:spcPts val="0"/>
        </a:spcAft>
        <a:buClrTx/>
        <a:buSzTx/>
        <a:buFontTx/>
        <a:buNone/>
        <a:tabLst/>
        <a:defRPr sz="3600" b="0" i="0" u="none" strike="noStrike" cap="none" spc="0" baseline="0">
          <a:solidFill>
            <a:srgbClr val="424242"/>
          </a:solidFill>
          <a:uFillTx/>
          <a:latin typeface="+mn-lt"/>
          <a:ea typeface="+mn-ea"/>
          <a:cs typeface="+mn-cs"/>
          <a:sym typeface="Chalkboard SE Regular"/>
        </a:defRPr>
      </a:lvl4pPr>
      <a:lvl5pPr marL="0" marR="0" indent="0" algn="ctr" defTabSz="584200" rtl="0" latinLnBrk="0">
        <a:lnSpc>
          <a:spcPct val="100000"/>
        </a:lnSpc>
        <a:spcBef>
          <a:spcPts val="0"/>
        </a:spcBef>
        <a:spcAft>
          <a:spcPts val="0"/>
        </a:spcAft>
        <a:buClrTx/>
        <a:buSzTx/>
        <a:buFontTx/>
        <a:buNone/>
        <a:tabLst/>
        <a:defRPr sz="3600" b="0" i="0" u="none" strike="noStrike" cap="none" spc="0" baseline="0">
          <a:solidFill>
            <a:srgbClr val="424242"/>
          </a:solidFill>
          <a:uFillTx/>
          <a:latin typeface="+mn-lt"/>
          <a:ea typeface="+mn-ea"/>
          <a:cs typeface="+mn-cs"/>
          <a:sym typeface="Chalkboard SE Regular"/>
        </a:defRPr>
      </a:lvl5pPr>
      <a:lvl6pPr marL="0" marR="0" indent="355600" algn="ctr" defTabSz="584200" rtl="0" latinLnBrk="0">
        <a:lnSpc>
          <a:spcPct val="100000"/>
        </a:lnSpc>
        <a:spcBef>
          <a:spcPts val="0"/>
        </a:spcBef>
        <a:spcAft>
          <a:spcPts val="0"/>
        </a:spcAft>
        <a:buClrTx/>
        <a:buSzTx/>
        <a:buFontTx/>
        <a:buNone/>
        <a:tabLst/>
        <a:defRPr sz="3600" b="0" i="0" u="none" strike="noStrike" cap="none" spc="0" baseline="0">
          <a:solidFill>
            <a:srgbClr val="424242"/>
          </a:solidFill>
          <a:uFillTx/>
          <a:latin typeface="+mn-lt"/>
          <a:ea typeface="+mn-ea"/>
          <a:cs typeface="+mn-cs"/>
          <a:sym typeface="Chalkboard SE Regular"/>
        </a:defRPr>
      </a:lvl6pPr>
      <a:lvl7pPr marL="0" marR="0" indent="711200" algn="ctr" defTabSz="584200" rtl="0" latinLnBrk="0">
        <a:lnSpc>
          <a:spcPct val="100000"/>
        </a:lnSpc>
        <a:spcBef>
          <a:spcPts val="0"/>
        </a:spcBef>
        <a:spcAft>
          <a:spcPts val="0"/>
        </a:spcAft>
        <a:buClrTx/>
        <a:buSzTx/>
        <a:buFontTx/>
        <a:buNone/>
        <a:tabLst/>
        <a:defRPr sz="3600" b="0" i="0" u="none" strike="noStrike" cap="none" spc="0" baseline="0">
          <a:solidFill>
            <a:srgbClr val="424242"/>
          </a:solidFill>
          <a:uFillTx/>
          <a:latin typeface="+mn-lt"/>
          <a:ea typeface="+mn-ea"/>
          <a:cs typeface="+mn-cs"/>
          <a:sym typeface="Chalkboard SE Regular"/>
        </a:defRPr>
      </a:lvl7pPr>
      <a:lvl8pPr marL="0" marR="0" indent="1066800" algn="ctr" defTabSz="584200" rtl="0" latinLnBrk="0">
        <a:lnSpc>
          <a:spcPct val="100000"/>
        </a:lnSpc>
        <a:spcBef>
          <a:spcPts val="0"/>
        </a:spcBef>
        <a:spcAft>
          <a:spcPts val="0"/>
        </a:spcAft>
        <a:buClrTx/>
        <a:buSzTx/>
        <a:buFontTx/>
        <a:buNone/>
        <a:tabLst/>
        <a:defRPr sz="3600" b="0" i="0" u="none" strike="noStrike" cap="none" spc="0" baseline="0">
          <a:solidFill>
            <a:srgbClr val="424242"/>
          </a:solidFill>
          <a:uFillTx/>
          <a:latin typeface="+mn-lt"/>
          <a:ea typeface="+mn-ea"/>
          <a:cs typeface="+mn-cs"/>
          <a:sym typeface="Chalkboard SE Regular"/>
        </a:defRPr>
      </a:lvl8pPr>
      <a:lvl9pPr marL="0" marR="0" indent="1422400" algn="ctr" defTabSz="584200" rtl="0" latinLnBrk="0">
        <a:lnSpc>
          <a:spcPct val="100000"/>
        </a:lnSpc>
        <a:spcBef>
          <a:spcPts val="0"/>
        </a:spcBef>
        <a:spcAft>
          <a:spcPts val="0"/>
        </a:spcAft>
        <a:buClrTx/>
        <a:buSzTx/>
        <a:buFontTx/>
        <a:buNone/>
        <a:tabLst/>
        <a:defRPr sz="3600" b="0" i="0" u="none" strike="noStrike" cap="none" spc="0" baseline="0">
          <a:solidFill>
            <a:srgbClr val="424242"/>
          </a:solidFill>
          <a:uFillTx/>
          <a:latin typeface="+mn-lt"/>
          <a:ea typeface="+mn-ea"/>
          <a:cs typeface="+mn-cs"/>
          <a:sym typeface="Chalkboard SE Regular"/>
        </a:defRPr>
      </a:lvl9pPr>
    </p:bodyStyle>
    <p:otherStyle>
      <a:lvl1pPr marL="0" marR="0" indent="0" algn="ctr" defTabSz="58420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Gill Sans"/>
        </a:defRPr>
      </a:lvl1pPr>
      <a:lvl2pPr marL="0" marR="0" indent="0" algn="ctr" defTabSz="58420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Gill Sans"/>
        </a:defRPr>
      </a:lvl2pPr>
      <a:lvl3pPr marL="0" marR="0" indent="0" algn="ctr" defTabSz="58420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Gill Sans"/>
        </a:defRPr>
      </a:lvl3pPr>
      <a:lvl4pPr marL="0" marR="0" indent="0" algn="ctr" defTabSz="58420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Gill Sans"/>
        </a:defRPr>
      </a:lvl4pPr>
      <a:lvl5pPr marL="0" marR="0" indent="0" algn="ctr" defTabSz="58420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Gill Sans"/>
        </a:defRPr>
      </a:lvl5pPr>
      <a:lvl6pPr marL="0" marR="0" indent="0" algn="ctr" defTabSz="58420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Gill Sans"/>
        </a:defRPr>
      </a:lvl6pPr>
      <a:lvl7pPr marL="0" marR="0" indent="0" algn="ctr" defTabSz="58420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Gill Sans"/>
        </a:defRPr>
      </a:lvl7pPr>
      <a:lvl8pPr marL="0" marR="0" indent="0" algn="ctr" defTabSz="58420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Gill Sans"/>
        </a:defRPr>
      </a:lvl8pPr>
      <a:lvl9pPr marL="0" marR="0" indent="0" algn="ctr" defTabSz="58420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Gill San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datatracker.ietf.org/doc/html/rfc675" TargetMode="External"/><Relationship Id="rId2" Type="http://schemas.openxmlformats.org/officeDocument/2006/relationships/hyperlink" Target="https://en.wikipedia.org/wiki/Internet_Engineering_Task_Force"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 name="The Transport Layer"/>
          <p:cNvSpPr txBox="1">
            <a:spLocks noGrp="1"/>
          </p:cNvSpPr>
          <p:nvPr>
            <p:ph type="ctrTitle"/>
          </p:nvPr>
        </p:nvSpPr>
        <p:spPr>
          <a:xfrm>
            <a:off x="1826418" y="3581400"/>
            <a:ext cx="10530682" cy="1903115"/>
          </a:xfrm>
          <a:prstGeom prst="rect">
            <a:avLst/>
          </a:prstGeom>
        </p:spPr>
        <p:txBody>
          <a:bodyPr anchor="t"/>
          <a:lstStyle>
            <a:lvl1pPr>
              <a:defRPr>
                <a:solidFill>
                  <a:srgbClr val="942193"/>
                </a:solidFill>
              </a:defRPr>
            </a:lvl1pPr>
          </a:lstStyle>
          <a:p>
            <a:r>
              <a:t>The Transport Layer</a:t>
            </a:r>
          </a:p>
        </p:txBody>
      </p:sp>
      <p:sp>
        <p:nvSpPr>
          <p:cNvPr id="42" name="Katerina Argyraki, EPFL"/>
          <p:cNvSpPr/>
          <p:nvPr/>
        </p:nvSpPr>
        <p:spPr>
          <a:xfrm>
            <a:off x="3131820" y="7277100"/>
            <a:ext cx="8856980" cy="11303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lstStyle>
            <a:lvl1pPr>
              <a:defRPr sz="4800">
                <a:solidFill>
                  <a:srgbClr val="424242"/>
                </a:solidFill>
                <a:latin typeface="Times New Roman"/>
                <a:ea typeface="Times New Roman"/>
                <a:cs typeface="Times New Roman"/>
                <a:sym typeface="Times New Roman"/>
              </a:defRPr>
            </a:lvl1pPr>
          </a:lstStyle>
          <a:p>
            <a:r>
              <a:rPr lang="fr-CH" dirty="0"/>
              <a:t>Gianluca Rizzo</a:t>
            </a:r>
            <a:r>
              <a:rPr dirty="0"/>
              <a:t>, UNITO </a:t>
            </a:r>
          </a:p>
        </p:txBody>
      </p:sp>
      <p:sp>
        <p:nvSpPr>
          <p:cNvPr id="3" name="Text Placeholder 2">
            <a:extLst>
              <a:ext uri="{FF2B5EF4-FFF2-40B4-BE49-F238E27FC236}">
                <a16:creationId xmlns:a16="http://schemas.microsoft.com/office/drawing/2014/main" id="{45C7BD7F-D1E7-2978-F23B-75344A565A66}"/>
              </a:ext>
            </a:extLst>
          </p:cNvPr>
          <p:cNvSpPr>
            <a:spLocks noGrp="1"/>
          </p:cNvSpPr>
          <p:nvPr>
            <p:ph type="body" sz="quarter" idx="1"/>
          </p:nvPr>
        </p:nvSpPr>
        <p:spPr/>
        <p:txBody>
          <a:bodyPr/>
          <a:lstStyle/>
          <a:p>
            <a:endParaRPr lang="en-CH"/>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6" name="Slide Number"/>
          <p:cNvSpPr txBox="1">
            <a:spLocks noGrp="1"/>
          </p:cNvSpPr>
          <p:nvPr>
            <p:ph type="sldNum" sz="quarter" idx="2"/>
          </p:nvPr>
        </p:nvSpPr>
        <p:spPr>
          <a:xfrm>
            <a:off x="11715749" y="9009155"/>
            <a:ext cx="228601" cy="358590"/>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2</a:t>
            </a:fld>
            <a:endParaRPr/>
          </a:p>
        </p:txBody>
      </p:sp>
      <p:grpSp>
        <p:nvGrpSpPr>
          <p:cNvPr id="2" name="Group 1">
            <a:extLst>
              <a:ext uri="{FF2B5EF4-FFF2-40B4-BE49-F238E27FC236}">
                <a16:creationId xmlns:a16="http://schemas.microsoft.com/office/drawing/2014/main" id="{3BB8E31E-1F9C-4286-83B3-F720CE04E383}"/>
              </a:ext>
            </a:extLst>
          </p:cNvPr>
          <p:cNvGrpSpPr/>
          <p:nvPr/>
        </p:nvGrpSpPr>
        <p:grpSpPr>
          <a:xfrm>
            <a:off x="1895475" y="581025"/>
            <a:ext cx="8015911" cy="4143375"/>
            <a:chOff x="-317500" y="1562100"/>
            <a:chExt cx="13335002" cy="6477000"/>
          </a:xfrm>
        </p:grpSpPr>
        <p:sp>
          <p:nvSpPr>
            <p:cNvPr id="46" name="Rectangle"/>
            <p:cNvSpPr/>
            <p:nvPr/>
          </p:nvSpPr>
          <p:spPr>
            <a:xfrm>
              <a:off x="-317498" y="6781800"/>
              <a:ext cx="13335000" cy="1257300"/>
            </a:xfrm>
            <a:prstGeom prst="rect">
              <a:avLst/>
            </a:prstGeom>
            <a:solidFill>
              <a:srgbClr val="EBEBEB"/>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sz="2000"/>
            </a:p>
          </p:txBody>
        </p:sp>
        <p:sp>
          <p:nvSpPr>
            <p:cNvPr id="47" name="Rectangle"/>
            <p:cNvSpPr/>
            <p:nvPr/>
          </p:nvSpPr>
          <p:spPr>
            <a:xfrm>
              <a:off x="-317500" y="2882900"/>
              <a:ext cx="13335000" cy="1320800"/>
            </a:xfrm>
            <a:prstGeom prst="rect">
              <a:avLst/>
            </a:prstGeom>
            <a:solidFill>
              <a:srgbClr val="FFD479"/>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sz="2000"/>
            </a:p>
          </p:txBody>
        </p:sp>
        <p:sp>
          <p:nvSpPr>
            <p:cNvPr id="48" name="Rectangle"/>
            <p:cNvSpPr/>
            <p:nvPr/>
          </p:nvSpPr>
          <p:spPr>
            <a:xfrm>
              <a:off x="-317500" y="4203700"/>
              <a:ext cx="13335000" cy="1320800"/>
            </a:xfrm>
            <a:prstGeom prst="rect">
              <a:avLst/>
            </a:prstGeom>
            <a:solidFill>
              <a:srgbClr val="FF8AD8"/>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sz="2000"/>
            </a:p>
          </p:txBody>
        </p:sp>
        <p:sp>
          <p:nvSpPr>
            <p:cNvPr id="49" name="Rectangle"/>
            <p:cNvSpPr/>
            <p:nvPr/>
          </p:nvSpPr>
          <p:spPr>
            <a:xfrm>
              <a:off x="-317500" y="5524718"/>
              <a:ext cx="13335000" cy="1269999"/>
            </a:xfrm>
            <a:prstGeom prst="rect">
              <a:avLst/>
            </a:prstGeom>
            <a:solidFill>
              <a:srgbClr val="C0C0C0"/>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sz="2000"/>
            </a:p>
          </p:txBody>
        </p:sp>
        <p:sp>
          <p:nvSpPr>
            <p:cNvPr id="50" name="Rectangle"/>
            <p:cNvSpPr/>
            <p:nvPr/>
          </p:nvSpPr>
          <p:spPr>
            <a:xfrm>
              <a:off x="-317500" y="1562100"/>
              <a:ext cx="13335000" cy="1320801"/>
            </a:xfrm>
            <a:prstGeom prst="rect">
              <a:avLst/>
            </a:prstGeom>
            <a:solidFill>
              <a:srgbClr val="FFFC79"/>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sz="2000"/>
            </a:p>
          </p:txBody>
        </p:sp>
        <p:sp>
          <p:nvSpPr>
            <p:cNvPr id="51" name="application"/>
            <p:cNvSpPr/>
            <p:nvPr/>
          </p:nvSpPr>
          <p:spPr>
            <a:xfrm>
              <a:off x="238753" y="1895398"/>
              <a:ext cx="2619812" cy="64149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4000">
                  <a:solidFill>
                    <a:srgbClr val="424242"/>
                  </a:solidFill>
                  <a:latin typeface="Times New Roman"/>
                  <a:ea typeface="Times New Roman"/>
                  <a:cs typeface="Times New Roman"/>
                  <a:sym typeface="Times New Roman"/>
                </a:defRPr>
              </a:lvl1pPr>
            </a:lstStyle>
            <a:p>
              <a:r>
                <a:rPr sz="2000"/>
                <a:t>application</a:t>
              </a:r>
            </a:p>
          </p:txBody>
        </p:sp>
        <p:sp>
          <p:nvSpPr>
            <p:cNvPr id="52" name="transport"/>
            <p:cNvSpPr/>
            <p:nvPr/>
          </p:nvSpPr>
          <p:spPr>
            <a:xfrm>
              <a:off x="320955" y="3203500"/>
              <a:ext cx="2138551" cy="64149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4000">
                  <a:solidFill>
                    <a:srgbClr val="424242"/>
                  </a:solidFill>
                  <a:latin typeface="Times New Roman"/>
                  <a:ea typeface="Times New Roman"/>
                  <a:cs typeface="Times New Roman"/>
                  <a:sym typeface="Times New Roman"/>
                </a:defRPr>
              </a:lvl1pPr>
            </a:lstStyle>
            <a:p>
              <a:r>
                <a:rPr sz="2000" dirty="0"/>
                <a:t>transport</a:t>
              </a:r>
            </a:p>
          </p:txBody>
        </p:sp>
        <p:sp>
          <p:nvSpPr>
            <p:cNvPr id="53" name="network"/>
            <p:cNvSpPr/>
            <p:nvPr/>
          </p:nvSpPr>
          <p:spPr>
            <a:xfrm>
              <a:off x="320955" y="4473500"/>
              <a:ext cx="1992821" cy="64149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4000">
                  <a:solidFill>
                    <a:srgbClr val="424242"/>
                  </a:solidFill>
                  <a:latin typeface="Times New Roman"/>
                  <a:ea typeface="Times New Roman"/>
                  <a:cs typeface="Times New Roman"/>
                  <a:sym typeface="Times New Roman"/>
                </a:defRPr>
              </a:lvl1pPr>
            </a:lstStyle>
            <a:p>
              <a:r>
                <a:rPr sz="2000"/>
                <a:t>network</a:t>
              </a:r>
            </a:p>
          </p:txBody>
        </p:sp>
        <p:sp>
          <p:nvSpPr>
            <p:cNvPr id="54" name="link"/>
            <p:cNvSpPr/>
            <p:nvPr/>
          </p:nvSpPr>
          <p:spPr>
            <a:xfrm>
              <a:off x="491245" y="5808997"/>
              <a:ext cx="1057415" cy="64149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4000">
                  <a:solidFill>
                    <a:srgbClr val="424242"/>
                  </a:solidFill>
                  <a:latin typeface="Times New Roman"/>
                  <a:ea typeface="Times New Roman"/>
                  <a:cs typeface="Times New Roman"/>
                  <a:sym typeface="Times New Roman"/>
                </a:defRPr>
              </a:lvl1pPr>
            </a:lstStyle>
            <a:p>
              <a:r>
                <a:rPr sz="2000" dirty="0"/>
                <a:t>link</a:t>
              </a:r>
            </a:p>
          </p:txBody>
        </p:sp>
        <p:sp>
          <p:nvSpPr>
            <p:cNvPr id="55" name="physical"/>
            <p:cNvSpPr/>
            <p:nvPr/>
          </p:nvSpPr>
          <p:spPr>
            <a:xfrm>
              <a:off x="380263" y="7021942"/>
              <a:ext cx="2019934" cy="64149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4000">
                  <a:solidFill>
                    <a:srgbClr val="424242"/>
                  </a:solidFill>
                  <a:latin typeface="Times New Roman"/>
                  <a:ea typeface="Times New Roman"/>
                  <a:cs typeface="Times New Roman"/>
                  <a:sym typeface="Times New Roman"/>
                </a:defRPr>
              </a:lvl1pPr>
            </a:lstStyle>
            <a:p>
              <a:r>
                <a:rPr sz="2000" dirty="0"/>
                <a:t>physical</a:t>
              </a:r>
            </a:p>
          </p:txBody>
        </p:sp>
        <p:sp>
          <p:nvSpPr>
            <p:cNvPr id="57" name="BitTorrent"/>
            <p:cNvSpPr/>
            <p:nvPr/>
          </p:nvSpPr>
          <p:spPr>
            <a:xfrm>
              <a:off x="5732456" y="1933499"/>
              <a:ext cx="2583881" cy="64149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lvl1pPr>
                <a:defRPr sz="4000">
                  <a:solidFill>
                    <a:srgbClr val="424242"/>
                  </a:solidFill>
                  <a:latin typeface="+mn-lt"/>
                  <a:ea typeface="+mn-ea"/>
                  <a:cs typeface="+mn-cs"/>
                  <a:sym typeface="Chalkboard SE Regular"/>
                </a:defRPr>
              </a:lvl1pPr>
            </a:lstStyle>
            <a:p>
              <a:r>
                <a:rPr sz="2000"/>
                <a:t>BitTorrent</a:t>
              </a:r>
            </a:p>
          </p:txBody>
        </p:sp>
        <p:sp>
          <p:nvSpPr>
            <p:cNvPr id="58" name="TCP"/>
            <p:cNvSpPr/>
            <p:nvPr/>
          </p:nvSpPr>
          <p:spPr>
            <a:xfrm>
              <a:off x="5481511" y="3178099"/>
              <a:ext cx="1050637" cy="64149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4000">
                  <a:solidFill>
                    <a:srgbClr val="424242"/>
                  </a:solidFill>
                  <a:latin typeface="+mn-lt"/>
                  <a:ea typeface="+mn-ea"/>
                  <a:cs typeface="+mn-cs"/>
                  <a:sym typeface="Chalkboard SE Regular"/>
                </a:defRPr>
              </a:lvl1pPr>
            </a:lstStyle>
            <a:p>
              <a:r>
                <a:rPr sz="2000" dirty="0"/>
                <a:t>TCP</a:t>
              </a:r>
            </a:p>
          </p:txBody>
        </p:sp>
        <p:sp>
          <p:nvSpPr>
            <p:cNvPr id="59" name="UDP"/>
            <p:cNvSpPr/>
            <p:nvPr/>
          </p:nvSpPr>
          <p:spPr>
            <a:xfrm>
              <a:off x="7720513" y="3178099"/>
              <a:ext cx="1179424" cy="64149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4000">
                  <a:solidFill>
                    <a:srgbClr val="424242"/>
                  </a:solidFill>
                  <a:latin typeface="+mn-lt"/>
                  <a:ea typeface="+mn-ea"/>
                  <a:cs typeface="+mn-cs"/>
                  <a:sym typeface="Chalkboard SE Regular"/>
                </a:defRPr>
              </a:lvl1pPr>
            </a:lstStyle>
            <a:p>
              <a:r>
                <a:rPr sz="2000" dirty="0"/>
                <a:t>UDP</a:t>
              </a:r>
            </a:p>
          </p:txBody>
        </p:sp>
        <p:sp>
          <p:nvSpPr>
            <p:cNvPr id="60" name="IP"/>
            <p:cNvSpPr/>
            <p:nvPr/>
          </p:nvSpPr>
          <p:spPr>
            <a:xfrm>
              <a:off x="6951941" y="4511599"/>
              <a:ext cx="633770" cy="64149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4000">
                  <a:solidFill>
                    <a:srgbClr val="424242"/>
                  </a:solidFill>
                  <a:latin typeface="+mn-lt"/>
                  <a:ea typeface="+mn-ea"/>
                  <a:cs typeface="+mn-cs"/>
                  <a:sym typeface="Chalkboard SE Regular"/>
                </a:defRPr>
              </a:lvl1pPr>
            </a:lstStyle>
            <a:p>
              <a:r>
                <a:rPr sz="2000"/>
                <a:t>IP</a:t>
              </a:r>
            </a:p>
          </p:txBody>
        </p:sp>
        <p:sp>
          <p:nvSpPr>
            <p:cNvPr id="61" name="Ethernet"/>
            <p:cNvSpPr/>
            <p:nvPr/>
          </p:nvSpPr>
          <p:spPr>
            <a:xfrm>
              <a:off x="5165663" y="5713241"/>
              <a:ext cx="2148721" cy="64149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4000">
                  <a:solidFill>
                    <a:srgbClr val="424242"/>
                  </a:solidFill>
                  <a:latin typeface="+mn-lt"/>
                  <a:ea typeface="+mn-ea"/>
                  <a:cs typeface="+mn-cs"/>
                  <a:sym typeface="Chalkboard SE Regular"/>
                </a:defRPr>
              </a:lvl1pPr>
            </a:lstStyle>
            <a:p>
              <a:r>
                <a:rPr sz="2000"/>
                <a:t>Ethernet</a:t>
              </a:r>
            </a:p>
          </p:txBody>
        </p:sp>
        <p:sp>
          <p:nvSpPr>
            <p:cNvPr id="62" name="DNS"/>
            <p:cNvSpPr/>
            <p:nvPr/>
          </p:nvSpPr>
          <p:spPr>
            <a:xfrm>
              <a:off x="10071214" y="1942831"/>
              <a:ext cx="1837571" cy="64149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lvl1pPr>
                <a:defRPr sz="4000">
                  <a:solidFill>
                    <a:srgbClr val="424242"/>
                  </a:solidFill>
                  <a:latin typeface="+mn-lt"/>
                  <a:ea typeface="+mn-ea"/>
                  <a:cs typeface="+mn-cs"/>
                  <a:sym typeface="Chalkboard SE Regular"/>
                </a:defRPr>
              </a:lvl1pPr>
            </a:lstStyle>
            <a:p>
              <a:r>
                <a:rPr sz="2000"/>
                <a:t>DNS</a:t>
              </a:r>
            </a:p>
          </p:txBody>
        </p:sp>
        <p:sp>
          <p:nvSpPr>
            <p:cNvPr id="63" name="web"/>
            <p:cNvSpPr/>
            <p:nvPr/>
          </p:nvSpPr>
          <p:spPr>
            <a:xfrm>
              <a:off x="3911149" y="1901748"/>
              <a:ext cx="1524449" cy="64149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lvl1pPr>
                <a:defRPr sz="4000">
                  <a:solidFill>
                    <a:srgbClr val="424242"/>
                  </a:solidFill>
                  <a:latin typeface="+mn-lt"/>
                  <a:ea typeface="+mn-ea"/>
                  <a:cs typeface="+mn-cs"/>
                  <a:sym typeface="Chalkboard SE Regular"/>
                </a:defRPr>
              </a:lvl1pPr>
            </a:lstStyle>
            <a:p>
              <a:r>
                <a:rPr sz="2000"/>
                <a:t>web</a:t>
              </a:r>
            </a:p>
          </p:txBody>
        </p:sp>
      </p:grpSp>
      <p:sp>
        <p:nvSpPr>
          <p:cNvPr id="22" name="TextBox 21">
            <a:extLst>
              <a:ext uri="{FF2B5EF4-FFF2-40B4-BE49-F238E27FC236}">
                <a16:creationId xmlns:a16="http://schemas.microsoft.com/office/drawing/2014/main" id="{019B8606-0220-4CFC-A6B5-0EF228AACE0A}"/>
              </a:ext>
            </a:extLst>
          </p:cNvPr>
          <p:cNvSpPr txBox="1"/>
          <p:nvPr/>
        </p:nvSpPr>
        <p:spPr>
          <a:xfrm>
            <a:off x="351497" y="5609945"/>
            <a:ext cx="12498044" cy="255454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a:r>
              <a:rPr lang="en-US" sz="3200" dirty="0"/>
              <a:t>The transport layer is sandwiched between the application layer and the network layer.</a:t>
            </a:r>
          </a:p>
          <a:p>
            <a:pPr algn="l"/>
            <a:endParaRPr lang="en-US" sz="3200" dirty="0"/>
          </a:p>
          <a:p>
            <a:pPr algn="l"/>
            <a:r>
              <a:rPr lang="en-US" sz="3200" dirty="0"/>
              <a:t>Therefore, we will need to involve the application and network layers in our discussion.</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EB6A26-83A2-A59F-CAEB-B77F7EAE37CA}"/>
              </a:ext>
            </a:extLst>
          </p:cNvPr>
          <p:cNvSpPr>
            <a:spLocks noGrp="1"/>
          </p:cNvSpPr>
          <p:nvPr>
            <p:ph type="title"/>
          </p:nvPr>
        </p:nvSpPr>
        <p:spPr/>
        <p:txBody>
          <a:bodyPr/>
          <a:lstStyle/>
          <a:p>
            <a:r>
              <a:rPr lang="en-US" dirty="0"/>
              <a:t>But wait…why do we need another layer?</a:t>
            </a:r>
          </a:p>
        </p:txBody>
      </p:sp>
      <p:pic>
        <p:nvPicPr>
          <p:cNvPr id="1026" name="Picture 2">
            <a:extLst>
              <a:ext uri="{FF2B5EF4-FFF2-40B4-BE49-F238E27FC236}">
                <a16:creationId xmlns:a16="http://schemas.microsoft.com/office/drawing/2014/main" id="{4BC717BC-8912-F4EA-01D9-D9DF99D0E1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7456" y="3161489"/>
            <a:ext cx="1417154" cy="142348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hrome icon - Free download on Iconfinder">
            <a:extLst>
              <a:ext uri="{FF2B5EF4-FFF2-40B4-BE49-F238E27FC236}">
                <a16:creationId xmlns:a16="http://schemas.microsoft.com/office/drawing/2014/main" id="{AE60B6C8-83D3-FC4E-1F1F-3EDF487DB4C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74724" y="3223417"/>
            <a:ext cx="1299623" cy="1299623"/>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Roblox icons fitting with macOS - Community Resources - Developer Forum |  Roblox">
            <a:extLst>
              <a:ext uri="{FF2B5EF4-FFF2-40B4-BE49-F238E27FC236}">
                <a16:creationId xmlns:a16="http://schemas.microsoft.com/office/drawing/2014/main" id="{00B8E6E8-8B1A-C4BF-3C02-4643202E899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89988" y="3161490"/>
            <a:ext cx="1417154" cy="1417154"/>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tiktok&quot; Icon - Download for free – Iconduck">
            <a:extLst>
              <a:ext uri="{FF2B5EF4-FFF2-40B4-BE49-F238E27FC236}">
                <a16:creationId xmlns:a16="http://schemas.microsoft.com/office/drawing/2014/main" id="{FD66C447-D30A-A41A-3AB0-E13A805C62F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744704" y="3272322"/>
            <a:ext cx="1103528" cy="1195489"/>
          </a:xfrm>
          <a:prstGeom prst="rect">
            <a:avLst/>
          </a:prstGeom>
          <a:noFill/>
          <a:extLst>
            <a:ext uri="{909E8E84-426E-40DD-AFC4-6F175D3DCCD1}">
              <a14:hiddenFill xmlns:a14="http://schemas.microsoft.com/office/drawing/2010/main">
                <a:solidFill>
                  <a:srgbClr val="FFFFFF"/>
                </a:solidFill>
              </a14:hiddenFill>
            </a:ext>
          </a:extLst>
        </p:spPr>
      </p:pic>
      <p:grpSp>
        <p:nvGrpSpPr>
          <p:cNvPr id="4" name="Group 3">
            <a:extLst>
              <a:ext uri="{FF2B5EF4-FFF2-40B4-BE49-F238E27FC236}">
                <a16:creationId xmlns:a16="http://schemas.microsoft.com/office/drawing/2014/main" id="{03B1D677-76CF-FB57-4FB1-F0F321B229D0}"/>
              </a:ext>
            </a:extLst>
          </p:cNvPr>
          <p:cNvGrpSpPr/>
          <p:nvPr/>
        </p:nvGrpSpPr>
        <p:grpSpPr>
          <a:xfrm>
            <a:off x="1608022" y="6280481"/>
            <a:ext cx="9788755" cy="2453527"/>
            <a:chOff x="-317500" y="4203700"/>
            <a:chExt cx="13335002" cy="3835400"/>
          </a:xfrm>
        </p:grpSpPr>
        <p:sp>
          <p:nvSpPr>
            <p:cNvPr id="5" name="Rectangle">
              <a:extLst>
                <a:ext uri="{FF2B5EF4-FFF2-40B4-BE49-F238E27FC236}">
                  <a16:creationId xmlns:a16="http://schemas.microsoft.com/office/drawing/2014/main" id="{935C0EBB-8F07-79E6-6FA3-81C407DDFD5B}"/>
                </a:ext>
              </a:extLst>
            </p:cNvPr>
            <p:cNvSpPr/>
            <p:nvPr/>
          </p:nvSpPr>
          <p:spPr>
            <a:xfrm>
              <a:off x="-317498" y="6781800"/>
              <a:ext cx="13335000" cy="1257300"/>
            </a:xfrm>
            <a:prstGeom prst="rect">
              <a:avLst/>
            </a:prstGeom>
            <a:solidFill>
              <a:srgbClr val="EBEBEB"/>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sz="2000"/>
            </a:p>
          </p:txBody>
        </p:sp>
        <p:sp>
          <p:nvSpPr>
            <p:cNvPr id="7" name="Rectangle">
              <a:extLst>
                <a:ext uri="{FF2B5EF4-FFF2-40B4-BE49-F238E27FC236}">
                  <a16:creationId xmlns:a16="http://schemas.microsoft.com/office/drawing/2014/main" id="{091BA170-2C6E-B989-60A0-E49B91C3E1C5}"/>
                </a:ext>
              </a:extLst>
            </p:cNvPr>
            <p:cNvSpPr/>
            <p:nvPr/>
          </p:nvSpPr>
          <p:spPr>
            <a:xfrm>
              <a:off x="-317500" y="4203700"/>
              <a:ext cx="13335000" cy="1320800"/>
            </a:xfrm>
            <a:prstGeom prst="rect">
              <a:avLst/>
            </a:prstGeom>
            <a:solidFill>
              <a:srgbClr val="FF8AD8"/>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sz="2000"/>
            </a:p>
          </p:txBody>
        </p:sp>
        <p:sp>
          <p:nvSpPr>
            <p:cNvPr id="8" name="Rectangle">
              <a:extLst>
                <a:ext uri="{FF2B5EF4-FFF2-40B4-BE49-F238E27FC236}">
                  <a16:creationId xmlns:a16="http://schemas.microsoft.com/office/drawing/2014/main" id="{022379A8-6F97-399E-B859-E5C6AE1C4F8F}"/>
                </a:ext>
              </a:extLst>
            </p:cNvPr>
            <p:cNvSpPr/>
            <p:nvPr/>
          </p:nvSpPr>
          <p:spPr>
            <a:xfrm>
              <a:off x="-317500" y="5524718"/>
              <a:ext cx="13335000" cy="1269999"/>
            </a:xfrm>
            <a:prstGeom prst="rect">
              <a:avLst/>
            </a:prstGeom>
            <a:solidFill>
              <a:srgbClr val="C0C0C0"/>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sz="2000"/>
            </a:p>
          </p:txBody>
        </p:sp>
        <p:sp>
          <p:nvSpPr>
            <p:cNvPr id="12" name="network">
              <a:extLst>
                <a:ext uri="{FF2B5EF4-FFF2-40B4-BE49-F238E27FC236}">
                  <a16:creationId xmlns:a16="http://schemas.microsoft.com/office/drawing/2014/main" id="{8A4F58FD-7EBC-52C1-167D-98EC10CD5ABC}"/>
                </a:ext>
              </a:extLst>
            </p:cNvPr>
            <p:cNvSpPr/>
            <p:nvPr/>
          </p:nvSpPr>
          <p:spPr>
            <a:xfrm>
              <a:off x="320955" y="4473500"/>
              <a:ext cx="1992821" cy="64149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4000">
                  <a:solidFill>
                    <a:srgbClr val="424242"/>
                  </a:solidFill>
                  <a:latin typeface="Times New Roman"/>
                  <a:ea typeface="Times New Roman"/>
                  <a:cs typeface="Times New Roman"/>
                  <a:sym typeface="Times New Roman"/>
                </a:defRPr>
              </a:lvl1pPr>
            </a:lstStyle>
            <a:p>
              <a:r>
                <a:rPr sz="2000"/>
                <a:t>network</a:t>
              </a:r>
            </a:p>
          </p:txBody>
        </p:sp>
        <p:sp>
          <p:nvSpPr>
            <p:cNvPr id="13" name="link">
              <a:extLst>
                <a:ext uri="{FF2B5EF4-FFF2-40B4-BE49-F238E27FC236}">
                  <a16:creationId xmlns:a16="http://schemas.microsoft.com/office/drawing/2014/main" id="{5DEDD796-0330-EC39-0DED-5497E5EB1445}"/>
                </a:ext>
              </a:extLst>
            </p:cNvPr>
            <p:cNvSpPr/>
            <p:nvPr/>
          </p:nvSpPr>
          <p:spPr>
            <a:xfrm>
              <a:off x="491245" y="5808997"/>
              <a:ext cx="1057415" cy="64149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4000">
                  <a:solidFill>
                    <a:srgbClr val="424242"/>
                  </a:solidFill>
                  <a:latin typeface="Times New Roman"/>
                  <a:ea typeface="Times New Roman"/>
                  <a:cs typeface="Times New Roman"/>
                  <a:sym typeface="Times New Roman"/>
                </a:defRPr>
              </a:lvl1pPr>
            </a:lstStyle>
            <a:p>
              <a:r>
                <a:rPr sz="2000" dirty="0"/>
                <a:t>link</a:t>
              </a:r>
            </a:p>
          </p:txBody>
        </p:sp>
        <p:sp>
          <p:nvSpPr>
            <p:cNvPr id="14" name="physical">
              <a:extLst>
                <a:ext uri="{FF2B5EF4-FFF2-40B4-BE49-F238E27FC236}">
                  <a16:creationId xmlns:a16="http://schemas.microsoft.com/office/drawing/2014/main" id="{3EFEDA18-5633-9F3C-E4B6-49A276017EEB}"/>
                </a:ext>
              </a:extLst>
            </p:cNvPr>
            <p:cNvSpPr/>
            <p:nvPr/>
          </p:nvSpPr>
          <p:spPr>
            <a:xfrm>
              <a:off x="380263" y="7021942"/>
              <a:ext cx="2019934" cy="64149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4000">
                  <a:solidFill>
                    <a:srgbClr val="424242"/>
                  </a:solidFill>
                  <a:latin typeface="Times New Roman"/>
                  <a:ea typeface="Times New Roman"/>
                  <a:cs typeface="Times New Roman"/>
                  <a:sym typeface="Times New Roman"/>
                </a:defRPr>
              </a:lvl1pPr>
            </a:lstStyle>
            <a:p>
              <a:r>
                <a:rPr sz="2000" dirty="0"/>
                <a:t>physical</a:t>
              </a:r>
            </a:p>
          </p:txBody>
        </p:sp>
        <p:sp>
          <p:nvSpPr>
            <p:cNvPr id="18" name="IP">
              <a:extLst>
                <a:ext uri="{FF2B5EF4-FFF2-40B4-BE49-F238E27FC236}">
                  <a16:creationId xmlns:a16="http://schemas.microsoft.com/office/drawing/2014/main" id="{ACDA1D86-E10B-3ADA-D5C3-9603DC6EA353}"/>
                </a:ext>
              </a:extLst>
            </p:cNvPr>
            <p:cNvSpPr/>
            <p:nvPr/>
          </p:nvSpPr>
          <p:spPr>
            <a:xfrm>
              <a:off x="6951941" y="4511599"/>
              <a:ext cx="633770" cy="64149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4000">
                  <a:solidFill>
                    <a:srgbClr val="424242"/>
                  </a:solidFill>
                  <a:latin typeface="+mn-lt"/>
                  <a:ea typeface="+mn-ea"/>
                  <a:cs typeface="+mn-cs"/>
                  <a:sym typeface="Chalkboard SE Regular"/>
                </a:defRPr>
              </a:lvl1pPr>
            </a:lstStyle>
            <a:p>
              <a:r>
                <a:rPr sz="2000"/>
                <a:t>IP</a:t>
              </a:r>
            </a:p>
          </p:txBody>
        </p:sp>
        <p:sp>
          <p:nvSpPr>
            <p:cNvPr id="19" name="Ethernet">
              <a:extLst>
                <a:ext uri="{FF2B5EF4-FFF2-40B4-BE49-F238E27FC236}">
                  <a16:creationId xmlns:a16="http://schemas.microsoft.com/office/drawing/2014/main" id="{5141B116-A968-8CE8-39C7-CDFFC9E5D11A}"/>
                </a:ext>
              </a:extLst>
            </p:cNvPr>
            <p:cNvSpPr/>
            <p:nvPr/>
          </p:nvSpPr>
          <p:spPr>
            <a:xfrm>
              <a:off x="5165663" y="5713241"/>
              <a:ext cx="2148721" cy="64149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4000">
                  <a:solidFill>
                    <a:srgbClr val="424242"/>
                  </a:solidFill>
                  <a:latin typeface="+mn-lt"/>
                  <a:ea typeface="+mn-ea"/>
                  <a:cs typeface="+mn-cs"/>
                  <a:sym typeface="Chalkboard SE Regular"/>
                </a:defRPr>
              </a:lvl1pPr>
            </a:lstStyle>
            <a:p>
              <a:r>
                <a:rPr sz="2000"/>
                <a:t>Ethernet</a:t>
              </a:r>
            </a:p>
          </p:txBody>
        </p:sp>
      </p:grpSp>
      <p:sp>
        <p:nvSpPr>
          <p:cNvPr id="22" name="Arrow: Up-Down 21">
            <a:extLst>
              <a:ext uri="{FF2B5EF4-FFF2-40B4-BE49-F238E27FC236}">
                <a16:creationId xmlns:a16="http://schemas.microsoft.com/office/drawing/2014/main" id="{AB3C6185-3CDB-FE1F-1DC5-B2DE9B396F3A}"/>
              </a:ext>
            </a:extLst>
          </p:cNvPr>
          <p:cNvSpPr/>
          <p:nvPr/>
        </p:nvSpPr>
        <p:spPr>
          <a:xfrm>
            <a:off x="2207103" y="5054059"/>
            <a:ext cx="623713" cy="1029683"/>
          </a:xfrm>
          <a:prstGeom prst="upDownArrow">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US" sz="4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Gill Sans"/>
              <a:ea typeface="Gill Sans"/>
              <a:cs typeface="Gill Sans"/>
              <a:sym typeface="Gill Sans"/>
            </a:endParaRPr>
          </a:p>
        </p:txBody>
      </p:sp>
      <p:sp>
        <p:nvSpPr>
          <p:cNvPr id="23" name="Arrow: Up-Down 22">
            <a:extLst>
              <a:ext uri="{FF2B5EF4-FFF2-40B4-BE49-F238E27FC236}">
                <a16:creationId xmlns:a16="http://schemas.microsoft.com/office/drawing/2014/main" id="{BB055621-659D-EE33-793D-58C3D8E993BD}"/>
              </a:ext>
            </a:extLst>
          </p:cNvPr>
          <p:cNvSpPr/>
          <p:nvPr/>
        </p:nvSpPr>
        <p:spPr>
          <a:xfrm>
            <a:off x="4812678" y="5050785"/>
            <a:ext cx="623713" cy="1029683"/>
          </a:xfrm>
          <a:prstGeom prst="upDownArrow">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US" sz="4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Gill Sans"/>
              <a:ea typeface="Gill Sans"/>
              <a:cs typeface="Gill Sans"/>
              <a:sym typeface="Gill Sans"/>
            </a:endParaRPr>
          </a:p>
        </p:txBody>
      </p:sp>
      <p:sp>
        <p:nvSpPr>
          <p:cNvPr id="24" name="Arrow: Up-Down 23">
            <a:extLst>
              <a:ext uri="{FF2B5EF4-FFF2-40B4-BE49-F238E27FC236}">
                <a16:creationId xmlns:a16="http://schemas.microsoft.com/office/drawing/2014/main" id="{8C1D917A-B8AF-BD5A-725D-790658452C96}"/>
              </a:ext>
            </a:extLst>
          </p:cNvPr>
          <p:cNvSpPr/>
          <p:nvPr/>
        </p:nvSpPr>
        <p:spPr>
          <a:xfrm>
            <a:off x="7286708" y="5009937"/>
            <a:ext cx="623713" cy="1029683"/>
          </a:xfrm>
          <a:prstGeom prst="upDownArrow">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US" sz="4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Gill Sans"/>
              <a:ea typeface="Gill Sans"/>
              <a:cs typeface="Gill Sans"/>
              <a:sym typeface="Gill Sans"/>
            </a:endParaRPr>
          </a:p>
        </p:txBody>
      </p:sp>
      <p:sp>
        <p:nvSpPr>
          <p:cNvPr id="25" name="Arrow: Up-Down 24">
            <a:extLst>
              <a:ext uri="{FF2B5EF4-FFF2-40B4-BE49-F238E27FC236}">
                <a16:creationId xmlns:a16="http://schemas.microsoft.com/office/drawing/2014/main" id="{6F242D69-34EE-BC11-82A8-8EBE431819C3}"/>
              </a:ext>
            </a:extLst>
          </p:cNvPr>
          <p:cNvSpPr/>
          <p:nvPr/>
        </p:nvSpPr>
        <p:spPr>
          <a:xfrm>
            <a:off x="9984611" y="5042684"/>
            <a:ext cx="623713" cy="1029683"/>
          </a:xfrm>
          <a:prstGeom prst="upDownArrow">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US" sz="4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Gill Sans"/>
              <a:ea typeface="Gill Sans"/>
              <a:cs typeface="Gill Sans"/>
              <a:sym typeface="Gill Sans"/>
            </a:endParaRPr>
          </a:p>
        </p:txBody>
      </p:sp>
    </p:spTree>
    <p:extLst>
      <p:ext uri="{BB962C8B-B14F-4D97-AF65-F5344CB8AC3E}">
        <p14:creationId xmlns:p14="http://schemas.microsoft.com/office/powerpoint/2010/main" val="3671770709"/>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EDC56A0-DB09-195E-9084-3CD2B021B4B4}"/>
              </a:ext>
            </a:extLst>
          </p:cNvPr>
          <p:cNvPicPr>
            <a:picLocks noChangeAspect="1"/>
          </p:cNvPicPr>
          <p:nvPr/>
        </p:nvPicPr>
        <p:blipFill>
          <a:blip r:embed="rId2"/>
          <a:stretch>
            <a:fillRect/>
          </a:stretch>
        </p:blipFill>
        <p:spPr>
          <a:xfrm>
            <a:off x="2485179" y="107004"/>
            <a:ext cx="7509150" cy="9231549"/>
          </a:xfrm>
          <a:prstGeom prst="rect">
            <a:avLst/>
          </a:prstGeom>
        </p:spPr>
      </p:pic>
    </p:spTree>
    <p:extLst>
      <p:ext uri="{BB962C8B-B14F-4D97-AF65-F5344CB8AC3E}">
        <p14:creationId xmlns:p14="http://schemas.microsoft.com/office/powerpoint/2010/main" val="2094640320"/>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7DEC0D-AF2D-FBD6-7F9F-68C6A6882152}"/>
              </a:ext>
            </a:extLst>
          </p:cNvPr>
          <p:cNvSpPr>
            <a:spLocks noGrp="1"/>
          </p:cNvSpPr>
          <p:nvPr>
            <p:ph type="title"/>
          </p:nvPr>
        </p:nvSpPr>
        <p:spPr>
          <a:xfrm>
            <a:off x="554477" y="254000"/>
            <a:ext cx="12120663" cy="2438400"/>
          </a:xfrm>
        </p:spPr>
        <p:txBody>
          <a:bodyPr/>
          <a:lstStyle/>
          <a:p>
            <a:r>
              <a:rPr lang="en-US" dirty="0"/>
              <a:t>First problem: many applications in a same end system, and many processes for each application…. </a:t>
            </a:r>
          </a:p>
        </p:txBody>
      </p:sp>
      <p:sp>
        <p:nvSpPr>
          <p:cNvPr id="3" name="Text Placeholder 2">
            <a:extLst>
              <a:ext uri="{FF2B5EF4-FFF2-40B4-BE49-F238E27FC236}">
                <a16:creationId xmlns:a16="http://schemas.microsoft.com/office/drawing/2014/main" id="{71974E7B-8609-11D3-3AF5-EB6A0D96D2BE}"/>
              </a:ext>
            </a:extLst>
          </p:cNvPr>
          <p:cNvSpPr>
            <a:spLocks noGrp="1"/>
          </p:cNvSpPr>
          <p:nvPr>
            <p:ph type="body" idx="1"/>
          </p:nvPr>
        </p:nvSpPr>
        <p:spPr>
          <a:xfrm>
            <a:off x="943042" y="3181366"/>
            <a:ext cx="11527818" cy="5715000"/>
          </a:xfrm>
        </p:spPr>
        <p:txBody>
          <a:bodyPr/>
          <a:lstStyle/>
          <a:p>
            <a:r>
              <a:rPr lang="en-US" dirty="0"/>
              <a:t>One app, N processes</a:t>
            </a:r>
          </a:p>
          <a:p>
            <a:r>
              <a:rPr lang="en-US" dirty="0"/>
              <a:t>Each process independently communicate with other processes over the Internet</a:t>
            </a:r>
          </a:p>
          <a:p>
            <a:r>
              <a:rPr lang="en-US" dirty="0"/>
              <a:t>And every host runs many apps…</a:t>
            </a:r>
          </a:p>
          <a:p>
            <a:r>
              <a:rPr lang="en-US" dirty="0"/>
              <a:t> when a packet arrives at a host, how to understand to whom it belongs??  </a:t>
            </a:r>
          </a:p>
        </p:txBody>
      </p:sp>
      <p:pic>
        <p:nvPicPr>
          <p:cNvPr id="4" name="Picture 4" descr="Chrome icon - Free download on Iconfinder">
            <a:extLst>
              <a:ext uri="{FF2B5EF4-FFF2-40B4-BE49-F238E27FC236}">
                <a16:creationId xmlns:a16="http://schemas.microsoft.com/office/drawing/2014/main" id="{D72D1276-30A5-C4EF-85BC-B6800DFB19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05473" y="3084089"/>
            <a:ext cx="1299623" cy="12996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07586839"/>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57514C-C254-A2AC-FCBF-95C83A408964}"/>
              </a:ext>
            </a:extLst>
          </p:cNvPr>
          <p:cNvSpPr>
            <a:spLocks noGrp="1"/>
          </p:cNvSpPr>
          <p:nvPr>
            <p:ph type="title"/>
          </p:nvPr>
        </p:nvSpPr>
        <p:spPr>
          <a:xfrm>
            <a:off x="0" y="-271294"/>
            <a:ext cx="12918332" cy="2438400"/>
          </a:xfrm>
        </p:spPr>
        <p:txBody>
          <a:bodyPr/>
          <a:lstStyle/>
          <a:p>
            <a:r>
              <a:rPr lang="en-US" dirty="0"/>
              <a:t>There are still many things which can go wrong….</a:t>
            </a:r>
          </a:p>
        </p:txBody>
      </p:sp>
      <p:sp>
        <p:nvSpPr>
          <p:cNvPr id="3" name="Text Placeholder 2">
            <a:extLst>
              <a:ext uri="{FF2B5EF4-FFF2-40B4-BE49-F238E27FC236}">
                <a16:creationId xmlns:a16="http://schemas.microsoft.com/office/drawing/2014/main" id="{46224DF8-6A91-3378-DA27-822A88325253}"/>
              </a:ext>
            </a:extLst>
          </p:cNvPr>
          <p:cNvSpPr>
            <a:spLocks noGrp="1"/>
          </p:cNvSpPr>
          <p:nvPr>
            <p:ph type="body" idx="1"/>
          </p:nvPr>
        </p:nvSpPr>
        <p:spPr>
          <a:xfrm>
            <a:off x="213197" y="3293894"/>
            <a:ext cx="11449996" cy="5715000"/>
          </a:xfrm>
        </p:spPr>
        <p:txBody>
          <a:bodyPr/>
          <a:lstStyle/>
          <a:p>
            <a:pPr marL="317500" indent="0">
              <a:buNone/>
            </a:pPr>
            <a:r>
              <a:rPr lang="en-US" sz="3600" dirty="0"/>
              <a:t>Just to name a few:</a:t>
            </a:r>
          </a:p>
          <a:p>
            <a:r>
              <a:rPr lang="en-US" sz="3600" dirty="0"/>
              <a:t>Packets who do not arrive at destination (e.g., dropped at a queue at a router/switch)</a:t>
            </a:r>
          </a:p>
          <a:p>
            <a:r>
              <a:rPr lang="en-US" sz="3600" dirty="0"/>
              <a:t>Packet which arrive in the wrong order</a:t>
            </a:r>
          </a:p>
          <a:p>
            <a:r>
              <a:rPr lang="en-US" sz="3600" dirty="0"/>
              <a:t>Packets which arrive too fast for the host to be able to store them and pass them to the destination process</a:t>
            </a:r>
          </a:p>
          <a:p>
            <a:r>
              <a:rPr lang="en-US" sz="3600" dirty="0"/>
              <a:t>And then network might get congested, and </a:t>
            </a:r>
          </a:p>
          <a:p>
            <a:pPr marL="317500" indent="0">
              <a:buNone/>
            </a:pPr>
            <a:r>
              <a:rPr lang="en-US" sz="3600" dirty="0"/>
              <a:t>not work if too much traffic is sent by sources….</a:t>
            </a:r>
          </a:p>
          <a:p>
            <a:endParaRPr lang="en-US" sz="3600" dirty="0"/>
          </a:p>
        </p:txBody>
      </p:sp>
      <p:pic>
        <p:nvPicPr>
          <p:cNvPr id="2050" name="Picture 2" descr="Will Congestion Fees Make Traffic Flow Smoother?-- Beijing Review">
            <a:extLst>
              <a:ext uri="{FF2B5EF4-FFF2-40B4-BE49-F238E27FC236}">
                <a16:creationId xmlns:a16="http://schemas.microsoft.com/office/drawing/2014/main" id="{3871BFFB-B892-98A2-C9D5-73024588EC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07512" y="7315201"/>
            <a:ext cx="3197288" cy="24383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6545819"/>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BDE29B-9CDF-9BF4-BDFD-0DD68848E9AC}"/>
              </a:ext>
            </a:extLst>
          </p:cNvPr>
          <p:cNvSpPr>
            <a:spLocks noGrp="1"/>
          </p:cNvSpPr>
          <p:nvPr>
            <p:ph type="title"/>
          </p:nvPr>
        </p:nvSpPr>
        <p:spPr>
          <a:xfrm>
            <a:off x="1182451" y="-96195"/>
            <a:ext cx="10464800" cy="2438400"/>
          </a:xfrm>
        </p:spPr>
        <p:txBody>
          <a:bodyPr/>
          <a:lstStyle/>
          <a:p>
            <a:r>
              <a:rPr lang="en-US" dirty="0"/>
              <a:t>Yeah, but I can still program my app to take care of all this!</a:t>
            </a:r>
          </a:p>
        </p:txBody>
      </p:sp>
      <p:sp>
        <p:nvSpPr>
          <p:cNvPr id="3" name="Text Placeholder 2">
            <a:extLst>
              <a:ext uri="{FF2B5EF4-FFF2-40B4-BE49-F238E27FC236}">
                <a16:creationId xmlns:a16="http://schemas.microsoft.com/office/drawing/2014/main" id="{4B61E227-E78D-B15D-C0F7-D137A50EDC23}"/>
              </a:ext>
            </a:extLst>
          </p:cNvPr>
          <p:cNvSpPr>
            <a:spLocks noGrp="1"/>
          </p:cNvSpPr>
          <p:nvPr>
            <p:ph type="body" idx="1"/>
          </p:nvPr>
        </p:nvSpPr>
        <p:spPr>
          <a:xfrm>
            <a:off x="213198" y="2950724"/>
            <a:ext cx="12247663" cy="6948790"/>
          </a:xfrm>
        </p:spPr>
        <p:txBody>
          <a:bodyPr/>
          <a:lstStyle/>
          <a:p>
            <a:r>
              <a:rPr lang="en-US" dirty="0"/>
              <a:t>Sure! (And if you really want to go that way, UDP is for you)</a:t>
            </a:r>
          </a:p>
          <a:p>
            <a:r>
              <a:rPr lang="en-US" dirty="0"/>
              <a:t>But do you want to reinvent the wheel every time you code a new app?</a:t>
            </a:r>
          </a:p>
          <a:p>
            <a:pPr marL="317500" indent="0">
              <a:buNone/>
            </a:pPr>
            <a:r>
              <a:rPr lang="en-US" b="1" dirty="0"/>
              <a:t>The Transport layer offers application programmers an API (a set of functions) for communications over the Internet</a:t>
            </a:r>
          </a:p>
          <a:p>
            <a:endParaRPr lang="en-US" dirty="0"/>
          </a:p>
        </p:txBody>
      </p:sp>
    </p:spTree>
    <p:extLst>
      <p:ext uri="{BB962C8B-B14F-4D97-AF65-F5344CB8AC3E}">
        <p14:creationId xmlns:p14="http://schemas.microsoft.com/office/powerpoint/2010/main" val="2407190588"/>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5B505-E7B7-0E2C-CF4A-3CBA28A83525}"/>
              </a:ext>
            </a:extLst>
          </p:cNvPr>
          <p:cNvSpPr>
            <a:spLocks noGrp="1"/>
          </p:cNvSpPr>
          <p:nvPr>
            <p:ph type="title"/>
          </p:nvPr>
        </p:nvSpPr>
        <p:spPr>
          <a:xfrm>
            <a:off x="1143540" y="0"/>
            <a:ext cx="10464800" cy="2438400"/>
          </a:xfrm>
        </p:spPr>
        <p:txBody>
          <a:bodyPr/>
          <a:lstStyle/>
          <a:p>
            <a:r>
              <a:rPr lang="en-US" dirty="0"/>
              <a:t>The transport layer protocols are two: UDP and TCP</a:t>
            </a:r>
          </a:p>
        </p:txBody>
      </p:sp>
      <p:sp>
        <p:nvSpPr>
          <p:cNvPr id="3" name="Text Placeholder 2">
            <a:extLst>
              <a:ext uri="{FF2B5EF4-FFF2-40B4-BE49-F238E27FC236}">
                <a16:creationId xmlns:a16="http://schemas.microsoft.com/office/drawing/2014/main" id="{6F1A3736-8F31-095E-8EF8-19AB03E9DD09}"/>
              </a:ext>
            </a:extLst>
          </p:cNvPr>
          <p:cNvSpPr>
            <a:spLocks noGrp="1"/>
          </p:cNvSpPr>
          <p:nvPr>
            <p:ph type="body" idx="1"/>
          </p:nvPr>
        </p:nvSpPr>
        <p:spPr>
          <a:xfrm>
            <a:off x="522591" y="2438400"/>
            <a:ext cx="11959618" cy="6978515"/>
          </a:xfrm>
        </p:spPr>
        <p:txBody>
          <a:bodyPr/>
          <a:lstStyle/>
          <a:p>
            <a:pPr marL="317500" indent="0">
              <a:buNone/>
            </a:pPr>
            <a:r>
              <a:rPr lang="en-US" b="1" dirty="0"/>
              <a:t>UDP  (</a:t>
            </a:r>
            <a:r>
              <a:rPr lang="en-US" dirty="0"/>
              <a:t>“User Datagram Protocol”)</a:t>
            </a:r>
          </a:p>
          <a:p>
            <a:r>
              <a:rPr lang="en-US" dirty="0"/>
              <a:t>The minimalist one, it delegates all problems it can to the application</a:t>
            </a:r>
          </a:p>
          <a:p>
            <a:pPr marL="317500" indent="0">
              <a:buNone/>
            </a:pPr>
            <a:r>
              <a:rPr lang="en-US" b="1" dirty="0"/>
              <a:t>TCP</a:t>
            </a:r>
            <a:r>
              <a:rPr lang="en-US" dirty="0"/>
              <a:t> (“Transmission Control Protocol”)</a:t>
            </a:r>
          </a:p>
          <a:p>
            <a:r>
              <a:rPr lang="en-US" dirty="0"/>
              <a:t>Takes care of many network issues, so you don’t have to</a:t>
            </a:r>
          </a:p>
          <a:p>
            <a:r>
              <a:rPr lang="en-US" dirty="0"/>
              <a:t>Available in many, many variants (we will see two)</a:t>
            </a:r>
          </a:p>
        </p:txBody>
      </p:sp>
    </p:spTree>
    <p:extLst>
      <p:ext uri="{BB962C8B-B14F-4D97-AF65-F5344CB8AC3E}">
        <p14:creationId xmlns:p14="http://schemas.microsoft.com/office/powerpoint/2010/main" val="3691191670"/>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7" name="Outline"/>
          <p:cNvSpPr txBox="1">
            <a:spLocks noGrp="1"/>
          </p:cNvSpPr>
          <p:nvPr>
            <p:ph type="title"/>
          </p:nvPr>
        </p:nvSpPr>
        <p:spPr>
          <a:xfrm>
            <a:off x="0" y="33162"/>
            <a:ext cx="12944474" cy="2438400"/>
          </a:xfrm>
          <a:prstGeom prst="rect">
            <a:avLst/>
          </a:prstGeom>
        </p:spPr>
        <p:txBody>
          <a:bodyPr/>
          <a:lstStyle/>
          <a:p>
            <a:r>
              <a:rPr lang="fr-CH" dirty="0" err="1"/>
              <a:t>Then</a:t>
            </a:r>
            <a:r>
              <a:rPr lang="fr-CH" dirty="0"/>
              <a:t>, </a:t>
            </a:r>
            <a:r>
              <a:rPr lang="fr-CH" dirty="0" err="1"/>
              <a:t>what</a:t>
            </a:r>
            <a:r>
              <a:rPr lang="fr-CH" dirty="0"/>
              <a:t> are the </a:t>
            </a:r>
            <a:r>
              <a:rPr lang="fr-CH" dirty="0" err="1"/>
              <a:t>functions</a:t>
            </a:r>
            <a:r>
              <a:rPr lang="fr-CH" dirty="0"/>
              <a:t> of the transport layer?</a:t>
            </a:r>
            <a:endParaRPr dirty="0"/>
          </a:p>
        </p:txBody>
      </p:sp>
      <p:sp>
        <p:nvSpPr>
          <p:cNvPr id="68" name="Process-to-process communication…"/>
          <p:cNvSpPr txBox="1">
            <a:spLocks noGrp="1"/>
          </p:cNvSpPr>
          <p:nvPr>
            <p:ph type="body" idx="1"/>
          </p:nvPr>
        </p:nvSpPr>
        <p:spPr>
          <a:xfrm>
            <a:off x="25534" y="3024480"/>
            <a:ext cx="12134716" cy="6729120"/>
          </a:xfrm>
          <a:prstGeom prst="rect">
            <a:avLst/>
          </a:prstGeom>
        </p:spPr>
        <p:txBody>
          <a:bodyPr anchor="t"/>
          <a:lstStyle/>
          <a:p>
            <a:pPr>
              <a:spcBef>
                <a:spcPts val="500"/>
              </a:spcBef>
            </a:pPr>
            <a:r>
              <a:rPr b="1" dirty="0"/>
              <a:t>Process-to-process communication</a:t>
            </a:r>
          </a:p>
          <a:p>
            <a:pPr lvl="1">
              <a:spcBef>
                <a:spcPts val="500"/>
              </a:spcBef>
            </a:pPr>
            <a:r>
              <a:rPr lang="fr-CH" dirty="0" err="1"/>
              <a:t>We’ll</a:t>
            </a:r>
            <a:r>
              <a:rPr lang="fr-CH" dirty="0"/>
              <a:t> </a:t>
            </a:r>
            <a:r>
              <a:rPr lang="fr-CH" dirty="0" err="1"/>
              <a:t>see</a:t>
            </a:r>
            <a:r>
              <a:rPr lang="fr-CH" dirty="0"/>
              <a:t> how </a:t>
            </a:r>
            <a:r>
              <a:rPr lang="fr-CH" dirty="0" err="1"/>
              <a:t>it</a:t>
            </a:r>
            <a:r>
              <a:rPr lang="fr-CH" dirty="0"/>
              <a:t> </a:t>
            </a:r>
            <a:r>
              <a:rPr lang="fr-CH" dirty="0" err="1"/>
              <a:t>is</a:t>
            </a:r>
            <a:r>
              <a:rPr lang="fr-CH" dirty="0"/>
              <a:t> </a:t>
            </a:r>
            <a:r>
              <a:rPr lang="fr-CH" dirty="0" err="1"/>
              <a:t>implemented</a:t>
            </a:r>
            <a:r>
              <a:rPr lang="fr-CH" dirty="0"/>
              <a:t> in </a:t>
            </a:r>
            <a:r>
              <a:rPr dirty="0"/>
              <a:t>UDP</a:t>
            </a:r>
            <a:r>
              <a:rPr lang="fr-CH" dirty="0"/>
              <a:t> and </a:t>
            </a:r>
            <a:r>
              <a:rPr dirty="0"/>
              <a:t>TCP</a:t>
            </a:r>
            <a:endParaRPr lang="fr-CH" dirty="0"/>
          </a:p>
          <a:p>
            <a:pPr lvl="1">
              <a:spcBef>
                <a:spcPts val="500"/>
              </a:spcBef>
            </a:pPr>
            <a:endParaRPr dirty="0"/>
          </a:p>
          <a:p>
            <a:pPr>
              <a:spcBef>
                <a:spcPts val="500"/>
              </a:spcBef>
            </a:pPr>
            <a:r>
              <a:rPr b="1" dirty="0"/>
              <a:t>Reliable data delivery</a:t>
            </a:r>
            <a:r>
              <a:rPr lang="fr-CH" b="1" dirty="0"/>
              <a:t>: </a:t>
            </a:r>
            <a:r>
              <a:rPr lang="en-US" dirty="0"/>
              <a:t>Offering to the application layer the </a:t>
            </a:r>
            <a:r>
              <a:rPr lang="en-US" i="1" dirty="0"/>
              <a:t>illusion</a:t>
            </a:r>
            <a:r>
              <a:rPr lang="en-US" dirty="0"/>
              <a:t> of a reliable network</a:t>
            </a:r>
            <a:endParaRPr b="1" dirty="0"/>
          </a:p>
          <a:p>
            <a:pPr lvl="1">
              <a:spcBef>
                <a:spcPts val="500"/>
              </a:spcBef>
            </a:pPr>
            <a:r>
              <a:rPr lang="fr-CH" dirty="0"/>
              <a:t>First, the base </a:t>
            </a:r>
            <a:r>
              <a:rPr lang="fr-CH" dirty="0" err="1"/>
              <a:t>mechanisms</a:t>
            </a:r>
            <a:r>
              <a:rPr lang="fr-CH" dirty="0"/>
              <a:t>, on an i</a:t>
            </a:r>
            <a:r>
              <a:rPr dirty="0" err="1"/>
              <a:t>maginary</a:t>
            </a:r>
            <a:r>
              <a:rPr dirty="0"/>
              <a:t> protocol</a:t>
            </a:r>
          </a:p>
          <a:p>
            <a:pPr lvl="1">
              <a:spcBef>
                <a:spcPts val="500"/>
              </a:spcBef>
            </a:pPr>
            <a:r>
              <a:rPr lang="fr-CH" dirty="0"/>
              <a:t>And </a:t>
            </a:r>
            <a:r>
              <a:rPr lang="fr-CH" dirty="0" err="1"/>
              <a:t>then</a:t>
            </a:r>
            <a:r>
              <a:rPr lang="fr-CH" dirty="0"/>
              <a:t>, </a:t>
            </a:r>
            <a:r>
              <a:rPr lang="fr-CH" dirty="0" err="1"/>
              <a:t>their</a:t>
            </a:r>
            <a:r>
              <a:rPr lang="fr-CH" dirty="0"/>
              <a:t> </a:t>
            </a:r>
            <a:r>
              <a:rPr lang="fr-CH" dirty="0" err="1"/>
              <a:t>implementations</a:t>
            </a:r>
            <a:r>
              <a:rPr lang="fr-CH" dirty="0"/>
              <a:t> in </a:t>
            </a:r>
            <a:r>
              <a:rPr dirty="0"/>
              <a:t>UDP</a:t>
            </a:r>
            <a:r>
              <a:rPr lang="fr-CH" dirty="0"/>
              <a:t> and </a:t>
            </a:r>
            <a:r>
              <a:rPr dirty="0"/>
              <a:t>TCP</a:t>
            </a:r>
          </a:p>
        </p:txBody>
      </p:sp>
      <p:sp>
        <p:nvSpPr>
          <p:cNvPr id="69" name="Slide Number"/>
          <p:cNvSpPr txBox="1">
            <a:spLocks noGrp="1"/>
          </p:cNvSpPr>
          <p:nvPr>
            <p:ph type="sldNum" sz="quarter" idx="2"/>
          </p:nvPr>
        </p:nvSpPr>
        <p:spPr>
          <a:xfrm>
            <a:off x="11931649" y="9001311"/>
            <a:ext cx="228601" cy="358590"/>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9</a:t>
            </a:fld>
            <a:endParaRPr/>
          </a:p>
        </p:txBody>
      </p:sp>
      <p:pic>
        <p:nvPicPr>
          <p:cNvPr id="4098" name="Picture 2" descr="Mon carnet de voyage avec le Life Journal Kraft ! – Le Blog Quo Vadis">
            <a:extLst>
              <a:ext uri="{FF2B5EF4-FFF2-40B4-BE49-F238E27FC236}">
                <a16:creationId xmlns:a16="http://schemas.microsoft.com/office/drawing/2014/main" id="{F5FCF895-A87F-EC6A-9263-201AA12DAB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26574" y="7886600"/>
            <a:ext cx="2619375" cy="17430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68">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68">
                                            <p:txEl>
                                              <p:pRg st="0" end="0"/>
                                            </p:txEl>
                                          </p:spTgt>
                                        </p:tgtEl>
                                        <p:attrNameLst>
                                          <p:attrName>style.visibility</p:attrName>
                                        </p:attrNameLst>
                                      </p:cBhvr>
                                      <p:to>
                                        <p:strVal val="visible"/>
                                      </p:to>
                                    </p:set>
                                  </p:childTnLst>
                                </p:cTn>
                              </p:par>
                              <p:par>
                                <p:cTn id="9" presetID="1" presetClass="entr" presetSubtype="0" fill="hold" grpId="1" nodeType="withEffect">
                                  <p:stCondLst>
                                    <p:cond delay="0"/>
                                  </p:stCondLst>
                                  <p:iterate>
                                    <p:tmAbs val="0"/>
                                  </p:iterate>
                                  <p:childTnLst>
                                    <p:set>
                                      <p:cBhvr>
                                        <p:cTn id="10" fill="hold"/>
                                        <p:tgtEl>
                                          <p:spTgt spid="6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1" nodeType="clickEffect">
                                  <p:stCondLst>
                                    <p:cond delay="0"/>
                                  </p:stCondLst>
                                  <p:iterate>
                                    <p:tmAbs val="0"/>
                                  </p:iterate>
                                  <p:childTnLst>
                                    <p:set>
                                      <p:cBhvr>
                                        <p:cTn id="14" fill="hold"/>
                                        <p:tgtEl>
                                          <p:spTgt spid="68">
                                            <p:txEl>
                                              <p:pRg st="3" end="3"/>
                                            </p:txEl>
                                          </p:spTgt>
                                        </p:tgtEl>
                                        <p:attrNameLst>
                                          <p:attrName>style.visibility</p:attrName>
                                        </p:attrNameLst>
                                      </p:cBhvr>
                                      <p:to>
                                        <p:strVal val="visible"/>
                                      </p:to>
                                    </p:set>
                                  </p:childTnLst>
                                </p:cTn>
                              </p:par>
                              <p:par>
                                <p:cTn id="15" presetID="1" presetClass="entr" presetSubtype="0" fill="hold" grpId="1" nodeType="withEffect">
                                  <p:stCondLst>
                                    <p:cond delay="0"/>
                                  </p:stCondLst>
                                  <p:iterate>
                                    <p:tmAbs val="0"/>
                                  </p:iterate>
                                  <p:childTnLst>
                                    <p:set>
                                      <p:cBhvr>
                                        <p:cTn id="16" fill="hold"/>
                                        <p:tgtEl>
                                          <p:spTgt spid="68">
                                            <p:txEl>
                                              <p:pRg st="4" end="4"/>
                                            </p:txEl>
                                          </p:spTgt>
                                        </p:tgtEl>
                                        <p:attrNameLst>
                                          <p:attrName>style.visibility</p:attrName>
                                        </p:attrNameLst>
                                      </p:cBhvr>
                                      <p:to>
                                        <p:strVal val="visible"/>
                                      </p:to>
                                    </p:set>
                                  </p:childTnLst>
                                </p:cTn>
                              </p:par>
                              <p:par>
                                <p:cTn id="17" presetID="1" presetClass="entr" presetSubtype="0" fill="hold" grpId="1" nodeType="withEffect">
                                  <p:stCondLst>
                                    <p:cond delay="0"/>
                                  </p:stCondLst>
                                  <p:iterate>
                                    <p:tmAbs val="0"/>
                                  </p:iterate>
                                  <p:childTnLst>
                                    <p:set>
                                      <p:cBhvr>
                                        <p:cTn id="18" fill="hold"/>
                                        <p:tgtEl>
                                          <p:spTgt spid="6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1" build="p" animBg="1" advAuto="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B38B1-099C-2BFE-A7E4-815A5946C2F5}"/>
              </a:ext>
            </a:extLst>
          </p:cNvPr>
          <p:cNvSpPr>
            <a:spLocks noGrp="1"/>
          </p:cNvSpPr>
          <p:nvPr>
            <p:ph type="title"/>
          </p:nvPr>
        </p:nvSpPr>
        <p:spPr>
          <a:xfrm>
            <a:off x="1007353" y="-446391"/>
            <a:ext cx="10464800" cy="2438400"/>
          </a:xfrm>
        </p:spPr>
        <p:txBody>
          <a:bodyPr/>
          <a:lstStyle/>
          <a:p>
            <a:r>
              <a:rPr lang="en-US" dirty="0"/>
              <a:t>Who invented them?</a:t>
            </a:r>
          </a:p>
        </p:txBody>
      </p:sp>
      <p:sp>
        <p:nvSpPr>
          <p:cNvPr id="3" name="Text Placeholder 2">
            <a:extLst>
              <a:ext uri="{FF2B5EF4-FFF2-40B4-BE49-F238E27FC236}">
                <a16:creationId xmlns:a16="http://schemas.microsoft.com/office/drawing/2014/main" id="{4D7E25A1-4BA6-B32A-E3CD-F1772B46F939}"/>
              </a:ext>
            </a:extLst>
          </p:cNvPr>
          <p:cNvSpPr>
            <a:spLocks noGrp="1"/>
          </p:cNvSpPr>
          <p:nvPr>
            <p:ph type="body" idx="1"/>
          </p:nvPr>
        </p:nvSpPr>
        <p:spPr>
          <a:xfrm>
            <a:off x="495570" y="1017621"/>
            <a:ext cx="11809919" cy="7523264"/>
          </a:xfrm>
        </p:spPr>
        <p:txBody>
          <a:bodyPr/>
          <a:lstStyle/>
          <a:p>
            <a:r>
              <a:rPr lang="en-US" dirty="0"/>
              <a:t>TCP came first (1974) by </a:t>
            </a:r>
            <a:r>
              <a:rPr lang="en-US" dirty="0" err="1"/>
              <a:t>Vint</a:t>
            </a:r>
            <a:r>
              <a:rPr lang="en-US" dirty="0"/>
              <a:t> Cerf and Bob Kahn</a:t>
            </a:r>
          </a:p>
          <a:p>
            <a:r>
              <a:rPr lang="en-US" dirty="0"/>
              <a:t>They wrote a Request For Comments (RFC) and posted it for getting feedback at the </a:t>
            </a:r>
            <a:r>
              <a:rPr lang="en-US" dirty="0">
                <a:hlinkClick r:id="rId2"/>
              </a:rPr>
              <a:t>Internet Engineering Task Force </a:t>
            </a:r>
            <a:r>
              <a:rPr lang="en-US" dirty="0"/>
              <a:t>(IETF)</a:t>
            </a:r>
          </a:p>
          <a:p>
            <a:pPr lvl="1"/>
            <a:r>
              <a:rPr lang="en-US" dirty="0"/>
              <a:t>IETF: The place where ideas and proposals about protocols are discussed and accepted as standards </a:t>
            </a:r>
          </a:p>
          <a:p>
            <a:pPr lvl="1"/>
            <a:r>
              <a:rPr lang="en-US" dirty="0"/>
              <a:t>See </a:t>
            </a:r>
            <a:r>
              <a:rPr lang="en-US" dirty="0">
                <a:hlinkClick r:id="rId3"/>
              </a:rPr>
              <a:t>RFC N.675</a:t>
            </a:r>
            <a:r>
              <a:rPr lang="en-US" dirty="0"/>
              <a:t> if you are curious</a:t>
            </a:r>
          </a:p>
        </p:txBody>
      </p:sp>
    </p:spTree>
    <p:extLst>
      <p:ext uri="{BB962C8B-B14F-4D97-AF65-F5344CB8AC3E}">
        <p14:creationId xmlns:p14="http://schemas.microsoft.com/office/powerpoint/2010/main" val="2474224928"/>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C379FE9-1F4B-4CF3-9A57-85E81DF71BBF}"/>
              </a:ext>
            </a:extLst>
          </p:cNvPr>
          <p:cNvSpPr>
            <a:spLocks noGrp="1"/>
          </p:cNvSpPr>
          <p:nvPr>
            <p:ph type="title"/>
          </p:nvPr>
        </p:nvSpPr>
        <p:spPr/>
        <p:txBody>
          <a:bodyPr/>
          <a:lstStyle/>
          <a:p>
            <a:r>
              <a:rPr lang="fr-CH" dirty="0"/>
              <a:t>Process-to-process communications</a:t>
            </a:r>
          </a:p>
        </p:txBody>
      </p:sp>
      <p:sp>
        <p:nvSpPr>
          <p:cNvPr id="5" name="Text Placeholder 4">
            <a:extLst>
              <a:ext uri="{FF2B5EF4-FFF2-40B4-BE49-F238E27FC236}">
                <a16:creationId xmlns:a16="http://schemas.microsoft.com/office/drawing/2014/main" id="{E7A00AA1-2C2B-4A05-B7E6-7826DD9D0E6E}"/>
              </a:ext>
            </a:extLst>
          </p:cNvPr>
          <p:cNvSpPr>
            <a:spLocks noGrp="1"/>
          </p:cNvSpPr>
          <p:nvPr>
            <p:ph type="body" sz="quarter" idx="1"/>
          </p:nvPr>
        </p:nvSpPr>
        <p:spPr/>
        <p:txBody>
          <a:bodyPr/>
          <a:lstStyle/>
          <a:p>
            <a:endParaRPr lang="fr-CH"/>
          </a:p>
        </p:txBody>
      </p:sp>
    </p:spTree>
    <p:extLst>
      <p:ext uri="{BB962C8B-B14F-4D97-AF65-F5344CB8AC3E}">
        <p14:creationId xmlns:p14="http://schemas.microsoft.com/office/powerpoint/2010/main" val="3713593875"/>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9" name="Slide Number"/>
          <p:cNvSpPr txBox="1">
            <a:spLocks noGrp="1"/>
          </p:cNvSpPr>
          <p:nvPr>
            <p:ph type="sldNum" sz="quarter" idx="2"/>
          </p:nvPr>
        </p:nvSpPr>
        <p:spPr>
          <a:xfrm>
            <a:off x="11715749" y="10218830"/>
            <a:ext cx="228601" cy="358590"/>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12</a:t>
            </a:fld>
            <a:endParaRPr/>
          </a:p>
        </p:txBody>
      </p:sp>
      <p:sp>
        <p:nvSpPr>
          <p:cNvPr id="80" name="App-layer message"/>
          <p:cNvSpPr/>
          <p:nvPr/>
        </p:nvSpPr>
        <p:spPr>
          <a:xfrm>
            <a:off x="4360215" y="6441632"/>
            <a:ext cx="8051801" cy="1981201"/>
          </a:xfrm>
          <a:prstGeom prst="rect">
            <a:avLst/>
          </a:prstGeom>
          <a:solidFill>
            <a:srgbClr val="942193"/>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defRPr sz="3200">
                <a:solidFill>
                  <a:srgbClr val="FFFFFF"/>
                </a:solidFill>
                <a:latin typeface="Courier"/>
                <a:ea typeface="Courier"/>
                <a:cs typeface="Courier"/>
                <a:sym typeface="Courier"/>
              </a:defRPr>
            </a:lvl1pPr>
          </a:lstStyle>
          <a:p>
            <a:r>
              <a:t>App-layer message</a:t>
            </a:r>
          </a:p>
        </p:txBody>
      </p:sp>
      <p:sp>
        <p:nvSpPr>
          <p:cNvPr id="81" name="Other transport-layer header fields"/>
          <p:cNvSpPr/>
          <p:nvPr/>
        </p:nvSpPr>
        <p:spPr>
          <a:xfrm>
            <a:off x="4360215" y="5590732"/>
            <a:ext cx="8051801" cy="749301"/>
          </a:xfrm>
          <a:prstGeom prst="rect">
            <a:avLst/>
          </a:prstGeom>
          <a:solidFill>
            <a:srgbClr val="942193"/>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defRPr sz="2800">
                <a:solidFill>
                  <a:srgbClr val="FFFFFF"/>
                </a:solidFill>
                <a:latin typeface="Courier"/>
                <a:ea typeface="Courier"/>
                <a:cs typeface="Courier"/>
                <a:sym typeface="Courier"/>
              </a:defRPr>
            </a:lvl1pPr>
          </a:lstStyle>
          <a:p>
            <a:r>
              <a:t>Other transport-layer header fields</a:t>
            </a:r>
          </a:p>
        </p:txBody>
      </p:sp>
      <p:sp>
        <p:nvSpPr>
          <p:cNvPr id="82" name="Source port #"/>
          <p:cNvSpPr/>
          <p:nvPr/>
        </p:nvSpPr>
        <p:spPr>
          <a:xfrm>
            <a:off x="4360215" y="4739832"/>
            <a:ext cx="4076701" cy="749301"/>
          </a:xfrm>
          <a:prstGeom prst="rect">
            <a:avLst/>
          </a:prstGeom>
          <a:solidFill>
            <a:srgbClr val="942193"/>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defRPr sz="3200">
                <a:solidFill>
                  <a:srgbClr val="FFFFFF"/>
                </a:solidFill>
                <a:latin typeface="Courier"/>
                <a:ea typeface="Courier"/>
                <a:cs typeface="Courier"/>
                <a:sym typeface="Courier"/>
              </a:defRPr>
            </a:lvl1pPr>
          </a:lstStyle>
          <a:p>
            <a:r>
              <a:t>Source port #</a:t>
            </a:r>
          </a:p>
        </p:txBody>
      </p:sp>
      <p:sp>
        <p:nvSpPr>
          <p:cNvPr id="83" name="Dest. port #"/>
          <p:cNvSpPr/>
          <p:nvPr/>
        </p:nvSpPr>
        <p:spPr>
          <a:xfrm>
            <a:off x="8525815" y="4739832"/>
            <a:ext cx="3886201" cy="749301"/>
          </a:xfrm>
          <a:prstGeom prst="rect">
            <a:avLst/>
          </a:prstGeom>
          <a:solidFill>
            <a:srgbClr val="942193"/>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defRPr sz="3200">
                <a:solidFill>
                  <a:srgbClr val="FFFFFF"/>
                </a:solidFill>
                <a:latin typeface="Courier"/>
                <a:ea typeface="Courier"/>
                <a:cs typeface="Courier"/>
                <a:sym typeface="Courier"/>
              </a:defRPr>
            </a:lvl1pPr>
          </a:lstStyle>
          <a:p>
            <a:r>
              <a:t>Dest. port #</a:t>
            </a:r>
          </a:p>
        </p:txBody>
      </p:sp>
      <p:sp>
        <p:nvSpPr>
          <p:cNvPr id="84" name="Other network-layer header fields"/>
          <p:cNvSpPr/>
          <p:nvPr/>
        </p:nvSpPr>
        <p:spPr>
          <a:xfrm>
            <a:off x="4360215" y="3888932"/>
            <a:ext cx="8051801" cy="749301"/>
          </a:xfrm>
          <a:prstGeom prst="rect">
            <a:avLst/>
          </a:prstGeom>
          <a:solidFill>
            <a:srgbClr val="942193"/>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defRPr sz="2800">
                <a:solidFill>
                  <a:srgbClr val="FFFFFF"/>
                </a:solidFill>
                <a:latin typeface="Courier"/>
                <a:ea typeface="Courier"/>
                <a:cs typeface="Courier"/>
                <a:sym typeface="Courier"/>
              </a:defRPr>
            </a:lvl1pPr>
          </a:lstStyle>
          <a:p>
            <a:r>
              <a:t>Other network-layer header fields</a:t>
            </a:r>
          </a:p>
        </p:txBody>
      </p:sp>
      <p:sp>
        <p:nvSpPr>
          <p:cNvPr id="85" name="Source IP address"/>
          <p:cNvSpPr/>
          <p:nvPr/>
        </p:nvSpPr>
        <p:spPr>
          <a:xfrm>
            <a:off x="4360215" y="2187132"/>
            <a:ext cx="8051801" cy="749301"/>
          </a:xfrm>
          <a:prstGeom prst="rect">
            <a:avLst/>
          </a:prstGeom>
          <a:solidFill>
            <a:srgbClr val="942193"/>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defRPr sz="3200">
                <a:solidFill>
                  <a:srgbClr val="FFFFFF"/>
                </a:solidFill>
                <a:latin typeface="Courier"/>
                <a:ea typeface="Courier"/>
                <a:cs typeface="Courier"/>
                <a:sym typeface="Courier"/>
              </a:defRPr>
            </a:lvl1pPr>
          </a:lstStyle>
          <a:p>
            <a:r>
              <a:t>Source IP address</a:t>
            </a:r>
          </a:p>
        </p:txBody>
      </p:sp>
      <p:sp>
        <p:nvSpPr>
          <p:cNvPr id="86" name="Dest. IP address"/>
          <p:cNvSpPr/>
          <p:nvPr/>
        </p:nvSpPr>
        <p:spPr>
          <a:xfrm>
            <a:off x="4360215" y="3038032"/>
            <a:ext cx="8051801" cy="749301"/>
          </a:xfrm>
          <a:prstGeom prst="rect">
            <a:avLst/>
          </a:prstGeom>
          <a:solidFill>
            <a:srgbClr val="942193"/>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defRPr sz="3200">
                <a:solidFill>
                  <a:srgbClr val="FFFFFF"/>
                </a:solidFill>
                <a:latin typeface="Courier"/>
                <a:ea typeface="Courier"/>
                <a:cs typeface="Courier"/>
                <a:sym typeface="Courier"/>
              </a:defRPr>
            </a:lvl1pPr>
          </a:lstStyle>
          <a:p>
            <a:r>
              <a:t>Dest. IP address</a:t>
            </a:r>
          </a:p>
        </p:txBody>
      </p:sp>
      <p:sp>
        <p:nvSpPr>
          <p:cNvPr id="87" name="Network-layer header"/>
          <p:cNvSpPr/>
          <p:nvPr/>
        </p:nvSpPr>
        <p:spPr>
          <a:xfrm>
            <a:off x="830738" y="2527218"/>
            <a:ext cx="3530601" cy="16439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lvl1pPr>
              <a:defRPr>
                <a:solidFill>
                  <a:srgbClr val="424242"/>
                </a:solidFill>
                <a:latin typeface="+mn-lt"/>
                <a:ea typeface="+mn-ea"/>
                <a:cs typeface="+mn-cs"/>
                <a:sym typeface="Chalkboard SE Regular"/>
              </a:defRPr>
            </a:lvl1pPr>
          </a:lstStyle>
          <a:p>
            <a:r>
              <a:t>Network-layer header</a:t>
            </a:r>
          </a:p>
        </p:txBody>
      </p:sp>
      <p:sp>
        <p:nvSpPr>
          <p:cNvPr id="88" name="Rounded Rectangle"/>
          <p:cNvSpPr/>
          <p:nvPr/>
        </p:nvSpPr>
        <p:spPr>
          <a:xfrm>
            <a:off x="524815" y="2136332"/>
            <a:ext cx="12141201" cy="2552701"/>
          </a:xfrm>
          <a:prstGeom prst="roundRect">
            <a:avLst>
              <a:gd name="adj" fmla="val 7463"/>
            </a:avLst>
          </a:prstGeom>
          <a:ln w="50800">
            <a:solidFill>
              <a:srgbClr val="424242"/>
            </a:solidFill>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89" name="Transport-layer header"/>
          <p:cNvSpPr/>
          <p:nvPr/>
        </p:nvSpPr>
        <p:spPr>
          <a:xfrm>
            <a:off x="651815" y="4711618"/>
            <a:ext cx="3619501" cy="16439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lvl1pPr>
              <a:defRPr>
                <a:solidFill>
                  <a:srgbClr val="424242"/>
                </a:solidFill>
                <a:latin typeface="+mn-lt"/>
                <a:ea typeface="+mn-ea"/>
                <a:cs typeface="+mn-cs"/>
                <a:sym typeface="Chalkboard SE Regular"/>
              </a:defRPr>
            </a:lvl1pPr>
          </a:lstStyle>
          <a:p>
            <a:r>
              <a:t>Transport-layer header</a:t>
            </a:r>
          </a:p>
        </p:txBody>
      </p:sp>
      <p:sp>
        <p:nvSpPr>
          <p:cNvPr id="90" name="Rounded Rectangle"/>
          <p:cNvSpPr/>
          <p:nvPr/>
        </p:nvSpPr>
        <p:spPr>
          <a:xfrm>
            <a:off x="524815" y="4689032"/>
            <a:ext cx="12141201" cy="1689101"/>
          </a:xfrm>
          <a:prstGeom prst="roundRect">
            <a:avLst>
              <a:gd name="adj" fmla="val 11278"/>
            </a:avLst>
          </a:prstGeom>
          <a:ln w="50800">
            <a:solidFill>
              <a:srgbClr val="424242"/>
            </a:solidFill>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grpSp>
        <p:nvGrpSpPr>
          <p:cNvPr id="93" name="Group"/>
          <p:cNvGrpSpPr/>
          <p:nvPr/>
        </p:nvGrpSpPr>
        <p:grpSpPr>
          <a:xfrm>
            <a:off x="4248614" y="4689032"/>
            <a:ext cx="8417402" cy="4412591"/>
            <a:chOff x="0" y="0"/>
            <a:chExt cx="8417400" cy="4412589"/>
          </a:xfrm>
        </p:grpSpPr>
        <p:sp>
          <p:nvSpPr>
            <p:cNvPr id="91" name="segment"/>
            <p:cNvSpPr txBox="1"/>
            <p:nvPr/>
          </p:nvSpPr>
          <p:spPr>
            <a:xfrm>
              <a:off x="121894" y="3543362"/>
              <a:ext cx="2088765" cy="86922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defRPr>
                  <a:solidFill>
                    <a:srgbClr val="FFD479"/>
                  </a:solidFill>
                  <a:latin typeface="+mn-lt"/>
                  <a:ea typeface="+mn-ea"/>
                  <a:cs typeface="+mn-cs"/>
                  <a:sym typeface="Chalkboard SE Regular"/>
                </a:defRPr>
              </a:lvl1pPr>
            </a:lstStyle>
            <a:p>
              <a:r>
                <a:t>segment</a:t>
              </a:r>
            </a:p>
          </p:txBody>
        </p:sp>
        <p:sp>
          <p:nvSpPr>
            <p:cNvPr id="92" name="Rounded Rectangle"/>
            <p:cNvSpPr/>
            <p:nvPr/>
          </p:nvSpPr>
          <p:spPr>
            <a:xfrm>
              <a:off x="0" y="0"/>
              <a:ext cx="8417401" cy="3815045"/>
            </a:xfrm>
            <a:prstGeom prst="roundRect">
              <a:avLst>
                <a:gd name="adj" fmla="val 4993"/>
              </a:avLst>
            </a:prstGeom>
            <a:noFill/>
            <a:ln w="50800" cap="flat">
              <a:solidFill>
                <a:srgbClr val="FFD479"/>
              </a:solidFill>
              <a:prstDash val="solid"/>
              <a:miter lim="400000"/>
            </a:ln>
            <a:effectLst/>
          </p:spPr>
          <p:txBody>
            <a:bodyPr wrap="square" lIns="50800" tIns="50800" rIns="50800" bIns="50800" numCol="1" anchor="ctr">
              <a:noAutofit/>
            </a:bodyPr>
            <a:lstStyle/>
            <a:p>
              <a:pPr>
                <a:defRPr sz="4000">
                  <a:solidFill>
                    <a:srgbClr val="FFFFFF"/>
                  </a:solidFill>
                  <a:effectLst>
                    <a:outerShdw blurRad="38100" dist="12700" dir="5400000" rotWithShape="0">
                      <a:srgbClr val="000000">
                        <a:alpha val="50000"/>
                      </a:srgbClr>
                    </a:outerShdw>
                  </a:effectLst>
                </a:defRPr>
              </a:pPr>
              <a:endParaRPr/>
            </a:p>
          </p:txBody>
        </p:sp>
      </p:grpSp>
      <p:grpSp>
        <p:nvGrpSpPr>
          <p:cNvPr id="96" name="Group"/>
          <p:cNvGrpSpPr/>
          <p:nvPr/>
        </p:nvGrpSpPr>
        <p:grpSpPr>
          <a:xfrm>
            <a:off x="4173609" y="2051946"/>
            <a:ext cx="8619407" cy="8617992"/>
            <a:chOff x="0" y="0"/>
            <a:chExt cx="8619405" cy="8617991"/>
          </a:xfrm>
        </p:grpSpPr>
        <p:sp>
          <p:nvSpPr>
            <p:cNvPr id="94" name="datagram"/>
            <p:cNvSpPr/>
            <p:nvPr/>
          </p:nvSpPr>
          <p:spPr>
            <a:xfrm>
              <a:off x="1263937" y="7347991"/>
              <a:ext cx="1270001" cy="1270001"/>
            </a:xfrm>
            <a:prstGeom prst="line">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numCol="1" anchor="ctr">
              <a:spAutoFit/>
            </a:bodyPr>
            <a:lstStyle>
              <a:lvl1pPr>
                <a:defRPr>
                  <a:solidFill>
                    <a:srgbClr val="FF8AD8"/>
                  </a:solidFill>
                  <a:latin typeface="+mn-lt"/>
                  <a:ea typeface="+mn-ea"/>
                  <a:cs typeface="+mn-cs"/>
                  <a:sym typeface="Chalkboard SE Regular"/>
                </a:defRPr>
              </a:lvl1pPr>
            </a:lstStyle>
            <a:p>
              <a:r>
                <a:t>datagram</a:t>
              </a:r>
            </a:p>
          </p:txBody>
        </p:sp>
        <p:sp>
          <p:nvSpPr>
            <p:cNvPr id="95" name="Rounded Rectangle"/>
            <p:cNvSpPr/>
            <p:nvPr/>
          </p:nvSpPr>
          <p:spPr>
            <a:xfrm>
              <a:off x="0" y="0"/>
              <a:ext cx="8619406" cy="7113372"/>
            </a:xfrm>
            <a:prstGeom prst="roundRect">
              <a:avLst>
                <a:gd name="adj" fmla="val 2718"/>
              </a:avLst>
            </a:prstGeom>
            <a:noFill/>
            <a:ln w="50800" cap="flat">
              <a:solidFill>
                <a:srgbClr val="FF8AD8"/>
              </a:solidFill>
              <a:prstDash val="solid"/>
              <a:miter lim="400000"/>
            </a:ln>
            <a:effectLst/>
          </p:spPr>
          <p:txBody>
            <a:bodyPr wrap="square" lIns="50800" tIns="50800" rIns="50800" bIns="50800" numCol="1" anchor="ctr">
              <a:noAutofit/>
            </a:bodyPr>
            <a:lstStyle/>
            <a:p>
              <a:pPr>
                <a:defRPr sz="4000">
                  <a:solidFill>
                    <a:srgbClr val="FFFFFF"/>
                  </a:solidFill>
                  <a:effectLst>
                    <a:outerShdw blurRad="38100" dist="12700" dir="5400000" rotWithShape="0">
                      <a:srgbClr val="000000">
                        <a:alpha val="50000"/>
                      </a:srgbClr>
                    </a:outerShdw>
                  </a:effectLst>
                </a:defRPr>
              </a:pPr>
              <a:endParaRPr/>
            </a:p>
          </p:txBody>
        </p:sp>
      </p:grpSp>
      <p:sp>
        <p:nvSpPr>
          <p:cNvPr id="20" name="Outline">
            <a:extLst>
              <a:ext uri="{FF2B5EF4-FFF2-40B4-BE49-F238E27FC236}">
                <a16:creationId xmlns:a16="http://schemas.microsoft.com/office/drawing/2014/main" id="{F2DC701B-E697-4D35-97BD-B7DAAFE70C6A}"/>
              </a:ext>
            </a:extLst>
          </p:cNvPr>
          <p:cNvSpPr txBox="1">
            <a:spLocks/>
          </p:cNvSpPr>
          <p:nvPr/>
        </p:nvSpPr>
        <p:spPr>
          <a:xfrm>
            <a:off x="-588783" y="205933"/>
            <a:ext cx="14182366" cy="2438400"/>
          </a:xfrm>
          <a:prstGeom prst="rect">
            <a:avLst/>
          </a:prstGeom>
        </p:spPr>
        <p:txBody>
          <a:bodyPr/>
          <a:lstStyle>
            <a:lvl1pPr marL="0" marR="0" indent="0" algn="ctr" defTabSz="584200" rtl="0" latinLnBrk="0">
              <a:lnSpc>
                <a:spcPct val="100000"/>
              </a:lnSpc>
              <a:spcBef>
                <a:spcPts val="0"/>
              </a:spcBef>
              <a:spcAft>
                <a:spcPts val="0"/>
              </a:spcAft>
              <a:buClrTx/>
              <a:buSzTx/>
              <a:buFontTx/>
              <a:buNone/>
              <a:tabLst/>
              <a:defRPr sz="8400" b="0" i="0" u="none" strike="noStrike" cap="none" spc="0" baseline="0">
                <a:solidFill>
                  <a:srgbClr val="424242"/>
                </a:solidFill>
                <a:uFillTx/>
                <a:latin typeface="+mn-lt"/>
                <a:ea typeface="+mn-ea"/>
                <a:cs typeface="+mn-cs"/>
                <a:sym typeface="Chalkboard SE Regular"/>
              </a:defRPr>
            </a:lvl1pPr>
            <a:lvl2pPr marL="0" marR="0" indent="0" algn="ctr" defTabSz="584200" rtl="0" latinLnBrk="0">
              <a:lnSpc>
                <a:spcPct val="100000"/>
              </a:lnSpc>
              <a:spcBef>
                <a:spcPts val="0"/>
              </a:spcBef>
              <a:spcAft>
                <a:spcPts val="0"/>
              </a:spcAft>
              <a:buClrTx/>
              <a:buSzTx/>
              <a:buFontTx/>
              <a:buNone/>
              <a:tabLst/>
              <a:defRPr sz="8400" b="0" i="0" u="none" strike="noStrike" cap="none" spc="0" baseline="0">
                <a:solidFill>
                  <a:srgbClr val="424242"/>
                </a:solidFill>
                <a:uFillTx/>
                <a:latin typeface="+mn-lt"/>
                <a:ea typeface="+mn-ea"/>
                <a:cs typeface="+mn-cs"/>
                <a:sym typeface="Chalkboard SE Regular"/>
              </a:defRPr>
            </a:lvl2pPr>
            <a:lvl3pPr marL="0" marR="0" indent="0" algn="ctr" defTabSz="584200" rtl="0" latinLnBrk="0">
              <a:lnSpc>
                <a:spcPct val="100000"/>
              </a:lnSpc>
              <a:spcBef>
                <a:spcPts val="0"/>
              </a:spcBef>
              <a:spcAft>
                <a:spcPts val="0"/>
              </a:spcAft>
              <a:buClrTx/>
              <a:buSzTx/>
              <a:buFontTx/>
              <a:buNone/>
              <a:tabLst/>
              <a:defRPr sz="8400" b="0" i="0" u="none" strike="noStrike" cap="none" spc="0" baseline="0">
                <a:solidFill>
                  <a:srgbClr val="424242"/>
                </a:solidFill>
                <a:uFillTx/>
                <a:latin typeface="+mn-lt"/>
                <a:ea typeface="+mn-ea"/>
                <a:cs typeface="+mn-cs"/>
                <a:sym typeface="Chalkboard SE Regular"/>
              </a:defRPr>
            </a:lvl3pPr>
            <a:lvl4pPr marL="0" marR="0" indent="0" algn="ctr" defTabSz="584200" rtl="0" latinLnBrk="0">
              <a:lnSpc>
                <a:spcPct val="100000"/>
              </a:lnSpc>
              <a:spcBef>
                <a:spcPts val="0"/>
              </a:spcBef>
              <a:spcAft>
                <a:spcPts val="0"/>
              </a:spcAft>
              <a:buClrTx/>
              <a:buSzTx/>
              <a:buFontTx/>
              <a:buNone/>
              <a:tabLst/>
              <a:defRPr sz="8400" b="0" i="0" u="none" strike="noStrike" cap="none" spc="0" baseline="0">
                <a:solidFill>
                  <a:srgbClr val="424242"/>
                </a:solidFill>
                <a:uFillTx/>
                <a:latin typeface="+mn-lt"/>
                <a:ea typeface="+mn-ea"/>
                <a:cs typeface="+mn-cs"/>
                <a:sym typeface="Chalkboard SE Regular"/>
              </a:defRPr>
            </a:lvl4pPr>
            <a:lvl5pPr marL="0" marR="0" indent="0" algn="ctr" defTabSz="584200" rtl="0" latinLnBrk="0">
              <a:lnSpc>
                <a:spcPct val="100000"/>
              </a:lnSpc>
              <a:spcBef>
                <a:spcPts val="0"/>
              </a:spcBef>
              <a:spcAft>
                <a:spcPts val="0"/>
              </a:spcAft>
              <a:buClrTx/>
              <a:buSzTx/>
              <a:buFontTx/>
              <a:buNone/>
              <a:tabLst/>
              <a:defRPr sz="8400" b="0" i="0" u="none" strike="noStrike" cap="none" spc="0" baseline="0">
                <a:solidFill>
                  <a:srgbClr val="424242"/>
                </a:solidFill>
                <a:uFillTx/>
                <a:latin typeface="+mn-lt"/>
                <a:ea typeface="+mn-ea"/>
                <a:cs typeface="+mn-cs"/>
                <a:sym typeface="Chalkboard SE Regular"/>
              </a:defRPr>
            </a:lvl5pPr>
            <a:lvl6pPr marL="0" marR="0" indent="0" algn="ctr" defTabSz="584200" rtl="0" latinLnBrk="0">
              <a:lnSpc>
                <a:spcPct val="100000"/>
              </a:lnSpc>
              <a:spcBef>
                <a:spcPts val="0"/>
              </a:spcBef>
              <a:spcAft>
                <a:spcPts val="0"/>
              </a:spcAft>
              <a:buClrTx/>
              <a:buSzTx/>
              <a:buFontTx/>
              <a:buNone/>
              <a:tabLst/>
              <a:defRPr sz="8400" b="0" i="0" u="none" strike="noStrike" cap="none" spc="0" baseline="0">
                <a:solidFill>
                  <a:srgbClr val="424242"/>
                </a:solidFill>
                <a:uFillTx/>
                <a:latin typeface="+mn-lt"/>
                <a:ea typeface="+mn-ea"/>
                <a:cs typeface="+mn-cs"/>
                <a:sym typeface="Chalkboard SE Regular"/>
              </a:defRPr>
            </a:lvl6pPr>
            <a:lvl7pPr marL="0" marR="0" indent="0" algn="ctr" defTabSz="584200" rtl="0" latinLnBrk="0">
              <a:lnSpc>
                <a:spcPct val="100000"/>
              </a:lnSpc>
              <a:spcBef>
                <a:spcPts val="0"/>
              </a:spcBef>
              <a:spcAft>
                <a:spcPts val="0"/>
              </a:spcAft>
              <a:buClrTx/>
              <a:buSzTx/>
              <a:buFontTx/>
              <a:buNone/>
              <a:tabLst/>
              <a:defRPr sz="8400" b="0" i="0" u="none" strike="noStrike" cap="none" spc="0" baseline="0">
                <a:solidFill>
                  <a:srgbClr val="424242"/>
                </a:solidFill>
                <a:uFillTx/>
                <a:latin typeface="+mn-lt"/>
                <a:ea typeface="+mn-ea"/>
                <a:cs typeface="+mn-cs"/>
                <a:sym typeface="Chalkboard SE Regular"/>
              </a:defRPr>
            </a:lvl7pPr>
            <a:lvl8pPr marL="0" marR="0" indent="0" algn="ctr" defTabSz="584200" rtl="0" latinLnBrk="0">
              <a:lnSpc>
                <a:spcPct val="100000"/>
              </a:lnSpc>
              <a:spcBef>
                <a:spcPts val="0"/>
              </a:spcBef>
              <a:spcAft>
                <a:spcPts val="0"/>
              </a:spcAft>
              <a:buClrTx/>
              <a:buSzTx/>
              <a:buFontTx/>
              <a:buNone/>
              <a:tabLst/>
              <a:defRPr sz="8400" b="0" i="0" u="none" strike="noStrike" cap="none" spc="0" baseline="0">
                <a:solidFill>
                  <a:srgbClr val="424242"/>
                </a:solidFill>
                <a:uFillTx/>
                <a:latin typeface="+mn-lt"/>
                <a:ea typeface="+mn-ea"/>
                <a:cs typeface="+mn-cs"/>
                <a:sym typeface="Chalkboard SE Regular"/>
              </a:defRPr>
            </a:lvl8pPr>
            <a:lvl9pPr marL="0" marR="0" indent="0" algn="ctr" defTabSz="584200" rtl="0" latinLnBrk="0">
              <a:lnSpc>
                <a:spcPct val="100000"/>
              </a:lnSpc>
              <a:spcBef>
                <a:spcPts val="0"/>
              </a:spcBef>
              <a:spcAft>
                <a:spcPts val="0"/>
              </a:spcAft>
              <a:buClrTx/>
              <a:buSzTx/>
              <a:buFontTx/>
              <a:buNone/>
              <a:tabLst/>
              <a:defRPr sz="8400" b="0" i="0" u="none" strike="noStrike" cap="none" spc="0" baseline="0">
                <a:solidFill>
                  <a:srgbClr val="424242"/>
                </a:solidFill>
                <a:uFillTx/>
                <a:latin typeface="+mn-lt"/>
                <a:ea typeface="+mn-ea"/>
                <a:cs typeface="+mn-cs"/>
                <a:sym typeface="Chalkboard SE Regular"/>
              </a:defRPr>
            </a:lvl9pPr>
          </a:lstStyle>
          <a:p>
            <a:pPr hangingPunct="1"/>
            <a:r>
              <a:rPr lang="en-US" sz="6600" dirty="0"/>
              <a:t>Structure of a typical Layer 3 packet</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8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2" nodeType="clickEffect">
                                  <p:stCondLst>
                                    <p:cond delay="0"/>
                                  </p:stCondLst>
                                  <p:iterate>
                                    <p:tmAbs val="0"/>
                                  </p:iterate>
                                  <p:childTnLst>
                                    <p:set>
                                      <p:cBhvr>
                                        <p:cTn id="10" fill="hold"/>
                                        <p:tgtEl>
                                          <p:spTgt spid="81"/>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grpId="3" nodeType="afterEffect">
                                  <p:stCondLst>
                                    <p:cond delay="0"/>
                                  </p:stCondLst>
                                  <p:iterate>
                                    <p:tmAbs val="0"/>
                                  </p:iterate>
                                  <p:childTnLst>
                                    <p:set>
                                      <p:cBhvr>
                                        <p:cTn id="13" fill="hold"/>
                                        <p:tgtEl>
                                          <p:spTgt spid="82"/>
                                        </p:tgtEl>
                                        <p:attrNameLst>
                                          <p:attrName>style.visibility</p:attrName>
                                        </p:attrNameLst>
                                      </p:cBhvr>
                                      <p:to>
                                        <p:strVal val="visible"/>
                                      </p:to>
                                    </p:set>
                                  </p:childTnLst>
                                </p:cTn>
                              </p:par>
                            </p:childTnLst>
                          </p:cTn>
                        </p:par>
                        <p:par>
                          <p:cTn id="14" fill="hold">
                            <p:stCondLst>
                              <p:cond delay="0"/>
                            </p:stCondLst>
                            <p:childTnLst>
                              <p:par>
                                <p:cTn id="15" presetID="1" presetClass="entr" presetSubtype="0" fill="hold" grpId="4" nodeType="afterEffect">
                                  <p:stCondLst>
                                    <p:cond delay="0"/>
                                  </p:stCondLst>
                                  <p:iterate>
                                    <p:tmAbs val="0"/>
                                  </p:iterate>
                                  <p:childTnLst>
                                    <p:set>
                                      <p:cBhvr>
                                        <p:cTn id="16" fill="hold"/>
                                        <p:tgtEl>
                                          <p:spTgt spid="8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5" nodeType="clickEffect">
                                  <p:stCondLst>
                                    <p:cond delay="0"/>
                                  </p:stCondLst>
                                  <p:iterate>
                                    <p:tmAbs val="0"/>
                                  </p:iterate>
                                  <p:childTnLst>
                                    <p:set>
                                      <p:cBhvr>
                                        <p:cTn id="20" fill="hold"/>
                                        <p:tgtEl>
                                          <p:spTgt spid="89"/>
                                        </p:tgtEl>
                                        <p:attrNameLst>
                                          <p:attrName>style.visibility</p:attrName>
                                        </p:attrNameLst>
                                      </p:cBhvr>
                                      <p:to>
                                        <p:strVal val="visible"/>
                                      </p:to>
                                    </p:set>
                                  </p:childTnLst>
                                </p:cTn>
                              </p:par>
                            </p:childTnLst>
                          </p:cTn>
                        </p:par>
                        <p:par>
                          <p:cTn id="21" fill="hold">
                            <p:stCondLst>
                              <p:cond delay="0"/>
                            </p:stCondLst>
                            <p:childTnLst>
                              <p:par>
                                <p:cTn id="22" presetID="1" presetClass="entr" presetSubtype="0" fill="hold" grpId="6" nodeType="afterEffect">
                                  <p:stCondLst>
                                    <p:cond delay="0"/>
                                  </p:stCondLst>
                                  <p:iterate>
                                    <p:tmAbs val="0"/>
                                  </p:iterate>
                                  <p:childTnLst>
                                    <p:set>
                                      <p:cBhvr>
                                        <p:cTn id="23" fill="hold"/>
                                        <p:tgtEl>
                                          <p:spTgt spid="90"/>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7" nodeType="clickEffect">
                                  <p:stCondLst>
                                    <p:cond delay="0"/>
                                  </p:stCondLst>
                                  <p:iterate>
                                    <p:tmAbs val="0"/>
                                  </p:iterate>
                                  <p:childTnLst>
                                    <p:set>
                                      <p:cBhvr>
                                        <p:cTn id="27" fill="hold"/>
                                        <p:tgtEl>
                                          <p:spTgt spid="84"/>
                                        </p:tgtEl>
                                        <p:attrNameLst>
                                          <p:attrName>style.visibility</p:attrName>
                                        </p:attrNameLst>
                                      </p:cBhvr>
                                      <p:to>
                                        <p:strVal val="visible"/>
                                      </p:to>
                                    </p:set>
                                  </p:childTnLst>
                                </p:cTn>
                              </p:par>
                            </p:childTnLst>
                          </p:cTn>
                        </p:par>
                        <p:par>
                          <p:cTn id="28" fill="hold">
                            <p:stCondLst>
                              <p:cond delay="0"/>
                            </p:stCondLst>
                            <p:childTnLst>
                              <p:par>
                                <p:cTn id="29" presetID="1" presetClass="entr" presetSubtype="0" fill="hold" grpId="8" nodeType="afterEffect">
                                  <p:stCondLst>
                                    <p:cond delay="0"/>
                                  </p:stCondLst>
                                  <p:iterate>
                                    <p:tmAbs val="0"/>
                                  </p:iterate>
                                  <p:childTnLst>
                                    <p:set>
                                      <p:cBhvr>
                                        <p:cTn id="30" fill="hold"/>
                                        <p:tgtEl>
                                          <p:spTgt spid="85"/>
                                        </p:tgtEl>
                                        <p:attrNameLst>
                                          <p:attrName>style.visibility</p:attrName>
                                        </p:attrNameLst>
                                      </p:cBhvr>
                                      <p:to>
                                        <p:strVal val="visible"/>
                                      </p:to>
                                    </p:set>
                                  </p:childTnLst>
                                </p:cTn>
                              </p:par>
                            </p:childTnLst>
                          </p:cTn>
                        </p:par>
                        <p:par>
                          <p:cTn id="31" fill="hold">
                            <p:stCondLst>
                              <p:cond delay="0"/>
                            </p:stCondLst>
                            <p:childTnLst>
                              <p:par>
                                <p:cTn id="32" presetID="1" presetClass="entr" presetSubtype="0" fill="hold" grpId="9" nodeType="afterEffect">
                                  <p:stCondLst>
                                    <p:cond delay="0"/>
                                  </p:stCondLst>
                                  <p:iterate>
                                    <p:tmAbs val="0"/>
                                  </p:iterate>
                                  <p:childTnLst>
                                    <p:set>
                                      <p:cBhvr>
                                        <p:cTn id="33" fill="hold"/>
                                        <p:tgtEl>
                                          <p:spTgt spid="86"/>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10" nodeType="clickEffect">
                                  <p:stCondLst>
                                    <p:cond delay="0"/>
                                  </p:stCondLst>
                                  <p:iterate>
                                    <p:tmAbs val="0"/>
                                  </p:iterate>
                                  <p:childTnLst>
                                    <p:set>
                                      <p:cBhvr>
                                        <p:cTn id="37" fill="hold"/>
                                        <p:tgtEl>
                                          <p:spTgt spid="87"/>
                                        </p:tgtEl>
                                        <p:attrNameLst>
                                          <p:attrName>style.visibility</p:attrName>
                                        </p:attrNameLst>
                                      </p:cBhvr>
                                      <p:to>
                                        <p:strVal val="visible"/>
                                      </p:to>
                                    </p:set>
                                  </p:childTnLst>
                                </p:cTn>
                              </p:par>
                            </p:childTnLst>
                          </p:cTn>
                        </p:par>
                        <p:par>
                          <p:cTn id="38" fill="hold">
                            <p:stCondLst>
                              <p:cond delay="0"/>
                            </p:stCondLst>
                            <p:childTnLst>
                              <p:par>
                                <p:cTn id="39" presetID="1" presetClass="entr" presetSubtype="0" fill="hold" grpId="11" nodeType="afterEffect">
                                  <p:stCondLst>
                                    <p:cond delay="0"/>
                                  </p:stCondLst>
                                  <p:iterate>
                                    <p:tmAbs val="0"/>
                                  </p:iterate>
                                  <p:childTnLst>
                                    <p:set>
                                      <p:cBhvr>
                                        <p:cTn id="40" fill="hold"/>
                                        <p:tgtEl>
                                          <p:spTgt spid="88"/>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xit" presetSubtype="0" fill="hold" grpId="12" nodeType="clickEffect">
                                  <p:stCondLst>
                                    <p:cond delay="0"/>
                                  </p:stCondLst>
                                  <p:iterate>
                                    <p:tmAbs val="0"/>
                                  </p:iterate>
                                  <p:childTnLst>
                                    <p:set>
                                      <p:cBhvr>
                                        <p:cTn id="44" fill="hold">
                                          <p:stCondLst>
                                            <p:cond delay="0"/>
                                          </p:stCondLst>
                                        </p:cTn>
                                        <p:tgtEl>
                                          <p:spTgt spid="81"/>
                                        </p:tgtEl>
                                        <p:attrNameLst>
                                          <p:attrName>style.visibility</p:attrName>
                                        </p:attrNameLst>
                                      </p:cBhvr>
                                      <p:to>
                                        <p:strVal val="hidden"/>
                                      </p:to>
                                    </p:set>
                                  </p:childTnLst>
                                </p:cTn>
                              </p:par>
                            </p:childTnLst>
                          </p:cTn>
                        </p:par>
                        <p:par>
                          <p:cTn id="45" fill="hold">
                            <p:stCondLst>
                              <p:cond delay="0"/>
                            </p:stCondLst>
                            <p:childTnLst>
                              <p:par>
                                <p:cTn id="46" presetID="1" presetClass="exit" presetSubtype="0" fill="hold" grpId="13" nodeType="afterEffect">
                                  <p:stCondLst>
                                    <p:cond delay="0"/>
                                  </p:stCondLst>
                                  <p:iterate>
                                    <p:tmAbs val="0"/>
                                  </p:iterate>
                                  <p:childTnLst>
                                    <p:set>
                                      <p:cBhvr>
                                        <p:cTn id="47" fill="hold">
                                          <p:stCondLst>
                                            <p:cond delay="0"/>
                                          </p:stCondLst>
                                        </p:cTn>
                                        <p:tgtEl>
                                          <p:spTgt spid="84"/>
                                        </p:tgtEl>
                                        <p:attrNameLst>
                                          <p:attrName>style.visibility</p:attrName>
                                        </p:attrNameLst>
                                      </p:cBhvr>
                                      <p:to>
                                        <p:strVal val="hidden"/>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14" nodeType="clickEffect">
                                  <p:stCondLst>
                                    <p:cond delay="0"/>
                                  </p:stCondLst>
                                  <p:iterate>
                                    <p:tmAbs val="0"/>
                                  </p:iterate>
                                  <p:childTnLst>
                                    <p:set>
                                      <p:cBhvr>
                                        <p:cTn id="51" fill="hold"/>
                                        <p:tgtEl>
                                          <p:spTgt spid="93"/>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15" nodeType="clickEffect">
                                  <p:stCondLst>
                                    <p:cond delay="0"/>
                                  </p:stCondLst>
                                  <p:iterate>
                                    <p:tmAbs val="0"/>
                                  </p:iterate>
                                  <p:childTnLst>
                                    <p:set>
                                      <p:cBhvr>
                                        <p:cTn id="55" fill="hold"/>
                                        <p:tgtEl>
                                          <p:spTgt spid="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1" animBg="1" advAuto="0"/>
      <p:bldP spid="81" grpId="2" animBg="1" advAuto="0"/>
      <p:bldP spid="81" grpId="12" animBg="1" advAuto="0"/>
      <p:bldP spid="82" grpId="3" animBg="1" advAuto="0"/>
      <p:bldP spid="83" grpId="4" animBg="1" advAuto="0"/>
      <p:bldP spid="84" grpId="7" animBg="1" advAuto="0"/>
      <p:bldP spid="84" grpId="13" animBg="1" advAuto="0"/>
      <p:bldP spid="85" grpId="8" animBg="1" advAuto="0"/>
      <p:bldP spid="86" grpId="9" animBg="1" advAuto="0"/>
      <p:bldP spid="87" grpId="10" animBg="1" advAuto="0"/>
      <p:bldP spid="88" grpId="11" animBg="1" advAuto="0"/>
      <p:bldP spid="89" grpId="5" animBg="1" advAuto="0"/>
      <p:bldP spid="90" grpId="6" animBg="1" advAuto="0"/>
      <p:bldP spid="93" grpId="14" animBg="1" advAuto="0"/>
      <p:bldP spid="96" grpId="15" animBg="1" advAuto="0"/>
    </p:bld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C379FE9-1F4B-4CF3-9A57-85E81DF71BBF}"/>
              </a:ext>
            </a:extLst>
          </p:cNvPr>
          <p:cNvSpPr>
            <a:spLocks noGrp="1"/>
          </p:cNvSpPr>
          <p:nvPr>
            <p:ph type="title"/>
          </p:nvPr>
        </p:nvSpPr>
        <p:spPr>
          <a:xfrm>
            <a:off x="1403350" y="3073400"/>
            <a:ext cx="10464800" cy="3302000"/>
          </a:xfrm>
        </p:spPr>
        <p:txBody>
          <a:bodyPr/>
          <a:lstStyle/>
          <a:p>
            <a:r>
              <a:rPr lang="fr-CH" dirty="0" err="1"/>
              <a:t>What</a:t>
            </a:r>
            <a:r>
              <a:rPr lang="fr-CH" dirty="0"/>
              <a:t> are the main </a:t>
            </a:r>
            <a:r>
              <a:rPr lang="fr-CH" dirty="0" err="1"/>
              <a:t>steps</a:t>
            </a:r>
            <a:r>
              <a:rPr lang="fr-CH" dirty="0"/>
              <a:t> of process-to-process communication </a:t>
            </a:r>
            <a:r>
              <a:rPr lang="fr-CH" dirty="0" err="1"/>
              <a:t>with</a:t>
            </a:r>
            <a:r>
              <a:rPr lang="fr-CH" dirty="0"/>
              <a:t> UDP?</a:t>
            </a:r>
          </a:p>
        </p:txBody>
      </p:sp>
    </p:spTree>
    <p:extLst>
      <p:ext uri="{BB962C8B-B14F-4D97-AF65-F5344CB8AC3E}">
        <p14:creationId xmlns:p14="http://schemas.microsoft.com/office/powerpoint/2010/main" val="1309823308"/>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95DF9-898A-E392-FF69-31DDE0A59ED7}"/>
              </a:ext>
            </a:extLst>
          </p:cNvPr>
          <p:cNvSpPr>
            <a:spLocks noGrp="1"/>
          </p:cNvSpPr>
          <p:nvPr>
            <p:ph type="title"/>
          </p:nvPr>
        </p:nvSpPr>
        <p:spPr>
          <a:xfrm>
            <a:off x="1007352" y="-339387"/>
            <a:ext cx="10464800" cy="2438400"/>
          </a:xfrm>
        </p:spPr>
        <p:txBody>
          <a:bodyPr/>
          <a:lstStyle/>
          <a:p>
            <a:r>
              <a:rPr lang="en-US" dirty="0"/>
              <a:t>First, a definition…</a:t>
            </a:r>
          </a:p>
        </p:txBody>
      </p:sp>
      <p:sp>
        <p:nvSpPr>
          <p:cNvPr id="3" name="Text Placeholder 2">
            <a:extLst>
              <a:ext uri="{FF2B5EF4-FFF2-40B4-BE49-F238E27FC236}">
                <a16:creationId xmlns:a16="http://schemas.microsoft.com/office/drawing/2014/main" id="{5D4FDD99-0B70-61A6-4109-9CE67E4CC7F5}"/>
              </a:ext>
            </a:extLst>
          </p:cNvPr>
          <p:cNvSpPr>
            <a:spLocks noGrp="1"/>
          </p:cNvSpPr>
          <p:nvPr>
            <p:ph type="body" idx="1"/>
          </p:nvPr>
        </p:nvSpPr>
        <p:spPr>
          <a:xfrm>
            <a:off x="476116" y="2858854"/>
            <a:ext cx="9660106" cy="5715000"/>
          </a:xfrm>
        </p:spPr>
        <p:txBody>
          <a:bodyPr/>
          <a:lstStyle/>
          <a:p>
            <a:pPr marL="317500" indent="0">
              <a:buNone/>
            </a:pPr>
            <a:r>
              <a:rPr lang="en-US" dirty="0"/>
              <a:t>What is a </a:t>
            </a:r>
            <a:r>
              <a:rPr lang="en-US" b="1" dirty="0"/>
              <a:t>socket</a:t>
            </a:r>
            <a:r>
              <a:rPr lang="en-US" dirty="0"/>
              <a:t>?</a:t>
            </a:r>
          </a:p>
          <a:p>
            <a:r>
              <a:rPr lang="en-US" dirty="0"/>
              <a:t>A </a:t>
            </a:r>
            <a:r>
              <a:rPr lang="en-US" b="1" dirty="0"/>
              <a:t>data structure </a:t>
            </a:r>
            <a:r>
              <a:rPr lang="en-US" dirty="0"/>
              <a:t>that lives in the transport layer and is associated with a particular local process.</a:t>
            </a:r>
          </a:p>
          <a:p>
            <a:r>
              <a:rPr lang="en-US" dirty="0"/>
              <a:t>It stores all the info about that process required by TCP or UDP to perform their functions </a:t>
            </a:r>
          </a:p>
          <a:p>
            <a:pPr marL="317500" indent="0">
              <a:buNone/>
            </a:pPr>
            <a:r>
              <a:rPr lang="en-US" dirty="0"/>
              <a:t>  </a:t>
            </a:r>
          </a:p>
          <a:p>
            <a:pPr marL="317500" indent="0">
              <a:buNone/>
            </a:pPr>
            <a:endParaRPr lang="en-US" dirty="0"/>
          </a:p>
        </p:txBody>
      </p:sp>
      <p:pic>
        <p:nvPicPr>
          <p:cNvPr id="5122" name="Picture 2" descr="Actual product image">
            <a:extLst>
              <a:ext uri="{FF2B5EF4-FFF2-40B4-BE49-F238E27FC236}">
                <a16:creationId xmlns:a16="http://schemas.microsoft.com/office/drawing/2014/main" id="{4023A7A5-97A6-0E2E-25A8-32C6F968A8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13784" y="1484011"/>
            <a:ext cx="2316736" cy="22805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07369177"/>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0" name="Rectangle"/>
          <p:cNvSpPr/>
          <p:nvPr/>
        </p:nvSpPr>
        <p:spPr>
          <a:xfrm>
            <a:off x="-165100" y="4839323"/>
            <a:ext cx="13335000" cy="5101631"/>
          </a:xfrm>
          <a:prstGeom prst="rect">
            <a:avLst/>
          </a:prstGeom>
          <a:solidFill>
            <a:srgbClr val="FFD479"/>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101" name="Rectangle"/>
          <p:cNvSpPr/>
          <p:nvPr/>
        </p:nvSpPr>
        <p:spPr>
          <a:xfrm>
            <a:off x="-177800" y="-156865"/>
            <a:ext cx="13233400" cy="5101630"/>
          </a:xfrm>
          <a:prstGeom prst="rect">
            <a:avLst/>
          </a:prstGeom>
          <a:solidFill>
            <a:srgbClr val="FFFC79"/>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102" name="Process S"/>
          <p:cNvSpPr/>
          <p:nvPr/>
        </p:nvSpPr>
        <p:spPr>
          <a:xfrm rot="16200000">
            <a:off x="-382241" y="2299303"/>
            <a:ext cx="2478982" cy="74323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lvl1pPr>
              <a:defRPr sz="3600">
                <a:solidFill>
                  <a:srgbClr val="424242"/>
                </a:solidFill>
                <a:latin typeface="+mn-lt"/>
                <a:ea typeface="+mn-ea"/>
                <a:cs typeface="+mn-cs"/>
                <a:sym typeface="Chalkboard SE Regular"/>
              </a:defRPr>
            </a:lvl1pPr>
          </a:lstStyle>
          <a:p>
            <a:r>
              <a:t>Process S</a:t>
            </a:r>
          </a:p>
        </p:txBody>
      </p:sp>
      <p:sp>
        <p:nvSpPr>
          <p:cNvPr id="103" name="Rounded Rectangle"/>
          <p:cNvSpPr/>
          <p:nvPr/>
        </p:nvSpPr>
        <p:spPr>
          <a:xfrm>
            <a:off x="1231900" y="1181100"/>
            <a:ext cx="9728200" cy="2979645"/>
          </a:xfrm>
          <a:prstGeom prst="roundRect">
            <a:avLst>
              <a:gd name="adj" fmla="val 6393"/>
            </a:avLst>
          </a:prstGeom>
          <a:ln w="50800">
            <a:solidFill>
              <a:srgbClr val="424242"/>
            </a:solidFill>
            <a:miter lim="400000"/>
          </a:ln>
        </p:spPr>
        <p:txBody>
          <a:bodyPr lIns="50800" tIns="50800" rIns="50800" bIns="50800" anchor="ctr"/>
          <a:lstStyle/>
          <a:p>
            <a:pPr>
              <a:defRPr sz="4000" b="1">
                <a:solidFill>
                  <a:srgbClr val="FFFFFF"/>
                </a:solidFill>
                <a:effectLst>
                  <a:outerShdw blurRad="38100" dist="12700" dir="5400000" rotWithShape="0">
                    <a:srgbClr val="000000">
                      <a:alpha val="50000"/>
                    </a:srgbClr>
                  </a:outerShdw>
                </a:effectLst>
              </a:defRPr>
            </a:pPr>
            <a:endParaRPr/>
          </a:p>
        </p:txBody>
      </p:sp>
      <p:sp>
        <p:nvSpPr>
          <p:cNvPr id="104" name="Slide Number"/>
          <p:cNvSpPr txBox="1">
            <a:spLocks noGrp="1"/>
          </p:cNvSpPr>
          <p:nvPr>
            <p:ph type="sldNum" sz="quarter" idx="2"/>
          </p:nvPr>
        </p:nvSpPr>
        <p:spPr>
          <a:xfrm>
            <a:off x="11715749" y="9009155"/>
            <a:ext cx="228601" cy="358590"/>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15</a:t>
            </a:fld>
            <a:endParaRPr/>
          </a:p>
        </p:txBody>
      </p:sp>
      <p:sp>
        <p:nvSpPr>
          <p:cNvPr id="105" name="application layer"/>
          <p:cNvSpPr/>
          <p:nvPr/>
        </p:nvSpPr>
        <p:spPr>
          <a:xfrm>
            <a:off x="4419984" y="203200"/>
            <a:ext cx="3706156" cy="7493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a:solidFill>
                  <a:srgbClr val="C0C0C0"/>
                </a:solidFill>
                <a:latin typeface="Times New Roman"/>
                <a:ea typeface="Times New Roman"/>
                <a:cs typeface="Times New Roman"/>
                <a:sym typeface="Times New Roman"/>
              </a:defRPr>
            </a:lvl1pPr>
          </a:lstStyle>
          <a:p>
            <a:r>
              <a:t>application layer</a:t>
            </a:r>
          </a:p>
        </p:txBody>
      </p:sp>
      <p:sp>
        <p:nvSpPr>
          <p:cNvPr id="106" name="transport layer"/>
          <p:cNvSpPr/>
          <p:nvPr/>
        </p:nvSpPr>
        <p:spPr>
          <a:xfrm>
            <a:off x="4762233" y="8788400"/>
            <a:ext cx="3340746" cy="7493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a:solidFill>
                  <a:srgbClr val="C0C0C0"/>
                </a:solidFill>
                <a:latin typeface="Times New Roman"/>
                <a:ea typeface="Times New Roman"/>
                <a:cs typeface="Times New Roman"/>
                <a:sym typeface="Times New Roman"/>
              </a:defRPr>
            </a:lvl1pPr>
          </a:lstStyle>
          <a:p>
            <a:r>
              <a:t>transport layer</a:t>
            </a:r>
          </a:p>
        </p:txBody>
      </p:sp>
      <p:sp>
        <p:nvSpPr>
          <p:cNvPr id="107" name="socket = new socket (UDP type)"/>
          <p:cNvSpPr/>
          <p:nvPr/>
        </p:nvSpPr>
        <p:spPr>
          <a:xfrm>
            <a:off x="1549400" y="1344079"/>
            <a:ext cx="6625878" cy="7493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400">
                <a:solidFill>
                  <a:srgbClr val="0433FF"/>
                </a:solidFill>
                <a:latin typeface="Courier"/>
                <a:ea typeface="Courier"/>
                <a:cs typeface="Courier"/>
                <a:sym typeface="Courier"/>
              </a:defRPr>
            </a:lvl1pPr>
          </a:lstStyle>
          <a:p>
            <a:r>
              <a:t>socket = new socket (UDP type)</a:t>
            </a:r>
          </a:p>
        </p:txBody>
      </p:sp>
      <p:sp>
        <p:nvSpPr>
          <p:cNvPr id="108" name="socket.bind (IP address: 1.1.1.1, port: 1000)"/>
          <p:cNvSpPr/>
          <p:nvPr/>
        </p:nvSpPr>
        <p:spPr>
          <a:xfrm>
            <a:off x="1549400" y="1995942"/>
            <a:ext cx="9030693" cy="7493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400">
                <a:solidFill>
                  <a:srgbClr val="0433FF"/>
                </a:solidFill>
                <a:latin typeface="Courier"/>
                <a:ea typeface="Courier"/>
                <a:cs typeface="Courier"/>
                <a:sym typeface="Courier"/>
              </a:defRPr>
            </a:lvl1pPr>
          </a:lstStyle>
          <a:p>
            <a:r>
              <a:t>socket.bind (IP address: 1.1.1.1, port: 1000)</a:t>
            </a:r>
          </a:p>
        </p:txBody>
      </p:sp>
      <p:sp>
        <p:nvSpPr>
          <p:cNvPr id="109" name="Rounded Rectangle"/>
          <p:cNvSpPr/>
          <p:nvPr/>
        </p:nvSpPr>
        <p:spPr>
          <a:xfrm>
            <a:off x="1193800" y="5232400"/>
            <a:ext cx="4318000" cy="1968500"/>
          </a:xfrm>
          <a:prstGeom prst="roundRect">
            <a:avLst>
              <a:gd name="adj" fmla="val 9677"/>
            </a:avLst>
          </a:prstGeom>
          <a:ln w="50800">
            <a:solidFill>
              <a:srgbClr val="424242"/>
            </a:solidFill>
            <a:miter lim="400000"/>
          </a:ln>
        </p:spPr>
        <p:txBody>
          <a:bodyPr lIns="50800" tIns="50800" rIns="50800" bIns="50800" anchor="ctr"/>
          <a:lstStyle/>
          <a:p>
            <a:pPr>
              <a:defRPr sz="3600">
                <a:solidFill>
                  <a:srgbClr val="FFFFFF"/>
                </a:solidFill>
                <a:latin typeface="+mn-lt"/>
                <a:ea typeface="+mn-ea"/>
                <a:cs typeface="+mn-cs"/>
                <a:sym typeface="Chalkboard SE Regular"/>
              </a:defRPr>
            </a:pPr>
            <a:endParaRPr/>
          </a:p>
        </p:txBody>
      </p:sp>
      <p:sp>
        <p:nvSpPr>
          <p:cNvPr id="110" name="for process S"/>
          <p:cNvSpPr/>
          <p:nvPr/>
        </p:nvSpPr>
        <p:spPr>
          <a:xfrm>
            <a:off x="1326808" y="5410199"/>
            <a:ext cx="2492128" cy="4699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2400">
                <a:solidFill>
                  <a:srgbClr val="424242"/>
                </a:solidFill>
                <a:latin typeface="Courier"/>
                <a:ea typeface="Courier"/>
                <a:cs typeface="Courier"/>
                <a:sym typeface="Courier"/>
              </a:defRPr>
            </a:lvl1pPr>
          </a:lstStyle>
          <a:p>
            <a:r>
              <a:t>for process S</a:t>
            </a:r>
          </a:p>
        </p:txBody>
      </p:sp>
      <p:sp>
        <p:nvSpPr>
          <p:cNvPr id="111" name="IP address: 1.1.1.1"/>
          <p:cNvSpPr/>
          <p:nvPr/>
        </p:nvSpPr>
        <p:spPr>
          <a:xfrm>
            <a:off x="1326808" y="6127749"/>
            <a:ext cx="3589587" cy="4699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2400">
                <a:solidFill>
                  <a:srgbClr val="424242"/>
                </a:solidFill>
                <a:latin typeface="Courier"/>
                <a:ea typeface="Courier"/>
                <a:cs typeface="Courier"/>
                <a:sym typeface="Courier"/>
              </a:defRPr>
            </a:lvl1pPr>
          </a:lstStyle>
          <a:p>
            <a:r>
              <a:t>IP address: 1.1.1.1</a:t>
            </a:r>
          </a:p>
        </p:txBody>
      </p:sp>
      <p:sp>
        <p:nvSpPr>
          <p:cNvPr id="112" name="port: 1000"/>
          <p:cNvSpPr/>
          <p:nvPr/>
        </p:nvSpPr>
        <p:spPr>
          <a:xfrm>
            <a:off x="1326808" y="6534149"/>
            <a:ext cx="1943399" cy="4699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2400">
                <a:solidFill>
                  <a:srgbClr val="424242"/>
                </a:solidFill>
                <a:latin typeface="Courier"/>
                <a:ea typeface="Courier"/>
                <a:cs typeface="Courier"/>
                <a:sym typeface="Courier"/>
              </a:defRPr>
            </a:lvl1pPr>
          </a:lstStyle>
          <a:p>
            <a:r>
              <a:t>port: 1000</a:t>
            </a:r>
          </a:p>
        </p:txBody>
      </p:sp>
      <p:sp>
        <p:nvSpPr>
          <p:cNvPr id="113" name="UDP socket"/>
          <p:cNvSpPr/>
          <p:nvPr/>
        </p:nvSpPr>
        <p:spPr>
          <a:xfrm rot="16200000">
            <a:off x="-482601" y="5914881"/>
            <a:ext cx="2679701" cy="74323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lvl1pPr>
              <a:defRPr sz="3600">
                <a:solidFill>
                  <a:srgbClr val="424242"/>
                </a:solidFill>
                <a:latin typeface="+mn-lt"/>
                <a:ea typeface="+mn-ea"/>
                <a:cs typeface="+mn-cs"/>
                <a:sym typeface="Chalkboard SE Regular"/>
              </a:defRPr>
            </a:lvl1pPr>
          </a:lstStyle>
          <a:p>
            <a:r>
              <a:t>UDP socket</a:t>
            </a:r>
          </a:p>
        </p:txBody>
      </p:sp>
      <p:sp>
        <p:nvSpPr>
          <p:cNvPr id="114" name="socket.sendto (message, dest. IP address: 5.5.5.5,…"/>
          <p:cNvSpPr/>
          <p:nvPr/>
        </p:nvSpPr>
        <p:spPr>
          <a:xfrm>
            <a:off x="1549400" y="2293371"/>
            <a:ext cx="9779000" cy="145816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p>
            <a:pPr algn="l">
              <a:defRPr sz="2400">
                <a:solidFill>
                  <a:srgbClr val="0433FF"/>
                </a:solidFill>
                <a:latin typeface="Courier"/>
                <a:ea typeface="Courier"/>
                <a:cs typeface="Courier"/>
                <a:sym typeface="Courier"/>
              </a:defRPr>
            </a:pPr>
            <a:r>
              <a:t>socket.sendto (message, dest. IP address: 5.5.5.5,   </a:t>
            </a:r>
          </a:p>
          <a:p>
            <a:pPr algn="l">
              <a:defRPr sz="2400">
                <a:solidFill>
                  <a:srgbClr val="0433FF"/>
                </a:solidFill>
                <a:latin typeface="Courier"/>
                <a:ea typeface="Courier"/>
                <a:cs typeface="Courier"/>
                <a:sym typeface="Courier"/>
              </a:defRPr>
            </a:pPr>
            <a:r>
              <a:t>                        dest. port: 5000)</a:t>
            </a:r>
          </a:p>
        </p:txBody>
      </p:sp>
      <p:sp>
        <p:nvSpPr>
          <p:cNvPr id="115" name="message"/>
          <p:cNvSpPr/>
          <p:nvPr/>
        </p:nvSpPr>
        <p:spPr>
          <a:xfrm>
            <a:off x="5892800" y="7797800"/>
            <a:ext cx="6731000" cy="749300"/>
          </a:xfrm>
          <a:prstGeom prst="rect">
            <a:avLst/>
          </a:prstGeom>
          <a:solidFill>
            <a:srgbClr val="942193"/>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defRPr sz="2400">
                <a:solidFill>
                  <a:srgbClr val="FFFFFF"/>
                </a:solidFill>
                <a:latin typeface="Courier"/>
                <a:ea typeface="Courier"/>
                <a:cs typeface="Courier"/>
                <a:sym typeface="Courier"/>
              </a:defRPr>
            </a:lvl1pPr>
          </a:lstStyle>
          <a:p>
            <a:r>
              <a:t>message</a:t>
            </a:r>
          </a:p>
        </p:txBody>
      </p:sp>
      <p:sp>
        <p:nvSpPr>
          <p:cNvPr id="116" name="Source port: 1000"/>
          <p:cNvSpPr/>
          <p:nvPr/>
        </p:nvSpPr>
        <p:spPr>
          <a:xfrm>
            <a:off x="5892800" y="7010400"/>
            <a:ext cx="3517900" cy="749300"/>
          </a:xfrm>
          <a:prstGeom prst="rect">
            <a:avLst/>
          </a:prstGeom>
          <a:solidFill>
            <a:srgbClr val="942193"/>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defRPr sz="2400">
                <a:solidFill>
                  <a:srgbClr val="FFFFFF"/>
                </a:solidFill>
                <a:latin typeface="Courier"/>
                <a:ea typeface="Courier"/>
                <a:cs typeface="Courier"/>
                <a:sym typeface="Courier"/>
              </a:defRPr>
            </a:lvl1pPr>
          </a:lstStyle>
          <a:p>
            <a:r>
              <a:t>Source port: 1000</a:t>
            </a:r>
          </a:p>
        </p:txBody>
      </p:sp>
      <p:sp>
        <p:nvSpPr>
          <p:cNvPr id="117" name="Dest. port: 5000"/>
          <p:cNvSpPr/>
          <p:nvPr/>
        </p:nvSpPr>
        <p:spPr>
          <a:xfrm>
            <a:off x="9461500" y="7010400"/>
            <a:ext cx="3149600" cy="749300"/>
          </a:xfrm>
          <a:prstGeom prst="rect">
            <a:avLst/>
          </a:prstGeom>
          <a:solidFill>
            <a:srgbClr val="942193"/>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defRPr sz="2400">
                <a:solidFill>
                  <a:srgbClr val="FFFFFF"/>
                </a:solidFill>
                <a:latin typeface="Courier"/>
                <a:ea typeface="Courier"/>
                <a:cs typeface="Courier"/>
                <a:sym typeface="Courier"/>
              </a:defRPr>
            </a:lvl1pPr>
          </a:lstStyle>
          <a:p>
            <a:r>
              <a:t>Dest. port: 5000</a:t>
            </a:r>
          </a:p>
        </p:txBody>
      </p:sp>
      <p:sp>
        <p:nvSpPr>
          <p:cNvPr id="118" name="Source IP address: 1.1.1.1"/>
          <p:cNvSpPr/>
          <p:nvPr/>
        </p:nvSpPr>
        <p:spPr>
          <a:xfrm>
            <a:off x="5892800" y="5435600"/>
            <a:ext cx="6731000" cy="749300"/>
          </a:xfrm>
          <a:prstGeom prst="rect">
            <a:avLst/>
          </a:prstGeom>
          <a:gradFill>
            <a:gsLst>
              <a:gs pos="0">
                <a:srgbClr val="942193"/>
              </a:gs>
              <a:gs pos="100000">
                <a:srgbClr val="FFD479"/>
              </a:gs>
            </a:gsLst>
            <a:lin ang="5400000"/>
          </a:gra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defRPr sz="2400">
                <a:solidFill>
                  <a:srgbClr val="FFFFFF"/>
                </a:solidFill>
                <a:latin typeface="Courier"/>
                <a:ea typeface="Courier"/>
                <a:cs typeface="Courier"/>
                <a:sym typeface="Courier"/>
              </a:defRPr>
            </a:lvl1pPr>
          </a:lstStyle>
          <a:p>
            <a:r>
              <a:t>Source IP address: 1.1.1.1</a:t>
            </a:r>
          </a:p>
        </p:txBody>
      </p:sp>
      <p:sp>
        <p:nvSpPr>
          <p:cNvPr id="119" name="Dest. IP address: 5.5.5.5"/>
          <p:cNvSpPr/>
          <p:nvPr/>
        </p:nvSpPr>
        <p:spPr>
          <a:xfrm>
            <a:off x="5892800" y="6223000"/>
            <a:ext cx="6731000" cy="749300"/>
          </a:xfrm>
          <a:prstGeom prst="rect">
            <a:avLst/>
          </a:prstGeom>
          <a:gradFill>
            <a:gsLst>
              <a:gs pos="0">
                <a:srgbClr val="942193"/>
              </a:gs>
              <a:gs pos="100000">
                <a:srgbClr val="FFD479"/>
              </a:gs>
            </a:gsLst>
            <a:lin ang="5400000"/>
          </a:gra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defRPr sz="2400">
                <a:solidFill>
                  <a:srgbClr val="FFFFFF"/>
                </a:solidFill>
                <a:latin typeface="Courier"/>
                <a:ea typeface="Courier"/>
                <a:cs typeface="Courier"/>
                <a:sym typeface="Courier"/>
              </a:defRPr>
            </a:lvl1pPr>
          </a:lstStyle>
          <a:p>
            <a:r>
              <a:t>Dest. IP address: 5.5.5.5</a:t>
            </a:r>
          </a:p>
        </p:txBody>
      </p:sp>
      <p:sp>
        <p:nvSpPr>
          <p:cNvPr id="120" name="socket.close ( )"/>
          <p:cNvSpPr/>
          <p:nvPr/>
        </p:nvSpPr>
        <p:spPr>
          <a:xfrm>
            <a:off x="1549400" y="3299668"/>
            <a:ext cx="4898728" cy="7493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400">
                <a:solidFill>
                  <a:srgbClr val="0433FF"/>
                </a:solidFill>
                <a:latin typeface="Courier"/>
                <a:ea typeface="Courier"/>
                <a:cs typeface="Courier"/>
                <a:sym typeface="Courier"/>
              </a:defRPr>
            </a:lvl1pPr>
          </a:lstStyle>
          <a:p>
            <a:r>
              <a:t>socket.close ( )</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02"/>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2" nodeType="afterEffect">
                                  <p:stCondLst>
                                    <p:cond delay="0"/>
                                  </p:stCondLst>
                                  <p:iterate>
                                    <p:tmAbs val="0"/>
                                  </p:iterate>
                                  <p:childTnLst>
                                    <p:set>
                                      <p:cBhvr>
                                        <p:cTn id="9" fill="hold"/>
                                        <p:tgtEl>
                                          <p:spTgt spid="103"/>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3" nodeType="clickEffect">
                                  <p:stCondLst>
                                    <p:cond delay="0"/>
                                  </p:stCondLst>
                                  <p:iterate type="lt">
                                    <p:tmAbs val="100"/>
                                  </p:iterate>
                                  <p:childTnLst>
                                    <p:set>
                                      <p:cBhvr>
                                        <p:cTn id="13" fill="hold"/>
                                        <p:tgtEl>
                                          <p:spTgt spid="107"/>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4" nodeType="clickEffect">
                                  <p:stCondLst>
                                    <p:cond delay="0"/>
                                  </p:stCondLst>
                                  <p:iterate>
                                    <p:tmAbs val="0"/>
                                  </p:iterate>
                                  <p:childTnLst>
                                    <p:set>
                                      <p:cBhvr>
                                        <p:cTn id="17" fill="hold"/>
                                        <p:tgtEl>
                                          <p:spTgt spid="113"/>
                                        </p:tgtEl>
                                        <p:attrNameLst>
                                          <p:attrName>style.visibility</p:attrName>
                                        </p:attrNameLst>
                                      </p:cBhvr>
                                      <p:to>
                                        <p:strVal val="visible"/>
                                      </p:to>
                                    </p:set>
                                  </p:childTnLst>
                                </p:cTn>
                              </p:par>
                            </p:childTnLst>
                          </p:cTn>
                        </p:par>
                        <p:par>
                          <p:cTn id="18" fill="hold">
                            <p:stCondLst>
                              <p:cond delay="0"/>
                            </p:stCondLst>
                            <p:childTnLst>
                              <p:par>
                                <p:cTn id="19" presetID="1" presetClass="entr" presetSubtype="0" fill="hold" grpId="5" nodeType="afterEffect">
                                  <p:stCondLst>
                                    <p:cond delay="0"/>
                                  </p:stCondLst>
                                  <p:iterate>
                                    <p:tmAbs val="0"/>
                                  </p:iterate>
                                  <p:childTnLst>
                                    <p:set>
                                      <p:cBhvr>
                                        <p:cTn id="20" fill="hold"/>
                                        <p:tgtEl>
                                          <p:spTgt spid="109"/>
                                        </p:tgtEl>
                                        <p:attrNameLst>
                                          <p:attrName>style.visibility</p:attrName>
                                        </p:attrNameLst>
                                      </p:cBhvr>
                                      <p:to>
                                        <p:strVal val="visible"/>
                                      </p:to>
                                    </p:set>
                                  </p:childTnLst>
                                </p:cTn>
                              </p:par>
                            </p:childTnLst>
                          </p:cTn>
                        </p:par>
                        <p:par>
                          <p:cTn id="21" fill="hold">
                            <p:stCondLst>
                              <p:cond delay="0"/>
                            </p:stCondLst>
                            <p:childTnLst>
                              <p:par>
                                <p:cTn id="22" presetID="1" presetClass="entr" presetSubtype="0" fill="hold" grpId="6" nodeType="afterEffect">
                                  <p:stCondLst>
                                    <p:cond delay="0"/>
                                  </p:stCondLst>
                                  <p:iterate>
                                    <p:tmAbs val="0"/>
                                  </p:iterate>
                                  <p:childTnLst>
                                    <p:set>
                                      <p:cBhvr>
                                        <p:cTn id="23" fill="hold"/>
                                        <p:tgtEl>
                                          <p:spTgt spid="110"/>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7" nodeType="clickEffect">
                                  <p:stCondLst>
                                    <p:cond delay="0"/>
                                  </p:stCondLst>
                                  <p:iterate type="lt">
                                    <p:tmAbs val="100"/>
                                  </p:iterate>
                                  <p:childTnLst>
                                    <p:set>
                                      <p:cBhvr>
                                        <p:cTn id="27" fill="hold"/>
                                        <p:tgtEl>
                                          <p:spTgt spid="10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8" nodeType="clickEffect">
                                  <p:stCondLst>
                                    <p:cond delay="0"/>
                                  </p:stCondLst>
                                  <p:iterate>
                                    <p:tmAbs val="0"/>
                                  </p:iterate>
                                  <p:childTnLst>
                                    <p:set>
                                      <p:cBhvr>
                                        <p:cTn id="31" fill="hold"/>
                                        <p:tgtEl>
                                          <p:spTgt spid="111"/>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9" nodeType="clickEffect">
                                  <p:stCondLst>
                                    <p:cond delay="0"/>
                                  </p:stCondLst>
                                  <p:iterate>
                                    <p:tmAbs val="0"/>
                                  </p:iterate>
                                  <p:childTnLst>
                                    <p:set>
                                      <p:cBhvr>
                                        <p:cTn id="35" fill="hold"/>
                                        <p:tgtEl>
                                          <p:spTgt spid="112"/>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10" nodeType="clickEffect">
                                  <p:stCondLst>
                                    <p:cond delay="0"/>
                                  </p:stCondLst>
                                  <p:iterate type="lt">
                                    <p:tmAbs val="100"/>
                                  </p:iterate>
                                  <p:childTnLst>
                                    <p:set>
                                      <p:cBhvr>
                                        <p:cTn id="39" fill="hold"/>
                                        <p:tgtEl>
                                          <p:spTgt spid="114"/>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11" nodeType="clickEffect">
                                  <p:stCondLst>
                                    <p:cond delay="0"/>
                                  </p:stCondLst>
                                  <p:iterate>
                                    <p:tmAbs val="0"/>
                                  </p:iterate>
                                  <p:childTnLst>
                                    <p:set>
                                      <p:cBhvr>
                                        <p:cTn id="43" fill="hold"/>
                                        <p:tgtEl>
                                          <p:spTgt spid="115"/>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12" nodeType="clickEffect">
                                  <p:stCondLst>
                                    <p:cond delay="0"/>
                                  </p:stCondLst>
                                  <p:iterate>
                                    <p:tmAbs val="0"/>
                                  </p:iterate>
                                  <p:childTnLst>
                                    <p:set>
                                      <p:cBhvr>
                                        <p:cTn id="47" fill="hold"/>
                                        <p:tgtEl>
                                          <p:spTgt spid="119"/>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13" nodeType="clickEffect">
                                  <p:stCondLst>
                                    <p:cond delay="0"/>
                                  </p:stCondLst>
                                  <p:iterate>
                                    <p:tmAbs val="0"/>
                                  </p:iterate>
                                  <p:childTnLst>
                                    <p:set>
                                      <p:cBhvr>
                                        <p:cTn id="51" fill="hold"/>
                                        <p:tgtEl>
                                          <p:spTgt spid="117"/>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14" nodeType="clickEffect">
                                  <p:stCondLst>
                                    <p:cond delay="0"/>
                                  </p:stCondLst>
                                  <p:iterate>
                                    <p:tmAbs val="0"/>
                                  </p:iterate>
                                  <p:childTnLst>
                                    <p:set>
                                      <p:cBhvr>
                                        <p:cTn id="55" fill="hold"/>
                                        <p:tgtEl>
                                          <p:spTgt spid="118"/>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15" nodeType="clickEffect">
                                  <p:stCondLst>
                                    <p:cond delay="0"/>
                                  </p:stCondLst>
                                  <p:iterate>
                                    <p:tmAbs val="0"/>
                                  </p:iterate>
                                  <p:childTnLst>
                                    <p:set>
                                      <p:cBhvr>
                                        <p:cTn id="59" fill="hold"/>
                                        <p:tgtEl>
                                          <p:spTgt spid="116"/>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xit" presetSubtype="0" fill="hold" grpId="16" nodeType="clickEffect">
                                  <p:stCondLst>
                                    <p:cond delay="0"/>
                                  </p:stCondLst>
                                  <p:iterate>
                                    <p:tmAbs val="0"/>
                                  </p:iterate>
                                  <p:childTnLst>
                                    <p:set>
                                      <p:cBhvr>
                                        <p:cTn id="63" fill="hold">
                                          <p:stCondLst>
                                            <p:cond delay="0"/>
                                          </p:stCondLst>
                                        </p:cTn>
                                        <p:tgtEl>
                                          <p:spTgt spid="115"/>
                                        </p:tgtEl>
                                        <p:attrNameLst>
                                          <p:attrName>style.visibility</p:attrName>
                                        </p:attrNameLst>
                                      </p:cBhvr>
                                      <p:to>
                                        <p:strVal val="hidden"/>
                                      </p:to>
                                    </p:set>
                                  </p:childTnLst>
                                </p:cTn>
                              </p:par>
                            </p:childTnLst>
                          </p:cTn>
                        </p:par>
                        <p:par>
                          <p:cTn id="64" fill="hold">
                            <p:stCondLst>
                              <p:cond delay="0"/>
                            </p:stCondLst>
                            <p:childTnLst>
                              <p:par>
                                <p:cTn id="65" presetID="1" presetClass="exit" presetSubtype="0" fill="hold" grpId="17" nodeType="afterEffect">
                                  <p:stCondLst>
                                    <p:cond delay="0"/>
                                  </p:stCondLst>
                                  <p:iterate>
                                    <p:tmAbs val="0"/>
                                  </p:iterate>
                                  <p:childTnLst>
                                    <p:set>
                                      <p:cBhvr>
                                        <p:cTn id="66" fill="hold">
                                          <p:stCondLst>
                                            <p:cond delay="0"/>
                                          </p:stCondLst>
                                        </p:cTn>
                                        <p:tgtEl>
                                          <p:spTgt spid="116"/>
                                        </p:tgtEl>
                                        <p:attrNameLst>
                                          <p:attrName>style.visibility</p:attrName>
                                        </p:attrNameLst>
                                      </p:cBhvr>
                                      <p:to>
                                        <p:strVal val="hidden"/>
                                      </p:to>
                                    </p:set>
                                  </p:childTnLst>
                                </p:cTn>
                              </p:par>
                            </p:childTnLst>
                          </p:cTn>
                        </p:par>
                        <p:par>
                          <p:cTn id="67" fill="hold">
                            <p:stCondLst>
                              <p:cond delay="0"/>
                            </p:stCondLst>
                            <p:childTnLst>
                              <p:par>
                                <p:cTn id="68" presetID="1" presetClass="exit" presetSubtype="0" fill="hold" grpId="18" nodeType="afterEffect">
                                  <p:stCondLst>
                                    <p:cond delay="0"/>
                                  </p:stCondLst>
                                  <p:iterate>
                                    <p:tmAbs val="0"/>
                                  </p:iterate>
                                  <p:childTnLst>
                                    <p:set>
                                      <p:cBhvr>
                                        <p:cTn id="69" fill="hold">
                                          <p:stCondLst>
                                            <p:cond delay="0"/>
                                          </p:stCondLst>
                                        </p:cTn>
                                        <p:tgtEl>
                                          <p:spTgt spid="117"/>
                                        </p:tgtEl>
                                        <p:attrNameLst>
                                          <p:attrName>style.visibility</p:attrName>
                                        </p:attrNameLst>
                                      </p:cBhvr>
                                      <p:to>
                                        <p:strVal val="hidden"/>
                                      </p:to>
                                    </p:set>
                                  </p:childTnLst>
                                </p:cTn>
                              </p:par>
                            </p:childTnLst>
                          </p:cTn>
                        </p:par>
                        <p:par>
                          <p:cTn id="70" fill="hold">
                            <p:stCondLst>
                              <p:cond delay="0"/>
                            </p:stCondLst>
                            <p:childTnLst>
                              <p:par>
                                <p:cTn id="71" presetID="1" presetClass="exit" presetSubtype="0" fill="hold" grpId="19" nodeType="afterEffect">
                                  <p:stCondLst>
                                    <p:cond delay="0"/>
                                  </p:stCondLst>
                                  <p:iterate>
                                    <p:tmAbs val="0"/>
                                  </p:iterate>
                                  <p:childTnLst>
                                    <p:set>
                                      <p:cBhvr>
                                        <p:cTn id="72" fill="hold">
                                          <p:stCondLst>
                                            <p:cond delay="0"/>
                                          </p:stCondLst>
                                        </p:cTn>
                                        <p:tgtEl>
                                          <p:spTgt spid="118"/>
                                        </p:tgtEl>
                                        <p:attrNameLst>
                                          <p:attrName>style.visibility</p:attrName>
                                        </p:attrNameLst>
                                      </p:cBhvr>
                                      <p:to>
                                        <p:strVal val="hidden"/>
                                      </p:to>
                                    </p:set>
                                  </p:childTnLst>
                                </p:cTn>
                              </p:par>
                            </p:childTnLst>
                          </p:cTn>
                        </p:par>
                        <p:par>
                          <p:cTn id="73" fill="hold">
                            <p:stCondLst>
                              <p:cond delay="0"/>
                            </p:stCondLst>
                            <p:childTnLst>
                              <p:par>
                                <p:cTn id="74" presetID="1" presetClass="exit" presetSubtype="0" fill="hold" grpId="20" nodeType="afterEffect">
                                  <p:stCondLst>
                                    <p:cond delay="0"/>
                                  </p:stCondLst>
                                  <p:iterate>
                                    <p:tmAbs val="0"/>
                                  </p:iterate>
                                  <p:childTnLst>
                                    <p:set>
                                      <p:cBhvr>
                                        <p:cTn id="75" fill="hold">
                                          <p:stCondLst>
                                            <p:cond delay="0"/>
                                          </p:stCondLst>
                                        </p:cTn>
                                        <p:tgtEl>
                                          <p:spTgt spid="119"/>
                                        </p:tgtEl>
                                        <p:attrNameLst>
                                          <p:attrName>style.visibility</p:attrName>
                                        </p:attrNameLst>
                                      </p:cBhvr>
                                      <p:to>
                                        <p:strVal val="hidden"/>
                                      </p:to>
                                    </p:se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grpId="21" nodeType="clickEffect">
                                  <p:stCondLst>
                                    <p:cond delay="0"/>
                                  </p:stCondLst>
                                  <p:iterate type="lt">
                                    <p:tmAbs val="100"/>
                                  </p:iterate>
                                  <p:childTnLst>
                                    <p:set>
                                      <p:cBhvr>
                                        <p:cTn id="79" fill="hold"/>
                                        <p:tgtEl>
                                          <p:spTgt spid="120"/>
                                        </p:tgtEl>
                                        <p:attrNameLst>
                                          <p:attrName>style.visibility</p:attrName>
                                        </p:attrNameLst>
                                      </p:cBhvr>
                                      <p:to>
                                        <p:strVal val="visible"/>
                                      </p:to>
                                    </p:set>
                                  </p:childTnLst>
                                </p:cTn>
                              </p:par>
                            </p:childTnLst>
                          </p:cTn>
                        </p:par>
                      </p:childTnLst>
                    </p:cTn>
                  </p:par>
                  <p:par>
                    <p:cTn id="80" fill="hold">
                      <p:stCondLst>
                        <p:cond delay="indefinite"/>
                      </p:stCondLst>
                      <p:childTnLst>
                        <p:par>
                          <p:cTn id="81" fill="hold">
                            <p:stCondLst>
                              <p:cond delay="0"/>
                            </p:stCondLst>
                            <p:childTnLst>
                              <p:par>
                                <p:cTn id="82" presetID="1" presetClass="exit" presetSubtype="0" fill="hold" grpId="22" nodeType="clickEffect">
                                  <p:stCondLst>
                                    <p:cond delay="0"/>
                                  </p:stCondLst>
                                  <p:iterate>
                                    <p:tmAbs val="0"/>
                                  </p:iterate>
                                  <p:childTnLst>
                                    <p:set>
                                      <p:cBhvr>
                                        <p:cTn id="83" fill="hold">
                                          <p:stCondLst>
                                            <p:cond delay="0"/>
                                          </p:stCondLst>
                                        </p:cTn>
                                        <p:tgtEl>
                                          <p:spTgt spid="109"/>
                                        </p:tgtEl>
                                        <p:attrNameLst>
                                          <p:attrName>style.visibility</p:attrName>
                                        </p:attrNameLst>
                                      </p:cBhvr>
                                      <p:to>
                                        <p:strVal val="hidden"/>
                                      </p:to>
                                    </p:set>
                                  </p:childTnLst>
                                </p:cTn>
                              </p:par>
                            </p:childTnLst>
                          </p:cTn>
                        </p:par>
                        <p:par>
                          <p:cTn id="84" fill="hold">
                            <p:stCondLst>
                              <p:cond delay="0"/>
                            </p:stCondLst>
                            <p:childTnLst>
                              <p:par>
                                <p:cTn id="85" presetID="1" presetClass="exit" presetSubtype="0" fill="hold" grpId="23" nodeType="afterEffect">
                                  <p:stCondLst>
                                    <p:cond delay="0"/>
                                  </p:stCondLst>
                                  <p:iterate>
                                    <p:tmAbs val="0"/>
                                  </p:iterate>
                                  <p:childTnLst>
                                    <p:set>
                                      <p:cBhvr>
                                        <p:cTn id="86" fill="hold">
                                          <p:stCondLst>
                                            <p:cond delay="0"/>
                                          </p:stCondLst>
                                        </p:cTn>
                                        <p:tgtEl>
                                          <p:spTgt spid="110"/>
                                        </p:tgtEl>
                                        <p:attrNameLst>
                                          <p:attrName>style.visibility</p:attrName>
                                        </p:attrNameLst>
                                      </p:cBhvr>
                                      <p:to>
                                        <p:strVal val="hidden"/>
                                      </p:to>
                                    </p:set>
                                  </p:childTnLst>
                                </p:cTn>
                              </p:par>
                            </p:childTnLst>
                          </p:cTn>
                        </p:par>
                        <p:par>
                          <p:cTn id="87" fill="hold">
                            <p:stCondLst>
                              <p:cond delay="0"/>
                            </p:stCondLst>
                            <p:childTnLst>
                              <p:par>
                                <p:cTn id="88" presetID="1" presetClass="exit" presetSubtype="0" fill="hold" grpId="24" nodeType="afterEffect">
                                  <p:stCondLst>
                                    <p:cond delay="0"/>
                                  </p:stCondLst>
                                  <p:iterate>
                                    <p:tmAbs val="0"/>
                                  </p:iterate>
                                  <p:childTnLst>
                                    <p:set>
                                      <p:cBhvr>
                                        <p:cTn id="89" fill="hold">
                                          <p:stCondLst>
                                            <p:cond delay="0"/>
                                          </p:stCondLst>
                                        </p:cTn>
                                        <p:tgtEl>
                                          <p:spTgt spid="111"/>
                                        </p:tgtEl>
                                        <p:attrNameLst>
                                          <p:attrName>style.visibility</p:attrName>
                                        </p:attrNameLst>
                                      </p:cBhvr>
                                      <p:to>
                                        <p:strVal val="hidden"/>
                                      </p:to>
                                    </p:set>
                                  </p:childTnLst>
                                </p:cTn>
                              </p:par>
                            </p:childTnLst>
                          </p:cTn>
                        </p:par>
                        <p:par>
                          <p:cTn id="90" fill="hold">
                            <p:stCondLst>
                              <p:cond delay="0"/>
                            </p:stCondLst>
                            <p:childTnLst>
                              <p:par>
                                <p:cTn id="91" presetID="1" presetClass="exit" presetSubtype="0" fill="hold" grpId="25" nodeType="afterEffect">
                                  <p:stCondLst>
                                    <p:cond delay="0"/>
                                  </p:stCondLst>
                                  <p:iterate>
                                    <p:tmAbs val="0"/>
                                  </p:iterate>
                                  <p:childTnLst>
                                    <p:set>
                                      <p:cBhvr>
                                        <p:cTn id="92" fill="hold">
                                          <p:stCondLst>
                                            <p:cond delay="0"/>
                                          </p:stCondLst>
                                        </p:cTn>
                                        <p:tgtEl>
                                          <p:spTgt spid="112"/>
                                        </p:tgtEl>
                                        <p:attrNameLst>
                                          <p:attrName>style.visibility</p:attrName>
                                        </p:attrNameLst>
                                      </p:cBhvr>
                                      <p:to>
                                        <p:strVal val="hidden"/>
                                      </p:to>
                                    </p:set>
                                  </p:childTnLst>
                                </p:cTn>
                              </p:par>
                            </p:childTnLst>
                          </p:cTn>
                        </p:par>
                        <p:par>
                          <p:cTn id="93" fill="hold">
                            <p:stCondLst>
                              <p:cond delay="0"/>
                            </p:stCondLst>
                            <p:childTnLst>
                              <p:par>
                                <p:cTn id="94" presetID="1" presetClass="exit" presetSubtype="0" fill="hold" grpId="26" nodeType="afterEffect">
                                  <p:stCondLst>
                                    <p:cond delay="0"/>
                                  </p:stCondLst>
                                  <p:iterate>
                                    <p:tmAbs val="0"/>
                                  </p:iterate>
                                  <p:childTnLst>
                                    <p:set>
                                      <p:cBhvr>
                                        <p:cTn id="95" fill="hold">
                                          <p:stCondLst>
                                            <p:cond delay="0"/>
                                          </p:stCondLst>
                                        </p:cTn>
                                        <p:tgtEl>
                                          <p:spTgt spid="1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 grpId="1" animBg="1" advAuto="0"/>
      <p:bldP spid="103" grpId="2" animBg="1" advAuto="0"/>
      <p:bldP spid="107" grpId="3" animBg="1" advAuto="0"/>
      <p:bldP spid="108" grpId="7" animBg="1" advAuto="0"/>
      <p:bldP spid="109" grpId="5" animBg="1" advAuto="0"/>
      <p:bldP spid="109" grpId="22" animBg="1" advAuto="0"/>
      <p:bldP spid="110" grpId="6" animBg="1" advAuto="0"/>
      <p:bldP spid="110" grpId="23" animBg="1" advAuto="0"/>
      <p:bldP spid="111" grpId="8" animBg="1" advAuto="0"/>
      <p:bldP spid="111" grpId="24" animBg="1" advAuto="0"/>
      <p:bldP spid="112" grpId="9" animBg="1" advAuto="0"/>
      <p:bldP spid="112" grpId="25" animBg="1" advAuto="0"/>
      <p:bldP spid="113" grpId="4" animBg="1" advAuto="0"/>
      <p:bldP spid="113" grpId="26" animBg="1" advAuto="0"/>
      <p:bldP spid="114" grpId="10" animBg="1" advAuto="0"/>
      <p:bldP spid="115" grpId="11" animBg="1" advAuto="0"/>
      <p:bldP spid="115" grpId="16" animBg="1" advAuto="0"/>
      <p:bldP spid="116" grpId="15" animBg="1" advAuto="0"/>
      <p:bldP spid="116" grpId="17" animBg="1" advAuto="0"/>
      <p:bldP spid="117" grpId="13" animBg="1" advAuto="0"/>
      <p:bldP spid="117" grpId="18" animBg="1" advAuto="0"/>
      <p:bldP spid="118" grpId="14" animBg="1" advAuto="0"/>
      <p:bldP spid="118" grpId="19" animBg="1" advAuto="0"/>
      <p:bldP spid="119" grpId="12" animBg="1" advAuto="0"/>
      <p:bldP spid="119" grpId="20" animBg="1" advAuto="0"/>
      <p:bldP spid="120" grpId="21" animBg="1" advAuto="0"/>
    </p:bld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4" name="Rectangle"/>
          <p:cNvSpPr/>
          <p:nvPr/>
        </p:nvSpPr>
        <p:spPr>
          <a:xfrm>
            <a:off x="-165100" y="4839323"/>
            <a:ext cx="13335000" cy="5101631"/>
          </a:xfrm>
          <a:prstGeom prst="rect">
            <a:avLst/>
          </a:prstGeom>
          <a:solidFill>
            <a:srgbClr val="FFD479"/>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125" name="Rectangle"/>
          <p:cNvSpPr/>
          <p:nvPr/>
        </p:nvSpPr>
        <p:spPr>
          <a:xfrm>
            <a:off x="-177800" y="-156865"/>
            <a:ext cx="13233400" cy="5101630"/>
          </a:xfrm>
          <a:prstGeom prst="rect">
            <a:avLst/>
          </a:prstGeom>
          <a:solidFill>
            <a:srgbClr val="FFFC79"/>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126" name="Process R"/>
          <p:cNvSpPr/>
          <p:nvPr/>
        </p:nvSpPr>
        <p:spPr>
          <a:xfrm rot="16200000">
            <a:off x="-209650" y="2304235"/>
            <a:ext cx="2133800" cy="74323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lvl1pPr>
              <a:defRPr sz="3600">
                <a:solidFill>
                  <a:srgbClr val="424242"/>
                </a:solidFill>
                <a:latin typeface="+mn-lt"/>
                <a:ea typeface="+mn-ea"/>
                <a:cs typeface="+mn-cs"/>
                <a:sym typeface="Chalkboard SE Regular"/>
              </a:defRPr>
            </a:lvl1pPr>
          </a:lstStyle>
          <a:p>
            <a:r>
              <a:t>Process R</a:t>
            </a:r>
          </a:p>
        </p:txBody>
      </p:sp>
      <p:sp>
        <p:nvSpPr>
          <p:cNvPr id="127" name="Rounded Rectangle"/>
          <p:cNvSpPr/>
          <p:nvPr/>
        </p:nvSpPr>
        <p:spPr>
          <a:xfrm>
            <a:off x="1231900" y="1181100"/>
            <a:ext cx="8864402" cy="2755900"/>
          </a:xfrm>
          <a:prstGeom prst="roundRect">
            <a:avLst>
              <a:gd name="adj" fmla="val 6912"/>
            </a:avLst>
          </a:prstGeom>
          <a:ln w="50800">
            <a:solidFill>
              <a:srgbClr val="424242"/>
            </a:solidFill>
            <a:miter lim="400000"/>
          </a:ln>
        </p:spPr>
        <p:txBody>
          <a:bodyPr lIns="50800" tIns="50800" rIns="50800" bIns="50800" anchor="ctr"/>
          <a:lstStyle/>
          <a:p>
            <a:pPr>
              <a:defRPr sz="4000" b="1">
                <a:solidFill>
                  <a:srgbClr val="FFFFFF"/>
                </a:solidFill>
                <a:effectLst>
                  <a:outerShdw blurRad="38100" dist="12700" dir="5400000" rotWithShape="0">
                    <a:srgbClr val="000000">
                      <a:alpha val="50000"/>
                    </a:srgbClr>
                  </a:outerShdw>
                </a:effectLst>
              </a:defRPr>
            </a:pPr>
            <a:endParaRPr/>
          </a:p>
        </p:txBody>
      </p:sp>
      <p:sp>
        <p:nvSpPr>
          <p:cNvPr id="128" name="Slide Number"/>
          <p:cNvSpPr txBox="1">
            <a:spLocks noGrp="1"/>
          </p:cNvSpPr>
          <p:nvPr>
            <p:ph type="sldNum" sz="quarter" idx="2"/>
          </p:nvPr>
        </p:nvSpPr>
        <p:spPr>
          <a:xfrm>
            <a:off x="11715749" y="9009155"/>
            <a:ext cx="228601" cy="358590"/>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16</a:t>
            </a:fld>
            <a:endParaRPr/>
          </a:p>
        </p:txBody>
      </p:sp>
      <p:sp>
        <p:nvSpPr>
          <p:cNvPr id="129" name="socket = new socket (UDP type)"/>
          <p:cNvSpPr/>
          <p:nvPr/>
        </p:nvSpPr>
        <p:spPr>
          <a:xfrm>
            <a:off x="1505049" y="1344079"/>
            <a:ext cx="6350100" cy="7493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400">
                <a:solidFill>
                  <a:srgbClr val="0433FF"/>
                </a:solidFill>
                <a:latin typeface="Courier"/>
                <a:ea typeface="Courier"/>
                <a:cs typeface="Courier"/>
                <a:sym typeface="Courier"/>
              </a:defRPr>
            </a:lvl1pPr>
          </a:lstStyle>
          <a:p>
            <a:r>
              <a:t>socket = new socket (UDP type)</a:t>
            </a:r>
          </a:p>
        </p:txBody>
      </p:sp>
      <p:sp>
        <p:nvSpPr>
          <p:cNvPr id="130" name="socket.bind (IP address: 5.5.5.5, port: 5000)"/>
          <p:cNvSpPr/>
          <p:nvPr/>
        </p:nvSpPr>
        <p:spPr>
          <a:xfrm>
            <a:off x="1505049" y="1896883"/>
            <a:ext cx="8915202" cy="7493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400">
                <a:solidFill>
                  <a:srgbClr val="0433FF"/>
                </a:solidFill>
                <a:latin typeface="Courier"/>
                <a:ea typeface="Courier"/>
                <a:cs typeface="Courier"/>
                <a:sym typeface="Courier"/>
              </a:defRPr>
            </a:lvl1pPr>
          </a:lstStyle>
          <a:p>
            <a:r>
              <a:t>socket.bind (IP address: 5.5.5.5, port: 5000)</a:t>
            </a:r>
          </a:p>
        </p:txBody>
      </p:sp>
      <p:sp>
        <p:nvSpPr>
          <p:cNvPr id="131" name="Rounded Rectangle"/>
          <p:cNvSpPr/>
          <p:nvPr/>
        </p:nvSpPr>
        <p:spPr>
          <a:xfrm>
            <a:off x="1193800" y="5232400"/>
            <a:ext cx="4318000" cy="1968500"/>
          </a:xfrm>
          <a:prstGeom prst="roundRect">
            <a:avLst>
              <a:gd name="adj" fmla="val 9677"/>
            </a:avLst>
          </a:prstGeom>
          <a:ln w="50800">
            <a:solidFill>
              <a:srgbClr val="424242"/>
            </a:solidFill>
            <a:miter lim="400000"/>
          </a:ln>
        </p:spPr>
        <p:txBody>
          <a:bodyPr lIns="50800" tIns="50800" rIns="50800" bIns="50800" anchor="ctr"/>
          <a:lstStyle/>
          <a:p>
            <a:pPr>
              <a:defRPr sz="3600">
                <a:solidFill>
                  <a:srgbClr val="FFFFFF"/>
                </a:solidFill>
                <a:latin typeface="+mn-lt"/>
                <a:ea typeface="+mn-ea"/>
                <a:cs typeface="+mn-cs"/>
                <a:sym typeface="Chalkboard SE Regular"/>
              </a:defRPr>
            </a:pPr>
            <a:endParaRPr/>
          </a:p>
        </p:txBody>
      </p:sp>
      <p:sp>
        <p:nvSpPr>
          <p:cNvPr id="132" name="for process R"/>
          <p:cNvSpPr/>
          <p:nvPr/>
        </p:nvSpPr>
        <p:spPr>
          <a:xfrm>
            <a:off x="1326808" y="5410199"/>
            <a:ext cx="2492128" cy="4699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2400">
                <a:solidFill>
                  <a:srgbClr val="424242"/>
                </a:solidFill>
                <a:latin typeface="Courier"/>
                <a:ea typeface="Courier"/>
                <a:cs typeface="Courier"/>
                <a:sym typeface="Courier"/>
              </a:defRPr>
            </a:lvl1pPr>
          </a:lstStyle>
          <a:p>
            <a:r>
              <a:t>for process R</a:t>
            </a:r>
          </a:p>
        </p:txBody>
      </p:sp>
      <p:sp>
        <p:nvSpPr>
          <p:cNvPr id="133" name="IP address: 5.5.5.5"/>
          <p:cNvSpPr/>
          <p:nvPr/>
        </p:nvSpPr>
        <p:spPr>
          <a:xfrm>
            <a:off x="1326808" y="6140449"/>
            <a:ext cx="3589587" cy="4699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2400">
                <a:solidFill>
                  <a:srgbClr val="424242"/>
                </a:solidFill>
                <a:latin typeface="Courier"/>
                <a:ea typeface="Courier"/>
                <a:cs typeface="Courier"/>
                <a:sym typeface="Courier"/>
              </a:defRPr>
            </a:lvl1pPr>
          </a:lstStyle>
          <a:p>
            <a:r>
              <a:t>IP address: 5.5.5.5</a:t>
            </a:r>
          </a:p>
        </p:txBody>
      </p:sp>
      <p:sp>
        <p:nvSpPr>
          <p:cNvPr id="134" name="port: 5000"/>
          <p:cNvSpPr/>
          <p:nvPr/>
        </p:nvSpPr>
        <p:spPr>
          <a:xfrm>
            <a:off x="1326808" y="6534149"/>
            <a:ext cx="1943399" cy="4699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2400">
                <a:solidFill>
                  <a:srgbClr val="424242"/>
                </a:solidFill>
                <a:latin typeface="Courier"/>
                <a:ea typeface="Courier"/>
                <a:cs typeface="Courier"/>
                <a:sym typeface="Courier"/>
              </a:defRPr>
            </a:lvl1pPr>
          </a:lstStyle>
          <a:p>
            <a:r>
              <a:t>port: 5000</a:t>
            </a:r>
          </a:p>
        </p:txBody>
      </p:sp>
      <p:sp>
        <p:nvSpPr>
          <p:cNvPr id="135" name="UDP socket"/>
          <p:cNvSpPr/>
          <p:nvPr/>
        </p:nvSpPr>
        <p:spPr>
          <a:xfrm rot="16200000">
            <a:off x="-482601" y="5914881"/>
            <a:ext cx="2679701" cy="74323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lvl1pPr>
              <a:defRPr sz="3600">
                <a:solidFill>
                  <a:srgbClr val="424242"/>
                </a:solidFill>
                <a:latin typeface="+mn-lt"/>
                <a:ea typeface="+mn-ea"/>
                <a:cs typeface="+mn-cs"/>
                <a:sym typeface="Chalkboard SE Regular"/>
              </a:defRPr>
            </a:lvl1pPr>
          </a:lstStyle>
          <a:p>
            <a:r>
              <a:t>UDP socket</a:t>
            </a:r>
          </a:p>
        </p:txBody>
      </p:sp>
      <p:sp>
        <p:nvSpPr>
          <p:cNvPr id="136" name="message = socket.recvfrom (100 bytes)"/>
          <p:cNvSpPr/>
          <p:nvPr/>
        </p:nvSpPr>
        <p:spPr>
          <a:xfrm>
            <a:off x="1505049" y="2421187"/>
            <a:ext cx="8243888" cy="80629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400">
                <a:solidFill>
                  <a:srgbClr val="0433FF"/>
                </a:solidFill>
                <a:latin typeface="Courier"/>
                <a:ea typeface="Courier"/>
                <a:cs typeface="Courier"/>
                <a:sym typeface="Courier"/>
              </a:defRPr>
            </a:lvl1pPr>
          </a:lstStyle>
          <a:p>
            <a:r>
              <a:t>message = socket.recvfrom (100 bytes)</a:t>
            </a:r>
          </a:p>
        </p:txBody>
      </p:sp>
      <p:sp>
        <p:nvSpPr>
          <p:cNvPr id="137" name="message"/>
          <p:cNvSpPr/>
          <p:nvPr/>
        </p:nvSpPr>
        <p:spPr>
          <a:xfrm>
            <a:off x="5943600" y="7783410"/>
            <a:ext cx="6731000" cy="749301"/>
          </a:xfrm>
          <a:prstGeom prst="rect">
            <a:avLst/>
          </a:prstGeom>
          <a:solidFill>
            <a:srgbClr val="942193"/>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defRPr sz="2400">
                <a:solidFill>
                  <a:srgbClr val="FFFFFF"/>
                </a:solidFill>
                <a:latin typeface="Courier"/>
                <a:ea typeface="Courier"/>
                <a:cs typeface="Courier"/>
                <a:sym typeface="Courier"/>
              </a:defRPr>
            </a:lvl1pPr>
          </a:lstStyle>
          <a:p>
            <a:r>
              <a:t>message</a:t>
            </a:r>
          </a:p>
        </p:txBody>
      </p:sp>
      <p:sp>
        <p:nvSpPr>
          <p:cNvPr id="138" name="Source port: 1000"/>
          <p:cNvSpPr/>
          <p:nvPr/>
        </p:nvSpPr>
        <p:spPr>
          <a:xfrm>
            <a:off x="5943600" y="6996010"/>
            <a:ext cx="3517900" cy="749301"/>
          </a:xfrm>
          <a:prstGeom prst="rect">
            <a:avLst/>
          </a:prstGeom>
          <a:solidFill>
            <a:srgbClr val="942193"/>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defRPr sz="2400">
                <a:solidFill>
                  <a:srgbClr val="FFFFFF"/>
                </a:solidFill>
                <a:latin typeface="Courier"/>
                <a:ea typeface="Courier"/>
                <a:cs typeface="Courier"/>
                <a:sym typeface="Courier"/>
              </a:defRPr>
            </a:lvl1pPr>
          </a:lstStyle>
          <a:p>
            <a:r>
              <a:t>Source port: 1000</a:t>
            </a:r>
          </a:p>
        </p:txBody>
      </p:sp>
      <p:sp>
        <p:nvSpPr>
          <p:cNvPr id="139" name="Dest. port: 5000"/>
          <p:cNvSpPr/>
          <p:nvPr/>
        </p:nvSpPr>
        <p:spPr>
          <a:xfrm>
            <a:off x="9512300" y="6996010"/>
            <a:ext cx="3149600" cy="749301"/>
          </a:xfrm>
          <a:prstGeom prst="rect">
            <a:avLst/>
          </a:prstGeom>
          <a:solidFill>
            <a:srgbClr val="942193"/>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defRPr sz="2400">
                <a:solidFill>
                  <a:srgbClr val="FFFFFF"/>
                </a:solidFill>
                <a:latin typeface="Courier"/>
                <a:ea typeface="Courier"/>
                <a:cs typeface="Courier"/>
                <a:sym typeface="Courier"/>
              </a:defRPr>
            </a:lvl1pPr>
          </a:lstStyle>
          <a:p>
            <a:r>
              <a:t>Dest. port: 5000</a:t>
            </a:r>
          </a:p>
        </p:txBody>
      </p:sp>
      <p:sp>
        <p:nvSpPr>
          <p:cNvPr id="140" name="Source IP address: 1.1.1.1"/>
          <p:cNvSpPr/>
          <p:nvPr/>
        </p:nvSpPr>
        <p:spPr>
          <a:xfrm>
            <a:off x="5943600" y="5421210"/>
            <a:ext cx="6731000" cy="749301"/>
          </a:xfrm>
          <a:prstGeom prst="rect">
            <a:avLst/>
          </a:prstGeom>
          <a:solidFill>
            <a:srgbClr val="942193"/>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defRPr sz="2400">
                <a:solidFill>
                  <a:srgbClr val="FFFFFF"/>
                </a:solidFill>
                <a:latin typeface="Courier"/>
                <a:ea typeface="Courier"/>
                <a:cs typeface="Courier"/>
                <a:sym typeface="Courier"/>
              </a:defRPr>
            </a:lvl1pPr>
          </a:lstStyle>
          <a:p>
            <a:r>
              <a:t>Source IP address: 1.1.1.1</a:t>
            </a:r>
          </a:p>
        </p:txBody>
      </p:sp>
      <p:sp>
        <p:nvSpPr>
          <p:cNvPr id="141" name="Dest. IP address: 5.5.5.5"/>
          <p:cNvSpPr/>
          <p:nvPr/>
        </p:nvSpPr>
        <p:spPr>
          <a:xfrm>
            <a:off x="5943600" y="6208610"/>
            <a:ext cx="6731000" cy="749301"/>
          </a:xfrm>
          <a:prstGeom prst="rect">
            <a:avLst/>
          </a:prstGeom>
          <a:solidFill>
            <a:srgbClr val="942193"/>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defRPr sz="2400">
                <a:solidFill>
                  <a:srgbClr val="FFFFFF"/>
                </a:solidFill>
                <a:latin typeface="Courier"/>
                <a:ea typeface="Courier"/>
                <a:cs typeface="Courier"/>
                <a:sym typeface="Courier"/>
              </a:defRPr>
            </a:lvl1pPr>
          </a:lstStyle>
          <a:p>
            <a:r>
              <a:t>Dest. IP address: 5.5.5.5</a:t>
            </a:r>
          </a:p>
        </p:txBody>
      </p:sp>
      <p:sp>
        <p:nvSpPr>
          <p:cNvPr id="142" name="socket.close ( )"/>
          <p:cNvSpPr/>
          <p:nvPr/>
        </p:nvSpPr>
        <p:spPr>
          <a:xfrm>
            <a:off x="1505049" y="3002489"/>
            <a:ext cx="4203701" cy="7493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400">
                <a:solidFill>
                  <a:srgbClr val="0433FF"/>
                </a:solidFill>
                <a:latin typeface="Courier"/>
                <a:ea typeface="Courier"/>
                <a:cs typeface="Courier"/>
                <a:sym typeface="Courier"/>
              </a:defRPr>
            </a:lvl1pPr>
          </a:lstStyle>
          <a:p>
            <a:r>
              <a:t>socket.close ( )</a:t>
            </a:r>
          </a:p>
        </p:txBody>
      </p:sp>
      <p:sp>
        <p:nvSpPr>
          <p:cNvPr id="143" name="application layer"/>
          <p:cNvSpPr/>
          <p:nvPr/>
        </p:nvSpPr>
        <p:spPr>
          <a:xfrm>
            <a:off x="4419984" y="203200"/>
            <a:ext cx="3706156" cy="7493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a:solidFill>
                  <a:srgbClr val="C0C0C0"/>
                </a:solidFill>
                <a:latin typeface="Times New Roman"/>
                <a:ea typeface="Times New Roman"/>
                <a:cs typeface="Times New Roman"/>
                <a:sym typeface="Times New Roman"/>
              </a:defRPr>
            </a:lvl1pPr>
          </a:lstStyle>
          <a:p>
            <a:r>
              <a:t>application layer</a:t>
            </a:r>
          </a:p>
        </p:txBody>
      </p:sp>
      <p:sp>
        <p:nvSpPr>
          <p:cNvPr id="144" name="transport layer"/>
          <p:cNvSpPr/>
          <p:nvPr/>
        </p:nvSpPr>
        <p:spPr>
          <a:xfrm>
            <a:off x="4762233" y="8788400"/>
            <a:ext cx="3340746" cy="7493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a:solidFill>
                  <a:srgbClr val="C0C0C0"/>
                </a:solidFill>
                <a:latin typeface="Times New Roman"/>
                <a:ea typeface="Times New Roman"/>
                <a:cs typeface="Times New Roman"/>
                <a:sym typeface="Times New Roman"/>
              </a:defRPr>
            </a:lvl1pPr>
          </a:lstStyle>
          <a:p>
            <a:r>
              <a:t>transport layer</a:t>
            </a:r>
          </a:p>
        </p:txBody>
      </p:sp>
    </p:spTree>
  </p:cSld>
  <p:clrMapOvr>
    <a:masterClrMapping/>
  </p:clrMapOvr>
  <p:transition spd="slow"/>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26"/>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2" nodeType="afterEffect">
                                  <p:stCondLst>
                                    <p:cond delay="0"/>
                                  </p:stCondLst>
                                  <p:iterate>
                                    <p:tmAbs val="0"/>
                                  </p:iterate>
                                  <p:childTnLst>
                                    <p:set>
                                      <p:cBhvr>
                                        <p:cTn id="9" fill="hold"/>
                                        <p:tgtEl>
                                          <p:spTgt spid="127"/>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3" nodeType="clickEffect">
                                  <p:stCondLst>
                                    <p:cond delay="0"/>
                                  </p:stCondLst>
                                  <p:iterate type="lt">
                                    <p:tmAbs val="100"/>
                                  </p:iterate>
                                  <p:childTnLst>
                                    <p:set>
                                      <p:cBhvr>
                                        <p:cTn id="13" fill="hold"/>
                                        <p:tgtEl>
                                          <p:spTgt spid="129"/>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4" nodeType="clickEffect">
                                  <p:stCondLst>
                                    <p:cond delay="0"/>
                                  </p:stCondLst>
                                  <p:iterate>
                                    <p:tmAbs val="0"/>
                                  </p:iterate>
                                  <p:childTnLst>
                                    <p:set>
                                      <p:cBhvr>
                                        <p:cTn id="17" fill="hold"/>
                                        <p:tgtEl>
                                          <p:spTgt spid="135"/>
                                        </p:tgtEl>
                                        <p:attrNameLst>
                                          <p:attrName>style.visibility</p:attrName>
                                        </p:attrNameLst>
                                      </p:cBhvr>
                                      <p:to>
                                        <p:strVal val="visible"/>
                                      </p:to>
                                    </p:set>
                                  </p:childTnLst>
                                </p:cTn>
                              </p:par>
                            </p:childTnLst>
                          </p:cTn>
                        </p:par>
                        <p:par>
                          <p:cTn id="18" fill="hold">
                            <p:stCondLst>
                              <p:cond delay="0"/>
                            </p:stCondLst>
                            <p:childTnLst>
                              <p:par>
                                <p:cTn id="19" presetID="1" presetClass="entr" presetSubtype="0" fill="hold" grpId="5" nodeType="afterEffect">
                                  <p:stCondLst>
                                    <p:cond delay="0"/>
                                  </p:stCondLst>
                                  <p:iterate>
                                    <p:tmAbs val="0"/>
                                  </p:iterate>
                                  <p:childTnLst>
                                    <p:set>
                                      <p:cBhvr>
                                        <p:cTn id="20" fill="hold"/>
                                        <p:tgtEl>
                                          <p:spTgt spid="131"/>
                                        </p:tgtEl>
                                        <p:attrNameLst>
                                          <p:attrName>style.visibility</p:attrName>
                                        </p:attrNameLst>
                                      </p:cBhvr>
                                      <p:to>
                                        <p:strVal val="visible"/>
                                      </p:to>
                                    </p:set>
                                  </p:childTnLst>
                                </p:cTn>
                              </p:par>
                            </p:childTnLst>
                          </p:cTn>
                        </p:par>
                        <p:par>
                          <p:cTn id="21" fill="hold">
                            <p:stCondLst>
                              <p:cond delay="0"/>
                            </p:stCondLst>
                            <p:childTnLst>
                              <p:par>
                                <p:cTn id="22" presetID="1" presetClass="entr" presetSubtype="0" fill="hold" grpId="6" nodeType="afterEffect">
                                  <p:stCondLst>
                                    <p:cond delay="0"/>
                                  </p:stCondLst>
                                  <p:iterate>
                                    <p:tmAbs val="0"/>
                                  </p:iterate>
                                  <p:childTnLst>
                                    <p:set>
                                      <p:cBhvr>
                                        <p:cTn id="23" fill="hold"/>
                                        <p:tgtEl>
                                          <p:spTgt spid="132"/>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7" nodeType="clickEffect">
                                  <p:stCondLst>
                                    <p:cond delay="0"/>
                                  </p:stCondLst>
                                  <p:iterate type="lt">
                                    <p:tmAbs val="100"/>
                                  </p:iterate>
                                  <p:childTnLst>
                                    <p:set>
                                      <p:cBhvr>
                                        <p:cTn id="27" fill="hold"/>
                                        <p:tgtEl>
                                          <p:spTgt spid="130"/>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8" nodeType="clickEffect">
                                  <p:stCondLst>
                                    <p:cond delay="0"/>
                                  </p:stCondLst>
                                  <p:iterate>
                                    <p:tmAbs val="0"/>
                                  </p:iterate>
                                  <p:childTnLst>
                                    <p:set>
                                      <p:cBhvr>
                                        <p:cTn id="31" fill="hold"/>
                                        <p:tgtEl>
                                          <p:spTgt spid="133"/>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9" nodeType="clickEffect">
                                  <p:stCondLst>
                                    <p:cond delay="0"/>
                                  </p:stCondLst>
                                  <p:iterate>
                                    <p:tmAbs val="0"/>
                                  </p:iterate>
                                  <p:childTnLst>
                                    <p:set>
                                      <p:cBhvr>
                                        <p:cTn id="35" fill="hold"/>
                                        <p:tgtEl>
                                          <p:spTgt spid="134"/>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10" nodeType="clickEffect">
                                  <p:stCondLst>
                                    <p:cond delay="0"/>
                                  </p:stCondLst>
                                  <p:iterate type="lt">
                                    <p:tmAbs val="100"/>
                                  </p:iterate>
                                  <p:childTnLst>
                                    <p:set>
                                      <p:cBhvr>
                                        <p:cTn id="39" fill="hold"/>
                                        <p:tgtEl>
                                          <p:spTgt spid="136"/>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11" nodeType="clickEffect">
                                  <p:stCondLst>
                                    <p:cond delay="0"/>
                                  </p:stCondLst>
                                  <p:iterate>
                                    <p:tmAbs val="0"/>
                                  </p:iterate>
                                  <p:childTnLst>
                                    <p:set>
                                      <p:cBhvr>
                                        <p:cTn id="43" fill="hold"/>
                                        <p:tgtEl>
                                          <p:spTgt spid="137"/>
                                        </p:tgtEl>
                                        <p:attrNameLst>
                                          <p:attrName>style.visibility</p:attrName>
                                        </p:attrNameLst>
                                      </p:cBhvr>
                                      <p:to>
                                        <p:strVal val="visible"/>
                                      </p:to>
                                    </p:set>
                                  </p:childTnLst>
                                </p:cTn>
                              </p:par>
                            </p:childTnLst>
                          </p:cTn>
                        </p:par>
                        <p:par>
                          <p:cTn id="44" fill="hold">
                            <p:stCondLst>
                              <p:cond delay="0"/>
                            </p:stCondLst>
                            <p:childTnLst>
                              <p:par>
                                <p:cTn id="45" presetID="1" presetClass="entr" presetSubtype="0" fill="hold" grpId="12" nodeType="afterEffect">
                                  <p:stCondLst>
                                    <p:cond delay="0"/>
                                  </p:stCondLst>
                                  <p:iterate>
                                    <p:tmAbs val="0"/>
                                  </p:iterate>
                                  <p:childTnLst>
                                    <p:set>
                                      <p:cBhvr>
                                        <p:cTn id="46" fill="hold"/>
                                        <p:tgtEl>
                                          <p:spTgt spid="140"/>
                                        </p:tgtEl>
                                        <p:attrNameLst>
                                          <p:attrName>style.visibility</p:attrName>
                                        </p:attrNameLst>
                                      </p:cBhvr>
                                      <p:to>
                                        <p:strVal val="visible"/>
                                      </p:to>
                                    </p:set>
                                  </p:childTnLst>
                                </p:cTn>
                              </p:par>
                            </p:childTnLst>
                          </p:cTn>
                        </p:par>
                        <p:par>
                          <p:cTn id="47" fill="hold">
                            <p:stCondLst>
                              <p:cond delay="0"/>
                            </p:stCondLst>
                            <p:childTnLst>
                              <p:par>
                                <p:cTn id="48" presetID="1" presetClass="entr" presetSubtype="0" fill="hold" grpId="13" nodeType="afterEffect">
                                  <p:stCondLst>
                                    <p:cond delay="0"/>
                                  </p:stCondLst>
                                  <p:iterate>
                                    <p:tmAbs val="0"/>
                                  </p:iterate>
                                  <p:childTnLst>
                                    <p:set>
                                      <p:cBhvr>
                                        <p:cTn id="49" fill="hold"/>
                                        <p:tgtEl>
                                          <p:spTgt spid="138"/>
                                        </p:tgtEl>
                                        <p:attrNameLst>
                                          <p:attrName>style.visibility</p:attrName>
                                        </p:attrNameLst>
                                      </p:cBhvr>
                                      <p:to>
                                        <p:strVal val="visible"/>
                                      </p:to>
                                    </p:set>
                                  </p:childTnLst>
                                </p:cTn>
                              </p:par>
                            </p:childTnLst>
                          </p:cTn>
                        </p:par>
                        <p:par>
                          <p:cTn id="50" fill="hold">
                            <p:stCondLst>
                              <p:cond delay="0"/>
                            </p:stCondLst>
                            <p:childTnLst>
                              <p:par>
                                <p:cTn id="51" presetID="1" presetClass="entr" presetSubtype="0" fill="hold" grpId="14" nodeType="afterEffect">
                                  <p:stCondLst>
                                    <p:cond delay="0"/>
                                  </p:stCondLst>
                                  <p:iterate>
                                    <p:tmAbs val="0"/>
                                  </p:iterate>
                                  <p:childTnLst>
                                    <p:set>
                                      <p:cBhvr>
                                        <p:cTn id="52" fill="hold"/>
                                        <p:tgtEl>
                                          <p:spTgt spid="141"/>
                                        </p:tgtEl>
                                        <p:attrNameLst>
                                          <p:attrName>style.visibility</p:attrName>
                                        </p:attrNameLst>
                                      </p:cBhvr>
                                      <p:to>
                                        <p:strVal val="visible"/>
                                      </p:to>
                                    </p:set>
                                  </p:childTnLst>
                                </p:cTn>
                              </p:par>
                            </p:childTnLst>
                          </p:cTn>
                        </p:par>
                        <p:par>
                          <p:cTn id="53" fill="hold">
                            <p:stCondLst>
                              <p:cond delay="0"/>
                            </p:stCondLst>
                            <p:childTnLst>
                              <p:par>
                                <p:cTn id="54" presetID="1" presetClass="entr" presetSubtype="0" fill="hold" grpId="15" nodeType="afterEffect">
                                  <p:stCondLst>
                                    <p:cond delay="0"/>
                                  </p:stCondLst>
                                  <p:iterate>
                                    <p:tmAbs val="0"/>
                                  </p:iterate>
                                  <p:childTnLst>
                                    <p:set>
                                      <p:cBhvr>
                                        <p:cTn id="55" fill="hold"/>
                                        <p:tgtEl>
                                          <p:spTgt spid="139"/>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xit" presetSubtype="0" fill="hold" grpId="16" nodeType="clickEffect">
                                  <p:stCondLst>
                                    <p:cond delay="0"/>
                                  </p:stCondLst>
                                  <p:iterate>
                                    <p:tmAbs val="0"/>
                                  </p:iterate>
                                  <p:childTnLst>
                                    <p:set>
                                      <p:cBhvr>
                                        <p:cTn id="59" fill="hold">
                                          <p:stCondLst>
                                            <p:cond delay="0"/>
                                          </p:stCondLst>
                                        </p:cTn>
                                        <p:tgtEl>
                                          <p:spTgt spid="137"/>
                                        </p:tgtEl>
                                        <p:attrNameLst>
                                          <p:attrName>style.visibility</p:attrName>
                                        </p:attrNameLst>
                                      </p:cBhvr>
                                      <p:to>
                                        <p:strVal val="hidden"/>
                                      </p:to>
                                    </p:set>
                                  </p:childTnLst>
                                </p:cTn>
                              </p:par>
                            </p:childTnLst>
                          </p:cTn>
                        </p:par>
                        <p:par>
                          <p:cTn id="60" fill="hold">
                            <p:stCondLst>
                              <p:cond delay="0"/>
                            </p:stCondLst>
                            <p:childTnLst>
                              <p:par>
                                <p:cTn id="61" presetID="1" presetClass="exit" presetSubtype="0" fill="hold" grpId="17" nodeType="afterEffect">
                                  <p:stCondLst>
                                    <p:cond delay="0"/>
                                  </p:stCondLst>
                                  <p:iterate>
                                    <p:tmAbs val="0"/>
                                  </p:iterate>
                                  <p:childTnLst>
                                    <p:set>
                                      <p:cBhvr>
                                        <p:cTn id="62" fill="hold">
                                          <p:stCondLst>
                                            <p:cond delay="0"/>
                                          </p:stCondLst>
                                        </p:cTn>
                                        <p:tgtEl>
                                          <p:spTgt spid="138"/>
                                        </p:tgtEl>
                                        <p:attrNameLst>
                                          <p:attrName>style.visibility</p:attrName>
                                        </p:attrNameLst>
                                      </p:cBhvr>
                                      <p:to>
                                        <p:strVal val="hidden"/>
                                      </p:to>
                                    </p:set>
                                  </p:childTnLst>
                                </p:cTn>
                              </p:par>
                            </p:childTnLst>
                          </p:cTn>
                        </p:par>
                        <p:par>
                          <p:cTn id="63" fill="hold">
                            <p:stCondLst>
                              <p:cond delay="0"/>
                            </p:stCondLst>
                            <p:childTnLst>
                              <p:par>
                                <p:cTn id="64" presetID="1" presetClass="exit" presetSubtype="0" fill="hold" grpId="18" nodeType="afterEffect">
                                  <p:stCondLst>
                                    <p:cond delay="0"/>
                                  </p:stCondLst>
                                  <p:iterate>
                                    <p:tmAbs val="0"/>
                                  </p:iterate>
                                  <p:childTnLst>
                                    <p:set>
                                      <p:cBhvr>
                                        <p:cTn id="65" fill="hold">
                                          <p:stCondLst>
                                            <p:cond delay="0"/>
                                          </p:stCondLst>
                                        </p:cTn>
                                        <p:tgtEl>
                                          <p:spTgt spid="139"/>
                                        </p:tgtEl>
                                        <p:attrNameLst>
                                          <p:attrName>style.visibility</p:attrName>
                                        </p:attrNameLst>
                                      </p:cBhvr>
                                      <p:to>
                                        <p:strVal val="hidden"/>
                                      </p:to>
                                    </p:set>
                                  </p:childTnLst>
                                </p:cTn>
                              </p:par>
                            </p:childTnLst>
                          </p:cTn>
                        </p:par>
                        <p:par>
                          <p:cTn id="66" fill="hold">
                            <p:stCondLst>
                              <p:cond delay="0"/>
                            </p:stCondLst>
                            <p:childTnLst>
                              <p:par>
                                <p:cTn id="67" presetID="1" presetClass="exit" presetSubtype="0" fill="hold" grpId="19" nodeType="afterEffect">
                                  <p:stCondLst>
                                    <p:cond delay="0"/>
                                  </p:stCondLst>
                                  <p:iterate>
                                    <p:tmAbs val="0"/>
                                  </p:iterate>
                                  <p:childTnLst>
                                    <p:set>
                                      <p:cBhvr>
                                        <p:cTn id="68" fill="hold">
                                          <p:stCondLst>
                                            <p:cond delay="0"/>
                                          </p:stCondLst>
                                        </p:cTn>
                                        <p:tgtEl>
                                          <p:spTgt spid="140"/>
                                        </p:tgtEl>
                                        <p:attrNameLst>
                                          <p:attrName>style.visibility</p:attrName>
                                        </p:attrNameLst>
                                      </p:cBhvr>
                                      <p:to>
                                        <p:strVal val="hidden"/>
                                      </p:to>
                                    </p:set>
                                  </p:childTnLst>
                                </p:cTn>
                              </p:par>
                            </p:childTnLst>
                          </p:cTn>
                        </p:par>
                        <p:par>
                          <p:cTn id="69" fill="hold">
                            <p:stCondLst>
                              <p:cond delay="0"/>
                            </p:stCondLst>
                            <p:childTnLst>
                              <p:par>
                                <p:cTn id="70" presetID="1" presetClass="exit" presetSubtype="0" fill="hold" grpId="20" nodeType="afterEffect">
                                  <p:stCondLst>
                                    <p:cond delay="0"/>
                                  </p:stCondLst>
                                  <p:iterate>
                                    <p:tmAbs val="0"/>
                                  </p:iterate>
                                  <p:childTnLst>
                                    <p:set>
                                      <p:cBhvr>
                                        <p:cTn id="71" fill="hold">
                                          <p:stCondLst>
                                            <p:cond delay="0"/>
                                          </p:stCondLst>
                                        </p:cTn>
                                        <p:tgtEl>
                                          <p:spTgt spid="141"/>
                                        </p:tgtEl>
                                        <p:attrNameLst>
                                          <p:attrName>style.visibility</p:attrName>
                                        </p:attrNameLst>
                                      </p:cBhvr>
                                      <p:to>
                                        <p:strVal val="hidden"/>
                                      </p:to>
                                    </p:se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grpId="21" nodeType="clickEffect">
                                  <p:stCondLst>
                                    <p:cond delay="0"/>
                                  </p:stCondLst>
                                  <p:iterate type="lt">
                                    <p:tmAbs val="100"/>
                                  </p:iterate>
                                  <p:childTnLst>
                                    <p:set>
                                      <p:cBhvr>
                                        <p:cTn id="75" fill="hold"/>
                                        <p:tgtEl>
                                          <p:spTgt spid="142"/>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1" presetClass="exit" presetSubtype="0" fill="hold" grpId="22" nodeType="clickEffect">
                                  <p:stCondLst>
                                    <p:cond delay="0"/>
                                  </p:stCondLst>
                                  <p:iterate>
                                    <p:tmAbs val="0"/>
                                  </p:iterate>
                                  <p:childTnLst>
                                    <p:set>
                                      <p:cBhvr>
                                        <p:cTn id="79" fill="hold">
                                          <p:stCondLst>
                                            <p:cond delay="0"/>
                                          </p:stCondLst>
                                        </p:cTn>
                                        <p:tgtEl>
                                          <p:spTgt spid="131"/>
                                        </p:tgtEl>
                                        <p:attrNameLst>
                                          <p:attrName>style.visibility</p:attrName>
                                        </p:attrNameLst>
                                      </p:cBhvr>
                                      <p:to>
                                        <p:strVal val="hidden"/>
                                      </p:to>
                                    </p:set>
                                  </p:childTnLst>
                                </p:cTn>
                              </p:par>
                            </p:childTnLst>
                          </p:cTn>
                        </p:par>
                        <p:par>
                          <p:cTn id="80" fill="hold">
                            <p:stCondLst>
                              <p:cond delay="0"/>
                            </p:stCondLst>
                            <p:childTnLst>
                              <p:par>
                                <p:cTn id="81" presetID="1" presetClass="exit" presetSubtype="0" fill="hold" grpId="23" nodeType="afterEffect">
                                  <p:stCondLst>
                                    <p:cond delay="0"/>
                                  </p:stCondLst>
                                  <p:iterate>
                                    <p:tmAbs val="0"/>
                                  </p:iterate>
                                  <p:childTnLst>
                                    <p:set>
                                      <p:cBhvr>
                                        <p:cTn id="82" fill="hold">
                                          <p:stCondLst>
                                            <p:cond delay="0"/>
                                          </p:stCondLst>
                                        </p:cTn>
                                        <p:tgtEl>
                                          <p:spTgt spid="132"/>
                                        </p:tgtEl>
                                        <p:attrNameLst>
                                          <p:attrName>style.visibility</p:attrName>
                                        </p:attrNameLst>
                                      </p:cBhvr>
                                      <p:to>
                                        <p:strVal val="hidden"/>
                                      </p:to>
                                    </p:set>
                                  </p:childTnLst>
                                </p:cTn>
                              </p:par>
                            </p:childTnLst>
                          </p:cTn>
                        </p:par>
                        <p:par>
                          <p:cTn id="83" fill="hold">
                            <p:stCondLst>
                              <p:cond delay="0"/>
                            </p:stCondLst>
                            <p:childTnLst>
                              <p:par>
                                <p:cTn id="84" presetID="1" presetClass="exit" presetSubtype="0" fill="hold" grpId="24" nodeType="afterEffect">
                                  <p:stCondLst>
                                    <p:cond delay="0"/>
                                  </p:stCondLst>
                                  <p:iterate>
                                    <p:tmAbs val="0"/>
                                  </p:iterate>
                                  <p:childTnLst>
                                    <p:set>
                                      <p:cBhvr>
                                        <p:cTn id="85" fill="hold">
                                          <p:stCondLst>
                                            <p:cond delay="0"/>
                                          </p:stCondLst>
                                        </p:cTn>
                                        <p:tgtEl>
                                          <p:spTgt spid="133"/>
                                        </p:tgtEl>
                                        <p:attrNameLst>
                                          <p:attrName>style.visibility</p:attrName>
                                        </p:attrNameLst>
                                      </p:cBhvr>
                                      <p:to>
                                        <p:strVal val="hidden"/>
                                      </p:to>
                                    </p:set>
                                  </p:childTnLst>
                                </p:cTn>
                              </p:par>
                            </p:childTnLst>
                          </p:cTn>
                        </p:par>
                        <p:par>
                          <p:cTn id="86" fill="hold">
                            <p:stCondLst>
                              <p:cond delay="0"/>
                            </p:stCondLst>
                            <p:childTnLst>
                              <p:par>
                                <p:cTn id="87" presetID="1" presetClass="exit" presetSubtype="0" fill="hold" grpId="25" nodeType="afterEffect">
                                  <p:stCondLst>
                                    <p:cond delay="0"/>
                                  </p:stCondLst>
                                  <p:iterate>
                                    <p:tmAbs val="0"/>
                                  </p:iterate>
                                  <p:childTnLst>
                                    <p:set>
                                      <p:cBhvr>
                                        <p:cTn id="88" fill="hold">
                                          <p:stCondLst>
                                            <p:cond delay="0"/>
                                          </p:stCondLst>
                                        </p:cTn>
                                        <p:tgtEl>
                                          <p:spTgt spid="134"/>
                                        </p:tgtEl>
                                        <p:attrNameLst>
                                          <p:attrName>style.visibility</p:attrName>
                                        </p:attrNameLst>
                                      </p:cBhvr>
                                      <p:to>
                                        <p:strVal val="hidden"/>
                                      </p:to>
                                    </p:set>
                                  </p:childTnLst>
                                </p:cTn>
                              </p:par>
                            </p:childTnLst>
                          </p:cTn>
                        </p:par>
                        <p:par>
                          <p:cTn id="89" fill="hold">
                            <p:stCondLst>
                              <p:cond delay="0"/>
                            </p:stCondLst>
                            <p:childTnLst>
                              <p:par>
                                <p:cTn id="90" presetID="1" presetClass="exit" presetSubtype="0" fill="hold" grpId="26" nodeType="afterEffect">
                                  <p:stCondLst>
                                    <p:cond delay="0"/>
                                  </p:stCondLst>
                                  <p:iterate>
                                    <p:tmAbs val="0"/>
                                  </p:iterate>
                                  <p:childTnLst>
                                    <p:set>
                                      <p:cBhvr>
                                        <p:cTn id="91" fill="hold">
                                          <p:stCondLst>
                                            <p:cond delay="0"/>
                                          </p:stCondLst>
                                        </p:cTn>
                                        <p:tgtEl>
                                          <p:spTgt spid="13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 grpId="1" animBg="1" advAuto="0"/>
      <p:bldP spid="127" grpId="2" animBg="1" advAuto="0"/>
      <p:bldP spid="129" grpId="3" animBg="1" advAuto="0"/>
      <p:bldP spid="130" grpId="7" animBg="1" advAuto="0"/>
      <p:bldP spid="131" grpId="5" animBg="1" advAuto="0"/>
      <p:bldP spid="131" grpId="22" animBg="1" advAuto="0"/>
      <p:bldP spid="132" grpId="6" animBg="1" advAuto="0"/>
      <p:bldP spid="132" grpId="23" animBg="1" advAuto="0"/>
      <p:bldP spid="133" grpId="8" animBg="1" advAuto="0"/>
      <p:bldP spid="133" grpId="24" animBg="1" advAuto="0"/>
      <p:bldP spid="134" grpId="9" animBg="1" advAuto="0"/>
      <p:bldP spid="134" grpId="25" animBg="1" advAuto="0"/>
      <p:bldP spid="135" grpId="4" animBg="1" advAuto="0"/>
      <p:bldP spid="135" grpId="26" animBg="1" advAuto="0"/>
      <p:bldP spid="136" grpId="10" animBg="1" advAuto="0"/>
      <p:bldP spid="137" grpId="11" animBg="1" advAuto="0"/>
      <p:bldP spid="137" grpId="16" animBg="1" advAuto="0"/>
      <p:bldP spid="138" grpId="13" animBg="1" advAuto="0"/>
      <p:bldP spid="138" grpId="17" animBg="1" advAuto="0"/>
      <p:bldP spid="139" grpId="15" animBg="1" advAuto="0"/>
      <p:bldP spid="139" grpId="18" animBg="1" advAuto="0"/>
      <p:bldP spid="140" grpId="12" animBg="1" advAuto="0"/>
      <p:bldP spid="140" grpId="19" animBg="1" advAuto="0"/>
      <p:bldP spid="141" grpId="14" animBg="1" advAuto="0"/>
      <p:bldP spid="141" grpId="20" animBg="1" advAuto="0"/>
      <p:bldP spid="142" grpId="21" animBg="1" advAuto="0"/>
    </p:bld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8" name="UDP sockets"/>
          <p:cNvSpPr txBox="1">
            <a:spLocks noGrp="1"/>
          </p:cNvSpPr>
          <p:nvPr>
            <p:ph type="title"/>
          </p:nvPr>
        </p:nvSpPr>
        <p:spPr>
          <a:prstGeom prst="rect">
            <a:avLst/>
          </a:prstGeom>
        </p:spPr>
        <p:txBody>
          <a:bodyPr/>
          <a:lstStyle/>
          <a:p>
            <a:r>
              <a:t>UDP sockets</a:t>
            </a:r>
          </a:p>
        </p:txBody>
      </p:sp>
      <p:sp>
        <p:nvSpPr>
          <p:cNvPr id="149" name="Each UDP socket has a unique                     (IP address, port #) tuple…"/>
          <p:cNvSpPr txBox="1">
            <a:spLocks noGrp="1"/>
          </p:cNvSpPr>
          <p:nvPr>
            <p:ph type="body" idx="1"/>
          </p:nvPr>
        </p:nvSpPr>
        <p:spPr>
          <a:xfrm>
            <a:off x="167606" y="2483633"/>
            <a:ext cx="12141200" cy="7269967"/>
          </a:xfrm>
          <a:prstGeom prst="rect">
            <a:avLst/>
          </a:prstGeom>
        </p:spPr>
        <p:txBody>
          <a:bodyPr/>
          <a:lstStyle/>
          <a:p>
            <a:pPr>
              <a:spcBef>
                <a:spcPts val="6000"/>
              </a:spcBef>
            </a:pPr>
            <a:r>
              <a:rPr dirty="0"/>
              <a:t>Each UDP socket has a </a:t>
            </a:r>
            <a:r>
              <a:rPr b="1" dirty="0"/>
              <a:t>unique</a:t>
            </a:r>
            <a:r>
              <a:rPr dirty="0"/>
              <a:t>  (IP address, port #) </a:t>
            </a:r>
            <a:r>
              <a:rPr lang="fr-CH" dirty="0"/>
              <a:t>-</a:t>
            </a:r>
            <a:r>
              <a:rPr dirty="0"/>
              <a:t>tuple</a:t>
            </a:r>
            <a:endParaRPr lang="fr-CH" dirty="0"/>
          </a:p>
          <a:p>
            <a:pPr lvl="1">
              <a:spcBef>
                <a:spcPts val="6000"/>
              </a:spcBef>
            </a:pPr>
            <a:r>
              <a:rPr lang="fr-CH" dirty="0" err="1">
                <a:solidFill>
                  <a:srgbClr val="FF0000"/>
                </a:solidFill>
              </a:rPr>
              <a:t>Who</a:t>
            </a:r>
            <a:r>
              <a:rPr lang="fr-CH" dirty="0">
                <a:solidFill>
                  <a:srgbClr val="FF0000"/>
                </a:solidFill>
              </a:rPr>
              <a:t> </a:t>
            </a:r>
            <a:r>
              <a:rPr lang="fr-CH" dirty="0" err="1">
                <a:solidFill>
                  <a:srgbClr val="FF0000"/>
                </a:solidFill>
              </a:rPr>
              <a:t>makes</a:t>
            </a:r>
            <a:r>
              <a:rPr lang="fr-CH" dirty="0">
                <a:solidFill>
                  <a:srgbClr val="FF0000"/>
                </a:solidFill>
              </a:rPr>
              <a:t> sure </a:t>
            </a:r>
            <a:r>
              <a:rPr lang="fr-CH" dirty="0" err="1">
                <a:solidFill>
                  <a:srgbClr val="FF0000"/>
                </a:solidFill>
              </a:rPr>
              <a:t>this</a:t>
            </a:r>
            <a:r>
              <a:rPr lang="fr-CH" dirty="0">
                <a:solidFill>
                  <a:srgbClr val="FF0000"/>
                </a:solidFill>
              </a:rPr>
              <a:t> </a:t>
            </a:r>
            <a:r>
              <a:rPr lang="fr-CH" dirty="0" err="1">
                <a:solidFill>
                  <a:srgbClr val="FF0000"/>
                </a:solidFill>
              </a:rPr>
              <a:t>is</a:t>
            </a:r>
            <a:r>
              <a:rPr lang="fr-CH" dirty="0">
                <a:solidFill>
                  <a:srgbClr val="FF0000"/>
                </a:solidFill>
              </a:rPr>
              <a:t> unique?</a:t>
            </a:r>
            <a:endParaRPr dirty="0">
              <a:solidFill>
                <a:srgbClr val="FF0000"/>
              </a:solidFill>
            </a:endParaRPr>
          </a:p>
          <a:p>
            <a:pPr>
              <a:spcBef>
                <a:spcPts val="6000"/>
              </a:spcBef>
            </a:pPr>
            <a:r>
              <a:rPr dirty="0"/>
              <a:t>A process may use the </a:t>
            </a:r>
            <a:r>
              <a:rPr dirty="0">
                <a:solidFill>
                  <a:srgbClr val="942193"/>
                </a:solidFill>
              </a:rPr>
              <a:t>same</a:t>
            </a:r>
            <a:r>
              <a:rPr dirty="0"/>
              <a:t> UDP </a:t>
            </a:r>
            <a:r>
              <a:rPr dirty="0">
                <a:solidFill>
                  <a:srgbClr val="942193"/>
                </a:solidFill>
              </a:rPr>
              <a:t>socket</a:t>
            </a:r>
            <a:r>
              <a:rPr dirty="0"/>
              <a:t> to communicate with </a:t>
            </a:r>
            <a:r>
              <a:rPr dirty="0">
                <a:solidFill>
                  <a:srgbClr val="942193"/>
                </a:solidFill>
              </a:rPr>
              <a:t>many remote processes</a:t>
            </a:r>
            <a:endParaRPr lang="fr-CH" dirty="0">
              <a:solidFill>
                <a:srgbClr val="942193"/>
              </a:solidFill>
            </a:endParaRPr>
          </a:p>
          <a:p>
            <a:pPr>
              <a:spcBef>
                <a:spcPts val="6000"/>
              </a:spcBef>
            </a:pPr>
            <a:r>
              <a:rPr lang="fr-CH" dirty="0" err="1">
                <a:solidFill>
                  <a:srgbClr val="942193"/>
                </a:solidFill>
              </a:rPr>
              <a:t>Now</a:t>
            </a:r>
            <a:r>
              <a:rPr lang="fr-CH" dirty="0">
                <a:solidFill>
                  <a:srgbClr val="942193"/>
                </a:solidFill>
              </a:rPr>
              <a:t> let us look at TCP…</a:t>
            </a:r>
          </a:p>
          <a:p>
            <a:pPr>
              <a:spcBef>
                <a:spcPts val="6000"/>
              </a:spcBef>
            </a:pPr>
            <a:endParaRPr dirty="0">
              <a:solidFill>
                <a:srgbClr val="942193"/>
              </a:solidFill>
            </a:endParaRPr>
          </a:p>
        </p:txBody>
      </p:sp>
      <p:sp>
        <p:nvSpPr>
          <p:cNvPr id="150" name="Slide Number"/>
          <p:cNvSpPr txBox="1">
            <a:spLocks noGrp="1"/>
          </p:cNvSpPr>
          <p:nvPr>
            <p:ph type="sldNum" sz="quarter" idx="2"/>
          </p:nvPr>
        </p:nvSpPr>
        <p:spPr>
          <a:xfrm>
            <a:off x="11931649" y="9001311"/>
            <a:ext cx="228601" cy="358590"/>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17</a:t>
            </a:fld>
            <a:endParaRPr/>
          </a:p>
        </p:txBody>
      </p:sp>
    </p:spTree>
  </p:cSld>
  <p:clrMapOvr>
    <a:masterClrMapping/>
  </p:clrMapOvr>
  <p:transition spd="slow"/>
  <p:timing>
    <p:tnLst>
      <p:par>
        <p:cTn id="1" dur="indefinite" restart="never" fill="hold"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9">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9">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9">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49">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4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 grpId="0" build="p" animBg="1"/>
    </p:bld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2" name="Rectangle"/>
          <p:cNvSpPr/>
          <p:nvPr/>
        </p:nvSpPr>
        <p:spPr>
          <a:xfrm>
            <a:off x="-165100" y="4839323"/>
            <a:ext cx="13335000" cy="5101631"/>
          </a:xfrm>
          <a:prstGeom prst="rect">
            <a:avLst/>
          </a:prstGeom>
          <a:solidFill>
            <a:srgbClr val="FFD479"/>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153" name="Rectangle"/>
          <p:cNvSpPr/>
          <p:nvPr/>
        </p:nvSpPr>
        <p:spPr>
          <a:xfrm>
            <a:off x="-177800" y="-156865"/>
            <a:ext cx="13233400" cy="5101630"/>
          </a:xfrm>
          <a:prstGeom prst="rect">
            <a:avLst/>
          </a:prstGeom>
          <a:solidFill>
            <a:srgbClr val="FFFC79"/>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154" name="Process S"/>
          <p:cNvSpPr/>
          <p:nvPr/>
        </p:nvSpPr>
        <p:spPr>
          <a:xfrm rot="16200000">
            <a:off x="-324371" y="2498581"/>
            <a:ext cx="2337842" cy="74323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lvl1pPr>
              <a:defRPr sz="3600">
                <a:solidFill>
                  <a:srgbClr val="424242"/>
                </a:solidFill>
                <a:latin typeface="+mn-lt"/>
                <a:ea typeface="+mn-ea"/>
                <a:cs typeface="+mn-cs"/>
                <a:sym typeface="Chalkboard SE Regular"/>
              </a:defRPr>
            </a:lvl1pPr>
          </a:lstStyle>
          <a:p>
            <a:r>
              <a:t>Process S</a:t>
            </a:r>
          </a:p>
        </p:txBody>
      </p:sp>
      <p:sp>
        <p:nvSpPr>
          <p:cNvPr id="155" name="Rounded Rectangle"/>
          <p:cNvSpPr/>
          <p:nvPr/>
        </p:nvSpPr>
        <p:spPr>
          <a:xfrm>
            <a:off x="1231900" y="1181100"/>
            <a:ext cx="11394431" cy="3378200"/>
          </a:xfrm>
          <a:prstGeom prst="roundRect">
            <a:avLst>
              <a:gd name="adj" fmla="val 5639"/>
            </a:avLst>
          </a:prstGeom>
          <a:ln w="50800">
            <a:solidFill>
              <a:srgbClr val="424242"/>
            </a:solidFill>
            <a:miter lim="400000"/>
          </a:ln>
        </p:spPr>
        <p:txBody>
          <a:bodyPr lIns="50800" tIns="50800" rIns="50800" bIns="50800" anchor="ctr"/>
          <a:lstStyle/>
          <a:p>
            <a:pPr>
              <a:defRPr sz="4000" b="1">
                <a:solidFill>
                  <a:srgbClr val="FFFFFF"/>
                </a:solidFill>
                <a:effectLst>
                  <a:outerShdw blurRad="38100" dist="12700" dir="5400000" rotWithShape="0">
                    <a:srgbClr val="000000">
                      <a:alpha val="50000"/>
                    </a:srgbClr>
                  </a:outerShdw>
                </a:effectLst>
              </a:defRPr>
            </a:pPr>
            <a:endParaRPr/>
          </a:p>
        </p:txBody>
      </p:sp>
      <p:sp>
        <p:nvSpPr>
          <p:cNvPr id="156" name="Slide Number"/>
          <p:cNvSpPr txBox="1">
            <a:spLocks noGrp="1"/>
          </p:cNvSpPr>
          <p:nvPr>
            <p:ph type="sldNum" sz="quarter" idx="2"/>
          </p:nvPr>
        </p:nvSpPr>
        <p:spPr>
          <a:xfrm>
            <a:off x="11715749" y="9009155"/>
            <a:ext cx="228601" cy="358590"/>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18</a:t>
            </a:fld>
            <a:endParaRPr/>
          </a:p>
        </p:txBody>
      </p:sp>
      <p:sp>
        <p:nvSpPr>
          <p:cNvPr id="157" name="socket = new socket (TCP type)"/>
          <p:cNvSpPr/>
          <p:nvPr/>
        </p:nvSpPr>
        <p:spPr>
          <a:xfrm>
            <a:off x="1553115" y="1344079"/>
            <a:ext cx="7023052" cy="7493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400">
                <a:solidFill>
                  <a:srgbClr val="0433FF"/>
                </a:solidFill>
                <a:latin typeface="Courier"/>
                <a:ea typeface="Courier"/>
                <a:cs typeface="Courier"/>
                <a:sym typeface="Courier"/>
              </a:defRPr>
            </a:lvl1pPr>
          </a:lstStyle>
          <a:p>
            <a:r>
              <a:t>socket = new socket (TCP type)</a:t>
            </a:r>
          </a:p>
        </p:txBody>
      </p:sp>
      <p:sp>
        <p:nvSpPr>
          <p:cNvPr id="158" name="socket.bind (IP address: 1.1.1.1, port: 1000)"/>
          <p:cNvSpPr/>
          <p:nvPr/>
        </p:nvSpPr>
        <p:spPr>
          <a:xfrm>
            <a:off x="1549400" y="1951034"/>
            <a:ext cx="10274300" cy="7493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400">
                <a:solidFill>
                  <a:srgbClr val="0433FF"/>
                </a:solidFill>
                <a:latin typeface="Courier"/>
                <a:ea typeface="Courier"/>
                <a:cs typeface="Courier"/>
                <a:sym typeface="Courier"/>
              </a:defRPr>
            </a:lvl1pPr>
          </a:lstStyle>
          <a:p>
            <a:r>
              <a:t>socket.bind (IP address: 1.1.1.1, port: 1000)</a:t>
            </a:r>
          </a:p>
        </p:txBody>
      </p:sp>
      <p:sp>
        <p:nvSpPr>
          <p:cNvPr id="159" name="Rounded Rectangle"/>
          <p:cNvSpPr/>
          <p:nvPr/>
        </p:nvSpPr>
        <p:spPr>
          <a:xfrm>
            <a:off x="1193800" y="5232400"/>
            <a:ext cx="4508500" cy="3238500"/>
          </a:xfrm>
          <a:prstGeom prst="roundRect">
            <a:avLst>
              <a:gd name="adj" fmla="val 5882"/>
            </a:avLst>
          </a:prstGeom>
          <a:ln w="50800">
            <a:solidFill>
              <a:srgbClr val="424242"/>
            </a:solidFill>
            <a:miter lim="400000"/>
          </a:ln>
        </p:spPr>
        <p:txBody>
          <a:bodyPr lIns="50800" tIns="50800" rIns="50800" bIns="50800" anchor="ctr"/>
          <a:lstStyle/>
          <a:p>
            <a:pPr>
              <a:defRPr sz="3600">
                <a:solidFill>
                  <a:srgbClr val="FFFFFF"/>
                </a:solidFill>
                <a:latin typeface="+mn-lt"/>
                <a:ea typeface="+mn-ea"/>
                <a:cs typeface="+mn-cs"/>
                <a:sym typeface="Chalkboard SE Regular"/>
              </a:defRPr>
            </a:pPr>
            <a:endParaRPr/>
          </a:p>
        </p:txBody>
      </p:sp>
      <p:sp>
        <p:nvSpPr>
          <p:cNvPr id="160" name="for process S"/>
          <p:cNvSpPr/>
          <p:nvPr/>
        </p:nvSpPr>
        <p:spPr>
          <a:xfrm>
            <a:off x="1256934" y="5410199"/>
            <a:ext cx="2492128" cy="4699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2400">
                <a:solidFill>
                  <a:srgbClr val="424242"/>
                </a:solidFill>
                <a:latin typeface="Courier"/>
                <a:ea typeface="Courier"/>
                <a:cs typeface="Courier"/>
                <a:sym typeface="Courier"/>
              </a:defRPr>
            </a:lvl1pPr>
          </a:lstStyle>
          <a:p>
            <a:r>
              <a:t>for process S</a:t>
            </a:r>
          </a:p>
        </p:txBody>
      </p:sp>
      <p:sp>
        <p:nvSpPr>
          <p:cNvPr id="161" name="IP address:1.1.1.1"/>
          <p:cNvSpPr/>
          <p:nvPr/>
        </p:nvSpPr>
        <p:spPr>
          <a:xfrm>
            <a:off x="1256934" y="6199720"/>
            <a:ext cx="3406676" cy="4699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lgn="l">
              <a:defRPr sz="2400">
                <a:solidFill>
                  <a:srgbClr val="424242"/>
                </a:solidFill>
                <a:latin typeface="Courier"/>
                <a:ea typeface="Courier"/>
                <a:cs typeface="Courier"/>
                <a:sym typeface="Courier"/>
              </a:defRPr>
            </a:lvl1pPr>
          </a:lstStyle>
          <a:p>
            <a:r>
              <a:t>IP address:1.1.1.1</a:t>
            </a:r>
          </a:p>
        </p:txBody>
      </p:sp>
      <p:sp>
        <p:nvSpPr>
          <p:cNvPr id="162" name="port:1000"/>
          <p:cNvSpPr/>
          <p:nvPr/>
        </p:nvSpPr>
        <p:spPr>
          <a:xfrm>
            <a:off x="1256934" y="6608353"/>
            <a:ext cx="1760489" cy="4699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lgn="l">
              <a:defRPr sz="2400">
                <a:solidFill>
                  <a:srgbClr val="424242"/>
                </a:solidFill>
                <a:latin typeface="Courier"/>
                <a:ea typeface="Courier"/>
                <a:cs typeface="Courier"/>
                <a:sym typeface="Courier"/>
              </a:defRPr>
            </a:lvl1pPr>
          </a:lstStyle>
          <a:p>
            <a:r>
              <a:t>port:1000</a:t>
            </a:r>
          </a:p>
        </p:txBody>
      </p:sp>
      <p:sp>
        <p:nvSpPr>
          <p:cNvPr id="163" name="TCP socket"/>
          <p:cNvSpPr/>
          <p:nvPr/>
        </p:nvSpPr>
        <p:spPr>
          <a:xfrm rot="16200000">
            <a:off x="-495301" y="6524481"/>
            <a:ext cx="2679701" cy="74323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lvl1pPr>
              <a:defRPr sz="3600">
                <a:solidFill>
                  <a:srgbClr val="424242"/>
                </a:solidFill>
                <a:latin typeface="+mn-lt"/>
                <a:ea typeface="+mn-ea"/>
                <a:cs typeface="+mn-cs"/>
                <a:sym typeface="Chalkboard SE Regular"/>
              </a:defRPr>
            </a:lvl1pPr>
          </a:lstStyle>
          <a:p>
            <a:r>
              <a:t>TCP socket</a:t>
            </a:r>
          </a:p>
        </p:txBody>
      </p:sp>
      <p:sp>
        <p:nvSpPr>
          <p:cNvPr id="164" name="socket.send (message)"/>
          <p:cNvSpPr/>
          <p:nvPr/>
        </p:nvSpPr>
        <p:spPr>
          <a:xfrm>
            <a:off x="1549400" y="3164944"/>
            <a:ext cx="5177632" cy="7493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400">
                <a:solidFill>
                  <a:srgbClr val="0433FF"/>
                </a:solidFill>
                <a:latin typeface="Courier"/>
                <a:ea typeface="Courier"/>
                <a:cs typeface="Courier"/>
                <a:sym typeface="Courier"/>
              </a:defRPr>
            </a:lvl1pPr>
          </a:lstStyle>
          <a:p>
            <a:r>
              <a:t>socket.send (message)</a:t>
            </a:r>
          </a:p>
        </p:txBody>
      </p:sp>
      <p:sp>
        <p:nvSpPr>
          <p:cNvPr id="165" name="message"/>
          <p:cNvSpPr/>
          <p:nvPr/>
        </p:nvSpPr>
        <p:spPr>
          <a:xfrm>
            <a:off x="6086331" y="7603377"/>
            <a:ext cx="6731001" cy="749301"/>
          </a:xfrm>
          <a:prstGeom prst="rect">
            <a:avLst/>
          </a:prstGeom>
          <a:solidFill>
            <a:srgbClr val="942193"/>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defRPr sz="2400">
                <a:solidFill>
                  <a:srgbClr val="FFFFFF"/>
                </a:solidFill>
                <a:latin typeface="Courier"/>
                <a:ea typeface="Courier"/>
                <a:cs typeface="Courier"/>
                <a:sym typeface="Courier"/>
              </a:defRPr>
            </a:lvl1pPr>
          </a:lstStyle>
          <a:p>
            <a:r>
              <a:t>message</a:t>
            </a:r>
          </a:p>
        </p:txBody>
      </p:sp>
      <p:sp>
        <p:nvSpPr>
          <p:cNvPr id="166" name="Source port: 1000"/>
          <p:cNvSpPr/>
          <p:nvPr/>
        </p:nvSpPr>
        <p:spPr>
          <a:xfrm>
            <a:off x="6086331" y="6815977"/>
            <a:ext cx="3517901" cy="749301"/>
          </a:xfrm>
          <a:prstGeom prst="rect">
            <a:avLst/>
          </a:prstGeom>
          <a:solidFill>
            <a:srgbClr val="942193"/>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defRPr sz="2400">
                <a:solidFill>
                  <a:srgbClr val="FFFFFF"/>
                </a:solidFill>
                <a:latin typeface="Courier"/>
                <a:ea typeface="Courier"/>
                <a:cs typeface="Courier"/>
                <a:sym typeface="Courier"/>
              </a:defRPr>
            </a:lvl1pPr>
          </a:lstStyle>
          <a:p>
            <a:r>
              <a:t>Source port: 1000</a:t>
            </a:r>
          </a:p>
        </p:txBody>
      </p:sp>
      <p:sp>
        <p:nvSpPr>
          <p:cNvPr id="167" name="Dest. port: 5000"/>
          <p:cNvSpPr/>
          <p:nvPr/>
        </p:nvSpPr>
        <p:spPr>
          <a:xfrm>
            <a:off x="9655030" y="6815977"/>
            <a:ext cx="3149601" cy="749301"/>
          </a:xfrm>
          <a:prstGeom prst="rect">
            <a:avLst/>
          </a:prstGeom>
          <a:solidFill>
            <a:srgbClr val="942193"/>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defRPr sz="2400">
                <a:solidFill>
                  <a:srgbClr val="FFFFFF"/>
                </a:solidFill>
                <a:latin typeface="Courier"/>
                <a:ea typeface="Courier"/>
                <a:cs typeface="Courier"/>
                <a:sym typeface="Courier"/>
              </a:defRPr>
            </a:lvl1pPr>
          </a:lstStyle>
          <a:p>
            <a:r>
              <a:t>Dest. port: 5000</a:t>
            </a:r>
          </a:p>
        </p:txBody>
      </p:sp>
      <p:sp>
        <p:nvSpPr>
          <p:cNvPr id="168" name="Source IP address: 1.1.1.1"/>
          <p:cNvSpPr/>
          <p:nvPr/>
        </p:nvSpPr>
        <p:spPr>
          <a:xfrm>
            <a:off x="6086331" y="5241177"/>
            <a:ext cx="6731001" cy="749301"/>
          </a:xfrm>
          <a:prstGeom prst="rect">
            <a:avLst/>
          </a:prstGeom>
          <a:gradFill>
            <a:gsLst>
              <a:gs pos="0">
                <a:srgbClr val="942193"/>
              </a:gs>
              <a:gs pos="100000">
                <a:srgbClr val="FFD479"/>
              </a:gs>
            </a:gsLst>
            <a:lin ang="5400000"/>
          </a:gra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defRPr sz="2400">
                <a:solidFill>
                  <a:srgbClr val="FFFFFF"/>
                </a:solidFill>
                <a:latin typeface="Courier"/>
                <a:ea typeface="Courier"/>
                <a:cs typeface="Courier"/>
                <a:sym typeface="Courier"/>
              </a:defRPr>
            </a:lvl1pPr>
          </a:lstStyle>
          <a:p>
            <a:r>
              <a:t>Source IP address: 1.1.1.1</a:t>
            </a:r>
          </a:p>
        </p:txBody>
      </p:sp>
      <p:sp>
        <p:nvSpPr>
          <p:cNvPr id="169" name="Dest. IP address: 5.5.5.5"/>
          <p:cNvSpPr/>
          <p:nvPr/>
        </p:nvSpPr>
        <p:spPr>
          <a:xfrm>
            <a:off x="6086331" y="6028577"/>
            <a:ext cx="6731001" cy="749301"/>
          </a:xfrm>
          <a:prstGeom prst="rect">
            <a:avLst/>
          </a:prstGeom>
          <a:gradFill>
            <a:gsLst>
              <a:gs pos="0">
                <a:srgbClr val="942193"/>
              </a:gs>
              <a:gs pos="100000">
                <a:srgbClr val="FFD479"/>
              </a:gs>
            </a:gsLst>
            <a:lin ang="5400000"/>
          </a:gra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defRPr sz="2400">
                <a:solidFill>
                  <a:srgbClr val="FFFFFF"/>
                </a:solidFill>
                <a:latin typeface="Courier"/>
                <a:ea typeface="Courier"/>
                <a:cs typeface="Courier"/>
                <a:sym typeface="Courier"/>
              </a:defRPr>
            </a:lvl1pPr>
          </a:lstStyle>
          <a:p>
            <a:r>
              <a:t>Dest. IP address: 5.5.5.5</a:t>
            </a:r>
          </a:p>
        </p:txBody>
      </p:sp>
      <p:sp>
        <p:nvSpPr>
          <p:cNvPr id="170" name="socket.close ( )"/>
          <p:cNvSpPr/>
          <p:nvPr/>
        </p:nvSpPr>
        <p:spPr>
          <a:xfrm>
            <a:off x="1549400" y="3771900"/>
            <a:ext cx="4445000" cy="7493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400">
                <a:solidFill>
                  <a:srgbClr val="0433FF"/>
                </a:solidFill>
                <a:latin typeface="Courier"/>
                <a:ea typeface="Courier"/>
                <a:cs typeface="Courier"/>
                <a:sym typeface="Courier"/>
              </a:defRPr>
            </a:lvl1pPr>
          </a:lstStyle>
          <a:p>
            <a:r>
              <a:t>socket.close ( )</a:t>
            </a:r>
          </a:p>
        </p:txBody>
      </p:sp>
      <p:sp>
        <p:nvSpPr>
          <p:cNvPr id="171" name="socket.connect (rem. IP address: 5.5.5.5, rem. port: 5000)"/>
          <p:cNvSpPr/>
          <p:nvPr/>
        </p:nvSpPr>
        <p:spPr>
          <a:xfrm>
            <a:off x="1549400" y="2462427"/>
            <a:ext cx="10888861" cy="94042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400">
                <a:solidFill>
                  <a:srgbClr val="0433FF"/>
                </a:solidFill>
                <a:latin typeface="Courier"/>
                <a:ea typeface="Courier"/>
                <a:cs typeface="Courier"/>
                <a:sym typeface="Courier"/>
              </a:defRPr>
            </a:lvl1pPr>
          </a:lstStyle>
          <a:p>
            <a:r>
              <a:t>socket.connect (rem. IP address: 5.5.5.5, rem. port: 5000)</a:t>
            </a:r>
          </a:p>
        </p:txBody>
      </p:sp>
      <p:sp>
        <p:nvSpPr>
          <p:cNvPr id="172" name="rem. IP address:5.5.5.5"/>
          <p:cNvSpPr/>
          <p:nvPr/>
        </p:nvSpPr>
        <p:spPr>
          <a:xfrm>
            <a:off x="1248469" y="7232649"/>
            <a:ext cx="4321226" cy="4699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lgn="l">
              <a:defRPr sz="2400">
                <a:solidFill>
                  <a:srgbClr val="424242"/>
                </a:solidFill>
                <a:latin typeface="Courier"/>
                <a:ea typeface="Courier"/>
                <a:cs typeface="Courier"/>
                <a:sym typeface="Courier"/>
              </a:defRPr>
            </a:lvl1pPr>
          </a:lstStyle>
          <a:p>
            <a:r>
              <a:t>rem. IP address:5.5.5.5</a:t>
            </a:r>
          </a:p>
        </p:txBody>
      </p:sp>
      <p:sp>
        <p:nvSpPr>
          <p:cNvPr id="173" name="rem. port:5000"/>
          <p:cNvSpPr/>
          <p:nvPr/>
        </p:nvSpPr>
        <p:spPr>
          <a:xfrm>
            <a:off x="1248469" y="7658099"/>
            <a:ext cx="2675038" cy="4699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lgn="l">
              <a:defRPr sz="2400">
                <a:solidFill>
                  <a:srgbClr val="424242"/>
                </a:solidFill>
                <a:latin typeface="Courier"/>
                <a:ea typeface="Courier"/>
                <a:cs typeface="Courier"/>
                <a:sym typeface="Courier"/>
              </a:defRPr>
            </a:lvl1pPr>
          </a:lstStyle>
          <a:p>
            <a:r>
              <a:t>rem. port:5000</a:t>
            </a:r>
          </a:p>
        </p:txBody>
      </p:sp>
      <p:sp>
        <p:nvSpPr>
          <p:cNvPr id="174" name="application layer"/>
          <p:cNvSpPr/>
          <p:nvPr/>
        </p:nvSpPr>
        <p:spPr>
          <a:xfrm>
            <a:off x="4419984" y="203200"/>
            <a:ext cx="3706156" cy="7493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a:solidFill>
                  <a:srgbClr val="C0C0C0"/>
                </a:solidFill>
                <a:latin typeface="Times New Roman"/>
                <a:ea typeface="Times New Roman"/>
                <a:cs typeface="Times New Roman"/>
                <a:sym typeface="Times New Roman"/>
              </a:defRPr>
            </a:lvl1pPr>
          </a:lstStyle>
          <a:p>
            <a:r>
              <a:t>application layer</a:t>
            </a:r>
          </a:p>
        </p:txBody>
      </p:sp>
      <p:sp>
        <p:nvSpPr>
          <p:cNvPr id="175" name="transport layer"/>
          <p:cNvSpPr/>
          <p:nvPr/>
        </p:nvSpPr>
        <p:spPr>
          <a:xfrm>
            <a:off x="4762233" y="8788400"/>
            <a:ext cx="3340746" cy="7493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a:solidFill>
                  <a:srgbClr val="C0C0C0"/>
                </a:solidFill>
                <a:latin typeface="Times New Roman"/>
                <a:ea typeface="Times New Roman"/>
                <a:cs typeface="Times New Roman"/>
                <a:sym typeface="Times New Roman"/>
              </a:defRPr>
            </a:lvl1pPr>
          </a:lstStyle>
          <a:p>
            <a:r>
              <a:t>transport layer</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54"/>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2" nodeType="afterEffect">
                                  <p:stCondLst>
                                    <p:cond delay="0"/>
                                  </p:stCondLst>
                                  <p:iterate>
                                    <p:tmAbs val="0"/>
                                  </p:iterate>
                                  <p:childTnLst>
                                    <p:set>
                                      <p:cBhvr>
                                        <p:cTn id="9" fill="hold"/>
                                        <p:tgtEl>
                                          <p:spTgt spid="155"/>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3" nodeType="clickEffect">
                                  <p:stCondLst>
                                    <p:cond delay="0"/>
                                  </p:stCondLst>
                                  <p:iterate type="lt">
                                    <p:tmAbs val="100"/>
                                  </p:iterate>
                                  <p:childTnLst>
                                    <p:set>
                                      <p:cBhvr>
                                        <p:cTn id="13" fill="hold"/>
                                        <p:tgtEl>
                                          <p:spTgt spid="157"/>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4" nodeType="clickEffect">
                                  <p:stCondLst>
                                    <p:cond delay="0"/>
                                  </p:stCondLst>
                                  <p:iterate>
                                    <p:tmAbs val="0"/>
                                  </p:iterate>
                                  <p:childTnLst>
                                    <p:set>
                                      <p:cBhvr>
                                        <p:cTn id="17" fill="hold"/>
                                        <p:tgtEl>
                                          <p:spTgt spid="163"/>
                                        </p:tgtEl>
                                        <p:attrNameLst>
                                          <p:attrName>style.visibility</p:attrName>
                                        </p:attrNameLst>
                                      </p:cBhvr>
                                      <p:to>
                                        <p:strVal val="visible"/>
                                      </p:to>
                                    </p:set>
                                  </p:childTnLst>
                                </p:cTn>
                              </p:par>
                            </p:childTnLst>
                          </p:cTn>
                        </p:par>
                        <p:par>
                          <p:cTn id="18" fill="hold">
                            <p:stCondLst>
                              <p:cond delay="0"/>
                            </p:stCondLst>
                            <p:childTnLst>
                              <p:par>
                                <p:cTn id="19" presetID="1" presetClass="entr" presetSubtype="0" fill="hold" grpId="5" nodeType="afterEffect">
                                  <p:stCondLst>
                                    <p:cond delay="0"/>
                                  </p:stCondLst>
                                  <p:iterate>
                                    <p:tmAbs val="0"/>
                                  </p:iterate>
                                  <p:childTnLst>
                                    <p:set>
                                      <p:cBhvr>
                                        <p:cTn id="20" fill="hold"/>
                                        <p:tgtEl>
                                          <p:spTgt spid="159"/>
                                        </p:tgtEl>
                                        <p:attrNameLst>
                                          <p:attrName>style.visibility</p:attrName>
                                        </p:attrNameLst>
                                      </p:cBhvr>
                                      <p:to>
                                        <p:strVal val="visible"/>
                                      </p:to>
                                    </p:set>
                                  </p:childTnLst>
                                </p:cTn>
                              </p:par>
                            </p:childTnLst>
                          </p:cTn>
                        </p:par>
                        <p:par>
                          <p:cTn id="21" fill="hold">
                            <p:stCondLst>
                              <p:cond delay="0"/>
                            </p:stCondLst>
                            <p:childTnLst>
                              <p:par>
                                <p:cTn id="22" presetID="1" presetClass="entr" presetSubtype="0" fill="hold" grpId="6" nodeType="afterEffect">
                                  <p:stCondLst>
                                    <p:cond delay="0"/>
                                  </p:stCondLst>
                                  <p:iterate>
                                    <p:tmAbs val="0"/>
                                  </p:iterate>
                                  <p:childTnLst>
                                    <p:set>
                                      <p:cBhvr>
                                        <p:cTn id="23" fill="hold"/>
                                        <p:tgtEl>
                                          <p:spTgt spid="160"/>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7" nodeType="clickEffect">
                                  <p:stCondLst>
                                    <p:cond delay="0"/>
                                  </p:stCondLst>
                                  <p:iterate type="lt">
                                    <p:tmAbs val="100"/>
                                  </p:iterate>
                                  <p:childTnLst>
                                    <p:set>
                                      <p:cBhvr>
                                        <p:cTn id="27" fill="hold"/>
                                        <p:tgtEl>
                                          <p:spTgt spid="15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8" nodeType="clickEffect">
                                  <p:stCondLst>
                                    <p:cond delay="0"/>
                                  </p:stCondLst>
                                  <p:iterate>
                                    <p:tmAbs val="0"/>
                                  </p:iterate>
                                  <p:childTnLst>
                                    <p:set>
                                      <p:cBhvr>
                                        <p:cTn id="31" fill="hold"/>
                                        <p:tgtEl>
                                          <p:spTgt spid="161"/>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9" nodeType="clickEffect">
                                  <p:stCondLst>
                                    <p:cond delay="0"/>
                                  </p:stCondLst>
                                  <p:iterate>
                                    <p:tmAbs val="0"/>
                                  </p:iterate>
                                  <p:childTnLst>
                                    <p:set>
                                      <p:cBhvr>
                                        <p:cTn id="35" fill="hold"/>
                                        <p:tgtEl>
                                          <p:spTgt spid="162"/>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10" nodeType="clickEffect">
                                  <p:stCondLst>
                                    <p:cond delay="0"/>
                                  </p:stCondLst>
                                  <p:iterate type="lt">
                                    <p:tmAbs val="100"/>
                                  </p:iterate>
                                  <p:childTnLst>
                                    <p:set>
                                      <p:cBhvr>
                                        <p:cTn id="39" fill="hold"/>
                                        <p:tgtEl>
                                          <p:spTgt spid="171"/>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11" nodeType="clickEffect">
                                  <p:stCondLst>
                                    <p:cond delay="0"/>
                                  </p:stCondLst>
                                  <p:iterate>
                                    <p:tmAbs val="0"/>
                                  </p:iterate>
                                  <p:childTnLst>
                                    <p:set>
                                      <p:cBhvr>
                                        <p:cTn id="43" fill="hold"/>
                                        <p:tgtEl>
                                          <p:spTgt spid="172"/>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12" nodeType="clickEffect">
                                  <p:stCondLst>
                                    <p:cond delay="0"/>
                                  </p:stCondLst>
                                  <p:iterate>
                                    <p:tmAbs val="0"/>
                                  </p:iterate>
                                  <p:childTnLst>
                                    <p:set>
                                      <p:cBhvr>
                                        <p:cTn id="47" fill="hold"/>
                                        <p:tgtEl>
                                          <p:spTgt spid="173"/>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13" nodeType="clickEffect">
                                  <p:stCondLst>
                                    <p:cond delay="0"/>
                                  </p:stCondLst>
                                  <p:iterate type="lt">
                                    <p:tmAbs val="100"/>
                                  </p:iterate>
                                  <p:childTnLst>
                                    <p:set>
                                      <p:cBhvr>
                                        <p:cTn id="51" fill="hold"/>
                                        <p:tgtEl>
                                          <p:spTgt spid="164"/>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14" nodeType="clickEffect">
                                  <p:stCondLst>
                                    <p:cond delay="0"/>
                                  </p:stCondLst>
                                  <p:iterate>
                                    <p:tmAbs val="0"/>
                                  </p:iterate>
                                  <p:childTnLst>
                                    <p:set>
                                      <p:cBhvr>
                                        <p:cTn id="55" fill="hold"/>
                                        <p:tgtEl>
                                          <p:spTgt spid="165"/>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15" nodeType="clickEffect">
                                  <p:stCondLst>
                                    <p:cond delay="0"/>
                                  </p:stCondLst>
                                  <p:iterate>
                                    <p:tmAbs val="0"/>
                                  </p:iterate>
                                  <p:childTnLst>
                                    <p:set>
                                      <p:cBhvr>
                                        <p:cTn id="59" fill="hold"/>
                                        <p:tgtEl>
                                          <p:spTgt spid="168"/>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16" nodeType="clickEffect">
                                  <p:stCondLst>
                                    <p:cond delay="0"/>
                                  </p:stCondLst>
                                  <p:iterate>
                                    <p:tmAbs val="0"/>
                                  </p:iterate>
                                  <p:childTnLst>
                                    <p:set>
                                      <p:cBhvr>
                                        <p:cTn id="63" fill="hold"/>
                                        <p:tgtEl>
                                          <p:spTgt spid="169"/>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17" nodeType="clickEffect">
                                  <p:stCondLst>
                                    <p:cond delay="0"/>
                                  </p:stCondLst>
                                  <p:iterate>
                                    <p:tmAbs val="0"/>
                                  </p:iterate>
                                  <p:childTnLst>
                                    <p:set>
                                      <p:cBhvr>
                                        <p:cTn id="67" fill="hold"/>
                                        <p:tgtEl>
                                          <p:spTgt spid="166"/>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grpId="18" nodeType="clickEffect">
                                  <p:stCondLst>
                                    <p:cond delay="0"/>
                                  </p:stCondLst>
                                  <p:iterate>
                                    <p:tmAbs val="0"/>
                                  </p:iterate>
                                  <p:childTnLst>
                                    <p:set>
                                      <p:cBhvr>
                                        <p:cTn id="71" fill="hold"/>
                                        <p:tgtEl>
                                          <p:spTgt spid="167"/>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1" presetClass="exit" presetSubtype="0" fill="hold" grpId="19" nodeType="clickEffect">
                                  <p:stCondLst>
                                    <p:cond delay="0"/>
                                  </p:stCondLst>
                                  <p:iterate>
                                    <p:tmAbs val="0"/>
                                  </p:iterate>
                                  <p:childTnLst>
                                    <p:set>
                                      <p:cBhvr>
                                        <p:cTn id="75" fill="hold">
                                          <p:stCondLst>
                                            <p:cond delay="0"/>
                                          </p:stCondLst>
                                        </p:cTn>
                                        <p:tgtEl>
                                          <p:spTgt spid="165"/>
                                        </p:tgtEl>
                                        <p:attrNameLst>
                                          <p:attrName>style.visibility</p:attrName>
                                        </p:attrNameLst>
                                      </p:cBhvr>
                                      <p:to>
                                        <p:strVal val="hidden"/>
                                      </p:to>
                                    </p:set>
                                  </p:childTnLst>
                                </p:cTn>
                              </p:par>
                            </p:childTnLst>
                          </p:cTn>
                        </p:par>
                        <p:par>
                          <p:cTn id="76" fill="hold">
                            <p:stCondLst>
                              <p:cond delay="0"/>
                            </p:stCondLst>
                            <p:childTnLst>
                              <p:par>
                                <p:cTn id="77" presetID="1" presetClass="exit" presetSubtype="0" fill="hold" grpId="20" nodeType="afterEffect">
                                  <p:stCondLst>
                                    <p:cond delay="0"/>
                                  </p:stCondLst>
                                  <p:iterate>
                                    <p:tmAbs val="0"/>
                                  </p:iterate>
                                  <p:childTnLst>
                                    <p:set>
                                      <p:cBhvr>
                                        <p:cTn id="78" fill="hold">
                                          <p:stCondLst>
                                            <p:cond delay="0"/>
                                          </p:stCondLst>
                                        </p:cTn>
                                        <p:tgtEl>
                                          <p:spTgt spid="166"/>
                                        </p:tgtEl>
                                        <p:attrNameLst>
                                          <p:attrName>style.visibility</p:attrName>
                                        </p:attrNameLst>
                                      </p:cBhvr>
                                      <p:to>
                                        <p:strVal val="hidden"/>
                                      </p:to>
                                    </p:set>
                                  </p:childTnLst>
                                </p:cTn>
                              </p:par>
                            </p:childTnLst>
                          </p:cTn>
                        </p:par>
                        <p:par>
                          <p:cTn id="79" fill="hold">
                            <p:stCondLst>
                              <p:cond delay="0"/>
                            </p:stCondLst>
                            <p:childTnLst>
                              <p:par>
                                <p:cTn id="80" presetID="1" presetClass="exit" presetSubtype="0" fill="hold" grpId="21" nodeType="afterEffect">
                                  <p:stCondLst>
                                    <p:cond delay="0"/>
                                  </p:stCondLst>
                                  <p:iterate>
                                    <p:tmAbs val="0"/>
                                  </p:iterate>
                                  <p:childTnLst>
                                    <p:set>
                                      <p:cBhvr>
                                        <p:cTn id="81" fill="hold">
                                          <p:stCondLst>
                                            <p:cond delay="0"/>
                                          </p:stCondLst>
                                        </p:cTn>
                                        <p:tgtEl>
                                          <p:spTgt spid="167"/>
                                        </p:tgtEl>
                                        <p:attrNameLst>
                                          <p:attrName>style.visibility</p:attrName>
                                        </p:attrNameLst>
                                      </p:cBhvr>
                                      <p:to>
                                        <p:strVal val="hidden"/>
                                      </p:to>
                                    </p:set>
                                  </p:childTnLst>
                                </p:cTn>
                              </p:par>
                            </p:childTnLst>
                          </p:cTn>
                        </p:par>
                        <p:par>
                          <p:cTn id="82" fill="hold">
                            <p:stCondLst>
                              <p:cond delay="0"/>
                            </p:stCondLst>
                            <p:childTnLst>
                              <p:par>
                                <p:cTn id="83" presetID="1" presetClass="exit" presetSubtype="0" fill="hold" grpId="22" nodeType="afterEffect">
                                  <p:stCondLst>
                                    <p:cond delay="0"/>
                                  </p:stCondLst>
                                  <p:iterate>
                                    <p:tmAbs val="0"/>
                                  </p:iterate>
                                  <p:childTnLst>
                                    <p:set>
                                      <p:cBhvr>
                                        <p:cTn id="84" fill="hold">
                                          <p:stCondLst>
                                            <p:cond delay="0"/>
                                          </p:stCondLst>
                                        </p:cTn>
                                        <p:tgtEl>
                                          <p:spTgt spid="168"/>
                                        </p:tgtEl>
                                        <p:attrNameLst>
                                          <p:attrName>style.visibility</p:attrName>
                                        </p:attrNameLst>
                                      </p:cBhvr>
                                      <p:to>
                                        <p:strVal val="hidden"/>
                                      </p:to>
                                    </p:set>
                                  </p:childTnLst>
                                </p:cTn>
                              </p:par>
                            </p:childTnLst>
                          </p:cTn>
                        </p:par>
                        <p:par>
                          <p:cTn id="85" fill="hold">
                            <p:stCondLst>
                              <p:cond delay="0"/>
                            </p:stCondLst>
                            <p:childTnLst>
                              <p:par>
                                <p:cTn id="86" presetID="1" presetClass="exit" presetSubtype="0" fill="hold" grpId="23" nodeType="afterEffect">
                                  <p:stCondLst>
                                    <p:cond delay="0"/>
                                  </p:stCondLst>
                                  <p:iterate>
                                    <p:tmAbs val="0"/>
                                  </p:iterate>
                                  <p:childTnLst>
                                    <p:set>
                                      <p:cBhvr>
                                        <p:cTn id="87" fill="hold">
                                          <p:stCondLst>
                                            <p:cond delay="0"/>
                                          </p:stCondLst>
                                        </p:cTn>
                                        <p:tgtEl>
                                          <p:spTgt spid="169"/>
                                        </p:tgtEl>
                                        <p:attrNameLst>
                                          <p:attrName>style.visibility</p:attrName>
                                        </p:attrNameLst>
                                      </p:cBhvr>
                                      <p:to>
                                        <p:strVal val="hidden"/>
                                      </p:to>
                                    </p:set>
                                  </p:childTnLst>
                                </p:cTn>
                              </p:par>
                            </p:childTnLst>
                          </p:cTn>
                        </p:par>
                      </p:childTnLst>
                    </p:cTn>
                  </p:par>
                  <p:par>
                    <p:cTn id="88" fill="hold">
                      <p:stCondLst>
                        <p:cond delay="indefinite"/>
                      </p:stCondLst>
                      <p:childTnLst>
                        <p:par>
                          <p:cTn id="89" fill="hold">
                            <p:stCondLst>
                              <p:cond delay="0"/>
                            </p:stCondLst>
                            <p:childTnLst>
                              <p:par>
                                <p:cTn id="90" presetID="1" presetClass="entr" presetSubtype="0" fill="hold" grpId="24" nodeType="clickEffect">
                                  <p:stCondLst>
                                    <p:cond delay="0"/>
                                  </p:stCondLst>
                                  <p:iterate type="lt">
                                    <p:tmAbs val="100"/>
                                  </p:iterate>
                                  <p:childTnLst>
                                    <p:set>
                                      <p:cBhvr>
                                        <p:cTn id="91" fill="hold"/>
                                        <p:tgtEl>
                                          <p:spTgt spid="170"/>
                                        </p:tgtEl>
                                        <p:attrNameLst>
                                          <p:attrName>style.visibility</p:attrName>
                                        </p:attrNameLst>
                                      </p:cBhvr>
                                      <p:to>
                                        <p:strVal val="visible"/>
                                      </p:to>
                                    </p:set>
                                  </p:childTnLst>
                                </p:cTn>
                              </p:par>
                            </p:childTnLst>
                          </p:cTn>
                        </p:par>
                      </p:childTnLst>
                    </p:cTn>
                  </p:par>
                  <p:par>
                    <p:cTn id="92" fill="hold">
                      <p:stCondLst>
                        <p:cond delay="indefinite"/>
                      </p:stCondLst>
                      <p:childTnLst>
                        <p:par>
                          <p:cTn id="93" fill="hold">
                            <p:stCondLst>
                              <p:cond delay="0"/>
                            </p:stCondLst>
                            <p:childTnLst>
                              <p:par>
                                <p:cTn id="94" presetID="1" presetClass="exit" presetSubtype="0" fill="hold" grpId="25" nodeType="clickEffect">
                                  <p:stCondLst>
                                    <p:cond delay="0"/>
                                  </p:stCondLst>
                                  <p:iterate>
                                    <p:tmAbs val="0"/>
                                  </p:iterate>
                                  <p:childTnLst>
                                    <p:set>
                                      <p:cBhvr>
                                        <p:cTn id="95" fill="hold">
                                          <p:stCondLst>
                                            <p:cond delay="0"/>
                                          </p:stCondLst>
                                        </p:cTn>
                                        <p:tgtEl>
                                          <p:spTgt spid="159"/>
                                        </p:tgtEl>
                                        <p:attrNameLst>
                                          <p:attrName>style.visibility</p:attrName>
                                        </p:attrNameLst>
                                      </p:cBhvr>
                                      <p:to>
                                        <p:strVal val="hidden"/>
                                      </p:to>
                                    </p:set>
                                  </p:childTnLst>
                                </p:cTn>
                              </p:par>
                            </p:childTnLst>
                          </p:cTn>
                        </p:par>
                        <p:par>
                          <p:cTn id="96" fill="hold">
                            <p:stCondLst>
                              <p:cond delay="0"/>
                            </p:stCondLst>
                            <p:childTnLst>
                              <p:par>
                                <p:cTn id="97" presetID="1" presetClass="exit" presetSubtype="0" fill="hold" grpId="26" nodeType="afterEffect">
                                  <p:stCondLst>
                                    <p:cond delay="0"/>
                                  </p:stCondLst>
                                  <p:iterate>
                                    <p:tmAbs val="0"/>
                                  </p:iterate>
                                  <p:childTnLst>
                                    <p:set>
                                      <p:cBhvr>
                                        <p:cTn id="98" fill="hold">
                                          <p:stCondLst>
                                            <p:cond delay="0"/>
                                          </p:stCondLst>
                                        </p:cTn>
                                        <p:tgtEl>
                                          <p:spTgt spid="160"/>
                                        </p:tgtEl>
                                        <p:attrNameLst>
                                          <p:attrName>style.visibility</p:attrName>
                                        </p:attrNameLst>
                                      </p:cBhvr>
                                      <p:to>
                                        <p:strVal val="hidden"/>
                                      </p:to>
                                    </p:set>
                                  </p:childTnLst>
                                </p:cTn>
                              </p:par>
                            </p:childTnLst>
                          </p:cTn>
                        </p:par>
                        <p:par>
                          <p:cTn id="99" fill="hold">
                            <p:stCondLst>
                              <p:cond delay="0"/>
                            </p:stCondLst>
                            <p:childTnLst>
                              <p:par>
                                <p:cTn id="100" presetID="1" presetClass="exit" presetSubtype="0" fill="hold" grpId="27" nodeType="afterEffect">
                                  <p:stCondLst>
                                    <p:cond delay="0"/>
                                  </p:stCondLst>
                                  <p:iterate>
                                    <p:tmAbs val="0"/>
                                  </p:iterate>
                                  <p:childTnLst>
                                    <p:set>
                                      <p:cBhvr>
                                        <p:cTn id="101" fill="hold">
                                          <p:stCondLst>
                                            <p:cond delay="0"/>
                                          </p:stCondLst>
                                        </p:cTn>
                                        <p:tgtEl>
                                          <p:spTgt spid="161"/>
                                        </p:tgtEl>
                                        <p:attrNameLst>
                                          <p:attrName>style.visibility</p:attrName>
                                        </p:attrNameLst>
                                      </p:cBhvr>
                                      <p:to>
                                        <p:strVal val="hidden"/>
                                      </p:to>
                                    </p:set>
                                  </p:childTnLst>
                                </p:cTn>
                              </p:par>
                            </p:childTnLst>
                          </p:cTn>
                        </p:par>
                        <p:par>
                          <p:cTn id="102" fill="hold">
                            <p:stCondLst>
                              <p:cond delay="0"/>
                            </p:stCondLst>
                            <p:childTnLst>
                              <p:par>
                                <p:cTn id="103" presetID="1" presetClass="exit" presetSubtype="0" fill="hold" grpId="28" nodeType="afterEffect">
                                  <p:stCondLst>
                                    <p:cond delay="0"/>
                                  </p:stCondLst>
                                  <p:iterate>
                                    <p:tmAbs val="0"/>
                                  </p:iterate>
                                  <p:childTnLst>
                                    <p:set>
                                      <p:cBhvr>
                                        <p:cTn id="104" fill="hold">
                                          <p:stCondLst>
                                            <p:cond delay="0"/>
                                          </p:stCondLst>
                                        </p:cTn>
                                        <p:tgtEl>
                                          <p:spTgt spid="162"/>
                                        </p:tgtEl>
                                        <p:attrNameLst>
                                          <p:attrName>style.visibility</p:attrName>
                                        </p:attrNameLst>
                                      </p:cBhvr>
                                      <p:to>
                                        <p:strVal val="hidden"/>
                                      </p:to>
                                    </p:set>
                                  </p:childTnLst>
                                </p:cTn>
                              </p:par>
                            </p:childTnLst>
                          </p:cTn>
                        </p:par>
                        <p:par>
                          <p:cTn id="105" fill="hold">
                            <p:stCondLst>
                              <p:cond delay="0"/>
                            </p:stCondLst>
                            <p:childTnLst>
                              <p:par>
                                <p:cTn id="106" presetID="1" presetClass="exit" presetSubtype="0" fill="hold" grpId="29" nodeType="afterEffect">
                                  <p:stCondLst>
                                    <p:cond delay="0"/>
                                  </p:stCondLst>
                                  <p:iterate>
                                    <p:tmAbs val="0"/>
                                  </p:iterate>
                                  <p:childTnLst>
                                    <p:set>
                                      <p:cBhvr>
                                        <p:cTn id="107" fill="hold">
                                          <p:stCondLst>
                                            <p:cond delay="0"/>
                                          </p:stCondLst>
                                        </p:cTn>
                                        <p:tgtEl>
                                          <p:spTgt spid="163"/>
                                        </p:tgtEl>
                                        <p:attrNameLst>
                                          <p:attrName>style.visibility</p:attrName>
                                        </p:attrNameLst>
                                      </p:cBhvr>
                                      <p:to>
                                        <p:strVal val="hidden"/>
                                      </p:to>
                                    </p:set>
                                  </p:childTnLst>
                                </p:cTn>
                              </p:par>
                            </p:childTnLst>
                          </p:cTn>
                        </p:par>
                        <p:par>
                          <p:cTn id="108" fill="hold">
                            <p:stCondLst>
                              <p:cond delay="0"/>
                            </p:stCondLst>
                            <p:childTnLst>
                              <p:par>
                                <p:cTn id="109" presetID="1" presetClass="exit" presetSubtype="0" fill="hold" grpId="30" nodeType="afterEffect">
                                  <p:stCondLst>
                                    <p:cond delay="0"/>
                                  </p:stCondLst>
                                  <p:iterate>
                                    <p:tmAbs val="0"/>
                                  </p:iterate>
                                  <p:childTnLst>
                                    <p:set>
                                      <p:cBhvr>
                                        <p:cTn id="110" fill="hold">
                                          <p:stCondLst>
                                            <p:cond delay="0"/>
                                          </p:stCondLst>
                                        </p:cTn>
                                        <p:tgtEl>
                                          <p:spTgt spid="172"/>
                                        </p:tgtEl>
                                        <p:attrNameLst>
                                          <p:attrName>style.visibility</p:attrName>
                                        </p:attrNameLst>
                                      </p:cBhvr>
                                      <p:to>
                                        <p:strVal val="hidden"/>
                                      </p:to>
                                    </p:set>
                                  </p:childTnLst>
                                </p:cTn>
                              </p:par>
                            </p:childTnLst>
                          </p:cTn>
                        </p:par>
                        <p:par>
                          <p:cTn id="111" fill="hold">
                            <p:stCondLst>
                              <p:cond delay="0"/>
                            </p:stCondLst>
                            <p:childTnLst>
                              <p:par>
                                <p:cTn id="112" presetID="1" presetClass="exit" presetSubtype="0" fill="hold" grpId="31" nodeType="afterEffect">
                                  <p:stCondLst>
                                    <p:cond delay="0"/>
                                  </p:stCondLst>
                                  <p:iterate>
                                    <p:tmAbs val="0"/>
                                  </p:iterate>
                                  <p:childTnLst>
                                    <p:set>
                                      <p:cBhvr>
                                        <p:cTn id="113" fill="hold">
                                          <p:stCondLst>
                                            <p:cond delay="0"/>
                                          </p:stCondLst>
                                        </p:cTn>
                                        <p:tgtEl>
                                          <p:spTgt spid="17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 grpId="1" animBg="1" advAuto="0"/>
      <p:bldP spid="155" grpId="2" animBg="1" advAuto="0"/>
      <p:bldP spid="157" grpId="3" animBg="1" advAuto="0"/>
      <p:bldP spid="158" grpId="7" animBg="1" advAuto="0"/>
      <p:bldP spid="159" grpId="5" animBg="1" advAuto="0"/>
      <p:bldP spid="159" grpId="25" animBg="1" advAuto="0"/>
      <p:bldP spid="160" grpId="6" animBg="1" advAuto="0"/>
      <p:bldP spid="160" grpId="26" animBg="1" advAuto="0"/>
      <p:bldP spid="161" grpId="8" animBg="1" advAuto="0"/>
      <p:bldP spid="161" grpId="27" animBg="1" advAuto="0"/>
      <p:bldP spid="162" grpId="9" animBg="1" advAuto="0"/>
      <p:bldP spid="162" grpId="28" animBg="1" advAuto="0"/>
      <p:bldP spid="163" grpId="4" animBg="1" advAuto="0"/>
      <p:bldP spid="163" grpId="29" animBg="1" advAuto="0"/>
      <p:bldP spid="164" grpId="13" animBg="1" advAuto="0"/>
      <p:bldP spid="165" grpId="14" animBg="1" advAuto="0"/>
      <p:bldP spid="165" grpId="19" animBg="1" advAuto="0"/>
      <p:bldP spid="166" grpId="17" animBg="1" advAuto="0"/>
      <p:bldP spid="166" grpId="20" animBg="1" advAuto="0"/>
      <p:bldP spid="167" grpId="18" animBg="1" advAuto="0"/>
      <p:bldP spid="167" grpId="21" animBg="1" advAuto="0"/>
      <p:bldP spid="168" grpId="15" animBg="1" advAuto="0"/>
      <p:bldP spid="168" grpId="22" animBg="1" advAuto="0"/>
      <p:bldP spid="169" grpId="16" animBg="1" advAuto="0"/>
      <p:bldP spid="169" grpId="23" animBg="1" advAuto="0"/>
      <p:bldP spid="170" grpId="24" animBg="1" advAuto="0"/>
      <p:bldP spid="171" grpId="10" animBg="1" advAuto="0"/>
      <p:bldP spid="172" grpId="11" animBg="1" advAuto="0"/>
      <p:bldP spid="172" grpId="30" animBg="1" advAuto="0"/>
      <p:bldP spid="173" grpId="12" animBg="1" advAuto="0"/>
      <p:bldP spid="173" grpId="31" animBg="1" advAuto="0"/>
    </p:bld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9" name="Rectangle"/>
          <p:cNvSpPr/>
          <p:nvPr/>
        </p:nvSpPr>
        <p:spPr>
          <a:xfrm>
            <a:off x="-177800" y="-156865"/>
            <a:ext cx="13233400" cy="5101630"/>
          </a:xfrm>
          <a:prstGeom prst="rect">
            <a:avLst/>
          </a:prstGeom>
          <a:solidFill>
            <a:srgbClr val="FFFC79"/>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180" name="Rounded Rectangle"/>
          <p:cNvSpPr/>
          <p:nvPr/>
        </p:nvSpPr>
        <p:spPr>
          <a:xfrm>
            <a:off x="1231900" y="1181100"/>
            <a:ext cx="11036300" cy="3238500"/>
          </a:xfrm>
          <a:prstGeom prst="roundRect">
            <a:avLst>
              <a:gd name="adj" fmla="val 5882"/>
            </a:avLst>
          </a:prstGeom>
          <a:ln w="50800">
            <a:solidFill>
              <a:srgbClr val="424242"/>
            </a:solidFill>
            <a:miter lim="400000"/>
          </a:ln>
        </p:spPr>
        <p:txBody>
          <a:bodyPr lIns="50800" tIns="50800" rIns="50800" bIns="50800" anchor="ctr"/>
          <a:lstStyle/>
          <a:p>
            <a:pPr>
              <a:defRPr sz="4000" b="1">
                <a:solidFill>
                  <a:srgbClr val="FFFFFF"/>
                </a:solidFill>
                <a:effectLst>
                  <a:outerShdw blurRad="38100" dist="12700" dir="5400000" rotWithShape="0">
                    <a:srgbClr val="000000">
                      <a:alpha val="50000"/>
                    </a:srgbClr>
                  </a:outerShdw>
                </a:effectLst>
              </a:defRPr>
            </a:pPr>
            <a:endParaRPr/>
          </a:p>
        </p:txBody>
      </p:sp>
      <p:sp>
        <p:nvSpPr>
          <p:cNvPr id="181" name="Rectangle"/>
          <p:cNvSpPr/>
          <p:nvPr/>
        </p:nvSpPr>
        <p:spPr>
          <a:xfrm>
            <a:off x="-165100" y="4839323"/>
            <a:ext cx="13335000" cy="5101631"/>
          </a:xfrm>
          <a:prstGeom prst="rect">
            <a:avLst/>
          </a:prstGeom>
          <a:solidFill>
            <a:srgbClr val="FFD479"/>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182" name="Process R"/>
          <p:cNvSpPr/>
          <p:nvPr/>
        </p:nvSpPr>
        <p:spPr>
          <a:xfrm rot="16200000">
            <a:off x="-210053" y="2428731"/>
            <a:ext cx="2165252" cy="74323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lvl1pPr>
              <a:defRPr sz="3600">
                <a:solidFill>
                  <a:srgbClr val="424242"/>
                </a:solidFill>
                <a:latin typeface="+mn-lt"/>
                <a:ea typeface="+mn-ea"/>
                <a:cs typeface="+mn-cs"/>
                <a:sym typeface="Chalkboard SE Regular"/>
              </a:defRPr>
            </a:lvl1pPr>
          </a:lstStyle>
          <a:p>
            <a:r>
              <a:t>Process R</a:t>
            </a:r>
          </a:p>
        </p:txBody>
      </p:sp>
      <p:sp>
        <p:nvSpPr>
          <p:cNvPr id="183"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19</a:t>
            </a:fld>
            <a:endParaRPr/>
          </a:p>
        </p:txBody>
      </p:sp>
      <p:sp>
        <p:nvSpPr>
          <p:cNvPr id="184" name="socket = new socket (TCP type)"/>
          <p:cNvSpPr/>
          <p:nvPr/>
        </p:nvSpPr>
        <p:spPr>
          <a:xfrm>
            <a:off x="1549400" y="1153579"/>
            <a:ext cx="6482606" cy="7493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400">
                <a:solidFill>
                  <a:srgbClr val="0433FF"/>
                </a:solidFill>
                <a:latin typeface="Courier"/>
                <a:ea typeface="Courier"/>
                <a:cs typeface="Courier"/>
                <a:sym typeface="Courier"/>
              </a:defRPr>
            </a:lvl1pPr>
          </a:lstStyle>
          <a:p>
            <a:r>
              <a:t>socket = new socket (TCP type)</a:t>
            </a:r>
          </a:p>
        </p:txBody>
      </p:sp>
      <p:sp>
        <p:nvSpPr>
          <p:cNvPr id="185" name="socket.bind (IP address: 5.5.5.5, port: 5000)"/>
          <p:cNvSpPr/>
          <p:nvPr/>
        </p:nvSpPr>
        <p:spPr>
          <a:xfrm>
            <a:off x="1549400" y="1626303"/>
            <a:ext cx="9184283" cy="7493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400">
                <a:solidFill>
                  <a:srgbClr val="0433FF"/>
                </a:solidFill>
                <a:latin typeface="Courier"/>
                <a:ea typeface="Courier"/>
                <a:cs typeface="Courier"/>
                <a:sym typeface="Courier"/>
              </a:defRPr>
            </a:lvl1pPr>
          </a:lstStyle>
          <a:p>
            <a:r>
              <a:t>socket.bind (IP address: 5.5.5.5, port: 5000)</a:t>
            </a:r>
          </a:p>
        </p:txBody>
      </p:sp>
      <p:sp>
        <p:nvSpPr>
          <p:cNvPr id="186" name="Rounded Rectangle"/>
          <p:cNvSpPr/>
          <p:nvPr/>
        </p:nvSpPr>
        <p:spPr>
          <a:xfrm>
            <a:off x="1193800" y="5270500"/>
            <a:ext cx="4051300" cy="2247900"/>
          </a:xfrm>
          <a:prstGeom prst="roundRect">
            <a:avLst>
              <a:gd name="adj" fmla="val 8475"/>
            </a:avLst>
          </a:prstGeom>
          <a:ln w="50800">
            <a:solidFill>
              <a:srgbClr val="424242"/>
            </a:solidFill>
            <a:miter lim="400000"/>
          </a:ln>
        </p:spPr>
        <p:txBody>
          <a:bodyPr lIns="50800" tIns="50800" rIns="50800" bIns="50800" anchor="ctr"/>
          <a:lstStyle/>
          <a:p>
            <a:pPr>
              <a:defRPr sz="3600">
                <a:solidFill>
                  <a:srgbClr val="FFFFFF"/>
                </a:solidFill>
                <a:latin typeface="+mn-lt"/>
                <a:ea typeface="+mn-ea"/>
                <a:cs typeface="+mn-cs"/>
                <a:sym typeface="Chalkboard SE Regular"/>
              </a:defRPr>
            </a:pPr>
            <a:endParaRPr/>
          </a:p>
        </p:txBody>
      </p:sp>
      <p:sp>
        <p:nvSpPr>
          <p:cNvPr id="187" name="for process R"/>
          <p:cNvSpPr/>
          <p:nvPr/>
        </p:nvSpPr>
        <p:spPr>
          <a:xfrm>
            <a:off x="1295400" y="5410199"/>
            <a:ext cx="2492127" cy="4699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2400">
                <a:solidFill>
                  <a:srgbClr val="424242"/>
                </a:solidFill>
                <a:latin typeface="Courier"/>
                <a:ea typeface="Courier"/>
                <a:cs typeface="Courier"/>
                <a:sym typeface="Courier"/>
              </a:defRPr>
            </a:lvl1pPr>
          </a:lstStyle>
          <a:p>
            <a:r>
              <a:t>for process R</a:t>
            </a:r>
          </a:p>
        </p:txBody>
      </p:sp>
      <p:sp>
        <p:nvSpPr>
          <p:cNvPr id="188" name="IP address:5.5.5.5"/>
          <p:cNvSpPr/>
          <p:nvPr/>
        </p:nvSpPr>
        <p:spPr>
          <a:xfrm>
            <a:off x="1295400" y="5988049"/>
            <a:ext cx="3406676" cy="4699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lgn="l">
              <a:defRPr sz="2400">
                <a:solidFill>
                  <a:srgbClr val="424242"/>
                </a:solidFill>
                <a:latin typeface="Courier"/>
                <a:ea typeface="Courier"/>
                <a:cs typeface="Courier"/>
                <a:sym typeface="Courier"/>
              </a:defRPr>
            </a:lvl1pPr>
          </a:lstStyle>
          <a:p>
            <a:r>
              <a:t>IP address:5.5.5.5</a:t>
            </a:r>
          </a:p>
        </p:txBody>
      </p:sp>
      <p:sp>
        <p:nvSpPr>
          <p:cNvPr id="189" name="port:5000"/>
          <p:cNvSpPr/>
          <p:nvPr/>
        </p:nvSpPr>
        <p:spPr>
          <a:xfrm>
            <a:off x="1295400" y="6345535"/>
            <a:ext cx="1760488" cy="4699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lgn="l">
              <a:defRPr sz="2400">
                <a:solidFill>
                  <a:srgbClr val="424242"/>
                </a:solidFill>
                <a:latin typeface="Courier"/>
                <a:ea typeface="Courier"/>
                <a:cs typeface="Courier"/>
                <a:sym typeface="Courier"/>
              </a:defRPr>
            </a:lvl1pPr>
          </a:lstStyle>
          <a:p>
            <a:r>
              <a:t>port:5000</a:t>
            </a:r>
          </a:p>
        </p:txBody>
      </p:sp>
      <p:sp>
        <p:nvSpPr>
          <p:cNvPr id="190" name="TCP socket"/>
          <p:cNvSpPr/>
          <p:nvPr/>
        </p:nvSpPr>
        <p:spPr>
          <a:xfrm rot="16200000">
            <a:off x="-422828" y="6060183"/>
            <a:ext cx="2590801" cy="74323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lvl1pPr>
              <a:defRPr sz="3600">
                <a:solidFill>
                  <a:srgbClr val="424242"/>
                </a:solidFill>
                <a:latin typeface="+mn-lt"/>
                <a:ea typeface="+mn-ea"/>
                <a:cs typeface="+mn-cs"/>
                <a:sym typeface="Chalkboard SE Regular"/>
              </a:defRPr>
            </a:lvl1pPr>
          </a:lstStyle>
          <a:p>
            <a:r>
              <a:t>TCP socket</a:t>
            </a:r>
          </a:p>
        </p:txBody>
      </p:sp>
      <p:sp>
        <p:nvSpPr>
          <p:cNvPr id="191" name="connection-setup request"/>
          <p:cNvSpPr/>
          <p:nvPr/>
        </p:nvSpPr>
        <p:spPr>
          <a:xfrm>
            <a:off x="5880100" y="7679577"/>
            <a:ext cx="6731000" cy="749301"/>
          </a:xfrm>
          <a:prstGeom prst="rect">
            <a:avLst/>
          </a:prstGeom>
          <a:solidFill>
            <a:srgbClr val="942193"/>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defRPr sz="2400">
                <a:solidFill>
                  <a:srgbClr val="FFFFFF"/>
                </a:solidFill>
                <a:latin typeface="Courier"/>
                <a:ea typeface="Courier"/>
                <a:cs typeface="Courier"/>
                <a:sym typeface="Courier"/>
              </a:defRPr>
            </a:lvl1pPr>
          </a:lstStyle>
          <a:p>
            <a:r>
              <a:t>connection-setup request</a:t>
            </a:r>
          </a:p>
        </p:txBody>
      </p:sp>
      <p:sp>
        <p:nvSpPr>
          <p:cNvPr id="192" name="Source port: 1000"/>
          <p:cNvSpPr/>
          <p:nvPr/>
        </p:nvSpPr>
        <p:spPr>
          <a:xfrm>
            <a:off x="5880100" y="6892177"/>
            <a:ext cx="3517900" cy="749301"/>
          </a:xfrm>
          <a:prstGeom prst="rect">
            <a:avLst/>
          </a:prstGeom>
          <a:solidFill>
            <a:srgbClr val="942193"/>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defRPr sz="2400">
                <a:solidFill>
                  <a:srgbClr val="FFFFFF"/>
                </a:solidFill>
                <a:latin typeface="Courier"/>
                <a:ea typeface="Courier"/>
                <a:cs typeface="Courier"/>
                <a:sym typeface="Courier"/>
              </a:defRPr>
            </a:lvl1pPr>
          </a:lstStyle>
          <a:p>
            <a:r>
              <a:t>Source port: 1000</a:t>
            </a:r>
          </a:p>
        </p:txBody>
      </p:sp>
      <p:sp>
        <p:nvSpPr>
          <p:cNvPr id="193" name="Dest. port: 5000"/>
          <p:cNvSpPr/>
          <p:nvPr/>
        </p:nvSpPr>
        <p:spPr>
          <a:xfrm>
            <a:off x="9448800" y="6892177"/>
            <a:ext cx="3149600" cy="749301"/>
          </a:xfrm>
          <a:prstGeom prst="rect">
            <a:avLst/>
          </a:prstGeom>
          <a:solidFill>
            <a:srgbClr val="942193"/>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defRPr sz="2400">
                <a:solidFill>
                  <a:srgbClr val="FFFFFF"/>
                </a:solidFill>
                <a:latin typeface="Courier"/>
                <a:ea typeface="Courier"/>
                <a:cs typeface="Courier"/>
                <a:sym typeface="Courier"/>
              </a:defRPr>
            </a:lvl1pPr>
          </a:lstStyle>
          <a:p>
            <a:r>
              <a:t>Dest. port: 5000</a:t>
            </a:r>
          </a:p>
        </p:txBody>
      </p:sp>
      <p:sp>
        <p:nvSpPr>
          <p:cNvPr id="194" name="Source IP address: 1.1.1.1"/>
          <p:cNvSpPr/>
          <p:nvPr/>
        </p:nvSpPr>
        <p:spPr>
          <a:xfrm>
            <a:off x="5880100" y="5317377"/>
            <a:ext cx="6731000" cy="749301"/>
          </a:xfrm>
          <a:prstGeom prst="rect">
            <a:avLst/>
          </a:prstGeom>
          <a:solidFill>
            <a:srgbClr val="942193"/>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defRPr sz="2400">
                <a:solidFill>
                  <a:srgbClr val="FFFFFF"/>
                </a:solidFill>
                <a:latin typeface="Courier"/>
                <a:ea typeface="Courier"/>
                <a:cs typeface="Courier"/>
                <a:sym typeface="Courier"/>
              </a:defRPr>
            </a:lvl1pPr>
          </a:lstStyle>
          <a:p>
            <a:r>
              <a:t>Source IP address: 1.1.1.1</a:t>
            </a:r>
          </a:p>
        </p:txBody>
      </p:sp>
      <p:sp>
        <p:nvSpPr>
          <p:cNvPr id="195" name="Dest. IP address: 5.5.5.5"/>
          <p:cNvSpPr/>
          <p:nvPr/>
        </p:nvSpPr>
        <p:spPr>
          <a:xfrm>
            <a:off x="5880100" y="6104777"/>
            <a:ext cx="6731000" cy="749301"/>
          </a:xfrm>
          <a:prstGeom prst="rect">
            <a:avLst/>
          </a:prstGeom>
          <a:solidFill>
            <a:srgbClr val="942193"/>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defRPr sz="2400">
                <a:solidFill>
                  <a:srgbClr val="FFFFFF"/>
                </a:solidFill>
                <a:latin typeface="Courier"/>
                <a:ea typeface="Courier"/>
                <a:cs typeface="Courier"/>
                <a:sym typeface="Courier"/>
              </a:defRPr>
            </a:lvl1pPr>
          </a:lstStyle>
          <a:p>
            <a:r>
              <a:t>Dest. IP address: 5.5.5.5</a:t>
            </a:r>
          </a:p>
        </p:txBody>
      </p:sp>
      <p:sp>
        <p:nvSpPr>
          <p:cNvPr id="196" name="connSocket = socket.accept ( )"/>
          <p:cNvSpPr/>
          <p:nvPr/>
        </p:nvSpPr>
        <p:spPr>
          <a:xfrm>
            <a:off x="1549400" y="2571750"/>
            <a:ext cx="5715000" cy="7493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400">
                <a:solidFill>
                  <a:srgbClr val="0433FF"/>
                </a:solidFill>
                <a:latin typeface="Courier"/>
                <a:ea typeface="Courier"/>
                <a:cs typeface="Courier"/>
                <a:sym typeface="Courier"/>
              </a:defRPr>
            </a:lvl1pPr>
          </a:lstStyle>
          <a:p>
            <a:r>
              <a:t>connSocket = socket.accept ( )</a:t>
            </a:r>
          </a:p>
        </p:txBody>
      </p:sp>
      <p:sp>
        <p:nvSpPr>
          <p:cNvPr id="197" name="socket.listen (for N connections)"/>
          <p:cNvSpPr/>
          <p:nvPr/>
        </p:nvSpPr>
        <p:spPr>
          <a:xfrm>
            <a:off x="1549400" y="2099026"/>
            <a:ext cx="6731000" cy="7493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400">
                <a:solidFill>
                  <a:srgbClr val="0433FF"/>
                </a:solidFill>
                <a:latin typeface="Courier"/>
                <a:ea typeface="Courier"/>
                <a:cs typeface="Courier"/>
                <a:sym typeface="Courier"/>
              </a:defRPr>
            </a:lvl1pPr>
          </a:lstStyle>
          <a:p>
            <a:r>
              <a:t>socket.listen (for N connections)</a:t>
            </a:r>
          </a:p>
        </p:txBody>
      </p:sp>
      <p:sp>
        <p:nvSpPr>
          <p:cNvPr id="198" name="listening for N conn."/>
          <p:cNvSpPr/>
          <p:nvPr/>
        </p:nvSpPr>
        <p:spPr>
          <a:xfrm>
            <a:off x="1295400" y="6934199"/>
            <a:ext cx="4102101" cy="4699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lvl1pPr>
              <a:defRPr sz="2400">
                <a:solidFill>
                  <a:srgbClr val="424242"/>
                </a:solidFill>
                <a:latin typeface="Courier"/>
                <a:ea typeface="Courier"/>
                <a:cs typeface="Courier"/>
                <a:sym typeface="Courier"/>
              </a:defRPr>
            </a:lvl1pPr>
          </a:lstStyle>
          <a:p>
            <a:r>
              <a:t>listening for N conn.</a:t>
            </a:r>
          </a:p>
        </p:txBody>
      </p:sp>
      <p:sp>
        <p:nvSpPr>
          <p:cNvPr id="199" name="application layer"/>
          <p:cNvSpPr/>
          <p:nvPr/>
        </p:nvSpPr>
        <p:spPr>
          <a:xfrm>
            <a:off x="4419984" y="203200"/>
            <a:ext cx="3706156" cy="7493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a:solidFill>
                  <a:srgbClr val="C0C0C0"/>
                </a:solidFill>
                <a:latin typeface="Times New Roman"/>
                <a:ea typeface="Times New Roman"/>
                <a:cs typeface="Times New Roman"/>
                <a:sym typeface="Times New Roman"/>
              </a:defRPr>
            </a:lvl1pPr>
          </a:lstStyle>
          <a:p>
            <a:r>
              <a:t>application layer</a:t>
            </a:r>
          </a:p>
        </p:txBody>
      </p:sp>
      <p:sp>
        <p:nvSpPr>
          <p:cNvPr id="200" name="transport layer"/>
          <p:cNvSpPr/>
          <p:nvPr/>
        </p:nvSpPr>
        <p:spPr>
          <a:xfrm>
            <a:off x="4762233" y="8788400"/>
            <a:ext cx="3340746" cy="7493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a:solidFill>
                  <a:srgbClr val="C0C0C0"/>
                </a:solidFill>
                <a:latin typeface="Times New Roman"/>
                <a:ea typeface="Times New Roman"/>
                <a:cs typeface="Times New Roman"/>
                <a:sym typeface="Times New Roman"/>
              </a:defRPr>
            </a:lvl1pPr>
          </a:lstStyle>
          <a:p>
            <a:r>
              <a:t>transport layer</a:t>
            </a:r>
          </a:p>
        </p:txBody>
      </p:sp>
    </p:spTree>
  </p:cSld>
  <p:clrMapOvr>
    <a:masterClrMapping/>
  </p:clrMapOvr>
  <p:transition spd="slow"/>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82"/>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2" nodeType="afterEffect">
                                  <p:stCondLst>
                                    <p:cond delay="0"/>
                                  </p:stCondLst>
                                  <p:iterate>
                                    <p:tmAbs val="0"/>
                                  </p:iterate>
                                  <p:childTnLst>
                                    <p:set>
                                      <p:cBhvr>
                                        <p:cTn id="9" fill="hold"/>
                                        <p:tgtEl>
                                          <p:spTgt spid="180"/>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3" nodeType="clickEffect">
                                  <p:stCondLst>
                                    <p:cond delay="0"/>
                                  </p:stCondLst>
                                  <p:iterate type="lt">
                                    <p:tmAbs val="100"/>
                                  </p:iterate>
                                  <p:childTnLst>
                                    <p:set>
                                      <p:cBhvr>
                                        <p:cTn id="13" fill="hold"/>
                                        <p:tgtEl>
                                          <p:spTgt spid="184"/>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4" nodeType="clickEffect">
                                  <p:stCondLst>
                                    <p:cond delay="0"/>
                                  </p:stCondLst>
                                  <p:iterate>
                                    <p:tmAbs val="0"/>
                                  </p:iterate>
                                  <p:childTnLst>
                                    <p:set>
                                      <p:cBhvr>
                                        <p:cTn id="17" fill="hold"/>
                                        <p:tgtEl>
                                          <p:spTgt spid="190"/>
                                        </p:tgtEl>
                                        <p:attrNameLst>
                                          <p:attrName>style.visibility</p:attrName>
                                        </p:attrNameLst>
                                      </p:cBhvr>
                                      <p:to>
                                        <p:strVal val="visible"/>
                                      </p:to>
                                    </p:set>
                                  </p:childTnLst>
                                </p:cTn>
                              </p:par>
                            </p:childTnLst>
                          </p:cTn>
                        </p:par>
                        <p:par>
                          <p:cTn id="18" fill="hold">
                            <p:stCondLst>
                              <p:cond delay="0"/>
                            </p:stCondLst>
                            <p:childTnLst>
                              <p:par>
                                <p:cTn id="19" presetID="1" presetClass="entr" presetSubtype="0" fill="hold" grpId="5" nodeType="afterEffect">
                                  <p:stCondLst>
                                    <p:cond delay="0"/>
                                  </p:stCondLst>
                                  <p:iterate>
                                    <p:tmAbs val="0"/>
                                  </p:iterate>
                                  <p:childTnLst>
                                    <p:set>
                                      <p:cBhvr>
                                        <p:cTn id="20" fill="hold"/>
                                        <p:tgtEl>
                                          <p:spTgt spid="186"/>
                                        </p:tgtEl>
                                        <p:attrNameLst>
                                          <p:attrName>style.visibility</p:attrName>
                                        </p:attrNameLst>
                                      </p:cBhvr>
                                      <p:to>
                                        <p:strVal val="visible"/>
                                      </p:to>
                                    </p:set>
                                  </p:childTnLst>
                                </p:cTn>
                              </p:par>
                            </p:childTnLst>
                          </p:cTn>
                        </p:par>
                        <p:par>
                          <p:cTn id="21" fill="hold">
                            <p:stCondLst>
                              <p:cond delay="0"/>
                            </p:stCondLst>
                            <p:childTnLst>
                              <p:par>
                                <p:cTn id="22" presetID="1" presetClass="entr" presetSubtype="0" fill="hold" grpId="6" nodeType="afterEffect">
                                  <p:stCondLst>
                                    <p:cond delay="0"/>
                                  </p:stCondLst>
                                  <p:iterate>
                                    <p:tmAbs val="0"/>
                                  </p:iterate>
                                  <p:childTnLst>
                                    <p:set>
                                      <p:cBhvr>
                                        <p:cTn id="23" fill="hold"/>
                                        <p:tgtEl>
                                          <p:spTgt spid="187"/>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7" nodeType="clickEffect">
                                  <p:stCondLst>
                                    <p:cond delay="0"/>
                                  </p:stCondLst>
                                  <p:iterate type="lt">
                                    <p:tmAbs val="100"/>
                                  </p:iterate>
                                  <p:childTnLst>
                                    <p:set>
                                      <p:cBhvr>
                                        <p:cTn id="27" fill="hold"/>
                                        <p:tgtEl>
                                          <p:spTgt spid="185"/>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8" nodeType="clickEffect">
                                  <p:stCondLst>
                                    <p:cond delay="0"/>
                                  </p:stCondLst>
                                  <p:iterate>
                                    <p:tmAbs val="0"/>
                                  </p:iterate>
                                  <p:childTnLst>
                                    <p:set>
                                      <p:cBhvr>
                                        <p:cTn id="31" fill="hold"/>
                                        <p:tgtEl>
                                          <p:spTgt spid="188"/>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9" nodeType="clickEffect">
                                  <p:stCondLst>
                                    <p:cond delay="0"/>
                                  </p:stCondLst>
                                  <p:iterate>
                                    <p:tmAbs val="0"/>
                                  </p:iterate>
                                  <p:childTnLst>
                                    <p:set>
                                      <p:cBhvr>
                                        <p:cTn id="35" fill="hold"/>
                                        <p:tgtEl>
                                          <p:spTgt spid="189"/>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10" nodeType="clickEffect">
                                  <p:stCondLst>
                                    <p:cond delay="0"/>
                                  </p:stCondLst>
                                  <p:iterate type="lt">
                                    <p:tmAbs val="100"/>
                                  </p:iterate>
                                  <p:childTnLst>
                                    <p:set>
                                      <p:cBhvr>
                                        <p:cTn id="39" fill="hold"/>
                                        <p:tgtEl>
                                          <p:spTgt spid="197"/>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11" nodeType="clickEffect">
                                  <p:stCondLst>
                                    <p:cond delay="0"/>
                                  </p:stCondLst>
                                  <p:iterate>
                                    <p:tmAbs val="0"/>
                                  </p:iterate>
                                  <p:childTnLst>
                                    <p:set>
                                      <p:cBhvr>
                                        <p:cTn id="43" fill="hold"/>
                                        <p:tgtEl>
                                          <p:spTgt spid="198"/>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12" nodeType="clickEffect">
                                  <p:stCondLst>
                                    <p:cond delay="0"/>
                                  </p:stCondLst>
                                  <p:iterate>
                                    <p:tmAbs val="0"/>
                                  </p:iterate>
                                  <p:childTnLst>
                                    <p:set>
                                      <p:cBhvr>
                                        <p:cTn id="47" fill="hold"/>
                                        <p:tgtEl>
                                          <p:spTgt spid="191"/>
                                        </p:tgtEl>
                                        <p:attrNameLst>
                                          <p:attrName>style.visibility</p:attrName>
                                        </p:attrNameLst>
                                      </p:cBhvr>
                                      <p:to>
                                        <p:strVal val="visible"/>
                                      </p:to>
                                    </p:set>
                                  </p:childTnLst>
                                </p:cTn>
                              </p:par>
                            </p:childTnLst>
                          </p:cTn>
                        </p:par>
                        <p:par>
                          <p:cTn id="48" fill="hold">
                            <p:stCondLst>
                              <p:cond delay="0"/>
                            </p:stCondLst>
                            <p:childTnLst>
                              <p:par>
                                <p:cTn id="49" presetID="1" presetClass="entr" presetSubtype="0" fill="hold" grpId="13" nodeType="afterEffect">
                                  <p:stCondLst>
                                    <p:cond delay="0"/>
                                  </p:stCondLst>
                                  <p:iterate>
                                    <p:tmAbs val="0"/>
                                  </p:iterate>
                                  <p:childTnLst>
                                    <p:set>
                                      <p:cBhvr>
                                        <p:cTn id="50" fill="hold"/>
                                        <p:tgtEl>
                                          <p:spTgt spid="194"/>
                                        </p:tgtEl>
                                        <p:attrNameLst>
                                          <p:attrName>style.visibility</p:attrName>
                                        </p:attrNameLst>
                                      </p:cBhvr>
                                      <p:to>
                                        <p:strVal val="visible"/>
                                      </p:to>
                                    </p:set>
                                  </p:childTnLst>
                                </p:cTn>
                              </p:par>
                            </p:childTnLst>
                          </p:cTn>
                        </p:par>
                        <p:par>
                          <p:cTn id="51" fill="hold">
                            <p:stCondLst>
                              <p:cond delay="0"/>
                            </p:stCondLst>
                            <p:childTnLst>
                              <p:par>
                                <p:cTn id="52" presetID="1" presetClass="entr" presetSubtype="0" fill="hold" grpId="14" nodeType="afterEffect">
                                  <p:stCondLst>
                                    <p:cond delay="0"/>
                                  </p:stCondLst>
                                  <p:iterate>
                                    <p:tmAbs val="0"/>
                                  </p:iterate>
                                  <p:childTnLst>
                                    <p:set>
                                      <p:cBhvr>
                                        <p:cTn id="53" fill="hold"/>
                                        <p:tgtEl>
                                          <p:spTgt spid="192"/>
                                        </p:tgtEl>
                                        <p:attrNameLst>
                                          <p:attrName>style.visibility</p:attrName>
                                        </p:attrNameLst>
                                      </p:cBhvr>
                                      <p:to>
                                        <p:strVal val="visible"/>
                                      </p:to>
                                    </p:set>
                                  </p:childTnLst>
                                </p:cTn>
                              </p:par>
                            </p:childTnLst>
                          </p:cTn>
                        </p:par>
                        <p:par>
                          <p:cTn id="54" fill="hold">
                            <p:stCondLst>
                              <p:cond delay="0"/>
                            </p:stCondLst>
                            <p:childTnLst>
                              <p:par>
                                <p:cTn id="55" presetID="1" presetClass="entr" presetSubtype="0" fill="hold" grpId="15" nodeType="afterEffect">
                                  <p:stCondLst>
                                    <p:cond delay="0"/>
                                  </p:stCondLst>
                                  <p:iterate>
                                    <p:tmAbs val="0"/>
                                  </p:iterate>
                                  <p:childTnLst>
                                    <p:set>
                                      <p:cBhvr>
                                        <p:cTn id="56" fill="hold"/>
                                        <p:tgtEl>
                                          <p:spTgt spid="195"/>
                                        </p:tgtEl>
                                        <p:attrNameLst>
                                          <p:attrName>style.visibility</p:attrName>
                                        </p:attrNameLst>
                                      </p:cBhvr>
                                      <p:to>
                                        <p:strVal val="visible"/>
                                      </p:to>
                                    </p:set>
                                  </p:childTnLst>
                                </p:cTn>
                              </p:par>
                            </p:childTnLst>
                          </p:cTn>
                        </p:par>
                        <p:par>
                          <p:cTn id="57" fill="hold">
                            <p:stCondLst>
                              <p:cond delay="0"/>
                            </p:stCondLst>
                            <p:childTnLst>
                              <p:par>
                                <p:cTn id="58" presetID="1" presetClass="entr" presetSubtype="0" fill="hold" grpId="16" nodeType="afterEffect">
                                  <p:stCondLst>
                                    <p:cond delay="0"/>
                                  </p:stCondLst>
                                  <p:iterate>
                                    <p:tmAbs val="0"/>
                                  </p:iterate>
                                  <p:childTnLst>
                                    <p:set>
                                      <p:cBhvr>
                                        <p:cTn id="59" fill="hold"/>
                                        <p:tgtEl>
                                          <p:spTgt spid="193"/>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17" nodeType="clickEffect">
                                  <p:stCondLst>
                                    <p:cond delay="0"/>
                                  </p:stCondLst>
                                  <p:iterate type="lt">
                                    <p:tmAbs val="100"/>
                                  </p:iterate>
                                  <p:childTnLst>
                                    <p:set>
                                      <p:cBhvr>
                                        <p:cTn id="63" fill="hold"/>
                                        <p:tgtEl>
                                          <p:spTgt spid="196"/>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xit" presetSubtype="0" fill="hold" grpId="18" nodeType="clickEffect">
                                  <p:stCondLst>
                                    <p:cond delay="0"/>
                                  </p:stCondLst>
                                  <p:iterate>
                                    <p:tmAbs val="0"/>
                                  </p:iterate>
                                  <p:childTnLst>
                                    <p:set>
                                      <p:cBhvr>
                                        <p:cTn id="67" fill="hold">
                                          <p:stCondLst>
                                            <p:cond delay="0"/>
                                          </p:stCondLst>
                                        </p:cTn>
                                        <p:tgtEl>
                                          <p:spTgt spid="191"/>
                                        </p:tgtEl>
                                        <p:attrNameLst>
                                          <p:attrName>style.visibility</p:attrName>
                                        </p:attrNameLst>
                                      </p:cBhvr>
                                      <p:to>
                                        <p:strVal val="hidden"/>
                                      </p:to>
                                    </p:set>
                                  </p:childTnLst>
                                </p:cTn>
                              </p:par>
                            </p:childTnLst>
                          </p:cTn>
                        </p:par>
                        <p:par>
                          <p:cTn id="68" fill="hold">
                            <p:stCondLst>
                              <p:cond delay="0"/>
                            </p:stCondLst>
                            <p:childTnLst>
                              <p:par>
                                <p:cTn id="69" presetID="1" presetClass="exit" presetSubtype="0" fill="hold" grpId="19" nodeType="afterEffect">
                                  <p:stCondLst>
                                    <p:cond delay="0"/>
                                  </p:stCondLst>
                                  <p:iterate>
                                    <p:tmAbs val="0"/>
                                  </p:iterate>
                                  <p:childTnLst>
                                    <p:set>
                                      <p:cBhvr>
                                        <p:cTn id="70" fill="hold">
                                          <p:stCondLst>
                                            <p:cond delay="0"/>
                                          </p:stCondLst>
                                        </p:cTn>
                                        <p:tgtEl>
                                          <p:spTgt spid="192"/>
                                        </p:tgtEl>
                                        <p:attrNameLst>
                                          <p:attrName>style.visibility</p:attrName>
                                        </p:attrNameLst>
                                      </p:cBhvr>
                                      <p:to>
                                        <p:strVal val="hidden"/>
                                      </p:to>
                                    </p:set>
                                  </p:childTnLst>
                                </p:cTn>
                              </p:par>
                            </p:childTnLst>
                          </p:cTn>
                        </p:par>
                        <p:par>
                          <p:cTn id="71" fill="hold">
                            <p:stCondLst>
                              <p:cond delay="0"/>
                            </p:stCondLst>
                            <p:childTnLst>
                              <p:par>
                                <p:cTn id="72" presetID="1" presetClass="exit" presetSubtype="0" fill="hold" grpId="20" nodeType="afterEffect">
                                  <p:stCondLst>
                                    <p:cond delay="0"/>
                                  </p:stCondLst>
                                  <p:iterate>
                                    <p:tmAbs val="0"/>
                                  </p:iterate>
                                  <p:childTnLst>
                                    <p:set>
                                      <p:cBhvr>
                                        <p:cTn id="73" fill="hold">
                                          <p:stCondLst>
                                            <p:cond delay="0"/>
                                          </p:stCondLst>
                                        </p:cTn>
                                        <p:tgtEl>
                                          <p:spTgt spid="193"/>
                                        </p:tgtEl>
                                        <p:attrNameLst>
                                          <p:attrName>style.visibility</p:attrName>
                                        </p:attrNameLst>
                                      </p:cBhvr>
                                      <p:to>
                                        <p:strVal val="hidden"/>
                                      </p:to>
                                    </p:set>
                                  </p:childTnLst>
                                </p:cTn>
                              </p:par>
                            </p:childTnLst>
                          </p:cTn>
                        </p:par>
                        <p:par>
                          <p:cTn id="74" fill="hold">
                            <p:stCondLst>
                              <p:cond delay="0"/>
                            </p:stCondLst>
                            <p:childTnLst>
                              <p:par>
                                <p:cTn id="75" presetID="1" presetClass="exit" presetSubtype="0" fill="hold" grpId="21" nodeType="afterEffect">
                                  <p:stCondLst>
                                    <p:cond delay="0"/>
                                  </p:stCondLst>
                                  <p:iterate>
                                    <p:tmAbs val="0"/>
                                  </p:iterate>
                                  <p:childTnLst>
                                    <p:set>
                                      <p:cBhvr>
                                        <p:cTn id="76" fill="hold">
                                          <p:stCondLst>
                                            <p:cond delay="0"/>
                                          </p:stCondLst>
                                        </p:cTn>
                                        <p:tgtEl>
                                          <p:spTgt spid="194"/>
                                        </p:tgtEl>
                                        <p:attrNameLst>
                                          <p:attrName>style.visibility</p:attrName>
                                        </p:attrNameLst>
                                      </p:cBhvr>
                                      <p:to>
                                        <p:strVal val="hidden"/>
                                      </p:to>
                                    </p:set>
                                  </p:childTnLst>
                                </p:cTn>
                              </p:par>
                            </p:childTnLst>
                          </p:cTn>
                        </p:par>
                        <p:par>
                          <p:cTn id="77" fill="hold">
                            <p:stCondLst>
                              <p:cond delay="0"/>
                            </p:stCondLst>
                            <p:childTnLst>
                              <p:par>
                                <p:cTn id="78" presetID="1" presetClass="exit" presetSubtype="0" fill="hold" grpId="22" nodeType="afterEffect">
                                  <p:stCondLst>
                                    <p:cond delay="0"/>
                                  </p:stCondLst>
                                  <p:iterate>
                                    <p:tmAbs val="0"/>
                                  </p:iterate>
                                  <p:childTnLst>
                                    <p:set>
                                      <p:cBhvr>
                                        <p:cTn id="79" fill="hold">
                                          <p:stCondLst>
                                            <p:cond delay="0"/>
                                          </p:stCondLst>
                                        </p:cTn>
                                        <p:tgtEl>
                                          <p:spTgt spid="19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0" grpId="2" animBg="1" advAuto="0"/>
      <p:bldP spid="182" grpId="1" animBg="1" advAuto="0"/>
      <p:bldP spid="184" grpId="3" animBg="1" advAuto="0"/>
      <p:bldP spid="185" grpId="7" animBg="1" advAuto="0"/>
      <p:bldP spid="186" grpId="5" animBg="1" advAuto="0"/>
      <p:bldP spid="187" grpId="6" animBg="1" advAuto="0"/>
      <p:bldP spid="188" grpId="8" animBg="1" advAuto="0"/>
      <p:bldP spid="189" grpId="9" animBg="1" advAuto="0"/>
      <p:bldP spid="190" grpId="4" animBg="1" advAuto="0"/>
      <p:bldP spid="191" grpId="12" animBg="1" advAuto="0"/>
      <p:bldP spid="191" grpId="18" animBg="1" advAuto="0"/>
      <p:bldP spid="192" grpId="14" animBg="1" advAuto="0"/>
      <p:bldP spid="192" grpId="19" animBg="1" advAuto="0"/>
      <p:bldP spid="193" grpId="16" animBg="1" advAuto="0"/>
      <p:bldP spid="193" grpId="20" animBg="1" advAuto="0"/>
      <p:bldP spid="194" grpId="13" animBg="1" advAuto="0"/>
      <p:bldP spid="194" grpId="21" animBg="1" advAuto="0"/>
      <p:bldP spid="195" grpId="15" animBg="1" advAuto="0"/>
      <p:bldP spid="195" grpId="22" animBg="1" advAuto="0"/>
      <p:bldP spid="196" grpId="17" animBg="1" advAuto="0"/>
      <p:bldP spid="197" grpId="10" animBg="1" advAuto="0"/>
      <p:bldP spid="198" grpId="11" animBg="1" advAuto="0"/>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4" name="Rectangle"/>
          <p:cNvSpPr/>
          <p:nvPr/>
        </p:nvSpPr>
        <p:spPr>
          <a:xfrm>
            <a:off x="-165100" y="4839323"/>
            <a:ext cx="13335000" cy="5101631"/>
          </a:xfrm>
          <a:prstGeom prst="rect">
            <a:avLst/>
          </a:prstGeom>
          <a:solidFill>
            <a:srgbClr val="FFD479"/>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205" name="Rectangle"/>
          <p:cNvSpPr/>
          <p:nvPr/>
        </p:nvSpPr>
        <p:spPr>
          <a:xfrm>
            <a:off x="-184095" y="-160449"/>
            <a:ext cx="13233401" cy="5101631"/>
          </a:xfrm>
          <a:prstGeom prst="rect">
            <a:avLst/>
          </a:prstGeom>
          <a:solidFill>
            <a:srgbClr val="FFFC79"/>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206" name="Process R"/>
          <p:cNvSpPr/>
          <p:nvPr/>
        </p:nvSpPr>
        <p:spPr>
          <a:xfrm rot="16200000">
            <a:off x="-190004" y="2428731"/>
            <a:ext cx="2119908" cy="74323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lvl1pPr>
              <a:defRPr sz="3600">
                <a:solidFill>
                  <a:srgbClr val="424242"/>
                </a:solidFill>
                <a:latin typeface="+mn-lt"/>
                <a:ea typeface="+mn-ea"/>
                <a:cs typeface="+mn-cs"/>
                <a:sym typeface="Chalkboard SE Regular"/>
              </a:defRPr>
            </a:lvl1pPr>
          </a:lstStyle>
          <a:p>
            <a:r>
              <a:t>Process R</a:t>
            </a:r>
          </a:p>
        </p:txBody>
      </p:sp>
      <p:sp>
        <p:nvSpPr>
          <p:cNvPr id="207" name="Slide Number"/>
          <p:cNvSpPr txBox="1">
            <a:spLocks noGrp="1"/>
          </p:cNvSpPr>
          <p:nvPr>
            <p:ph type="sldNum" sz="quarter" idx="2"/>
          </p:nvPr>
        </p:nvSpPr>
        <p:spPr>
          <a:xfrm>
            <a:off x="11662841" y="9009155"/>
            <a:ext cx="334418" cy="358590"/>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20</a:t>
            </a:fld>
            <a:endParaRPr/>
          </a:p>
        </p:txBody>
      </p:sp>
      <p:sp>
        <p:nvSpPr>
          <p:cNvPr id="208" name="Rounded Rectangle"/>
          <p:cNvSpPr/>
          <p:nvPr/>
        </p:nvSpPr>
        <p:spPr>
          <a:xfrm>
            <a:off x="1193800" y="5232400"/>
            <a:ext cx="4508500" cy="3238500"/>
          </a:xfrm>
          <a:prstGeom prst="roundRect">
            <a:avLst>
              <a:gd name="adj" fmla="val 5882"/>
            </a:avLst>
          </a:prstGeom>
          <a:ln w="50800">
            <a:solidFill>
              <a:srgbClr val="424242"/>
            </a:solidFill>
            <a:miter lim="400000"/>
          </a:ln>
        </p:spPr>
        <p:txBody>
          <a:bodyPr lIns="50800" tIns="50800" rIns="50800" bIns="50800" anchor="ctr"/>
          <a:lstStyle/>
          <a:p>
            <a:pPr>
              <a:defRPr sz="3600">
                <a:solidFill>
                  <a:srgbClr val="FFFFFF"/>
                </a:solidFill>
                <a:latin typeface="+mn-lt"/>
                <a:ea typeface="+mn-ea"/>
                <a:cs typeface="+mn-cs"/>
                <a:sym typeface="Chalkboard SE Regular"/>
              </a:defRPr>
            </a:pPr>
            <a:endParaRPr/>
          </a:p>
        </p:txBody>
      </p:sp>
      <p:sp>
        <p:nvSpPr>
          <p:cNvPr id="209" name="for process R"/>
          <p:cNvSpPr/>
          <p:nvPr/>
        </p:nvSpPr>
        <p:spPr>
          <a:xfrm>
            <a:off x="1286569" y="5410199"/>
            <a:ext cx="2492128" cy="4699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2400">
                <a:solidFill>
                  <a:srgbClr val="424242"/>
                </a:solidFill>
                <a:latin typeface="Courier"/>
                <a:ea typeface="Courier"/>
                <a:cs typeface="Courier"/>
                <a:sym typeface="Courier"/>
              </a:defRPr>
            </a:lvl1pPr>
          </a:lstStyle>
          <a:p>
            <a:r>
              <a:t>for process R</a:t>
            </a:r>
          </a:p>
        </p:txBody>
      </p:sp>
      <p:sp>
        <p:nvSpPr>
          <p:cNvPr id="210" name="IP address:5.5.5.5"/>
          <p:cNvSpPr/>
          <p:nvPr/>
        </p:nvSpPr>
        <p:spPr>
          <a:xfrm>
            <a:off x="1286569" y="6076949"/>
            <a:ext cx="3406677" cy="4699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lgn="l">
              <a:defRPr sz="2400">
                <a:solidFill>
                  <a:srgbClr val="424242"/>
                </a:solidFill>
                <a:latin typeface="Courier"/>
                <a:ea typeface="Courier"/>
                <a:cs typeface="Courier"/>
                <a:sym typeface="Courier"/>
              </a:defRPr>
            </a:lvl1pPr>
          </a:lstStyle>
          <a:p>
            <a:r>
              <a:t>IP address:5.5.5.5</a:t>
            </a:r>
          </a:p>
        </p:txBody>
      </p:sp>
      <p:sp>
        <p:nvSpPr>
          <p:cNvPr id="211" name="port:5000"/>
          <p:cNvSpPr/>
          <p:nvPr/>
        </p:nvSpPr>
        <p:spPr>
          <a:xfrm>
            <a:off x="1286569" y="6483349"/>
            <a:ext cx="1760489" cy="4699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lgn="l">
              <a:defRPr sz="2400">
                <a:solidFill>
                  <a:srgbClr val="424242"/>
                </a:solidFill>
                <a:latin typeface="Courier"/>
                <a:ea typeface="Courier"/>
                <a:cs typeface="Courier"/>
                <a:sym typeface="Courier"/>
              </a:defRPr>
            </a:lvl1pPr>
          </a:lstStyle>
          <a:p>
            <a:r>
              <a:t>port:5000</a:t>
            </a:r>
          </a:p>
        </p:txBody>
      </p:sp>
      <p:sp>
        <p:nvSpPr>
          <p:cNvPr id="212" name="TCP socket"/>
          <p:cNvSpPr/>
          <p:nvPr/>
        </p:nvSpPr>
        <p:spPr>
          <a:xfrm rot="16200000">
            <a:off x="-469901" y="6562581"/>
            <a:ext cx="2679701" cy="74323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lvl1pPr>
              <a:defRPr sz="3600">
                <a:solidFill>
                  <a:srgbClr val="424242"/>
                </a:solidFill>
                <a:latin typeface="+mn-lt"/>
                <a:ea typeface="+mn-ea"/>
                <a:cs typeface="+mn-cs"/>
                <a:sym typeface="Chalkboard SE Regular"/>
              </a:defRPr>
            </a:lvl1pPr>
          </a:lstStyle>
          <a:p>
            <a:r>
              <a:t>TCP socket</a:t>
            </a:r>
          </a:p>
        </p:txBody>
      </p:sp>
      <p:sp>
        <p:nvSpPr>
          <p:cNvPr id="213" name="message = connSocket.recv (100 bytes)"/>
          <p:cNvSpPr/>
          <p:nvPr/>
        </p:nvSpPr>
        <p:spPr>
          <a:xfrm>
            <a:off x="1536700" y="3087863"/>
            <a:ext cx="7539981" cy="7493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400">
                <a:solidFill>
                  <a:srgbClr val="0433FF"/>
                </a:solidFill>
                <a:latin typeface="Courier"/>
                <a:ea typeface="Courier"/>
                <a:cs typeface="Courier"/>
                <a:sym typeface="Courier"/>
              </a:defRPr>
            </a:lvl1pPr>
          </a:lstStyle>
          <a:p>
            <a:r>
              <a:t>message = connSocket.recv (100 bytes)</a:t>
            </a:r>
          </a:p>
        </p:txBody>
      </p:sp>
      <p:sp>
        <p:nvSpPr>
          <p:cNvPr id="214" name="message"/>
          <p:cNvSpPr/>
          <p:nvPr/>
        </p:nvSpPr>
        <p:spPr>
          <a:xfrm>
            <a:off x="6019800" y="7620000"/>
            <a:ext cx="6731000" cy="749300"/>
          </a:xfrm>
          <a:prstGeom prst="rect">
            <a:avLst/>
          </a:prstGeom>
          <a:solidFill>
            <a:srgbClr val="942193"/>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defRPr sz="2400">
                <a:solidFill>
                  <a:srgbClr val="FFFFFF"/>
                </a:solidFill>
                <a:latin typeface="Courier"/>
                <a:ea typeface="Courier"/>
                <a:cs typeface="Courier"/>
                <a:sym typeface="Courier"/>
              </a:defRPr>
            </a:lvl1pPr>
          </a:lstStyle>
          <a:p>
            <a:r>
              <a:t>message</a:t>
            </a:r>
          </a:p>
        </p:txBody>
      </p:sp>
      <p:sp>
        <p:nvSpPr>
          <p:cNvPr id="215" name="Source port: 1000"/>
          <p:cNvSpPr/>
          <p:nvPr/>
        </p:nvSpPr>
        <p:spPr>
          <a:xfrm>
            <a:off x="6019800" y="6832600"/>
            <a:ext cx="3517900" cy="749300"/>
          </a:xfrm>
          <a:prstGeom prst="rect">
            <a:avLst/>
          </a:prstGeom>
          <a:solidFill>
            <a:srgbClr val="942193"/>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defRPr sz="2400">
                <a:solidFill>
                  <a:srgbClr val="FFFFFF"/>
                </a:solidFill>
                <a:latin typeface="Courier"/>
                <a:ea typeface="Courier"/>
                <a:cs typeface="Courier"/>
                <a:sym typeface="Courier"/>
              </a:defRPr>
            </a:lvl1pPr>
          </a:lstStyle>
          <a:p>
            <a:r>
              <a:t>Source port: 1000</a:t>
            </a:r>
          </a:p>
        </p:txBody>
      </p:sp>
      <p:sp>
        <p:nvSpPr>
          <p:cNvPr id="216" name="Dest. port: 5000"/>
          <p:cNvSpPr/>
          <p:nvPr/>
        </p:nvSpPr>
        <p:spPr>
          <a:xfrm>
            <a:off x="9588500" y="6832600"/>
            <a:ext cx="3149600" cy="749300"/>
          </a:xfrm>
          <a:prstGeom prst="rect">
            <a:avLst/>
          </a:prstGeom>
          <a:solidFill>
            <a:srgbClr val="942193"/>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defRPr sz="2400">
                <a:solidFill>
                  <a:srgbClr val="FFFFFF"/>
                </a:solidFill>
                <a:latin typeface="Courier"/>
                <a:ea typeface="Courier"/>
                <a:cs typeface="Courier"/>
                <a:sym typeface="Courier"/>
              </a:defRPr>
            </a:lvl1pPr>
          </a:lstStyle>
          <a:p>
            <a:r>
              <a:t>Dest. port: 5000</a:t>
            </a:r>
          </a:p>
        </p:txBody>
      </p:sp>
      <p:sp>
        <p:nvSpPr>
          <p:cNvPr id="217" name="Source IP address: 1.1.1.1"/>
          <p:cNvSpPr/>
          <p:nvPr/>
        </p:nvSpPr>
        <p:spPr>
          <a:xfrm>
            <a:off x="6019800" y="5257800"/>
            <a:ext cx="6731000" cy="749300"/>
          </a:xfrm>
          <a:prstGeom prst="rect">
            <a:avLst/>
          </a:prstGeom>
          <a:solidFill>
            <a:srgbClr val="942193"/>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defRPr sz="2400">
                <a:solidFill>
                  <a:srgbClr val="FFFFFF"/>
                </a:solidFill>
                <a:latin typeface="Courier"/>
                <a:ea typeface="Courier"/>
                <a:cs typeface="Courier"/>
                <a:sym typeface="Courier"/>
              </a:defRPr>
            </a:lvl1pPr>
          </a:lstStyle>
          <a:p>
            <a:r>
              <a:t>Source IP address: 1.1.1.1</a:t>
            </a:r>
          </a:p>
        </p:txBody>
      </p:sp>
      <p:sp>
        <p:nvSpPr>
          <p:cNvPr id="218" name="Dest. IP address: 5.5.5.5"/>
          <p:cNvSpPr/>
          <p:nvPr/>
        </p:nvSpPr>
        <p:spPr>
          <a:xfrm>
            <a:off x="6019800" y="6045200"/>
            <a:ext cx="6731000" cy="749300"/>
          </a:xfrm>
          <a:prstGeom prst="rect">
            <a:avLst/>
          </a:prstGeom>
          <a:solidFill>
            <a:srgbClr val="942193"/>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defRPr sz="2400">
                <a:solidFill>
                  <a:srgbClr val="FFFFFF"/>
                </a:solidFill>
                <a:latin typeface="Courier"/>
                <a:ea typeface="Courier"/>
                <a:cs typeface="Courier"/>
                <a:sym typeface="Courier"/>
              </a:defRPr>
            </a:lvl1pPr>
          </a:lstStyle>
          <a:p>
            <a:r>
              <a:t>Dest. IP address: 5.5.5.5</a:t>
            </a:r>
          </a:p>
        </p:txBody>
      </p:sp>
      <p:sp>
        <p:nvSpPr>
          <p:cNvPr id="219" name="connSocket.close ( )"/>
          <p:cNvSpPr/>
          <p:nvPr/>
        </p:nvSpPr>
        <p:spPr>
          <a:xfrm>
            <a:off x="1536700" y="3616676"/>
            <a:ext cx="5207000" cy="7493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400">
                <a:solidFill>
                  <a:srgbClr val="0433FF"/>
                </a:solidFill>
                <a:latin typeface="Courier"/>
                <a:ea typeface="Courier"/>
                <a:cs typeface="Courier"/>
                <a:sym typeface="Courier"/>
              </a:defRPr>
            </a:lvl1pPr>
          </a:lstStyle>
          <a:p>
            <a:r>
              <a:t>connSocket.close ( )</a:t>
            </a:r>
          </a:p>
        </p:txBody>
      </p:sp>
      <p:sp>
        <p:nvSpPr>
          <p:cNvPr id="220" name="rem. IP address:1.1.1.1"/>
          <p:cNvSpPr/>
          <p:nvPr/>
        </p:nvSpPr>
        <p:spPr>
          <a:xfrm>
            <a:off x="1286569" y="7302499"/>
            <a:ext cx="4321226" cy="4699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lgn="l">
              <a:defRPr sz="2400">
                <a:solidFill>
                  <a:srgbClr val="424242"/>
                </a:solidFill>
                <a:latin typeface="Courier"/>
                <a:ea typeface="Courier"/>
                <a:cs typeface="Courier"/>
                <a:sym typeface="Courier"/>
              </a:defRPr>
            </a:lvl1pPr>
          </a:lstStyle>
          <a:p>
            <a:r>
              <a:t>rem. IP address:1.1.1.1</a:t>
            </a:r>
          </a:p>
        </p:txBody>
      </p:sp>
      <p:sp>
        <p:nvSpPr>
          <p:cNvPr id="221" name="rem. port:1000"/>
          <p:cNvSpPr/>
          <p:nvPr/>
        </p:nvSpPr>
        <p:spPr>
          <a:xfrm>
            <a:off x="1286569" y="7679035"/>
            <a:ext cx="2675038" cy="4699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lgn="l">
              <a:defRPr sz="2400">
                <a:solidFill>
                  <a:srgbClr val="424242"/>
                </a:solidFill>
                <a:latin typeface="Courier"/>
                <a:ea typeface="Courier"/>
                <a:cs typeface="Courier"/>
                <a:sym typeface="Courier"/>
              </a:defRPr>
            </a:lvl1pPr>
          </a:lstStyle>
          <a:p>
            <a:r>
              <a:t>rem. port:1000</a:t>
            </a:r>
          </a:p>
        </p:txBody>
      </p:sp>
      <p:sp>
        <p:nvSpPr>
          <p:cNvPr id="222" name="application layer"/>
          <p:cNvSpPr/>
          <p:nvPr/>
        </p:nvSpPr>
        <p:spPr>
          <a:xfrm>
            <a:off x="4419984" y="203200"/>
            <a:ext cx="3706156" cy="7493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a:solidFill>
                  <a:srgbClr val="C0C0C0"/>
                </a:solidFill>
                <a:latin typeface="Times New Roman"/>
                <a:ea typeface="Times New Roman"/>
                <a:cs typeface="Times New Roman"/>
                <a:sym typeface="Times New Roman"/>
              </a:defRPr>
            </a:lvl1pPr>
          </a:lstStyle>
          <a:p>
            <a:r>
              <a:t>application layer</a:t>
            </a:r>
          </a:p>
        </p:txBody>
      </p:sp>
      <p:sp>
        <p:nvSpPr>
          <p:cNvPr id="223" name="transport layer"/>
          <p:cNvSpPr/>
          <p:nvPr/>
        </p:nvSpPr>
        <p:spPr>
          <a:xfrm>
            <a:off x="4762233" y="8788400"/>
            <a:ext cx="3340746" cy="7493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a:solidFill>
                  <a:srgbClr val="C0C0C0"/>
                </a:solidFill>
                <a:latin typeface="Times New Roman"/>
                <a:ea typeface="Times New Roman"/>
                <a:cs typeface="Times New Roman"/>
                <a:sym typeface="Times New Roman"/>
              </a:defRPr>
            </a:lvl1pPr>
          </a:lstStyle>
          <a:p>
            <a:r>
              <a:t>transport layer</a:t>
            </a:r>
          </a:p>
        </p:txBody>
      </p:sp>
      <p:sp>
        <p:nvSpPr>
          <p:cNvPr id="224" name="socket = new socket (TCP type)"/>
          <p:cNvSpPr/>
          <p:nvPr/>
        </p:nvSpPr>
        <p:spPr>
          <a:xfrm>
            <a:off x="1549400" y="1153579"/>
            <a:ext cx="6482606" cy="7493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400">
                <a:solidFill>
                  <a:srgbClr val="0433FF"/>
                </a:solidFill>
                <a:latin typeface="Courier"/>
                <a:ea typeface="Courier"/>
                <a:cs typeface="Courier"/>
                <a:sym typeface="Courier"/>
              </a:defRPr>
            </a:lvl1pPr>
          </a:lstStyle>
          <a:p>
            <a:r>
              <a:t>socket = new socket (TCP type)</a:t>
            </a:r>
          </a:p>
        </p:txBody>
      </p:sp>
      <p:sp>
        <p:nvSpPr>
          <p:cNvPr id="225" name="socket.bind (IP address: 5.5.5.5, port: 5000)"/>
          <p:cNvSpPr/>
          <p:nvPr/>
        </p:nvSpPr>
        <p:spPr>
          <a:xfrm>
            <a:off x="1549400" y="1626303"/>
            <a:ext cx="9184283" cy="7493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400">
                <a:solidFill>
                  <a:srgbClr val="0433FF"/>
                </a:solidFill>
                <a:latin typeface="Courier"/>
                <a:ea typeface="Courier"/>
                <a:cs typeface="Courier"/>
                <a:sym typeface="Courier"/>
              </a:defRPr>
            </a:lvl1pPr>
          </a:lstStyle>
          <a:p>
            <a:r>
              <a:t>socket.bind (IP address: 5.5.5.5, port: 5000)</a:t>
            </a:r>
          </a:p>
        </p:txBody>
      </p:sp>
      <p:sp>
        <p:nvSpPr>
          <p:cNvPr id="226" name="connSocket = socket.accept ( )"/>
          <p:cNvSpPr/>
          <p:nvPr/>
        </p:nvSpPr>
        <p:spPr>
          <a:xfrm>
            <a:off x="1549400" y="2571750"/>
            <a:ext cx="5715000" cy="7493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400">
                <a:solidFill>
                  <a:srgbClr val="0433FF"/>
                </a:solidFill>
                <a:latin typeface="Courier"/>
                <a:ea typeface="Courier"/>
                <a:cs typeface="Courier"/>
                <a:sym typeface="Courier"/>
              </a:defRPr>
            </a:lvl1pPr>
          </a:lstStyle>
          <a:p>
            <a:r>
              <a:t>connSocket = socket.accept ( )</a:t>
            </a:r>
          </a:p>
        </p:txBody>
      </p:sp>
      <p:sp>
        <p:nvSpPr>
          <p:cNvPr id="227" name="socket.listen (for N connections)"/>
          <p:cNvSpPr/>
          <p:nvPr/>
        </p:nvSpPr>
        <p:spPr>
          <a:xfrm>
            <a:off x="1549400" y="2099026"/>
            <a:ext cx="6731000" cy="7493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400">
                <a:solidFill>
                  <a:srgbClr val="0433FF"/>
                </a:solidFill>
                <a:latin typeface="Courier"/>
                <a:ea typeface="Courier"/>
                <a:cs typeface="Courier"/>
                <a:sym typeface="Courier"/>
              </a:defRPr>
            </a:lvl1pPr>
          </a:lstStyle>
          <a:p>
            <a:r>
              <a:t>socket.listen (for N connections)</a:t>
            </a:r>
          </a:p>
        </p:txBody>
      </p:sp>
      <p:sp>
        <p:nvSpPr>
          <p:cNvPr id="228" name="Rounded Rectangle"/>
          <p:cNvSpPr/>
          <p:nvPr/>
        </p:nvSpPr>
        <p:spPr>
          <a:xfrm>
            <a:off x="1231900" y="1181100"/>
            <a:ext cx="11036300" cy="3238500"/>
          </a:xfrm>
          <a:prstGeom prst="roundRect">
            <a:avLst>
              <a:gd name="adj" fmla="val 5882"/>
            </a:avLst>
          </a:prstGeom>
          <a:ln w="50800">
            <a:solidFill>
              <a:srgbClr val="424242"/>
            </a:solidFill>
            <a:miter lim="400000"/>
          </a:ln>
        </p:spPr>
        <p:txBody>
          <a:bodyPr lIns="50800" tIns="50800" rIns="50800" bIns="50800" anchor="ctr"/>
          <a:lstStyle/>
          <a:p>
            <a:pPr>
              <a:defRPr sz="4000" b="1">
                <a:solidFill>
                  <a:srgbClr val="FFFFFF"/>
                </a:solidFill>
                <a:effectLst>
                  <a:outerShdw blurRad="38100" dist="12700" dir="5400000" rotWithShape="0">
                    <a:srgbClr val="000000">
                      <a:alpha val="50000"/>
                    </a:srgbClr>
                  </a:outerShdw>
                </a:effectLst>
              </a:defRPr>
            </a:pPr>
            <a:endParaRPr/>
          </a:p>
        </p:txBody>
      </p:sp>
    </p:spTree>
  </p:cSld>
  <p:clrMapOvr>
    <a:masterClrMapping/>
  </p:clrMapOvr>
  <p:transition spd="slow"/>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212"/>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2" nodeType="afterEffect">
                                  <p:stCondLst>
                                    <p:cond delay="0"/>
                                  </p:stCondLst>
                                  <p:iterate>
                                    <p:tmAbs val="0"/>
                                  </p:iterate>
                                  <p:childTnLst>
                                    <p:set>
                                      <p:cBhvr>
                                        <p:cTn id="9" fill="hold"/>
                                        <p:tgtEl>
                                          <p:spTgt spid="208"/>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grpId="3" nodeType="afterEffect">
                                  <p:stCondLst>
                                    <p:cond delay="0"/>
                                  </p:stCondLst>
                                  <p:iterate>
                                    <p:tmAbs val="0"/>
                                  </p:iterate>
                                  <p:childTnLst>
                                    <p:set>
                                      <p:cBhvr>
                                        <p:cTn id="12" fill="hold"/>
                                        <p:tgtEl>
                                          <p:spTgt spid="20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4" nodeType="clickEffect">
                                  <p:stCondLst>
                                    <p:cond delay="0"/>
                                  </p:stCondLst>
                                  <p:iterate>
                                    <p:tmAbs val="0"/>
                                  </p:iterate>
                                  <p:childTnLst>
                                    <p:set>
                                      <p:cBhvr>
                                        <p:cTn id="16" fill="hold"/>
                                        <p:tgtEl>
                                          <p:spTgt spid="2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5" nodeType="clickEffect">
                                  <p:stCondLst>
                                    <p:cond delay="0"/>
                                  </p:stCondLst>
                                  <p:iterate>
                                    <p:tmAbs val="0"/>
                                  </p:iterate>
                                  <p:childTnLst>
                                    <p:set>
                                      <p:cBhvr>
                                        <p:cTn id="20" fill="hold"/>
                                        <p:tgtEl>
                                          <p:spTgt spid="2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6" nodeType="clickEffect">
                                  <p:stCondLst>
                                    <p:cond delay="0"/>
                                  </p:stCondLst>
                                  <p:iterate>
                                    <p:tmAbs val="0"/>
                                  </p:iterate>
                                  <p:childTnLst>
                                    <p:set>
                                      <p:cBhvr>
                                        <p:cTn id="24" fill="hold"/>
                                        <p:tgtEl>
                                          <p:spTgt spid="22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7" nodeType="clickEffect">
                                  <p:stCondLst>
                                    <p:cond delay="0"/>
                                  </p:stCondLst>
                                  <p:iterate>
                                    <p:tmAbs val="0"/>
                                  </p:iterate>
                                  <p:childTnLst>
                                    <p:set>
                                      <p:cBhvr>
                                        <p:cTn id="28" fill="hold"/>
                                        <p:tgtEl>
                                          <p:spTgt spid="22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8" nodeType="clickEffect">
                                  <p:stCondLst>
                                    <p:cond delay="0"/>
                                  </p:stCondLst>
                                  <p:iterate type="lt">
                                    <p:tmAbs val="100"/>
                                  </p:iterate>
                                  <p:childTnLst>
                                    <p:set>
                                      <p:cBhvr>
                                        <p:cTn id="32" fill="hold"/>
                                        <p:tgtEl>
                                          <p:spTgt spid="21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9" nodeType="clickEffect">
                                  <p:stCondLst>
                                    <p:cond delay="0"/>
                                  </p:stCondLst>
                                  <p:iterate>
                                    <p:tmAbs val="0"/>
                                  </p:iterate>
                                  <p:childTnLst>
                                    <p:set>
                                      <p:cBhvr>
                                        <p:cTn id="36" fill="hold"/>
                                        <p:tgtEl>
                                          <p:spTgt spid="214"/>
                                        </p:tgtEl>
                                        <p:attrNameLst>
                                          <p:attrName>style.visibility</p:attrName>
                                        </p:attrNameLst>
                                      </p:cBhvr>
                                      <p:to>
                                        <p:strVal val="visible"/>
                                      </p:to>
                                    </p:set>
                                  </p:childTnLst>
                                </p:cTn>
                              </p:par>
                            </p:childTnLst>
                          </p:cTn>
                        </p:par>
                        <p:par>
                          <p:cTn id="37" fill="hold">
                            <p:stCondLst>
                              <p:cond delay="0"/>
                            </p:stCondLst>
                            <p:childTnLst>
                              <p:par>
                                <p:cTn id="38" presetID="1" presetClass="entr" presetSubtype="0" fill="hold" grpId="10" nodeType="afterEffect">
                                  <p:stCondLst>
                                    <p:cond delay="0"/>
                                  </p:stCondLst>
                                  <p:iterate>
                                    <p:tmAbs val="0"/>
                                  </p:iterate>
                                  <p:childTnLst>
                                    <p:set>
                                      <p:cBhvr>
                                        <p:cTn id="39" fill="hold"/>
                                        <p:tgtEl>
                                          <p:spTgt spid="217"/>
                                        </p:tgtEl>
                                        <p:attrNameLst>
                                          <p:attrName>style.visibility</p:attrName>
                                        </p:attrNameLst>
                                      </p:cBhvr>
                                      <p:to>
                                        <p:strVal val="visible"/>
                                      </p:to>
                                    </p:set>
                                  </p:childTnLst>
                                </p:cTn>
                              </p:par>
                            </p:childTnLst>
                          </p:cTn>
                        </p:par>
                        <p:par>
                          <p:cTn id="40" fill="hold">
                            <p:stCondLst>
                              <p:cond delay="0"/>
                            </p:stCondLst>
                            <p:childTnLst>
                              <p:par>
                                <p:cTn id="41" presetID="1" presetClass="entr" presetSubtype="0" fill="hold" grpId="11" nodeType="afterEffect">
                                  <p:stCondLst>
                                    <p:cond delay="0"/>
                                  </p:stCondLst>
                                  <p:iterate>
                                    <p:tmAbs val="0"/>
                                  </p:iterate>
                                  <p:childTnLst>
                                    <p:set>
                                      <p:cBhvr>
                                        <p:cTn id="42" fill="hold"/>
                                        <p:tgtEl>
                                          <p:spTgt spid="215"/>
                                        </p:tgtEl>
                                        <p:attrNameLst>
                                          <p:attrName>style.visibility</p:attrName>
                                        </p:attrNameLst>
                                      </p:cBhvr>
                                      <p:to>
                                        <p:strVal val="visible"/>
                                      </p:to>
                                    </p:set>
                                  </p:childTnLst>
                                </p:cTn>
                              </p:par>
                            </p:childTnLst>
                          </p:cTn>
                        </p:par>
                        <p:par>
                          <p:cTn id="43" fill="hold">
                            <p:stCondLst>
                              <p:cond delay="0"/>
                            </p:stCondLst>
                            <p:childTnLst>
                              <p:par>
                                <p:cTn id="44" presetID="1" presetClass="entr" presetSubtype="0" fill="hold" grpId="12" nodeType="afterEffect">
                                  <p:stCondLst>
                                    <p:cond delay="0"/>
                                  </p:stCondLst>
                                  <p:iterate>
                                    <p:tmAbs val="0"/>
                                  </p:iterate>
                                  <p:childTnLst>
                                    <p:set>
                                      <p:cBhvr>
                                        <p:cTn id="45" fill="hold"/>
                                        <p:tgtEl>
                                          <p:spTgt spid="218"/>
                                        </p:tgtEl>
                                        <p:attrNameLst>
                                          <p:attrName>style.visibility</p:attrName>
                                        </p:attrNameLst>
                                      </p:cBhvr>
                                      <p:to>
                                        <p:strVal val="visible"/>
                                      </p:to>
                                    </p:set>
                                  </p:childTnLst>
                                </p:cTn>
                              </p:par>
                            </p:childTnLst>
                          </p:cTn>
                        </p:par>
                        <p:par>
                          <p:cTn id="46" fill="hold">
                            <p:stCondLst>
                              <p:cond delay="0"/>
                            </p:stCondLst>
                            <p:childTnLst>
                              <p:par>
                                <p:cTn id="47" presetID="1" presetClass="entr" presetSubtype="0" fill="hold" grpId="13" nodeType="afterEffect">
                                  <p:stCondLst>
                                    <p:cond delay="0"/>
                                  </p:stCondLst>
                                  <p:iterate>
                                    <p:tmAbs val="0"/>
                                  </p:iterate>
                                  <p:childTnLst>
                                    <p:set>
                                      <p:cBhvr>
                                        <p:cTn id="48" fill="hold"/>
                                        <p:tgtEl>
                                          <p:spTgt spid="216"/>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xit" presetSubtype="0" fill="hold" grpId="14" nodeType="clickEffect">
                                  <p:stCondLst>
                                    <p:cond delay="0"/>
                                  </p:stCondLst>
                                  <p:iterate>
                                    <p:tmAbs val="0"/>
                                  </p:iterate>
                                  <p:childTnLst>
                                    <p:set>
                                      <p:cBhvr>
                                        <p:cTn id="52" fill="hold">
                                          <p:stCondLst>
                                            <p:cond delay="0"/>
                                          </p:stCondLst>
                                        </p:cTn>
                                        <p:tgtEl>
                                          <p:spTgt spid="214"/>
                                        </p:tgtEl>
                                        <p:attrNameLst>
                                          <p:attrName>style.visibility</p:attrName>
                                        </p:attrNameLst>
                                      </p:cBhvr>
                                      <p:to>
                                        <p:strVal val="hidden"/>
                                      </p:to>
                                    </p:set>
                                  </p:childTnLst>
                                </p:cTn>
                              </p:par>
                            </p:childTnLst>
                          </p:cTn>
                        </p:par>
                        <p:par>
                          <p:cTn id="53" fill="hold">
                            <p:stCondLst>
                              <p:cond delay="0"/>
                            </p:stCondLst>
                            <p:childTnLst>
                              <p:par>
                                <p:cTn id="54" presetID="1" presetClass="exit" presetSubtype="0" fill="hold" grpId="15" nodeType="afterEffect">
                                  <p:stCondLst>
                                    <p:cond delay="0"/>
                                  </p:stCondLst>
                                  <p:iterate>
                                    <p:tmAbs val="0"/>
                                  </p:iterate>
                                  <p:childTnLst>
                                    <p:set>
                                      <p:cBhvr>
                                        <p:cTn id="55" fill="hold">
                                          <p:stCondLst>
                                            <p:cond delay="0"/>
                                          </p:stCondLst>
                                        </p:cTn>
                                        <p:tgtEl>
                                          <p:spTgt spid="215"/>
                                        </p:tgtEl>
                                        <p:attrNameLst>
                                          <p:attrName>style.visibility</p:attrName>
                                        </p:attrNameLst>
                                      </p:cBhvr>
                                      <p:to>
                                        <p:strVal val="hidden"/>
                                      </p:to>
                                    </p:set>
                                  </p:childTnLst>
                                </p:cTn>
                              </p:par>
                            </p:childTnLst>
                          </p:cTn>
                        </p:par>
                        <p:par>
                          <p:cTn id="56" fill="hold">
                            <p:stCondLst>
                              <p:cond delay="0"/>
                            </p:stCondLst>
                            <p:childTnLst>
                              <p:par>
                                <p:cTn id="57" presetID="1" presetClass="exit" presetSubtype="0" fill="hold" grpId="16" nodeType="afterEffect">
                                  <p:stCondLst>
                                    <p:cond delay="0"/>
                                  </p:stCondLst>
                                  <p:iterate>
                                    <p:tmAbs val="0"/>
                                  </p:iterate>
                                  <p:childTnLst>
                                    <p:set>
                                      <p:cBhvr>
                                        <p:cTn id="58" fill="hold">
                                          <p:stCondLst>
                                            <p:cond delay="0"/>
                                          </p:stCondLst>
                                        </p:cTn>
                                        <p:tgtEl>
                                          <p:spTgt spid="216"/>
                                        </p:tgtEl>
                                        <p:attrNameLst>
                                          <p:attrName>style.visibility</p:attrName>
                                        </p:attrNameLst>
                                      </p:cBhvr>
                                      <p:to>
                                        <p:strVal val="hidden"/>
                                      </p:to>
                                    </p:set>
                                  </p:childTnLst>
                                </p:cTn>
                              </p:par>
                            </p:childTnLst>
                          </p:cTn>
                        </p:par>
                        <p:par>
                          <p:cTn id="59" fill="hold">
                            <p:stCondLst>
                              <p:cond delay="0"/>
                            </p:stCondLst>
                            <p:childTnLst>
                              <p:par>
                                <p:cTn id="60" presetID="1" presetClass="exit" presetSubtype="0" fill="hold" grpId="17" nodeType="afterEffect">
                                  <p:stCondLst>
                                    <p:cond delay="0"/>
                                  </p:stCondLst>
                                  <p:iterate>
                                    <p:tmAbs val="0"/>
                                  </p:iterate>
                                  <p:childTnLst>
                                    <p:set>
                                      <p:cBhvr>
                                        <p:cTn id="61" fill="hold">
                                          <p:stCondLst>
                                            <p:cond delay="0"/>
                                          </p:stCondLst>
                                        </p:cTn>
                                        <p:tgtEl>
                                          <p:spTgt spid="217"/>
                                        </p:tgtEl>
                                        <p:attrNameLst>
                                          <p:attrName>style.visibility</p:attrName>
                                        </p:attrNameLst>
                                      </p:cBhvr>
                                      <p:to>
                                        <p:strVal val="hidden"/>
                                      </p:to>
                                    </p:set>
                                  </p:childTnLst>
                                </p:cTn>
                              </p:par>
                            </p:childTnLst>
                          </p:cTn>
                        </p:par>
                        <p:par>
                          <p:cTn id="62" fill="hold">
                            <p:stCondLst>
                              <p:cond delay="0"/>
                            </p:stCondLst>
                            <p:childTnLst>
                              <p:par>
                                <p:cTn id="63" presetID="1" presetClass="exit" presetSubtype="0" fill="hold" grpId="18" nodeType="afterEffect">
                                  <p:stCondLst>
                                    <p:cond delay="0"/>
                                  </p:stCondLst>
                                  <p:iterate>
                                    <p:tmAbs val="0"/>
                                  </p:iterate>
                                  <p:childTnLst>
                                    <p:set>
                                      <p:cBhvr>
                                        <p:cTn id="64" fill="hold">
                                          <p:stCondLst>
                                            <p:cond delay="0"/>
                                          </p:stCondLst>
                                        </p:cTn>
                                        <p:tgtEl>
                                          <p:spTgt spid="218"/>
                                        </p:tgtEl>
                                        <p:attrNameLst>
                                          <p:attrName>style.visibility</p:attrName>
                                        </p:attrNameLst>
                                      </p:cBhvr>
                                      <p:to>
                                        <p:strVal val="hidden"/>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19" nodeType="clickEffect">
                                  <p:stCondLst>
                                    <p:cond delay="0"/>
                                  </p:stCondLst>
                                  <p:iterate type="lt">
                                    <p:tmAbs val="100"/>
                                  </p:iterate>
                                  <p:childTnLst>
                                    <p:set>
                                      <p:cBhvr>
                                        <p:cTn id="68" fill="hold"/>
                                        <p:tgtEl>
                                          <p:spTgt spid="219"/>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xit" presetSubtype="0" fill="hold" grpId="20" nodeType="clickEffect">
                                  <p:stCondLst>
                                    <p:cond delay="0"/>
                                  </p:stCondLst>
                                  <p:iterate>
                                    <p:tmAbs val="0"/>
                                  </p:iterate>
                                  <p:childTnLst>
                                    <p:set>
                                      <p:cBhvr>
                                        <p:cTn id="72" fill="hold">
                                          <p:stCondLst>
                                            <p:cond delay="0"/>
                                          </p:stCondLst>
                                        </p:cTn>
                                        <p:tgtEl>
                                          <p:spTgt spid="208"/>
                                        </p:tgtEl>
                                        <p:attrNameLst>
                                          <p:attrName>style.visibility</p:attrName>
                                        </p:attrNameLst>
                                      </p:cBhvr>
                                      <p:to>
                                        <p:strVal val="hidden"/>
                                      </p:to>
                                    </p:set>
                                  </p:childTnLst>
                                </p:cTn>
                              </p:par>
                            </p:childTnLst>
                          </p:cTn>
                        </p:par>
                        <p:par>
                          <p:cTn id="73" fill="hold">
                            <p:stCondLst>
                              <p:cond delay="0"/>
                            </p:stCondLst>
                            <p:childTnLst>
                              <p:par>
                                <p:cTn id="74" presetID="1" presetClass="exit" presetSubtype="0" fill="hold" grpId="21" nodeType="afterEffect">
                                  <p:stCondLst>
                                    <p:cond delay="0"/>
                                  </p:stCondLst>
                                  <p:iterate>
                                    <p:tmAbs val="0"/>
                                  </p:iterate>
                                  <p:childTnLst>
                                    <p:set>
                                      <p:cBhvr>
                                        <p:cTn id="75" fill="hold">
                                          <p:stCondLst>
                                            <p:cond delay="0"/>
                                          </p:stCondLst>
                                        </p:cTn>
                                        <p:tgtEl>
                                          <p:spTgt spid="209"/>
                                        </p:tgtEl>
                                        <p:attrNameLst>
                                          <p:attrName>style.visibility</p:attrName>
                                        </p:attrNameLst>
                                      </p:cBhvr>
                                      <p:to>
                                        <p:strVal val="hidden"/>
                                      </p:to>
                                    </p:set>
                                  </p:childTnLst>
                                </p:cTn>
                              </p:par>
                            </p:childTnLst>
                          </p:cTn>
                        </p:par>
                        <p:par>
                          <p:cTn id="76" fill="hold">
                            <p:stCondLst>
                              <p:cond delay="0"/>
                            </p:stCondLst>
                            <p:childTnLst>
                              <p:par>
                                <p:cTn id="77" presetID="1" presetClass="exit" presetSubtype="0" fill="hold" grpId="22" nodeType="afterEffect">
                                  <p:stCondLst>
                                    <p:cond delay="0"/>
                                  </p:stCondLst>
                                  <p:iterate>
                                    <p:tmAbs val="0"/>
                                  </p:iterate>
                                  <p:childTnLst>
                                    <p:set>
                                      <p:cBhvr>
                                        <p:cTn id="78" fill="hold">
                                          <p:stCondLst>
                                            <p:cond delay="0"/>
                                          </p:stCondLst>
                                        </p:cTn>
                                        <p:tgtEl>
                                          <p:spTgt spid="210"/>
                                        </p:tgtEl>
                                        <p:attrNameLst>
                                          <p:attrName>style.visibility</p:attrName>
                                        </p:attrNameLst>
                                      </p:cBhvr>
                                      <p:to>
                                        <p:strVal val="hidden"/>
                                      </p:to>
                                    </p:set>
                                  </p:childTnLst>
                                </p:cTn>
                              </p:par>
                            </p:childTnLst>
                          </p:cTn>
                        </p:par>
                        <p:par>
                          <p:cTn id="79" fill="hold">
                            <p:stCondLst>
                              <p:cond delay="0"/>
                            </p:stCondLst>
                            <p:childTnLst>
                              <p:par>
                                <p:cTn id="80" presetID="1" presetClass="exit" presetSubtype="0" fill="hold" grpId="23" nodeType="afterEffect">
                                  <p:stCondLst>
                                    <p:cond delay="0"/>
                                  </p:stCondLst>
                                  <p:iterate>
                                    <p:tmAbs val="0"/>
                                  </p:iterate>
                                  <p:childTnLst>
                                    <p:set>
                                      <p:cBhvr>
                                        <p:cTn id="81" fill="hold">
                                          <p:stCondLst>
                                            <p:cond delay="0"/>
                                          </p:stCondLst>
                                        </p:cTn>
                                        <p:tgtEl>
                                          <p:spTgt spid="211"/>
                                        </p:tgtEl>
                                        <p:attrNameLst>
                                          <p:attrName>style.visibility</p:attrName>
                                        </p:attrNameLst>
                                      </p:cBhvr>
                                      <p:to>
                                        <p:strVal val="hidden"/>
                                      </p:to>
                                    </p:set>
                                  </p:childTnLst>
                                </p:cTn>
                              </p:par>
                            </p:childTnLst>
                          </p:cTn>
                        </p:par>
                        <p:par>
                          <p:cTn id="82" fill="hold">
                            <p:stCondLst>
                              <p:cond delay="0"/>
                            </p:stCondLst>
                            <p:childTnLst>
                              <p:par>
                                <p:cTn id="83" presetID="1" presetClass="exit" presetSubtype="0" fill="hold" grpId="24" nodeType="afterEffect">
                                  <p:stCondLst>
                                    <p:cond delay="0"/>
                                  </p:stCondLst>
                                  <p:iterate>
                                    <p:tmAbs val="0"/>
                                  </p:iterate>
                                  <p:childTnLst>
                                    <p:set>
                                      <p:cBhvr>
                                        <p:cTn id="84" fill="hold">
                                          <p:stCondLst>
                                            <p:cond delay="0"/>
                                          </p:stCondLst>
                                        </p:cTn>
                                        <p:tgtEl>
                                          <p:spTgt spid="212"/>
                                        </p:tgtEl>
                                        <p:attrNameLst>
                                          <p:attrName>style.visibility</p:attrName>
                                        </p:attrNameLst>
                                      </p:cBhvr>
                                      <p:to>
                                        <p:strVal val="hidden"/>
                                      </p:to>
                                    </p:set>
                                  </p:childTnLst>
                                </p:cTn>
                              </p:par>
                            </p:childTnLst>
                          </p:cTn>
                        </p:par>
                        <p:par>
                          <p:cTn id="85" fill="hold">
                            <p:stCondLst>
                              <p:cond delay="0"/>
                            </p:stCondLst>
                            <p:childTnLst>
                              <p:par>
                                <p:cTn id="86" presetID="1" presetClass="exit" presetSubtype="0" fill="hold" grpId="25" nodeType="afterEffect">
                                  <p:stCondLst>
                                    <p:cond delay="0"/>
                                  </p:stCondLst>
                                  <p:iterate>
                                    <p:tmAbs val="0"/>
                                  </p:iterate>
                                  <p:childTnLst>
                                    <p:set>
                                      <p:cBhvr>
                                        <p:cTn id="87" fill="hold">
                                          <p:stCondLst>
                                            <p:cond delay="0"/>
                                          </p:stCondLst>
                                        </p:cTn>
                                        <p:tgtEl>
                                          <p:spTgt spid="220"/>
                                        </p:tgtEl>
                                        <p:attrNameLst>
                                          <p:attrName>style.visibility</p:attrName>
                                        </p:attrNameLst>
                                      </p:cBhvr>
                                      <p:to>
                                        <p:strVal val="hidden"/>
                                      </p:to>
                                    </p:set>
                                  </p:childTnLst>
                                </p:cTn>
                              </p:par>
                            </p:childTnLst>
                          </p:cTn>
                        </p:par>
                        <p:par>
                          <p:cTn id="88" fill="hold">
                            <p:stCondLst>
                              <p:cond delay="0"/>
                            </p:stCondLst>
                            <p:childTnLst>
                              <p:par>
                                <p:cTn id="89" presetID="1" presetClass="exit" presetSubtype="0" fill="hold" grpId="26" nodeType="afterEffect">
                                  <p:stCondLst>
                                    <p:cond delay="0"/>
                                  </p:stCondLst>
                                  <p:iterate>
                                    <p:tmAbs val="0"/>
                                  </p:iterate>
                                  <p:childTnLst>
                                    <p:set>
                                      <p:cBhvr>
                                        <p:cTn id="90" fill="hold">
                                          <p:stCondLst>
                                            <p:cond delay="0"/>
                                          </p:stCondLst>
                                        </p:cTn>
                                        <p:tgtEl>
                                          <p:spTgt spid="22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8" grpId="2" animBg="1" advAuto="0"/>
      <p:bldP spid="208" grpId="20" animBg="1" advAuto="0"/>
      <p:bldP spid="209" grpId="3" animBg="1" advAuto="0"/>
      <p:bldP spid="209" grpId="21" animBg="1" advAuto="0"/>
      <p:bldP spid="210" grpId="4" animBg="1" advAuto="0"/>
      <p:bldP spid="210" grpId="22" animBg="1" advAuto="0"/>
      <p:bldP spid="211" grpId="5" animBg="1" advAuto="0"/>
      <p:bldP spid="211" grpId="23" animBg="1" advAuto="0"/>
      <p:bldP spid="212" grpId="1" animBg="1" advAuto="0"/>
      <p:bldP spid="212" grpId="24" animBg="1" advAuto="0"/>
      <p:bldP spid="213" grpId="8" animBg="1" advAuto="0"/>
      <p:bldP spid="214" grpId="9" animBg="1" advAuto="0"/>
      <p:bldP spid="214" grpId="14" animBg="1" advAuto="0"/>
      <p:bldP spid="215" grpId="11" animBg="1" advAuto="0"/>
      <p:bldP spid="215" grpId="15" animBg="1" advAuto="0"/>
      <p:bldP spid="216" grpId="13" animBg="1" advAuto="0"/>
      <p:bldP spid="216" grpId="16" animBg="1" advAuto="0"/>
      <p:bldP spid="217" grpId="10" animBg="1" advAuto="0"/>
      <p:bldP spid="217" grpId="17" animBg="1" advAuto="0"/>
      <p:bldP spid="218" grpId="12" animBg="1" advAuto="0"/>
      <p:bldP spid="218" grpId="18" animBg="1" advAuto="0"/>
      <p:bldP spid="219" grpId="19" animBg="1" advAuto="0"/>
      <p:bldP spid="220" grpId="6" animBg="1" advAuto="0"/>
      <p:bldP spid="220" grpId="25" animBg="1" advAuto="0"/>
      <p:bldP spid="221" grpId="7" animBg="1" advAuto="0"/>
      <p:bldP spid="221" grpId="26" animBg="1" advAuto="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32" name="TCP sockets"/>
          <p:cNvSpPr txBox="1">
            <a:spLocks noGrp="1"/>
          </p:cNvSpPr>
          <p:nvPr>
            <p:ph type="title"/>
          </p:nvPr>
        </p:nvSpPr>
        <p:spPr>
          <a:prstGeom prst="rect">
            <a:avLst/>
          </a:prstGeom>
        </p:spPr>
        <p:txBody>
          <a:bodyPr/>
          <a:lstStyle/>
          <a:p>
            <a:r>
              <a:t>TCP sockets</a:t>
            </a:r>
          </a:p>
        </p:txBody>
      </p:sp>
      <p:sp>
        <p:nvSpPr>
          <p:cNvPr id="233" name="Listening &amp; connection sockets…"/>
          <p:cNvSpPr txBox="1">
            <a:spLocks noGrp="1"/>
          </p:cNvSpPr>
          <p:nvPr>
            <p:ph type="body" idx="1"/>
          </p:nvPr>
        </p:nvSpPr>
        <p:spPr>
          <a:xfrm>
            <a:off x="1054100" y="2425700"/>
            <a:ext cx="10464800" cy="5715000"/>
          </a:xfrm>
          <a:prstGeom prst="rect">
            <a:avLst/>
          </a:prstGeom>
        </p:spPr>
        <p:txBody>
          <a:bodyPr/>
          <a:lstStyle/>
          <a:p>
            <a:pPr>
              <a:spcBef>
                <a:spcPts val="3000"/>
              </a:spcBef>
            </a:pPr>
            <a:r>
              <a:rPr dirty="0"/>
              <a:t>Listening &amp; connection sockets</a:t>
            </a:r>
          </a:p>
          <a:p>
            <a:pPr>
              <a:spcBef>
                <a:spcPts val="3000"/>
              </a:spcBef>
            </a:pPr>
            <a:r>
              <a:rPr dirty="0"/>
              <a:t>Each </a:t>
            </a:r>
            <a:r>
              <a:rPr b="1" dirty="0"/>
              <a:t>connection socket </a:t>
            </a:r>
            <a:r>
              <a:rPr dirty="0"/>
              <a:t>has a unique                             (local IP, local port, remote IP, remote port) tuple</a:t>
            </a:r>
          </a:p>
          <a:p>
            <a:r>
              <a:rPr dirty="0"/>
              <a:t>A process must use a </a:t>
            </a:r>
            <a:r>
              <a:rPr dirty="0">
                <a:solidFill>
                  <a:srgbClr val="942193"/>
                </a:solidFill>
              </a:rPr>
              <a:t>different</a:t>
            </a:r>
            <a:r>
              <a:rPr dirty="0"/>
              <a:t> TCP connection </a:t>
            </a:r>
            <a:r>
              <a:rPr dirty="0">
                <a:solidFill>
                  <a:srgbClr val="942193"/>
                </a:solidFill>
              </a:rPr>
              <a:t>socket per remote process</a:t>
            </a:r>
          </a:p>
        </p:txBody>
      </p:sp>
      <p:sp>
        <p:nvSpPr>
          <p:cNvPr id="234"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21</a:t>
            </a:fld>
            <a:endParaRPr/>
          </a:p>
        </p:txBody>
      </p:sp>
    </p:spTree>
  </p:cSld>
  <p:clrMapOvr>
    <a:masterClrMapping/>
  </p:clrMapOvr>
  <p:transition spd="slow"/>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233">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233">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23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23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3" grpId="1" build="p" bldLvl="5" animBg="1" advAuto="0"/>
    </p:bld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36" name="Process-to-process communication"/>
          <p:cNvSpPr txBox="1">
            <a:spLocks noGrp="1"/>
          </p:cNvSpPr>
          <p:nvPr>
            <p:ph type="title"/>
          </p:nvPr>
        </p:nvSpPr>
        <p:spPr>
          <a:xfrm>
            <a:off x="0" y="254000"/>
            <a:ext cx="12705607" cy="2438400"/>
          </a:xfrm>
          <a:prstGeom prst="rect">
            <a:avLst/>
          </a:prstGeom>
        </p:spPr>
        <p:txBody>
          <a:bodyPr/>
          <a:lstStyle/>
          <a:p>
            <a:r>
              <a:rPr lang="fr-CH" sz="6000" dirty="0"/>
              <a:t>The Transport layer </a:t>
            </a:r>
            <a:r>
              <a:rPr lang="fr-CH" sz="6000" dirty="0" err="1"/>
              <a:t>implements</a:t>
            </a:r>
            <a:r>
              <a:rPr lang="fr-CH" sz="6000" dirty="0"/>
              <a:t> p</a:t>
            </a:r>
            <a:r>
              <a:rPr sz="6000" dirty="0" err="1"/>
              <a:t>rocess</a:t>
            </a:r>
            <a:r>
              <a:rPr sz="6000" dirty="0"/>
              <a:t>-to-process communication</a:t>
            </a:r>
            <a:r>
              <a:rPr lang="fr-CH" sz="6000" dirty="0"/>
              <a:t> via </a:t>
            </a:r>
            <a:r>
              <a:rPr lang="fr-CH" sz="6000" dirty="0" err="1"/>
              <a:t>connection</a:t>
            </a:r>
            <a:r>
              <a:rPr lang="fr-CH" sz="6000" dirty="0"/>
              <a:t> </a:t>
            </a:r>
            <a:r>
              <a:rPr lang="fr-CH" sz="6000" dirty="0" err="1"/>
              <a:t>multiplexing</a:t>
            </a:r>
            <a:r>
              <a:rPr lang="fr-CH" sz="6000" dirty="0"/>
              <a:t>/</a:t>
            </a:r>
            <a:r>
              <a:rPr lang="fr-CH" sz="6000" dirty="0" err="1"/>
              <a:t>demultiplexing</a:t>
            </a:r>
            <a:endParaRPr sz="6000" dirty="0"/>
          </a:p>
        </p:txBody>
      </p:sp>
      <p:sp>
        <p:nvSpPr>
          <p:cNvPr id="237" name="Multiplexing…"/>
          <p:cNvSpPr txBox="1">
            <a:spLocks noGrp="1"/>
          </p:cNvSpPr>
          <p:nvPr>
            <p:ph type="body" idx="1"/>
          </p:nvPr>
        </p:nvSpPr>
        <p:spPr>
          <a:xfrm>
            <a:off x="104775" y="4478430"/>
            <a:ext cx="13354050" cy="6273800"/>
          </a:xfrm>
          <a:prstGeom prst="rect">
            <a:avLst/>
          </a:prstGeom>
        </p:spPr>
        <p:txBody>
          <a:bodyPr/>
          <a:lstStyle/>
          <a:p>
            <a:pPr>
              <a:spcBef>
                <a:spcPts val="500"/>
              </a:spcBef>
              <a:defRPr>
                <a:solidFill>
                  <a:srgbClr val="942193"/>
                </a:solidFill>
              </a:defRPr>
            </a:pPr>
            <a:r>
              <a:rPr sz="3200" dirty="0"/>
              <a:t>Multiplexing</a:t>
            </a:r>
          </a:p>
          <a:p>
            <a:pPr lvl="1">
              <a:spcBef>
                <a:spcPts val="500"/>
              </a:spcBef>
            </a:pPr>
            <a:r>
              <a:rPr sz="2400" dirty="0"/>
              <a:t>upon receiving a new message from a process, create new packets</a:t>
            </a:r>
          </a:p>
          <a:p>
            <a:pPr lvl="1">
              <a:spcBef>
                <a:spcPts val="3000"/>
              </a:spcBef>
            </a:pPr>
            <a:r>
              <a:rPr sz="2400" dirty="0"/>
              <a:t>identify the correct IP addresses and ports</a:t>
            </a:r>
          </a:p>
          <a:p>
            <a:pPr>
              <a:spcBef>
                <a:spcPts val="500"/>
              </a:spcBef>
              <a:defRPr>
                <a:solidFill>
                  <a:srgbClr val="942193"/>
                </a:solidFill>
              </a:defRPr>
            </a:pPr>
            <a:r>
              <a:rPr sz="3200" dirty="0"/>
              <a:t>Demultiplexing</a:t>
            </a:r>
          </a:p>
          <a:p>
            <a:pPr lvl="1">
              <a:spcBef>
                <a:spcPts val="500"/>
              </a:spcBef>
            </a:pPr>
            <a:r>
              <a:rPr sz="2400" dirty="0"/>
              <a:t>many processes running in app layer</a:t>
            </a:r>
          </a:p>
          <a:p>
            <a:pPr lvl="1">
              <a:spcBef>
                <a:spcPts val="500"/>
              </a:spcBef>
            </a:pPr>
            <a:r>
              <a:rPr sz="2400" dirty="0"/>
              <a:t>upon receiving a new packet from the network, identify the correct </a:t>
            </a:r>
            <a:r>
              <a:rPr sz="2400" dirty="0" err="1"/>
              <a:t>dest</a:t>
            </a:r>
            <a:r>
              <a:rPr sz="2400" dirty="0"/>
              <a:t>. process</a:t>
            </a:r>
          </a:p>
        </p:txBody>
      </p:sp>
      <p:sp>
        <p:nvSpPr>
          <p:cNvPr id="238"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22</a:t>
            </a:fld>
            <a:endParaRPr/>
          </a:p>
        </p:txBody>
      </p:sp>
      <p:pic>
        <p:nvPicPr>
          <p:cNvPr id="2" name="Picture 1">
            <a:extLst>
              <a:ext uri="{FF2B5EF4-FFF2-40B4-BE49-F238E27FC236}">
                <a16:creationId xmlns:a16="http://schemas.microsoft.com/office/drawing/2014/main" id="{C9D785AE-6C00-4043-B948-7D50C8C211F8}"/>
              </a:ext>
            </a:extLst>
          </p:cNvPr>
          <p:cNvPicPr>
            <a:picLocks noChangeAspect="1"/>
          </p:cNvPicPr>
          <p:nvPr/>
        </p:nvPicPr>
        <p:blipFill rotWithShape="1">
          <a:blip r:embed="rId3"/>
          <a:srcRect l="11642" t="32571" r="10493" b="19445"/>
          <a:stretch/>
        </p:blipFill>
        <p:spPr>
          <a:xfrm>
            <a:off x="2141096" y="3321143"/>
            <a:ext cx="8722608" cy="2314575"/>
          </a:xfrm>
          <a:prstGeom prst="rect">
            <a:avLst/>
          </a:prstGeom>
        </p:spPr>
      </p:pic>
    </p:spTree>
  </p:cSld>
  <p:clrMapOvr>
    <a:masterClrMapping/>
  </p:clrMapOvr>
  <p:transition spd="med"/>
  <p:timing>
    <p:tnLst>
      <p:par>
        <p:cTn id="1" dur="indefinite" restart="never" fill="hold"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7">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7">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37">
                                            <p:txEl>
                                              <p:pRg st="1" end="1"/>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3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37">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37">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3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7" grpId="0" build="p" animBg="1"/>
    </p:bld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42" name="Outline"/>
          <p:cNvSpPr txBox="1">
            <a:spLocks noGrp="1"/>
          </p:cNvSpPr>
          <p:nvPr>
            <p:ph type="title"/>
          </p:nvPr>
        </p:nvSpPr>
        <p:spPr>
          <a:xfrm>
            <a:off x="1105338" y="-142605"/>
            <a:ext cx="10464800" cy="2438400"/>
          </a:xfrm>
          <a:prstGeom prst="rect">
            <a:avLst/>
          </a:prstGeom>
        </p:spPr>
        <p:txBody>
          <a:bodyPr/>
          <a:lstStyle/>
          <a:p>
            <a:r>
              <a:rPr lang="fr-CH" dirty="0"/>
              <a:t>Reliable data </a:t>
            </a:r>
            <a:r>
              <a:rPr lang="fr-CH" dirty="0" err="1"/>
              <a:t>delivery</a:t>
            </a:r>
            <a:r>
              <a:rPr lang="fr-CH" dirty="0"/>
              <a:t> service at the Transport Layer</a:t>
            </a:r>
            <a:endParaRPr dirty="0"/>
          </a:p>
        </p:txBody>
      </p:sp>
      <p:sp>
        <p:nvSpPr>
          <p:cNvPr id="243" name="Process-to-process communication…"/>
          <p:cNvSpPr txBox="1">
            <a:spLocks noGrp="1"/>
          </p:cNvSpPr>
          <p:nvPr>
            <p:ph type="body" idx="1"/>
          </p:nvPr>
        </p:nvSpPr>
        <p:spPr>
          <a:xfrm>
            <a:off x="0" y="2537558"/>
            <a:ext cx="13004800" cy="6822343"/>
          </a:xfrm>
          <a:prstGeom prst="rect">
            <a:avLst/>
          </a:prstGeom>
        </p:spPr>
        <p:txBody>
          <a:bodyPr anchor="t"/>
          <a:lstStyle/>
          <a:p>
            <a:pPr>
              <a:spcBef>
                <a:spcPts val="500"/>
              </a:spcBef>
            </a:pPr>
            <a:r>
              <a:rPr lang="en-US" b="1" dirty="0"/>
              <a:t>How can we build a transport layer that provides reliable data transfer on top of an unreliable network?</a:t>
            </a:r>
          </a:p>
          <a:p>
            <a:pPr>
              <a:spcBef>
                <a:spcPts val="500"/>
              </a:spcBef>
            </a:pPr>
            <a:endParaRPr lang="en-US" b="1" dirty="0"/>
          </a:p>
          <a:p>
            <a:pPr>
              <a:spcBef>
                <a:spcPts val="500"/>
              </a:spcBef>
            </a:pPr>
            <a:r>
              <a:rPr lang="fr-CH" dirty="0"/>
              <a:t>First, an </a:t>
            </a:r>
            <a:r>
              <a:rPr lang="fr-CH" dirty="0" err="1"/>
              <a:t>imaginary</a:t>
            </a:r>
            <a:r>
              <a:rPr lang="fr-CH" dirty="0"/>
              <a:t> </a:t>
            </a:r>
            <a:r>
              <a:rPr lang="fr-CH" dirty="0" err="1"/>
              <a:t>protocol</a:t>
            </a:r>
            <a:r>
              <a:rPr lang="fr-CH" dirty="0"/>
              <a:t> (</a:t>
            </a:r>
            <a:r>
              <a:rPr lang="fr-CH" dirty="0" err="1"/>
              <a:t>neither</a:t>
            </a:r>
            <a:r>
              <a:rPr lang="fr-CH" dirty="0"/>
              <a:t> TCP </a:t>
            </a:r>
            <a:r>
              <a:rPr lang="fr-CH" dirty="0" err="1"/>
              <a:t>nor</a:t>
            </a:r>
            <a:r>
              <a:rPr lang="fr-CH" dirty="0"/>
              <a:t> UDP)</a:t>
            </a:r>
          </a:p>
          <a:p>
            <a:pPr lvl="1">
              <a:spcBef>
                <a:spcPts val="500"/>
              </a:spcBef>
            </a:pPr>
            <a:r>
              <a:rPr lang="fr-CH" dirty="0"/>
              <a:t>Examine the </a:t>
            </a:r>
            <a:r>
              <a:rPr lang="fr-CH" dirty="0" err="1"/>
              <a:t>fundamental</a:t>
            </a:r>
            <a:r>
              <a:rPr lang="fr-CH" dirty="0"/>
              <a:t> issues </a:t>
            </a:r>
            <a:r>
              <a:rPr lang="fr-CH" dirty="0" err="1"/>
              <a:t>related</a:t>
            </a:r>
            <a:r>
              <a:rPr lang="fr-CH" dirty="0"/>
              <a:t> to reliable data </a:t>
            </a:r>
            <a:r>
              <a:rPr lang="fr-CH" dirty="0" err="1"/>
              <a:t>delivery</a:t>
            </a:r>
            <a:r>
              <a:rPr lang="fr-CH" dirty="0"/>
              <a:t>, and </a:t>
            </a:r>
            <a:r>
              <a:rPr lang="fr-CH" dirty="0" err="1"/>
              <a:t>some</a:t>
            </a:r>
            <a:r>
              <a:rPr lang="fr-CH" dirty="0"/>
              <a:t> </a:t>
            </a:r>
            <a:r>
              <a:rPr lang="fr-CH" dirty="0" err="1"/>
              <a:t>mechanisms</a:t>
            </a:r>
            <a:r>
              <a:rPr lang="fr-CH" dirty="0"/>
              <a:t> to tackle </a:t>
            </a:r>
            <a:r>
              <a:rPr lang="fr-CH" dirty="0" err="1"/>
              <a:t>them</a:t>
            </a:r>
            <a:endParaRPr lang="fr-CH" dirty="0"/>
          </a:p>
          <a:p>
            <a:pPr lvl="1">
              <a:spcBef>
                <a:spcPts val="500"/>
              </a:spcBef>
            </a:pPr>
            <a:endParaRPr lang="fr-CH" dirty="0"/>
          </a:p>
          <a:p>
            <a:pPr>
              <a:spcBef>
                <a:spcPts val="500"/>
              </a:spcBef>
            </a:pPr>
            <a:r>
              <a:rPr lang="fr-CH" dirty="0" err="1"/>
              <a:t>Then</a:t>
            </a:r>
            <a:r>
              <a:rPr lang="fr-CH" dirty="0"/>
              <a:t>, TCP and UDP</a:t>
            </a:r>
          </a:p>
          <a:p>
            <a:pPr lvl="1">
              <a:spcBef>
                <a:spcPts val="500"/>
              </a:spcBef>
            </a:pPr>
            <a:r>
              <a:rPr lang="fr-CH" dirty="0"/>
              <a:t>That </a:t>
            </a:r>
            <a:r>
              <a:rPr lang="fr-CH" dirty="0" err="1"/>
              <a:t>is</a:t>
            </a:r>
            <a:r>
              <a:rPr lang="fr-CH" dirty="0"/>
              <a:t>, </a:t>
            </a:r>
            <a:r>
              <a:rPr lang="fr-CH" dirty="0" err="1"/>
              <a:t>we</a:t>
            </a:r>
            <a:r>
              <a:rPr lang="fr-CH" dirty="0"/>
              <a:t> </a:t>
            </a:r>
            <a:r>
              <a:rPr lang="fr-CH" dirty="0" err="1"/>
              <a:t>will</a:t>
            </a:r>
            <a:r>
              <a:rPr lang="fr-CH" dirty="0"/>
              <a:t> look </a:t>
            </a:r>
            <a:r>
              <a:rPr lang="fr-CH" dirty="0" err="1"/>
              <a:t>into</a:t>
            </a:r>
            <a:r>
              <a:rPr lang="fr-CH" dirty="0"/>
              <a:t> </a:t>
            </a:r>
            <a:r>
              <a:rPr lang="fr-CH" dirty="0" err="1"/>
              <a:t>what</a:t>
            </a:r>
            <a:r>
              <a:rPr lang="fr-CH" dirty="0"/>
              <a:t> </a:t>
            </a:r>
            <a:r>
              <a:rPr lang="fr-CH" dirty="0" err="1"/>
              <a:t>is</a:t>
            </a:r>
            <a:r>
              <a:rPr lang="fr-CH" dirty="0"/>
              <a:t> </a:t>
            </a:r>
            <a:r>
              <a:rPr lang="fr-CH" dirty="0" err="1"/>
              <a:t>actually</a:t>
            </a:r>
            <a:r>
              <a:rPr lang="fr-CH" dirty="0"/>
              <a:t> </a:t>
            </a:r>
            <a:r>
              <a:rPr lang="fr-CH" dirty="0" err="1"/>
              <a:t>implemented</a:t>
            </a:r>
            <a:endParaRPr lang="fr-CH" dirty="0"/>
          </a:p>
          <a:p>
            <a:pPr>
              <a:spcBef>
                <a:spcPts val="500"/>
              </a:spcBef>
            </a:pPr>
            <a:endParaRPr dirty="0"/>
          </a:p>
        </p:txBody>
      </p:sp>
      <p:sp>
        <p:nvSpPr>
          <p:cNvPr id="244"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23</a:t>
            </a:fld>
            <a:endParaRPr/>
          </a:p>
        </p:txBody>
      </p:sp>
    </p:spTree>
  </p:cSld>
  <p:clrMapOvr>
    <a:masterClrMapping/>
  </p:clrMapOvr>
  <mc:AlternateContent xmlns:mc="http://schemas.openxmlformats.org/markup-compatibility/2006" xmlns:p14="http://schemas.microsoft.com/office/powerpoint/2010/main">
    <mc:Choice Requires="p14">
      <p:transition spd="slow">
        <p14:prism/>
      </p:transition>
    </mc:Choice>
    <mc:Fallback xmlns="" xmlns:m="http://schemas.openxmlformats.org/officeDocument/2006/math" xmlns:a14="http://schemas.microsoft.com/office/drawing/2010/main">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3">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4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4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4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4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3" grpId="0" build="p" animBg="1"/>
    </p:bld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48" name="Rectangle"/>
          <p:cNvSpPr/>
          <p:nvPr/>
        </p:nvSpPr>
        <p:spPr>
          <a:xfrm>
            <a:off x="4695527" y="-3721"/>
            <a:ext cx="3561127" cy="9913442"/>
          </a:xfrm>
          <a:prstGeom prst="rect">
            <a:avLst/>
          </a:prstGeom>
          <a:solidFill>
            <a:srgbClr val="FF8AD8"/>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249" name="Rectangle"/>
          <p:cNvSpPr/>
          <p:nvPr/>
        </p:nvSpPr>
        <p:spPr>
          <a:xfrm>
            <a:off x="11844498" y="-144165"/>
            <a:ext cx="1315843" cy="10041930"/>
          </a:xfrm>
          <a:prstGeom prst="rect">
            <a:avLst/>
          </a:prstGeom>
          <a:solidFill>
            <a:srgbClr val="FFFC79"/>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250" name="Rectangle"/>
          <p:cNvSpPr/>
          <p:nvPr/>
        </p:nvSpPr>
        <p:spPr>
          <a:xfrm>
            <a:off x="-177800" y="-156865"/>
            <a:ext cx="1173712" cy="10041930"/>
          </a:xfrm>
          <a:prstGeom prst="rect">
            <a:avLst/>
          </a:prstGeom>
          <a:solidFill>
            <a:srgbClr val="FFFC79"/>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251" name="Rectangle"/>
          <p:cNvSpPr/>
          <p:nvPr/>
        </p:nvSpPr>
        <p:spPr>
          <a:xfrm>
            <a:off x="8220667" y="-187354"/>
            <a:ext cx="3754842" cy="10128308"/>
          </a:xfrm>
          <a:prstGeom prst="rect">
            <a:avLst/>
          </a:prstGeom>
          <a:solidFill>
            <a:srgbClr val="FFD479"/>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252" name="Rectangle"/>
          <p:cNvSpPr/>
          <p:nvPr/>
        </p:nvSpPr>
        <p:spPr>
          <a:xfrm>
            <a:off x="976672" y="-187354"/>
            <a:ext cx="3754842" cy="10128308"/>
          </a:xfrm>
          <a:prstGeom prst="rect">
            <a:avLst/>
          </a:prstGeom>
          <a:solidFill>
            <a:srgbClr val="FFD479"/>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253" name="network"/>
          <p:cNvSpPr/>
          <p:nvPr/>
        </p:nvSpPr>
        <p:spPr>
          <a:xfrm rot="16200000">
            <a:off x="4059605" y="7423628"/>
            <a:ext cx="1862175" cy="68854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b">
            <a:spAutoFit/>
          </a:bodyPr>
          <a:lstStyle>
            <a:lvl1pPr algn="l">
              <a:defRPr>
                <a:solidFill>
                  <a:srgbClr val="C0C0C0"/>
                </a:solidFill>
                <a:latin typeface="Times New Roman"/>
                <a:ea typeface="Times New Roman"/>
                <a:cs typeface="Times New Roman"/>
                <a:sym typeface="Times New Roman"/>
              </a:defRPr>
            </a:lvl1pPr>
          </a:lstStyle>
          <a:p>
            <a:r>
              <a:t>network</a:t>
            </a:r>
          </a:p>
        </p:txBody>
      </p:sp>
      <p:sp>
        <p:nvSpPr>
          <p:cNvPr id="254" name="transport"/>
          <p:cNvSpPr/>
          <p:nvPr/>
        </p:nvSpPr>
        <p:spPr>
          <a:xfrm rot="16200000">
            <a:off x="620007" y="7349530"/>
            <a:ext cx="2010371" cy="68854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b">
            <a:spAutoFit/>
          </a:bodyPr>
          <a:lstStyle>
            <a:lvl1pPr algn="l">
              <a:defRPr>
                <a:solidFill>
                  <a:srgbClr val="C0C0C0"/>
                </a:solidFill>
                <a:latin typeface="Times New Roman"/>
                <a:ea typeface="Times New Roman"/>
                <a:cs typeface="Times New Roman"/>
                <a:sym typeface="Times New Roman"/>
              </a:defRPr>
            </a:lvl1pPr>
          </a:lstStyle>
          <a:p>
            <a:r>
              <a:t>transport</a:t>
            </a:r>
          </a:p>
        </p:txBody>
      </p:sp>
      <p:sp>
        <p:nvSpPr>
          <p:cNvPr id="255" name="transport"/>
          <p:cNvSpPr/>
          <p:nvPr/>
        </p:nvSpPr>
        <p:spPr>
          <a:xfrm rot="16200000">
            <a:off x="10323214" y="7423628"/>
            <a:ext cx="2010372" cy="68854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b">
            <a:spAutoFit/>
          </a:bodyPr>
          <a:lstStyle>
            <a:lvl1pPr algn="l">
              <a:defRPr>
                <a:solidFill>
                  <a:srgbClr val="C0C0C0"/>
                </a:solidFill>
                <a:latin typeface="Times New Roman"/>
                <a:ea typeface="Times New Roman"/>
                <a:cs typeface="Times New Roman"/>
                <a:sym typeface="Times New Roman"/>
              </a:defRPr>
            </a:lvl1pPr>
          </a:lstStyle>
          <a:p>
            <a:r>
              <a:t>transport</a:t>
            </a:r>
          </a:p>
        </p:txBody>
      </p:sp>
      <p:sp>
        <p:nvSpPr>
          <p:cNvPr id="256" name="app"/>
          <p:cNvSpPr/>
          <p:nvPr/>
        </p:nvSpPr>
        <p:spPr>
          <a:xfrm rot="16200000">
            <a:off x="143571" y="7986589"/>
            <a:ext cx="884449" cy="68854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b">
            <a:spAutoFit/>
          </a:bodyPr>
          <a:lstStyle>
            <a:lvl1pPr algn="l">
              <a:defRPr>
                <a:solidFill>
                  <a:srgbClr val="C0C0C0"/>
                </a:solidFill>
                <a:latin typeface="Times New Roman"/>
                <a:ea typeface="Times New Roman"/>
                <a:cs typeface="Times New Roman"/>
                <a:sym typeface="Times New Roman"/>
              </a:defRPr>
            </a:lvl1pPr>
          </a:lstStyle>
          <a:p>
            <a:r>
              <a:t>app</a:t>
            </a:r>
          </a:p>
        </p:txBody>
      </p:sp>
      <p:sp>
        <p:nvSpPr>
          <p:cNvPr id="257" name="app"/>
          <p:cNvSpPr/>
          <p:nvPr/>
        </p:nvSpPr>
        <p:spPr>
          <a:xfrm rot="16200000">
            <a:off x="11692625" y="7986589"/>
            <a:ext cx="884450" cy="68854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b">
            <a:spAutoFit/>
          </a:bodyPr>
          <a:lstStyle>
            <a:lvl1pPr algn="l">
              <a:defRPr>
                <a:solidFill>
                  <a:srgbClr val="C0C0C0"/>
                </a:solidFill>
                <a:latin typeface="Times New Roman"/>
                <a:ea typeface="Times New Roman"/>
                <a:cs typeface="Times New Roman"/>
                <a:sym typeface="Times New Roman"/>
              </a:defRPr>
            </a:lvl1pPr>
          </a:lstStyle>
          <a:p>
            <a:r>
              <a:t>app</a:t>
            </a:r>
          </a:p>
        </p:txBody>
      </p:sp>
      <p:sp>
        <p:nvSpPr>
          <p:cNvPr id="258" name="network"/>
          <p:cNvSpPr/>
          <p:nvPr/>
        </p:nvSpPr>
        <p:spPr>
          <a:xfrm rot="16200000">
            <a:off x="7000062" y="7423628"/>
            <a:ext cx="1862176" cy="68854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b">
            <a:spAutoFit/>
          </a:bodyPr>
          <a:lstStyle>
            <a:lvl1pPr algn="l">
              <a:defRPr>
                <a:solidFill>
                  <a:srgbClr val="C0C0C0"/>
                </a:solidFill>
                <a:latin typeface="Times New Roman"/>
                <a:ea typeface="Times New Roman"/>
                <a:cs typeface="Times New Roman"/>
                <a:sym typeface="Times New Roman"/>
              </a:defRPr>
            </a:lvl1pPr>
          </a:lstStyle>
          <a:p>
            <a:r>
              <a:t>network</a:t>
            </a:r>
          </a:p>
        </p:txBody>
      </p:sp>
      <p:sp>
        <p:nvSpPr>
          <p:cNvPr id="259"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24</a:t>
            </a:fld>
            <a:endParaRPr/>
          </a:p>
        </p:txBody>
      </p:sp>
      <p:sp>
        <p:nvSpPr>
          <p:cNvPr id="260" name="Alice’s computer"/>
          <p:cNvSpPr/>
          <p:nvPr/>
        </p:nvSpPr>
        <p:spPr>
          <a:xfrm>
            <a:off x="644293" y="435168"/>
            <a:ext cx="4419601" cy="81876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lvl1pPr>
              <a:defRPr sz="4000">
                <a:solidFill>
                  <a:srgbClr val="0096FF"/>
                </a:solidFill>
                <a:latin typeface="+mn-lt"/>
                <a:ea typeface="+mn-ea"/>
                <a:cs typeface="+mn-cs"/>
                <a:sym typeface="Chalkboard SE Regular"/>
              </a:defRPr>
            </a:lvl1pPr>
          </a:lstStyle>
          <a:p>
            <a:r>
              <a:t>Alice’s computer</a:t>
            </a:r>
          </a:p>
        </p:txBody>
      </p:sp>
      <p:sp>
        <p:nvSpPr>
          <p:cNvPr id="261" name="Bob’s computer"/>
          <p:cNvSpPr/>
          <p:nvPr/>
        </p:nvSpPr>
        <p:spPr>
          <a:xfrm>
            <a:off x="8001000" y="435168"/>
            <a:ext cx="4419600" cy="81876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lvl1pPr>
              <a:defRPr sz="4000">
                <a:solidFill>
                  <a:srgbClr val="0096FF"/>
                </a:solidFill>
                <a:latin typeface="+mn-lt"/>
                <a:ea typeface="+mn-ea"/>
                <a:cs typeface="+mn-cs"/>
                <a:sym typeface="Chalkboard SE Regular"/>
              </a:defRPr>
            </a:lvl1pPr>
          </a:lstStyle>
          <a:p>
            <a:r>
              <a:t>Bob’s computer</a:t>
            </a:r>
          </a:p>
        </p:txBody>
      </p:sp>
      <p:sp>
        <p:nvSpPr>
          <p:cNvPr id="262" name="Rounded Rectangle"/>
          <p:cNvSpPr/>
          <p:nvPr/>
        </p:nvSpPr>
        <p:spPr>
          <a:xfrm>
            <a:off x="7556500" y="1308100"/>
            <a:ext cx="5183039" cy="8174385"/>
          </a:xfrm>
          <a:prstGeom prst="roundRect">
            <a:avLst>
              <a:gd name="adj" fmla="val 3675"/>
            </a:avLst>
          </a:prstGeom>
          <a:ln w="25400">
            <a:solidFill>
              <a:srgbClr val="0096FF"/>
            </a:solidFill>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263" name="Rounded Rectangle"/>
          <p:cNvSpPr/>
          <p:nvPr/>
        </p:nvSpPr>
        <p:spPr>
          <a:xfrm>
            <a:off x="277589" y="1308100"/>
            <a:ext cx="5183040" cy="8174385"/>
          </a:xfrm>
          <a:prstGeom prst="roundRect">
            <a:avLst>
              <a:gd name="adj" fmla="val 3675"/>
            </a:avLst>
          </a:prstGeom>
          <a:ln w="25400">
            <a:solidFill>
              <a:srgbClr val="0096FF"/>
            </a:solidFill>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67" name="Rectangle"/>
          <p:cNvSpPr/>
          <p:nvPr/>
        </p:nvSpPr>
        <p:spPr>
          <a:xfrm>
            <a:off x="8220667" y="-187354"/>
            <a:ext cx="3754842" cy="10128308"/>
          </a:xfrm>
          <a:prstGeom prst="rect">
            <a:avLst/>
          </a:prstGeom>
          <a:solidFill>
            <a:srgbClr val="FFD479"/>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268" name="Rectangle"/>
          <p:cNvSpPr/>
          <p:nvPr/>
        </p:nvSpPr>
        <p:spPr>
          <a:xfrm>
            <a:off x="880678" y="-187354"/>
            <a:ext cx="3850836" cy="10128308"/>
          </a:xfrm>
          <a:prstGeom prst="rect">
            <a:avLst/>
          </a:prstGeom>
          <a:solidFill>
            <a:srgbClr val="FFD479"/>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269" name="rdt_send()"/>
          <p:cNvSpPr/>
          <p:nvPr/>
        </p:nvSpPr>
        <p:spPr>
          <a:xfrm>
            <a:off x="469900" y="2209800"/>
            <a:ext cx="2552700" cy="6858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rdt_send()</a:t>
            </a:r>
          </a:p>
        </p:txBody>
      </p:sp>
      <p:sp>
        <p:nvSpPr>
          <p:cNvPr id="270" name="udt_send()"/>
          <p:cNvSpPr/>
          <p:nvPr/>
        </p:nvSpPr>
        <p:spPr>
          <a:xfrm>
            <a:off x="3187700" y="3143250"/>
            <a:ext cx="2414687" cy="6858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udt_send()</a:t>
            </a:r>
          </a:p>
        </p:txBody>
      </p:sp>
      <p:sp>
        <p:nvSpPr>
          <p:cNvPr id="271" name="rdt_rcv()"/>
          <p:cNvSpPr/>
          <p:nvPr/>
        </p:nvSpPr>
        <p:spPr>
          <a:xfrm>
            <a:off x="7797800" y="5007702"/>
            <a:ext cx="2032000"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rdt_rcv()</a:t>
            </a:r>
          </a:p>
        </p:txBody>
      </p:sp>
      <p:sp>
        <p:nvSpPr>
          <p:cNvPr id="272" name="deliver_data()"/>
          <p:cNvSpPr/>
          <p:nvPr/>
        </p:nvSpPr>
        <p:spPr>
          <a:xfrm>
            <a:off x="9664700" y="5924550"/>
            <a:ext cx="3327400" cy="6858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deliver_data()</a:t>
            </a:r>
          </a:p>
        </p:txBody>
      </p:sp>
      <p:sp>
        <p:nvSpPr>
          <p:cNvPr id="273" name="Alice’s computer"/>
          <p:cNvSpPr/>
          <p:nvPr/>
        </p:nvSpPr>
        <p:spPr>
          <a:xfrm>
            <a:off x="644293" y="435168"/>
            <a:ext cx="4419601" cy="81876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lvl1pPr>
              <a:defRPr sz="4000">
                <a:solidFill>
                  <a:srgbClr val="0096FF"/>
                </a:solidFill>
                <a:latin typeface="+mn-lt"/>
                <a:ea typeface="+mn-ea"/>
                <a:cs typeface="+mn-cs"/>
                <a:sym typeface="Chalkboard SE Regular"/>
              </a:defRPr>
            </a:lvl1pPr>
          </a:lstStyle>
          <a:p>
            <a:r>
              <a:t>Alice’s computer</a:t>
            </a:r>
          </a:p>
        </p:txBody>
      </p:sp>
      <p:sp>
        <p:nvSpPr>
          <p:cNvPr id="274" name="Bob’s computer"/>
          <p:cNvSpPr/>
          <p:nvPr/>
        </p:nvSpPr>
        <p:spPr>
          <a:xfrm>
            <a:off x="8001000" y="435168"/>
            <a:ext cx="4419600" cy="81876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lvl1pPr>
              <a:defRPr sz="4000">
                <a:solidFill>
                  <a:srgbClr val="0096FF"/>
                </a:solidFill>
                <a:latin typeface="+mn-lt"/>
                <a:ea typeface="+mn-ea"/>
                <a:cs typeface="+mn-cs"/>
                <a:sym typeface="Chalkboard SE Regular"/>
              </a:defRPr>
            </a:lvl1pPr>
          </a:lstStyle>
          <a:p>
            <a:r>
              <a:t>Bob’s computer</a:t>
            </a:r>
          </a:p>
        </p:txBody>
      </p:sp>
      <p:sp>
        <p:nvSpPr>
          <p:cNvPr id="275"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25</a:t>
            </a:fld>
            <a:endParaRPr/>
          </a:p>
        </p:txBody>
      </p:sp>
      <p:sp>
        <p:nvSpPr>
          <p:cNvPr id="276" name="Line"/>
          <p:cNvSpPr/>
          <p:nvPr/>
        </p:nvSpPr>
        <p:spPr>
          <a:xfrm flipH="1" flipV="1">
            <a:off x="5009689" y="3923615"/>
            <a:ext cx="2962408" cy="979319"/>
          </a:xfrm>
          <a:prstGeom prst="line">
            <a:avLst/>
          </a:prstGeom>
          <a:ln w="25400">
            <a:solidFill>
              <a:srgbClr val="0433FF"/>
            </a:solidFill>
            <a:miter lim="400000"/>
            <a:headEnd type="stealth"/>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277" name="Rounded Rectangle"/>
          <p:cNvSpPr/>
          <p:nvPr/>
        </p:nvSpPr>
        <p:spPr>
          <a:xfrm>
            <a:off x="7556500" y="1308100"/>
            <a:ext cx="5183039" cy="8174385"/>
          </a:xfrm>
          <a:prstGeom prst="roundRect">
            <a:avLst>
              <a:gd name="adj" fmla="val 3675"/>
            </a:avLst>
          </a:prstGeom>
          <a:ln w="25400">
            <a:solidFill>
              <a:srgbClr val="0096FF"/>
            </a:solidFill>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278" name="Rounded Rectangle"/>
          <p:cNvSpPr/>
          <p:nvPr/>
        </p:nvSpPr>
        <p:spPr>
          <a:xfrm>
            <a:off x="277589" y="1308100"/>
            <a:ext cx="5183040" cy="8174385"/>
          </a:xfrm>
          <a:prstGeom prst="roundRect">
            <a:avLst>
              <a:gd name="adj" fmla="val 3675"/>
            </a:avLst>
          </a:prstGeom>
          <a:ln w="25400">
            <a:solidFill>
              <a:srgbClr val="0096FF"/>
            </a:solidFill>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26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2" nodeType="clickEffect">
                                  <p:stCondLst>
                                    <p:cond delay="0"/>
                                  </p:stCondLst>
                                  <p:iterate>
                                    <p:tmAbs val="0"/>
                                  </p:iterate>
                                  <p:childTnLst>
                                    <p:set>
                                      <p:cBhvr>
                                        <p:cTn id="10" fill="hold"/>
                                        <p:tgtEl>
                                          <p:spTgt spid="27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3" nodeType="clickEffect">
                                  <p:stCondLst>
                                    <p:cond delay="0"/>
                                  </p:stCondLst>
                                  <p:iterate>
                                    <p:tmAbs val="0"/>
                                  </p:iterate>
                                  <p:childTnLst>
                                    <p:set>
                                      <p:cBhvr>
                                        <p:cTn id="14" fill="hold"/>
                                        <p:tgtEl>
                                          <p:spTgt spid="276"/>
                                        </p:tgtEl>
                                        <p:attrNameLst>
                                          <p:attrName>style.visibility</p:attrName>
                                        </p:attrNameLst>
                                      </p:cBhvr>
                                      <p:to>
                                        <p:strVal val="visible"/>
                                      </p:to>
                                    </p:set>
                                    <p:animEffect transition="in" filter="wipe(left)">
                                      <p:cBhvr>
                                        <p:cTn id="15" dur="1000"/>
                                        <p:tgtEl>
                                          <p:spTgt spid="276"/>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4" nodeType="clickEffect">
                                  <p:stCondLst>
                                    <p:cond delay="0"/>
                                  </p:stCondLst>
                                  <p:iterate>
                                    <p:tmAbs val="0"/>
                                  </p:iterate>
                                  <p:childTnLst>
                                    <p:set>
                                      <p:cBhvr>
                                        <p:cTn id="19" fill="hold"/>
                                        <p:tgtEl>
                                          <p:spTgt spid="271"/>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5" nodeType="clickEffect">
                                  <p:stCondLst>
                                    <p:cond delay="0"/>
                                  </p:stCondLst>
                                  <p:iterate>
                                    <p:tmAbs val="0"/>
                                  </p:iterate>
                                  <p:childTnLst>
                                    <p:set>
                                      <p:cBhvr>
                                        <p:cTn id="23" fill="hold"/>
                                        <p:tgtEl>
                                          <p:spTgt spid="2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9" grpId="1" animBg="1" advAuto="0"/>
      <p:bldP spid="270" grpId="2" animBg="1" advAuto="0"/>
      <p:bldP spid="271" grpId="4" animBg="1" advAuto="0"/>
      <p:bldP spid="272" grpId="5" animBg="1" advAuto="0"/>
      <p:bldP spid="276" grpId="3" animBg="1" advAuto="0"/>
    </p:bld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82" name="Checksum"/>
          <p:cNvSpPr txBox="1">
            <a:spLocks noGrp="1"/>
          </p:cNvSpPr>
          <p:nvPr>
            <p:ph type="title"/>
          </p:nvPr>
        </p:nvSpPr>
        <p:spPr>
          <a:prstGeom prst="rect">
            <a:avLst/>
          </a:prstGeom>
        </p:spPr>
        <p:txBody>
          <a:bodyPr/>
          <a:lstStyle/>
          <a:p>
            <a:r>
              <a:t>Checksum</a:t>
            </a:r>
          </a:p>
        </p:txBody>
      </p:sp>
      <p:sp>
        <p:nvSpPr>
          <p:cNvPr id="283" name="Redundant information…"/>
          <p:cNvSpPr txBox="1">
            <a:spLocks noGrp="1"/>
          </p:cNvSpPr>
          <p:nvPr>
            <p:ph type="body" idx="1"/>
          </p:nvPr>
        </p:nvSpPr>
        <p:spPr>
          <a:xfrm>
            <a:off x="800100" y="2232793"/>
            <a:ext cx="11597631" cy="6563371"/>
          </a:xfrm>
          <a:prstGeom prst="rect">
            <a:avLst/>
          </a:prstGeom>
        </p:spPr>
        <p:txBody>
          <a:bodyPr anchor="t"/>
          <a:lstStyle/>
          <a:p>
            <a:pPr>
              <a:spcBef>
                <a:spcPts val="500"/>
              </a:spcBef>
              <a:defRPr>
                <a:solidFill>
                  <a:srgbClr val="942193"/>
                </a:solidFill>
              </a:defRPr>
            </a:pPr>
            <a:r>
              <a:t>Redundant information</a:t>
            </a:r>
          </a:p>
          <a:p>
            <a:pPr lvl="1">
              <a:spcBef>
                <a:spcPts val="3000"/>
              </a:spcBef>
            </a:pPr>
            <a:r>
              <a:t>e.g., the binary sum of all data bytes</a:t>
            </a:r>
          </a:p>
          <a:p>
            <a:pPr marL="807357" indent="-489857">
              <a:spcBef>
                <a:spcPts val="500"/>
              </a:spcBef>
            </a:pPr>
            <a:r>
              <a:t>Sender adds checksum C to each segment</a:t>
            </a:r>
          </a:p>
          <a:p>
            <a:pPr lvl="1">
              <a:spcBef>
                <a:spcPts val="3000"/>
              </a:spcBef>
            </a:pPr>
            <a:r>
              <a:t>transport-layer header field</a:t>
            </a:r>
          </a:p>
          <a:p>
            <a:pPr>
              <a:spcBef>
                <a:spcPts val="500"/>
              </a:spcBef>
            </a:pPr>
            <a:r>
              <a:t>Receiver uses it to </a:t>
            </a:r>
            <a:r>
              <a:rPr>
                <a:solidFill>
                  <a:srgbClr val="942193"/>
                </a:solidFill>
              </a:rPr>
              <a:t>detect data corruption</a:t>
            </a:r>
          </a:p>
          <a:p>
            <a:pPr lvl="1">
              <a:spcBef>
                <a:spcPts val="1000"/>
              </a:spcBef>
            </a:pPr>
            <a:r>
              <a:t>receiver recomputes checksum C’</a:t>
            </a:r>
          </a:p>
          <a:p>
            <a:pPr lvl="1"/>
            <a:r>
              <a:t>if C’!= C, segment was corrupted</a:t>
            </a:r>
          </a:p>
        </p:txBody>
      </p:sp>
      <p:sp>
        <p:nvSpPr>
          <p:cNvPr id="284"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26</a:t>
            </a:fld>
            <a:endParaRP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283">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283">
                                            <p:txEl>
                                              <p:pRg st="0" end="0"/>
                                            </p:txEl>
                                          </p:spTgt>
                                        </p:tgtEl>
                                        <p:attrNameLst>
                                          <p:attrName>style.visibility</p:attrName>
                                        </p:attrNameLst>
                                      </p:cBhvr>
                                      <p:to>
                                        <p:strVal val="visible"/>
                                      </p:to>
                                    </p:set>
                                  </p:childTnLst>
                                </p:cTn>
                              </p:par>
                              <p:par>
                                <p:cTn id="9" presetID="1" presetClass="entr" presetSubtype="0" fill="hold" grpId="1" nodeType="withEffect">
                                  <p:stCondLst>
                                    <p:cond delay="0"/>
                                  </p:stCondLst>
                                  <p:iterate>
                                    <p:tmAbs val="0"/>
                                  </p:iterate>
                                  <p:childTnLst>
                                    <p:set>
                                      <p:cBhvr>
                                        <p:cTn id="10" fill="hold"/>
                                        <p:tgtEl>
                                          <p:spTgt spid="28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1" nodeType="clickEffect">
                                  <p:stCondLst>
                                    <p:cond delay="0"/>
                                  </p:stCondLst>
                                  <p:iterate>
                                    <p:tmAbs val="0"/>
                                  </p:iterate>
                                  <p:childTnLst>
                                    <p:set>
                                      <p:cBhvr>
                                        <p:cTn id="14" fill="hold"/>
                                        <p:tgtEl>
                                          <p:spTgt spid="283">
                                            <p:txEl>
                                              <p:pRg st="2" end="2"/>
                                            </p:txEl>
                                          </p:spTgt>
                                        </p:tgtEl>
                                        <p:attrNameLst>
                                          <p:attrName>style.visibility</p:attrName>
                                        </p:attrNameLst>
                                      </p:cBhvr>
                                      <p:to>
                                        <p:strVal val="visible"/>
                                      </p:to>
                                    </p:set>
                                  </p:childTnLst>
                                </p:cTn>
                              </p:par>
                              <p:par>
                                <p:cTn id="15" presetID="1" presetClass="entr" presetSubtype="0" fill="hold" grpId="1" nodeType="withEffect">
                                  <p:stCondLst>
                                    <p:cond delay="0"/>
                                  </p:stCondLst>
                                  <p:iterate>
                                    <p:tmAbs val="0"/>
                                  </p:iterate>
                                  <p:childTnLst>
                                    <p:set>
                                      <p:cBhvr>
                                        <p:cTn id="16" fill="hold"/>
                                        <p:tgtEl>
                                          <p:spTgt spid="28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iterate>
                                    <p:tmAbs val="0"/>
                                  </p:iterate>
                                  <p:childTnLst>
                                    <p:set>
                                      <p:cBhvr>
                                        <p:cTn id="20" fill="hold"/>
                                        <p:tgtEl>
                                          <p:spTgt spid="283">
                                            <p:txEl>
                                              <p:pRg st="4" end="4"/>
                                            </p:txEl>
                                          </p:spTgt>
                                        </p:tgtEl>
                                        <p:attrNameLst>
                                          <p:attrName>style.visibility</p:attrName>
                                        </p:attrNameLst>
                                      </p:cBhvr>
                                      <p:to>
                                        <p:strVal val="visible"/>
                                      </p:to>
                                    </p:set>
                                  </p:childTnLst>
                                </p:cTn>
                              </p:par>
                              <p:par>
                                <p:cTn id="21" presetID="1" presetClass="entr" presetSubtype="0" fill="hold" grpId="1" nodeType="withEffect">
                                  <p:stCondLst>
                                    <p:cond delay="0"/>
                                  </p:stCondLst>
                                  <p:iterate>
                                    <p:tmAbs val="0"/>
                                  </p:iterate>
                                  <p:childTnLst>
                                    <p:set>
                                      <p:cBhvr>
                                        <p:cTn id="22" fill="hold"/>
                                        <p:tgtEl>
                                          <p:spTgt spid="283">
                                            <p:txEl>
                                              <p:pRg st="5" end="5"/>
                                            </p:txEl>
                                          </p:spTgt>
                                        </p:tgtEl>
                                        <p:attrNameLst>
                                          <p:attrName>style.visibility</p:attrName>
                                        </p:attrNameLst>
                                      </p:cBhvr>
                                      <p:to>
                                        <p:strVal val="visible"/>
                                      </p:to>
                                    </p:set>
                                  </p:childTnLst>
                                </p:cTn>
                              </p:par>
                              <p:par>
                                <p:cTn id="23" presetID="1" presetClass="entr" presetSubtype="0" fill="hold" grpId="1" nodeType="withEffect">
                                  <p:stCondLst>
                                    <p:cond delay="0"/>
                                  </p:stCondLst>
                                  <p:iterate>
                                    <p:tmAbs val="0"/>
                                  </p:iterate>
                                  <p:childTnLst>
                                    <p:set>
                                      <p:cBhvr>
                                        <p:cTn id="24" fill="hold"/>
                                        <p:tgtEl>
                                          <p:spTgt spid="28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3" grpId="1" build="p" animBg="1" advAuto="0"/>
    </p:bldLst>
  </p:timing>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88" name="Rectangle"/>
          <p:cNvSpPr/>
          <p:nvPr/>
        </p:nvSpPr>
        <p:spPr>
          <a:xfrm>
            <a:off x="8220667" y="-187354"/>
            <a:ext cx="3754842" cy="10128308"/>
          </a:xfrm>
          <a:prstGeom prst="rect">
            <a:avLst/>
          </a:prstGeom>
          <a:solidFill>
            <a:srgbClr val="FFD479"/>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289" name="Rectangle"/>
          <p:cNvSpPr/>
          <p:nvPr/>
        </p:nvSpPr>
        <p:spPr>
          <a:xfrm>
            <a:off x="880429" y="-187354"/>
            <a:ext cx="3851085" cy="10128308"/>
          </a:xfrm>
          <a:prstGeom prst="rect">
            <a:avLst/>
          </a:prstGeom>
          <a:solidFill>
            <a:srgbClr val="FFD479"/>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290" name="Rounded Rectangle"/>
          <p:cNvSpPr/>
          <p:nvPr/>
        </p:nvSpPr>
        <p:spPr>
          <a:xfrm>
            <a:off x="7556500" y="1308100"/>
            <a:ext cx="5183039" cy="8174385"/>
          </a:xfrm>
          <a:prstGeom prst="roundRect">
            <a:avLst>
              <a:gd name="adj" fmla="val 3675"/>
            </a:avLst>
          </a:prstGeom>
          <a:ln w="25400">
            <a:solidFill>
              <a:srgbClr val="0096FF"/>
            </a:solidFill>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291" name="Alice’s computer"/>
          <p:cNvSpPr/>
          <p:nvPr/>
        </p:nvSpPr>
        <p:spPr>
          <a:xfrm>
            <a:off x="644293" y="435168"/>
            <a:ext cx="4419601" cy="81876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lvl1pPr>
              <a:defRPr sz="4000">
                <a:solidFill>
                  <a:srgbClr val="0096FF"/>
                </a:solidFill>
                <a:latin typeface="+mn-lt"/>
                <a:ea typeface="+mn-ea"/>
                <a:cs typeface="+mn-cs"/>
                <a:sym typeface="Chalkboard SE Regular"/>
              </a:defRPr>
            </a:lvl1pPr>
          </a:lstStyle>
          <a:p>
            <a:r>
              <a:t>Alice’s computer</a:t>
            </a:r>
          </a:p>
        </p:txBody>
      </p:sp>
      <p:sp>
        <p:nvSpPr>
          <p:cNvPr id="292" name="Bob’s computer"/>
          <p:cNvSpPr/>
          <p:nvPr/>
        </p:nvSpPr>
        <p:spPr>
          <a:xfrm>
            <a:off x="8001000" y="435168"/>
            <a:ext cx="4419600" cy="81876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lvl1pPr>
              <a:defRPr sz="4000">
                <a:solidFill>
                  <a:srgbClr val="0096FF"/>
                </a:solidFill>
                <a:latin typeface="+mn-lt"/>
                <a:ea typeface="+mn-ea"/>
                <a:cs typeface="+mn-cs"/>
                <a:sym typeface="Chalkboard SE Regular"/>
              </a:defRPr>
            </a:lvl1pPr>
          </a:lstStyle>
          <a:p>
            <a:r>
              <a:t>Bob’s computer</a:t>
            </a:r>
          </a:p>
        </p:txBody>
      </p:sp>
      <p:sp>
        <p:nvSpPr>
          <p:cNvPr id="293"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27</a:t>
            </a:fld>
            <a:endParaRPr/>
          </a:p>
        </p:txBody>
      </p:sp>
      <p:sp>
        <p:nvSpPr>
          <p:cNvPr id="294" name="rdt_send()"/>
          <p:cNvSpPr/>
          <p:nvPr/>
        </p:nvSpPr>
        <p:spPr>
          <a:xfrm>
            <a:off x="393294" y="1291985"/>
            <a:ext cx="2384771"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rdt_send()</a:t>
            </a:r>
          </a:p>
        </p:txBody>
      </p:sp>
      <p:sp>
        <p:nvSpPr>
          <p:cNvPr id="295" name="udt_send()"/>
          <p:cNvSpPr/>
          <p:nvPr/>
        </p:nvSpPr>
        <p:spPr>
          <a:xfrm>
            <a:off x="3212543" y="1727243"/>
            <a:ext cx="2527620"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udt_send()</a:t>
            </a:r>
          </a:p>
        </p:txBody>
      </p:sp>
      <p:sp>
        <p:nvSpPr>
          <p:cNvPr id="296" name="rdt_rcv()"/>
          <p:cNvSpPr/>
          <p:nvPr/>
        </p:nvSpPr>
        <p:spPr>
          <a:xfrm>
            <a:off x="7734300" y="6527800"/>
            <a:ext cx="2032000" cy="6858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rdt_rcv()</a:t>
            </a:r>
          </a:p>
        </p:txBody>
      </p:sp>
      <p:sp>
        <p:nvSpPr>
          <p:cNvPr id="297" name="deliver_data()"/>
          <p:cNvSpPr/>
          <p:nvPr/>
        </p:nvSpPr>
        <p:spPr>
          <a:xfrm>
            <a:off x="9670250" y="7089219"/>
            <a:ext cx="3293617"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deliver_data()</a:t>
            </a:r>
          </a:p>
        </p:txBody>
      </p:sp>
      <p:sp>
        <p:nvSpPr>
          <p:cNvPr id="298" name="Line"/>
          <p:cNvSpPr/>
          <p:nvPr/>
        </p:nvSpPr>
        <p:spPr>
          <a:xfrm flipV="1">
            <a:off x="5010563" y="4454169"/>
            <a:ext cx="2894725" cy="253256"/>
          </a:xfrm>
          <a:prstGeom prst="line">
            <a:avLst/>
          </a:prstGeom>
          <a:ln w="25400">
            <a:solidFill>
              <a:srgbClr val="0433FF"/>
            </a:solidFill>
            <a:miter lim="400000"/>
            <a:headEnd type="stealth"/>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299" name="NACK"/>
          <p:cNvSpPr/>
          <p:nvPr/>
        </p:nvSpPr>
        <p:spPr>
          <a:xfrm rot="21300000">
            <a:off x="5918199" y="3937000"/>
            <a:ext cx="1460501"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942193"/>
                </a:solidFill>
                <a:latin typeface="Courier"/>
                <a:ea typeface="Courier"/>
                <a:cs typeface="Courier"/>
                <a:sym typeface="Courier"/>
              </a:defRPr>
            </a:lvl1pPr>
          </a:lstStyle>
          <a:p>
            <a:r>
              <a:t>NACK</a:t>
            </a:r>
          </a:p>
        </p:txBody>
      </p:sp>
      <p:sp>
        <p:nvSpPr>
          <p:cNvPr id="300" name="Line"/>
          <p:cNvSpPr/>
          <p:nvPr/>
        </p:nvSpPr>
        <p:spPr>
          <a:xfrm flipH="1" flipV="1">
            <a:off x="5008794" y="6282947"/>
            <a:ext cx="3053761" cy="267171"/>
          </a:xfrm>
          <a:prstGeom prst="line">
            <a:avLst/>
          </a:prstGeom>
          <a:ln w="25400">
            <a:solidFill>
              <a:srgbClr val="0433FF"/>
            </a:solidFill>
            <a:miter lim="400000"/>
            <a:headEnd type="stealth"/>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301" name="udt_send()"/>
          <p:cNvSpPr/>
          <p:nvPr/>
        </p:nvSpPr>
        <p:spPr>
          <a:xfrm>
            <a:off x="3212543" y="5616649"/>
            <a:ext cx="2601199"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udt_send()</a:t>
            </a:r>
          </a:p>
        </p:txBody>
      </p:sp>
      <p:sp>
        <p:nvSpPr>
          <p:cNvPr id="302" name="Line"/>
          <p:cNvSpPr/>
          <p:nvPr/>
        </p:nvSpPr>
        <p:spPr>
          <a:xfrm flipV="1">
            <a:off x="4994068" y="8529121"/>
            <a:ext cx="3013309" cy="263631"/>
          </a:xfrm>
          <a:prstGeom prst="line">
            <a:avLst/>
          </a:prstGeom>
          <a:ln w="25400">
            <a:solidFill>
              <a:srgbClr val="0433FF"/>
            </a:solidFill>
            <a:miter lim="400000"/>
            <a:headEnd type="stealth"/>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303" name="udt_send()"/>
          <p:cNvSpPr/>
          <p:nvPr/>
        </p:nvSpPr>
        <p:spPr>
          <a:xfrm>
            <a:off x="7734300" y="3828675"/>
            <a:ext cx="2552700"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udt_send()</a:t>
            </a:r>
          </a:p>
        </p:txBody>
      </p:sp>
      <p:sp>
        <p:nvSpPr>
          <p:cNvPr id="304" name="rdt_rcv()"/>
          <p:cNvSpPr/>
          <p:nvPr/>
        </p:nvSpPr>
        <p:spPr>
          <a:xfrm>
            <a:off x="7734300" y="2616200"/>
            <a:ext cx="2032000"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rdt_rcv()</a:t>
            </a:r>
          </a:p>
        </p:txBody>
      </p:sp>
      <p:sp>
        <p:nvSpPr>
          <p:cNvPr id="305" name="rdt_rcv()"/>
          <p:cNvSpPr/>
          <p:nvPr/>
        </p:nvSpPr>
        <p:spPr>
          <a:xfrm>
            <a:off x="3212543" y="4758021"/>
            <a:ext cx="2222995"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rdt_rcv()</a:t>
            </a:r>
          </a:p>
        </p:txBody>
      </p:sp>
      <p:sp>
        <p:nvSpPr>
          <p:cNvPr id="306" name="udt_send()"/>
          <p:cNvSpPr/>
          <p:nvPr/>
        </p:nvSpPr>
        <p:spPr>
          <a:xfrm>
            <a:off x="7734300" y="7788800"/>
            <a:ext cx="2552700"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udt_send()</a:t>
            </a:r>
          </a:p>
        </p:txBody>
      </p:sp>
      <p:sp>
        <p:nvSpPr>
          <p:cNvPr id="307" name="Line"/>
          <p:cNvSpPr/>
          <p:nvPr/>
        </p:nvSpPr>
        <p:spPr>
          <a:xfrm flipH="1" flipV="1">
            <a:off x="5003341" y="2388516"/>
            <a:ext cx="3064666" cy="268124"/>
          </a:xfrm>
          <a:prstGeom prst="line">
            <a:avLst/>
          </a:prstGeom>
          <a:ln w="25400">
            <a:solidFill>
              <a:srgbClr val="0433FF"/>
            </a:solidFill>
            <a:miter lim="400000"/>
            <a:headEnd type="stealth"/>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308" name="Rounded Rectangle"/>
          <p:cNvSpPr/>
          <p:nvPr/>
        </p:nvSpPr>
        <p:spPr>
          <a:xfrm>
            <a:off x="277589" y="1308100"/>
            <a:ext cx="5183040" cy="8174385"/>
          </a:xfrm>
          <a:prstGeom prst="roundRect">
            <a:avLst>
              <a:gd name="adj" fmla="val 3675"/>
            </a:avLst>
          </a:prstGeom>
          <a:ln w="25400">
            <a:solidFill>
              <a:srgbClr val="0096FF"/>
            </a:solidFill>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309" name="ACK"/>
          <p:cNvSpPr/>
          <p:nvPr/>
        </p:nvSpPr>
        <p:spPr>
          <a:xfrm rot="21300000">
            <a:off x="6080213" y="8028747"/>
            <a:ext cx="908709"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942193"/>
                </a:solidFill>
                <a:latin typeface="Courier"/>
                <a:ea typeface="Courier"/>
                <a:cs typeface="Courier"/>
                <a:sym typeface="Courier"/>
              </a:defRPr>
            </a:lvl1pPr>
          </a:lstStyle>
          <a:p>
            <a:r>
              <a:t>ACK</a:t>
            </a:r>
          </a:p>
        </p:txBody>
      </p:sp>
      <p:sp>
        <p:nvSpPr>
          <p:cNvPr id="310" name="rdt_rcv()"/>
          <p:cNvSpPr/>
          <p:nvPr/>
        </p:nvSpPr>
        <p:spPr>
          <a:xfrm>
            <a:off x="3212543" y="8845550"/>
            <a:ext cx="2222995" cy="6858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rdt_rcv()</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30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2" fill="hold" grpId="2" nodeType="clickEffect">
                                  <p:stCondLst>
                                    <p:cond delay="0"/>
                                  </p:stCondLst>
                                  <p:iterate>
                                    <p:tmAbs val="0"/>
                                  </p:iterate>
                                  <p:childTnLst>
                                    <p:set>
                                      <p:cBhvr>
                                        <p:cTn id="10" fill="hold"/>
                                        <p:tgtEl>
                                          <p:spTgt spid="298"/>
                                        </p:tgtEl>
                                        <p:attrNameLst>
                                          <p:attrName>style.visibility</p:attrName>
                                        </p:attrNameLst>
                                      </p:cBhvr>
                                      <p:to>
                                        <p:strVal val="visible"/>
                                      </p:to>
                                    </p:set>
                                    <p:animEffect transition="in" filter="wipe(right)">
                                      <p:cBhvr>
                                        <p:cTn id="11" dur="1000"/>
                                        <p:tgtEl>
                                          <p:spTgt spid="298"/>
                                        </p:tgtEl>
                                      </p:cBhvr>
                                    </p:animEffect>
                                  </p:childTnLst>
                                </p:cTn>
                              </p:par>
                            </p:childTnLst>
                          </p:cTn>
                        </p:par>
                        <p:par>
                          <p:cTn id="12" fill="hold">
                            <p:stCondLst>
                              <p:cond delay="1000"/>
                            </p:stCondLst>
                            <p:childTnLst>
                              <p:par>
                                <p:cTn id="13" presetID="1" presetClass="entr" presetSubtype="0" fill="hold" grpId="3" nodeType="afterEffect">
                                  <p:stCondLst>
                                    <p:cond delay="300"/>
                                  </p:stCondLst>
                                  <p:iterate>
                                    <p:tmAbs val="0"/>
                                  </p:iterate>
                                  <p:childTnLst>
                                    <p:set>
                                      <p:cBhvr>
                                        <p:cTn id="14" fill="hold"/>
                                        <p:tgtEl>
                                          <p:spTgt spid="29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4" nodeType="clickEffect">
                                  <p:stCondLst>
                                    <p:cond delay="0"/>
                                  </p:stCondLst>
                                  <p:iterate>
                                    <p:tmAbs val="0"/>
                                  </p:iterate>
                                  <p:childTnLst>
                                    <p:set>
                                      <p:cBhvr>
                                        <p:cTn id="18" fill="hold"/>
                                        <p:tgtEl>
                                          <p:spTgt spid="30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5" nodeType="clickEffect">
                                  <p:stCondLst>
                                    <p:cond delay="0"/>
                                  </p:stCondLst>
                                  <p:iterate>
                                    <p:tmAbs val="0"/>
                                  </p:iterate>
                                  <p:childTnLst>
                                    <p:set>
                                      <p:cBhvr>
                                        <p:cTn id="22" fill="hold"/>
                                        <p:tgtEl>
                                          <p:spTgt spid="30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6" nodeType="clickEffect">
                                  <p:stCondLst>
                                    <p:cond delay="0"/>
                                  </p:stCondLst>
                                  <p:iterate>
                                    <p:tmAbs val="0"/>
                                  </p:iterate>
                                  <p:childTnLst>
                                    <p:set>
                                      <p:cBhvr>
                                        <p:cTn id="26" fill="hold"/>
                                        <p:tgtEl>
                                          <p:spTgt spid="300"/>
                                        </p:tgtEl>
                                        <p:attrNameLst>
                                          <p:attrName>style.visibility</p:attrName>
                                        </p:attrNameLst>
                                      </p:cBhvr>
                                      <p:to>
                                        <p:strVal val="visible"/>
                                      </p:to>
                                    </p:set>
                                    <p:animEffect transition="in" filter="wipe(left)">
                                      <p:cBhvr>
                                        <p:cTn id="27" dur="750"/>
                                        <p:tgtEl>
                                          <p:spTgt spid="300"/>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7" nodeType="clickEffect">
                                  <p:stCondLst>
                                    <p:cond delay="0"/>
                                  </p:stCondLst>
                                  <p:iterate>
                                    <p:tmAbs val="0"/>
                                  </p:iterate>
                                  <p:childTnLst>
                                    <p:set>
                                      <p:cBhvr>
                                        <p:cTn id="31" fill="hold"/>
                                        <p:tgtEl>
                                          <p:spTgt spid="296"/>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8" nodeType="clickEffect">
                                  <p:stCondLst>
                                    <p:cond delay="0"/>
                                  </p:stCondLst>
                                  <p:iterate>
                                    <p:tmAbs val="0"/>
                                  </p:iterate>
                                  <p:childTnLst>
                                    <p:set>
                                      <p:cBhvr>
                                        <p:cTn id="35" fill="hold"/>
                                        <p:tgtEl>
                                          <p:spTgt spid="297"/>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9" nodeType="clickEffect">
                                  <p:stCondLst>
                                    <p:cond delay="0"/>
                                  </p:stCondLst>
                                  <p:iterate>
                                    <p:tmAbs val="0"/>
                                  </p:iterate>
                                  <p:childTnLst>
                                    <p:set>
                                      <p:cBhvr>
                                        <p:cTn id="39" fill="hold"/>
                                        <p:tgtEl>
                                          <p:spTgt spid="306"/>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22" presetClass="entr" presetSubtype="2" fill="hold" grpId="10" nodeType="clickEffect">
                                  <p:stCondLst>
                                    <p:cond delay="0"/>
                                  </p:stCondLst>
                                  <p:iterate>
                                    <p:tmAbs val="0"/>
                                  </p:iterate>
                                  <p:childTnLst>
                                    <p:set>
                                      <p:cBhvr>
                                        <p:cTn id="43" fill="hold"/>
                                        <p:tgtEl>
                                          <p:spTgt spid="302"/>
                                        </p:tgtEl>
                                        <p:attrNameLst>
                                          <p:attrName>style.visibility</p:attrName>
                                        </p:attrNameLst>
                                      </p:cBhvr>
                                      <p:to>
                                        <p:strVal val="visible"/>
                                      </p:to>
                                    </p:set>
                                    <p:animEffect transition="in" filter="wipe(right)">
                                      <p:cBhvr>
                                        <p:cTn id="44" dur="1000"/>
                                        <p:tgtEl>
                                          <p:spTgt spid="302"/>
                                        </p:tgtEl>
                                      </p:cBhvr>
                                    </p:animEffect>
                                  </p:childTnLst>
                                </p:cTn>
                              </p:par>
                            </p:childTnLst>
                          </p:cTn>
                        </p:par>
                        <p:par>
                          <p:cTn id="45" fill="hold">
                            <p:stCondLst>
                              <p:cond delay="1000"/>
                            </p:stCondLst>
                            <p:childTnLst>
                              <p:par>
                                <p:cTn id="46" presetID="1" presetClass="entr" presetSubtype="0" fill="hold" grpId="11" nodeType="afterEffect">
                                  <p:stCondLst>
                                    <p:cond delay="300"/>
                                  </p:stCondLst>
                                  <p:iterate>
                                    <p:tmAbs val="0"/>
                                  </p:iterate>
                                  <p:childTnLst>
                                    <p:set>
                                      <p:cBhvr>
                                        <p:cTn id="47" fill="hold"/>
                                        <p:tgtEl>
                                          <p:spTgt spid="309"/>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12" nodeType="clickEffect">
                                  <p:stCondLst>
                                    <p:cond delay="0"/>
                                  </p:stCondLst>
                                  <p:iterate>
                                    <p:tmAbs val="0"/>
                                  </p:iterate>
                                  <p:childTnLst>
                                    <p:set>
                                      <p:cBhvr>
                                        <p:cTn id="51" fill="hold"/>
                                        <p:tgtEl>
                                          <p:spTgt spid="3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 grpId="7" animBg="1" advAuto="0"/>
      <p:bldP spid="297" grpId="8" animBg="1" advAuto="0"/>
      <p:bldP spid="298" grpId="2" animBg="1" advAuto="0"/>
      <p:bldP spid="299" grpId="3" animBg="1" advAuto="0"/>
      <p:bldP spid="300" grpId="6" animBg="1" advAuto="0"/>
      <p:bldP spid="301" grpId="5" animBg="1" advAuto="0"/>
      <p:bldP spid="302" grpId="10" animBg="1" advAuto="0"/>
      <p:bldP spid="303" grpId="1" animBg="1" advAuto="0"/>
      <p:bldP spid="305" grpId="4" animBg="1" advAuto="0"/>
      <p:bldP spid="306" grpId="9" animBg="1" advAuto="0"/>
      <p:bldP spid="309" grpId="11" animBg="1" advAuto="0"/>
      <p:bldP spid="310" grpId="12" animBg="1" advAuto="0"/>
    </p:bldLst>
  </p:timing>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4" name="Acknowledgment"/>
          <p:cNvSpPr txBox="1">
            <a:spLocks noGrp="1"/>
          </p:cNvSpPr>
          <p:nvPr>
            <p:ph type="title"/>
          </p:nvPr>
        </p:nvSpPr>
        <p:spPr>
          <a:xfrm>
            <a:off x="308409" y="-165100"/>
            <a:ext cx="12123540" cy="2438400"/>
          </a:xfrm>
          <a:prstGeom prst="rect">
            <a:avLst/>
          </a:prstGeom>
        </p:spPr>
        <p:txBody>
          <a:bodyPr/>
          <a:lstStyle/>
          <a:p>
            <a:r>
              <a:rPr dirty="0"/>
              <a:t>Acknowledgment</a:t>
            </a:r>
            <a:r>
              <a:rPr lang="fr-CH" dirty="0"/>
              <a:t> + retransmission</a:t>
            </a:r>
            <a:endParaRPr dirty="0"/>
          </a:p>
        </p:txBody>
      </p:sp>
      <p:sp>
        <p:nvSpPr>
          <p:cNvPr id="315" name="Feedback from receiver to sender…"/>
          <p:cNvSpPr txBox="1">
            <a:spLocks noGrp="1"/>
          </p:cNvSpPr>
          <p:nvPr>
            <p:ph type="body" idx="1"/>
          </p:nvPr>
        </p:nvSpPr>
        <p:spPr>
          <a:xfrm>
            <a:off x="926290" y="2273300"/>
            <a:ext cx="11648679" cy="6375400"/>
          </a:xfrm>
          <a:prstGeom prst="rect">
            <a:avLst/>
          </a:prstGeom>
        </p:spPr>
        <p:txBody>
          <a:bodyPr anchor="t"/>
          <a:lstStyle/>
          <a:p>
            <a:pPr>
              <a:spcBef>
                <a:spcPts val="3000"/>
              </a:spcBef>
            </a:pPr>
            <a:r>
              <a:rPr dirty="0">
                <a:solidFill>
                  <a:srgbClr val="942193"/>
                </a:solidFill>
              </a:rPr>
              <a:t>Feedback</a:t>
            </a:r>
            <a:r>
              <a:rPr dirty="0"/>
              <a:t> from receiver to sender</a:t>
            </a:r>
          </a:p>
          <a:p>
            <a:pPr>
              <a:spcBef>
                <a:spcPts val="1000"/>
              </a:spcBef>
            </a:pPr>
            <a:r>
              <a:rPr dirty="0"/>
              <a:t>Receiver adds ACK to each segment</a:t>
            </a:r>
          </a:p>
          <a:p>
            <a:pPr lvl="1">
              <a:spcBef>
                <a:spcPts val="3000"/>
              </a:spcBef>
            </a:pPr>
            <a:r>
              <a:rPr dirty="0"/>
              <a:t>transport-layer header field</a:t>
            </a:r>
          </a:p>
          <a:p>
            <a:pPr>
              <a:spcBef>
                <a:spcPts val="500"/>
              </a:spcBef>
            </a:pPr>
            <a:r>
              <a:rPr dirty="0"/>
              <a:t>Sender uses it to </a:t>
            </a:r>
            <a:r>
              <a:rPr dirty="0">
                <a:solidFill>
                  <a:srgbClr val="942193"/>
                </a:solidFill>
              </a:rPr>
              <a:t>detect and overcome</a:t>
            </a:r>
            <a:br>
              <a:rPr dirty="0">
                <a:solidFill>
                  <a:srgbClr val="942193"/>
                </a:solidFill>
              </a:rPr>
            </a:br>
            <a:r>
              <a:rPr dirty="0">
                <a:solidFill>
                  <a:srgbClr val="942193"/>
                </a:solidFill>
              </a:rPr>
              <a:t> data corruption</a:t>
            </a:r>
          </a:p>
          <a:p>
            <a:pPr lvl="1">
              <a:spcBef>
                <a:spcPts val="1000"/>
              </a:spcBef>
            </a:pPr>
            <a:r>
              <a:rPr dirty="0"/>
              <a:t>if sender gets negative ACK, </a:t>
            </a:r>
            <a:br>
              <a:rPr dirty="0"/>
            </a:br>
            <a:r>
              <a:rPr dirty="0"/>
              <a:t>it retransmits the data</a:t>
            </a:r>
            <a:endParaRPr lang="fr-CH" dirty="0"/>
          </a:p>
          <a:p>
            <a:pPr lvl="1">
              <a:spcBef>
                <a:spcPts val="1000"/>
              </a:spcBef>
            </a:pPr>
            <a:r>
              <a:rPr lang="en-US" b="1" dirty="0"/>
              <a:t>Problem</a:t>
            </a:r>
            <a:r>
              <a:rPr lang="en-US" dirty="0"/>
              <a:t>: Ack segments can be corrupted too!</a:t>
            </a:r>
            <a:endParaRPr dirty="0"/>
          </a:p>
        </p:txBody>
      </p:sp>
      <p:sp>
        <p:nvSpPr>
          <p:cNvPr id="316"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28</a:t>
            </a:fld>
            <a:endParaRP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315">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315">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315">
                                            <p:txEl>
                                              <p:pRg st="1" end="1"/>
                                            </p:txEl>
                                          </p:spTgt>
                                        </p:tgtEl>
                                        <p:attrNameLst>
                                          <p:attrName>style.visibility</p:attrName>
                                        </p:attrNameLst>
                                      </p:cBhvr>
                                      <p:to>
                                        <p:strVal val="visible"/>
                                      </p:to>
                                    </p:set>
                                  </p:childTnLst>
                                </p:cTn>
                              </p:par>
                              <p:par>
                                <p:cTn id="13" presetID="1" presetClass="entr" presetSubtype="0" fill="hold" grpId="1" nodeType="withEffect">
                                  <p:stCondLst>
                                    <p:cond delay="0"/>
                                  </p:stCondLst>
                                  <p:iterate>
                                    <p:tmAbs val="0"/>
                                  </p:iterate>
                                  <p:childTnLst>
                                    <p:set>
                                      <p:cBhvr>
                                        <p:cTn id="14" fill="hold"/>
                                        <p:tgtEl>
                                          <p:spTgt spid="31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1" nodeType="clickEffect">
                                  <p:stCondLst>
                                    <p:cond delay="0"/>
                                  </p:stCondLst>
                                  <p:iterate>
                                    <p:tmAbs val="0"/>
                                  </p:iterate>
                                  <p:childTnLst>
                                    <p:set>
                                      <p:cBhvr>
                                        <p:cTn id="18" fill="hold"/>
                                        <p:tgtEl>
                                          <p:spTgt spid="315">
                                            <p:txEl>
                                              <p:pRg st="3" end="3"/>
                                            </p:txEl>
                                          </p:spTgt>
                                        </p:tgtEl>
                                        <p:attrNameLst>
                                          <p:attrName>style.visibility</p:attrName>
                                        </p:attrNameLst>
                                      </p:cBhvr>
                                      <p:to>
                                        <p:strVal val="visible"/>
                                      </p:to>
                                    </p:set>
                                  </p:childTnLst>
                                </p:cTn>
                              </p:par>
                              <p:par>
                                <p:cTn id="19" presetID="1" presetClass="entr" presetSubtype="0" fill="hold" grpId="1" nodeType="withEffect">
                                  <p:stCondLst>
                                    <p:cond delay="0"/>
                                  </p:stCondLst>
                                  <p:iterate>
                                    <p:tmAbs val="0"/>
                                  </p:iterate>
                                  <p:childTnLst>
                                    <p:set>
                                      <p:cBhvr>
                                        <p:cTn id="20" fill="hold"/>
                                        <p:tgtEl>
                                          <p:spTgt spid="315">
                                            <p:txEl>
                                              <p:pRg st="4" end="4"/>
                                            </p:txEl>
                                          </p:spTgt>
                                        </p:tgtEl>
                                        <p:attrNameLst>
                                          <p:attrName>style.visibility</p:attrName>
                                        </p:attrNameLst>
                                      </p:cBhvr>
                                      <p:to>
                                        <p:strVal val="visible"/>
                                      </p:to>
                                    </p:set>
                                  </p:childTnLst>
                                </p:cTn>
                              </p:par>
                              <p:par>
                                <p:cTn id="21" presetID="1" presetClass="entr" presetSubtype="0" fill="hold" grpId="1" nodeType="withEffect">
                                  <p:stCondLst>
                                    <p:cond delay="0"/>
                                  </p:stCondLst>
                                  <p:iterate>
                                    <p:tmAbs val="0"/>
                                  </p:iterate>
                                  <p:childTnLst>
                                    <p:set>
                                      <p:cBhvr>
                                        <p:cTn id="22" fill="hold"/>
                                        <p:tgtEl>
                                          <p:spTgt spid="31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5" grpId="1" build="p" animBg="1" advAuto="0"/>
    </p:bld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20" name="Rectangle"/>
          <p:cNvSpPr/>
          <p:nvPr/>
        </p:nvSpPr>
        <p:spPr>
          <a:xfrm>
            <a:off x="8220667" y="-187354"/>
            <a:ext cx="3754842" cy="10128308"/>
          </a:xfrm>
          <a:prstGeom prst="rect">
            <a:avLst/>
          </a:prstGeom>
          <a:solidFill>
            <a:srgbClr val="FFD479"/>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321" name="Rectangle"/>
          <p:cNvSpPr/>
          <p:nvPr/>
        </p:nvSpPr>
        <p:spPr>
          <a:xfrm>
            <a:off x="871301" y="-187354"/>
            <a:ext cx="3860213" cy="10128308"/>
          </a:xfrm>
          <a:prstGeom prst="rect">
            <a:avLst/>
          </a:prstGeom>
          <a:solidFill>
            <a:srgbClr val="FFD479"/>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322" name="Rounded Rectangle"/>
          <p:cNvSpPr/>
          <p:nvPr/>
        </p:nvSpPr>
        <p:spPr>
          <a:xfrm>
            <a:off x="7556500" y="1308100"/>
            <a:ext cx="5183039" cy="8174385"/>
          </a:xfrm>
          <a:prstGeom prst="roundRect">
            <a:avLst>
              <a:gd name="adj" fmla="val 3675"/>
            </a:avLst>
          </a:prstGeom>
          <a:ln w="25400">
            <a:solidFill>
              <a:srgbClr val="0096FF"/>
            </a:solidFill>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323" name="Alice’s computer"/>
          <p:cNvSpPr/>
          <p:nvPr/>
        </p:nvSpPr>
        <p:spPr>
          <a:xfrm>
            <a:off x="644293" y="435168"/>
            <a:ext cx="4419601" cy="81876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lvl1pPr>
              <a:defRPr sz="4000">
                <a:solidFill>
                  <a:srgbClr val="0096FF"/>
                </a:solidFill>
                <a:latin typeface="+mn-lt"/>
                <a:ea typeface="+mn-ea"/>
                <a:cs typeface="+mn-cs"/>
                <a:sym typeface="Chalkboard SE Regular"/>
              </a:defRPr>
            </a:lvl1pPr>
          </a:lstStyle>
          <a:p>
            <a:r>
              <a:t>Alice’s computer</a:t>
            </a:r>
          </a:p>
        </p:txBody>
      </p:sp>
      <p:sp>
        <p:nvSpPr>
          <p:cNvPr id="324" name="Bob’s computer"/>
          <p:cNvSpPr/>
          <p:nvPr/>
        </p:nvSpPr>
        <p:spPr>
          <a:xfrm>
            <a:off x="8001000" y="435168"/>
            <a:ext cx="4419600" cy="81876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lvl1pPr>
              <a:defRPr sz="4000">
                <a:solidFill>
                  <a:srgbClr val="0096FF"/>
                </a:solidFill>
                <a:latin typeface="+mn-lt"/>
                <a:ea typeface="+mn-ea"/>
                <a:cs typeface="+mn-cs"/>
                <a:sym typeface="Chalkboard SE Regular"/>
              </a:defRPr>
            </a:lvl1pPr>
          </a:lstStyle>
          <a:p>
            <a:r>
              <a:t>Bob’s computer</a:t>
            </a:r>
          </a:p>
        </p:txBody>
      </p:sp>
      <p:sp>
        <p:nvSpPr>
          <p:cNvPr id="325"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29</a:t>
            </a:fld>
            <a:endParaRPr/>
          </a:p>
        </p:txBody>
      </p:sp>
      <p:sp>
        <p:nvSpPr>
          <p:cNvPr id="326" name="rdt_send()"/>
          <p:cNvSpPr/>
          <p:nvPr/>
        </p:nvSpPr>
        <p:spPr>
          <a:xfrm>
            <a:off x="393294" y="1291985"/>
            <a:ext cx="2384771"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rdt_send()</a:t>
            </a:r>
          </a:p>
        </p:txBody>
      </p:sp>
      <p:sp>
        <p:nvSpPr>
          <p:cNvPr id="327" name="udt_send()"/>
          <p:cNvSpPr/>
          <p:nvPr/>
        </p:nvSpPr>
        <p:spPr>
          <a:xfrm>
            <a:off x="3212543" y="1727243"/>
            <a:ext cx="2527620"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udt_send()</a:t>
            </a:r>
          </a:p>
        </p:txBody>
      </p:sp>
      <p:sp>
        <p:nvSpPr>
          <p:cNvPr id="328" name="rdt_rcv()"/>
          <p:cNvSpPr/>
          <p:nvPr/>
        </p:nvSpPr>
        <p:spPr>
          <a:xfrm>
            <a:off x="7734300" y="6477000"/>
            <a:ext cx="2032000" cy="6858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rdt_rcv()</a:t>
            </a:r>
          </a:p>
        </p:txBody>
      </p:sp>
      <p:sp>
        <p:nvSpPr>
          <p:cNvPr id="329" name="deliver_data()"/>
          <p:cNvSpPr/>
          <p:nvPr/>
        </p:nvSpPr>
        <p:spPr>
          <a:xfrm>
            <a:off x="9639718" y="3183398"/>
            <a:ext cx="3293616"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deliver_data()</a:t>
            </a:r>
          </a:p>
        </p:txBody>
      </p:sp>
      <p:sp>
        <p:nvSpPr>
          <p:cNvPr id="330" name="Line"/>
          <p:cNvSpPr/>
          <p:nvPr/>
        </p:nvSpPr>
        <p:spPr>
          <a:xfrm flipV="1">
            <a:off x="5010563" y="4454169"/>
            <a:ext cx="2894725" cy="253256"/>
          </a:xfrm>
          <a:prstGeom prst="line">
            <a:avLst/>
          </a:prstGeom>
          <a:ln w="25400">
            <a:solidFill>
              <a:srgbClr val="0433FF"/>
            </a:solidFill>
            <a:miter lim="400000"/>
            <a:headEnd type="stealth"/>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331" name="?AC?"/>
          <p:cNvSpPr/>
          <p:nvPr/>
        </p:nvSpPr>
        <p:spPr>
          <a:xfrm rot="21300000">
            <a:off x="5918199" y="4013200"/>
            <a:ext cx="1460501"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?AC?</a:t>
            </a:r>
          </a:p>
        </p:txBody>
      </p:sp>
      <p:sp>
        <p:nvSpPr>
          <p:cNvPr id="332" name="Line"/>
          <p:cNvSpPr/>
          <p:nvPr/>
        </p:nvSpPr>
        <p:spPr>
          <a:xfrm flipH="1" flipV="1">
            <a:off x="5008794" y="6282947"/>
            <a:ext cx="3053761" cy="267171"/>
          </a:xfrm>
          <a:prstGeom prst="line">
            <a:avLst/>
          </a:prstGeom>
          <a:ln w="25400">
            <a:solidFill>
              <a:srgbClr val="0433FF"/>
            </a:solidFill>
            <a:miter lim="400000"/>
            <a:headEnd type="stealth"/>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333" name="udt_send()"/>
          <p:cNvSpPr/>
          <p:nvPr/>
        </p:nvSpPr>
        <p:spPr>
          <a:xfrm>
            <a:off x="3212543" y="5616649"/>
            <a:ext cx="2601199"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udt_send()</a:t>
            </a:r>
          </a:p>
        </p:txBody>
      </p:sp>
      <p:sp>
        <p:nvSpPr>
          <p:cNvPr id="334" name="Line"/>
          <p:cNvSpPr/>
          <p:nvPr/>
        </p:nvSpPr>
        <p:spPr>
          <a:xfrm flipV="1">
            <a:off x="4994068" y="8529121"/>
            <a:ext cx="3013309" cy="263631"/>
          </a:xfrm>
          <a:prstGeom prst="line">
            <a:avLst/>
          </a:prstGeom>
          <a:ln w="25400">
            <a:solidFill>
              <a:srgbClr val="0433FF"/>
            </a:solidFill>
            <a:miter lim="400000"/>
            <a:headEnd type="stealth"/>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335" name="udt_send()"/>
          <p:cNvSpPr/>
          <p:nvPr/>
        </p:nvSpPr>
        <p:spPr>
          <a:xfrm>
            <a:off x="7734300" y="3828675"/>
            <a:ext cx="2552700"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udt_send()</a:t>
            </a:r>
          </a:p>
        </p:txBody>
      </p:sp>
      <p:sp>
        <p:nvSpPr>
          <p:cNvPr id="336" name="rdt_rcv()"/>
          <p:cNvSpPr/>
          <p:nvPr/>
        </p:nvSpPr>
        <p:spPr>
          <a:xfrm>
            <a:off x="7734300" y="2616200"/>
            <a:ext cx="2032000"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rdt_rcv()</a:t>
            </a:r>
          </a:p>
        </p:txBody>
      </p:sp>
      <p:sp>
        <p:nvSpPr>
          <p:cNvPr id="337" name="rdt_rcv()"/>
          <p:cNvSpPr/>
          <p:nvPr/>
        </p:nvSpPr>
        <p:spPr>
          <a:xfrm>
            <a:off x="3212543" y="4758021"/>
            <a:ext cx="2222995"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rdt_rcv()</a:t>
            </a:r>
          </a:p>
        </p:txBody>
      </p:sp>
      <p:sp>
        <p:nvSpPr>
          <p:cNvPr id="338" name="udt_send()"/>
          <p:cNvSpPr/>
          <p:nvPr/>
        </p:nvSpPr>
        <p:spPr>
          <a:xfrm>
            <a:off x="7734300" y="7928500"/>
            <a:ext cx="2552700"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udt_send()</a:t>
            </a:r>
          </a:p>
        </p:txBody>
      </p:sp>
      <p:sp>
        <p:nvSpPr>
          <p:cNvPr id="339" name="Line"/>
          <p:cNvSpPr/>
          <p:nvPr/>
        </p:nvSpPr>
        <p:spPr>
          <a:xfrm flipH="1" flipV="1">
            <a:off x="5003341" y="2388516"/>
            <a:ext cx="3064666" cy="268124"/>
          </a:xfrm>
          <a:prstGeom prst="line">
            <a:avLst/>
          </a:prstGeom>
          <a:ln w="25400">
            <a:solidFill>
              <a:srgbClr val="0433FF"/>
            </a:solidFill>
            <a:miter lim="400000"/>
            <a:headEnd type="stealth"/>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340" name="Rounded Rectangle"/>
          <p:cNvSpPr/>
          <p:nvPr/>
        </p:nvSpPr>
        <p:spPr>
          <a:xfrm>
            <a:off x="277589" y="1308100"/>
            <a:ext cx="5183040" cy="8174385"/>
          </a:xfrm>
          <a:prstGeom prst="roundRect">
            <a:avLst>
              <a:gd name="adj" fmla="val 3675"/>
            </a:avLst>
          </a:prstGeom>
          <a:ln w="25400">
            <a:solidFill>
              <a:srgbClr val="0096FF"/>
            </a:solidFill>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341" name="ACK 0"/>
          <p:cNvSpPr/>
          <p:nvPr/>
        </p:nvSpPr>
        <p:spPr>
          <a:xfrm rot="21300000">
            <a:off x="5925905" y="8112873"/>
            <a:ext cx="1193031"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ACK 0</a:t>
            </a:r>
          </a:p>
        </p:txBody>
      </p:sp>
      <p:sp>
        <p:nvSpPr>
          <p:cNvPr id="342" name="rdt_rcv()"/>
          <p:cNvSpPr/>
          <p:nvPr/>
        </p:nvSpPr>
        <p:spPr>
          <a:xfrm>
            <a:off x="3212543" y="8845550"/>
            <a:ext cx="2222995" cy="6858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rdt_rcv()</a:t>
            </a:r>
          </a:p>
        </p:txBody>
      </p:sp>
      <p:sp>
        <p:nvSpPr>
          <p:cNvPr id="343" name="SEQ 0"/>
          <p:cNvSpPr/>
          <p:nvPr/>
        </p:nvSpPr>
        <p:spPr>
          <a:xfrm rot="260164">
            <a:off x="5896039" y="1991409"/>
            <a:ext cx="1277280"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942193"/>
                </a:solidFill>
                <a:latin typeface="Courier"/>
                <a:ea typeface="Courier"/>
                <a:cs typeface="Courier"/>
                <a:sym typeface="Courier"/>
              </a:defRPr>
            </a:lvl1pPr>
          </a:lstStyle>
          <a:p>
            <a:r>
              <a:t>SEQ 0</a:t>
            </a:r>
          </a:p>
        </p:txBody>
      </p:sp>
      <p:sp>
        <p:nvSpPr>
          <p:cNvPr id="344" name="SEQ 0"/>
          <p:cNvSpPr/>
          <p:nvPr/>
        </p:nvSpPr>
        <p:spPr>
          <a:xfrm rot="260164">
            <a:off x="5896039" y="5839509"/>
            <a:ext cx="1277280"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942193"/>
                </a:solidFill>
                <a:latin typeface="Courier"/>
                <a:ea typeface="Courier"/>
                <a:cs typeface="Courier"/>
                <a:sym typeface="Courier"/>
              </a:defRPr>
            </a:lvl1pPr>
          </a:lstStyle>
          <a:p>
            <a:r>
              <a:t>SEQ 0</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33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8" presetClass="entr" presetSubtype="6" fill="hold" grpId="2" nodeType="clickEffect">
                                  <p:stCondLst>
                                    <p:cond delay="0"/>
                                  </p:stCondLst>
                                  <p:iterate>
                                    <p:tmAbs val="0"/>
                                  </p:iterate>
                                  <p:childTnLst>
                                    <p:set>
                                      <p:cBhvr>
                                        <p:cTn id="10" fill="hold"/>
                                        <p:tgtEl>
                                          <p:spTgt spid="332"/>
                                        </p:tgtEl>
                                        <p:attrNameLst>
                                          <p:attrName>style.visibility</p:attrName>
                                        </p:attrNameLst>
                                      </p:cBhvr>
                                      <p:to>
                                        <p:strVal val="visible"/>
                                      </p:to>
                                    </p:set>
                                    <p:animEffect transition="in" filter="strips(downRight)">
                                      <p:cBhvr>
                                        <p:cTn id="11" dur="750"/>
                                        <p:tgtEl>
                                          <p:spTgt spid="332"/>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3" nodeType="clickEffect">
                                  <p:stCondLst>
                                    <p:cond delay="0"/>
                                  </p:stCondLst>
                                  <p:iterate>
                                    <p:tmAbs val="0"/>
                                  </p:iterate>
                                  <p:childTnLst>
                                    <p:set>
                                      <p:cBhvr>
                                        <p:cTn id="15" fill="hold"/>
                                        <p:tgtEl>
                                          <p:spTgt spid="328"/>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4" nodeType="clickEffect">
                                  <p:stCondLst>
                                    <p:cond delay="0"/>
                                  </p:stCondLst>
                                  <p:iterate>
                                    <p:tmAbs val="0"/>
                                  </p:iterate>
                                  <p:childTnLst>
                                    <p:set>
                                      <p:cBhvr>
                                        <p:cTn id="19" fill="hold"/>
                                        <p:tgtEl>
                                          <p:spTgt spid="343"/>
                                        </p:tgtEl>
                                        <p:attrNameLst>
                                          <p:attrName>style.visibility</p:attrName>
                                        </p:attrNameLst>
                                      </p:cBhvr>
                                      <p:to>
                                        <p:strVal val="visible"/>
                                      </p:to>
                                    </p:set>
                                  </p:childTnLst>
                                </p:cTn>
                              </p:par>
                            </p:childTnLst>
                          </p:cTn>
                        </p:par>
                        <p:par>
                          <p:cTn id="20" fill="hold">
                            <p:stCondLst>
                              <p:cond delay="0"/>
                            </p:stCondLst>
                            <p:childTnLst>
                              <p:par>
                                <p:cTn id="21" presetID="1" presetClass="entr" presetSubtype="0" fill="hold" grpId="5" nodeType="afterEffect">
                                  <p:stCondLst>
                                    <p:cond delay="0"/>
                                  </p:stCondLst>
                                  <p:iterate>
                                    <p:tmAbs val="0"/>
                                  </p:iterate>
                                  <p:childTnLst>
                                    <p:set>
                                      <p:cBhvr>
                                        <p:cTn id="22" fill="hold"/>
                                        <p:tgtEl>
                                          <p:spTgt spid="34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6" nodeType="clickEffect">
                                  <p:stCondLst>
                                    <p:cond delay="0"/>
                                  </p:stCondLst>
                                  <p:iterate>
                                    <p:tmAbs val="0"/>
                                  </p:iterate>
                                  <p:childTnLst>
                                    <p:set>
                                      <p:cBhvr>
                                        <p:cTn id="26" fill="hold"/>
                                        <p:tgtEl>
                                          <p:spTgt spid="33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2" presetClass="entr" presetSubtype="2" fill="hold" grpId="7" nodeType="clickEffect">
                                  <p:stCondLst>
                                    <p:cond delay="0"/>
                                  </p:stCondLst>
                                  <p:iterate>
                                    <p:tmAbs val="0"/>
                                  </p:iterate>
                                  <p:childTnLst>
                                    <p:set>
                                      <p:cBhvr>
                                        <p:cTn id="30" fill="hold"/>
                                        <p:tgtEl>
                                          <p:spTgt spid="334"/>
                                        </p:tgtEl>
                                        <p:attrNameLst>
                                          <p:attrName>style.visibility</p:attrName>
                                        </p:attrNameLst>
                                      </p:cBhvr>
                                      <p:to>
                                        <p:strVal val="visible"/>
                                      </p:to>
                                    </p:set>
                                    <p:animEffect transition="in" filter="wipe(right)">
                                      <p:cBhvr>
                                        <p:cTn id="31" dur="1000"/>
                                        <p:tgtEl>
                                          <p:spTgt spid="334"/>
                                        </p:tgtEl>
                                      </p:cBhvr>
                                    </p:animEffect>
                                  </p:childTnLst>
                                </p:cTn>
                              </p:par>
                            </p:childTnLst>
                          </p:cTn>
                        </p:par>
                        <p:par>
                          <p:cTn id="32" fill="hold">
                            <p:stCondLst>
                              <p:cond delay="1000"/>
                            </p:stCondLst>
                            <p:childTnLst>
                              <p:par>
                                <p:cTn id="33" presetID="1" presetClass="entr" presetSubtype="0" fill="hold" grpId="8" nodeType="afterEffect">
                                  <p:stCondLst>
                                    <p:cond delay="300"/>
                                  </p:stCondLst>
                                  <p:iterate>
                                    <p:tmAbs val="0"/>
                                  </p:iterate>
                                  <p:childTnLst>
                                    <p:set>
                                      <p:cBhvr>
                                        <p:cTn id="34" fill="hold"/>
                                        <p:tgtEl>
                                          <p:spTgt spid="34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9" nodeType="clickEffect">
                                  <p:stCondLst>
                                    <p:cond delay="0"/>
                                  </p:stCondLst>
                                  <p:iterate>
                                    <p:tmAbs val="0"/>
                                  </p:iterate>
                                  <p:childTnLst>
                                    <p:set>
                                      <p:cBhvr>
                                        <p:cTn id="38" fill="hold"/>
                                        <p:tgtEl>
                                          <p:spTgt spid="3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8" grpId="3" animBg="1" advAuto="0"/>
      <p:bldP spid="332" grpId="2" animBg="1" advAuto="0"/>
      <p:bldP spid="333" grpId="1" animBg="1" advAuto="0"/>
      <p:bldP spid="334" grpId="7" animBg="1" advAuto="0"/>
      <p:bldP spid="338" grpId="6" animBg="1" advAuto="0"/>
      <p:bldP spid="341" grpId="8" animBg="1" advAuto="0"/>
      <p:bldP spid="342" grpId="9" animBg="1" advAuto="0"/>
      <p:bldP spid="343" grpId="4" animBg="1" advAuto="0"/>
      <p:bldP spid="344" grpId="5" animBg="1" advAuto="0"/>
    </p:bldLst>
  </p:timing>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48" name="Rectangle"/>
          <p:cNvSpPr/>
          <p:nvPr/>
        </p:nvSpPr>
        <p:spPr>
          <a:xfrm>
            <a:off x="8220667" y="-187354"/>
            <a:ext cx="3754842" cy="10128308"/>
          </a:xfrm>
          <a:prstGeom prst="rect">
            <a:avLst/>
          </a:prstGeom>
          <a:solidFill>
            <a:srgbClr val="FFD479"/>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349" name="Rectangle"/>
          <p:cNvSpPr/>
          <p:nvPr/>
        </p:nvSpPr>
        <p:spPr>
          <a:xfrm>
            <a:off x="886730" y="-187354"/>
            <a:ext cx="3844784" cy="10128308"/>
          </a:xfrm>
          <a:prstGeom prst="rect">
            <a:avLst/>
          </a:prstGeom>
          <a:solidFill>
            <a:srgbClr val="FFD479"/>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350" name="Rounded Rectangle"/>
          <p:cNvSpPr/>
          <p:nvPr/>
        </p:nvSpPr>
        <p:spPr>
          <a:xfrm>
            <a:off x="7556500" y="1308100"/>
            <a:ext cx="5183039" cy="8174385"/>
          </a:xfrm>
          <a:prstGeom prst="roundRect">
            <a:avLst>
              <a:gd name="adj" fmla="val 3675"/>
            </a:avLst>
          </a:prstGeom>
          <a:ln w="25400">
            <a:solidFill>
              <a:srgbClr val="0096FF"/>
            </a:solidFill>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351" name="Alice’s computer"/>
          <p:cNvSpPr/>
          <p:nvPr/>
        </p:nvSpPr>
        <p:spPr>
          <a:xfrm>
            <a:off x="644293" y="435168"/>
            <a:ext cx="4419601" cy="81876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lvl1pPr>
              <a:defRPr sz="4000">
                <a:solidFill>
                  <a:srgbClr val="0096FF"/>
                </a:solidFill>
                <a:latin typeface="+mn-lt"/>
                <a:ea typeface="+mn-ea"/>
                <a:cs typeface="+mn-cs"/>
                <a:sym typeface="Chalkboard SE Regular"/>
              </a:defRPr>
            </a:lvl1pPr>
          </a:lstStyle>
          <a:p>
            <a:r>
              <a:t>Alice’s computer</a:t>
            </a:r>
          </a:p>
        </p:txBody>
      </p:sp>
      <p:sp>
        <p:nvSpPr>
          <p:cNvPr id="352" name="Bob’s computer"/>
          <p:cNvSpPr/>
          <p:nvPr/>
        </p:nvSpPr>
        <p:spPr>
          <a:xfrm>
            <a:off x="8001000" y="435168"/>
            <a:ext cx="4419600" cy="81876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lvl1pPr>
              <a:defRPr sz="4000">
                <a:solidFill>
                  <a:srgbClr val="0096FF"/>
                </a:solidFill>
                <a:latin typeface="+mn-lt"/>
                <a:ea typeface="+mn-ea"/>
                <a:cs typeface="+mn-cs"/>
                <a:sym typeface="Chalkboard SE Regular"/>
              </a:defRPr>
            </a:lvl1pPr>
          </a:lstStyle>
          <a:p>
            <a:r>
              <a:t>Bob’s computer</a:t>
            </a:r>
          </a:p>
        </p:txBody>
      </p:sp>
      <p:sp>
        <p:nvSpPr>
          <p:cNvPr id="353"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30</a:t>
            </a:fld>
            <a:endParaRPr/>
          </a:p>
        </p:txBody>
      </p:sp>
      <p:sp>
        <p:nvSpPr>
          <p:cNvPr id="354" name="rdt_send()"/>
          <p:cNvSpPr/>
          <p:nvPr/>
        </p:nvSpPr>
        <p:spPr>
          <a:xfrm>
            <a:off x="393294" y="1291985"/>
            <a:ext cx="2384771"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rdt_send()</a:t>
            </a:r>
          </a:p>
        </p:txBody>
      </p:sp>
      <p:sp>
        <p:nvSpPr>
          <p:cNvPr id="355" name="udt_send()"/>
          <p:cNvSpPr/>
          <p:nvPr/>
        </p:nvSpPr>
        <p:spPr>
          <a:xfrm>
            <a:off x="3212543" y="1727243"/>
            <a:ext cx="2527620"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udt_send()</a:t>
            </a:r>
          </a:p>
        </p:txBody>
      </p:sp>
      <p:sp>
        <p:nvSpPr>
          <p:cNvPr id="356" name="rdt_rcv()"/>
          <p:cNvSpPr/>
          <p:nvPr/>
        </p:nvSpPr>
        <p:spPr>
          <a:xfrm>
            <a:off x="7734300" y="6477000"/>
            <a:ext cx="2032000" cy="6858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rdt_rcv()</a:t>
            </a:r>
          </a:p>
        </p:txBody>
      </p:sp>
      <p:sp>
        <p:nvSpPr>
          <p:cNvPr id="357" name="deliver_data()"/>
          <p:cNvSpPr/>
          <p:nvPr/>
        </p:nvSpPr>
        <p:spPr>
          <a:xfrm>
            <a:off x="9639718" y="3183398"/>
            <a:ext cx="3293616"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deliver_data()</a:t>
            </a:r>
          </a:p>
        </p:txBody>
      </p:sp>
      <p:sp>
        <p:nvSpPr>
          <p:cNvPr id="358" name="Line"/>
          <p:cNvSpPr/>
          <p:nvPr/>
        </p:nvSpPr>
        <p:spPr>
          <a:xfrm flipV="1">
            <a:off x="5010563" y="4454169"/>
            <a:ext cx="2894725" cy="253256"/>
          </a:xfrm>
          <a:prstGeom prst="line">
            <a:avLst/>
          </a:prstGeom>
          <a:ln w="25400">
            <a:solidFill>
              <a:srgbClr val="0433FF"/>
            </a:solidFill>
            <a:miter lim="400000"/>
            <a:headEnd type="stealth"/>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359" name="ACK 0"/>
          <p:cNvSpPr/>
          <p:nvPr/>
        </p:nvSpPr>
        <p:spPr>
          <a:xfrm rot="21300000">
            <a:off x="5918199" y="4025900"/>
            <a:ext cx="1460501"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ACK 0</a:t>
            </a:r>
          </a:p>
        </p:txBody>
      </p:sp>
      <p:sp>
        <p:nvSpPr>
          <p:cNvPr id="360" name="Line"/>
          <p:cNvSpPr/>
          <p:nvPr/>
        </p:nvSpPr>
        <p:spPr>
          <a:xfrm flipH="1" flipV="1">
            <a:off x="5008794" y="6282947"/>
            <a:ext cx="3053761" cy="267171"/>
          </a:xfrm>
          <a:prstGeom prst="line">
            <a:avLst/>
          </a:prstGeom>
          <a:ln w="25400">
            <a:solidFill>
              <a:srgbClr val="0433FF"/>
            </a:solidFill>
            <a:miter lim="400000"/>
            <a:headEnd type="stealth"/>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361" name="udt_send()"/>
          <p:cNvSpPr/>
          <p:nvPr/>
        </p:nvSpPr>
        <p:spPr>
          <a:xfrm>
            <a:off x="3212543" y="5616649"/>
            <a:ext cx="2601199"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udt_send()</a:t>
            </a:r>
          </a:p>
        </p:txBody>
      </p:sp>
      <p:sp>
        <p:nvSpPr>
          <p:cNvPr id="362" name="Line"/>
          <p:cNvSpPr/>
          <p:nvPr/>
        </p:nvSpPr>
        <p:spPr>
          <a:xfrm flipV="1">
            <a:off x="4994068" y="8529121"/>
            <a:ext cx="3013309" cy="263631"/>
          </a:xfrm>
          <a:prstGeom prst="line">
            <a:avLst/>
          </a:prstGeom>
          <a:ln w="25400">
            <a:solidFill>
              <a:srgbClr val="0433FF"/>
            </a:solidFill>
            <a:miter lim="400000"/>
            <a:headEnd type="stealth"/>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363" name="udt_send()"/>
          <p:cNvSpPr/>
          <p:nvPr/>
        </p:nvSpPr>
        <p:spPr>
          <a:xfrm>
            <a:off x="7734300" y="3828675"/>
            <a:ext cx="2552700"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udt_send()</a:t>
            </a:r>
          </a:p>
        </p:txBody>
      </p:sp>
      <p:sp>
        <p:nvSpPr>
          <p:cNvPr id="364" name="rdt_rcv()"/>
          <p:cNvSpPr/>
          <p:nvPr/>
        </p:nvSpPr>
        <p:spPr>
          <a:xfrm>
            <a:off x="7734300" y="2616200"/>
            <a:ext cx="2032000"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rdt_rcv()</a:t>
            </a:r>
          </a:p>
        </p:txBody>
      </p:sp>
      <p:sp>
        <p:nvSpPr>
          <p:cNvPr id="365" name="rdt_rcv()"/>
          <p:cNvSpPr/>
          <p:nvPr/>
        </p:nvSpPr>
        <p:spPr>
          <a:xfrm>
            <a:off x="3212543" y="4758021"/>
            <a:ext cx="2222995"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rdt_rcv()</a:t>
            </a:r>
          </a:p>
        </p:txBody>
      </p:sp>
      <p:sp>
        <p:nvSpPr>
          <p:cNvPr id="366" name="udt_send()"/>
          <p:cNvSpPr/>
          <p:nvPr/>
        </p:nvSpPr>
        <p:spPr>
          <a:xfrm>
            <a:off x="7734300" y="7919714"/>
            <a:ext cx="2552700"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udt_send()</a:t>
            </a:r>
          </a:p>
        </p:txBody>
      </p:sp>
      <p:sp>
        <p:nvSpPr>
          <p:cNvPr id="367" name="Line"/>
          <p:cNvSpPr/>
          <p:nvPr/>
        </p:nvSpPr>
        <p:spPr>
          <a:xfrm flipH="1" flipV="1">
            <a:off x="5003341" y="2388516"/>
            <a:ext cx="3064666" cy="268124"/>
          </a:xfrm>
          <a:prstGeom prst="line">
            <a:avLst/>
          </a:prstGeom>
          <a:ln w="25400">
            <a:solidFill>
              <a:srgbClr val="0433FF"/>
            </a:solidFill>
            <a:miter lim="400000"/>
            <a:headEnd type="stealth"/>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368" name="Rounded Rectangle"/>
          <p:cNvSpPr/>
          <p:nvPr/>
        </p:nvSpPr>
        <p:spPr>
          <a:xfrm>
            <a:off x="277589" y="1308100"/>
            <a:ext cx="5183040" cy="8174385"/>
          </a:xfrm>
          <a:prstGeom prst="roundRect">
            <a:avLst>
              <a:gd name="adj" fmla="val 3675"/>
            </a:avLst>
          </a:prstGeom>
          <a:ln w="25400">
            <a:solidFill>
              <a:srgbClr val="0096FF"/>
            </a:solidFill>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369" name="ACK 1"/>
          <p:cNvSpPr/>
          <p:nvPr/>
        </p:nvSpPr>
        <p:spPr>
          <a:xfrm rot="21300000">
            <a:off x="5925905" y="8112873"/>
            <a:ext cx="1193031"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ACK 1</a:t>
            </a:r>
          </a:p>
        </p:txBody>
      </p:sp>
      <p:sp>
        <p:nvSpPr>
          <p:cNvPr id="370" name="rdt_rcv()"/>
          <p:cNvSpPr/>
          <p:nvPr/>
        </p:nvSpPr>
        <p:spPr>
          <a:xfrm>
            <a:off x="3212543" y="8845550"/>
            <a:ext cx="2222995" cy="6858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rdt_rcv()</a:t>
            </a:r>
          </a:p>
        </p:txBody>
      </p:sp>
      <p:sp>
        <p:nvSpPr>
          <p:cNvPr id="371" name="SEQ 0"/>
          <p:cNvSpPr/>
          <p:nvPr/>
        </p:nvSpPr>
        <p:spPr>
          <a:xfrm rot="260164">
            <a:off x="5896039" y="1991409"/>
            <a:ext cx="1277280"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942193"/>
                </a:solidFill>
                <a:latin typeface="Courier"/>
                <a:ea typeface="Courier"/>
                <a:cs typeface="Courier"/>
                <a:sym typeface="Courier"/>
              </a:defRPr>
            </a:lvl1pPr>
          </a:lstStyle>
          <a:p>
            <a:r>
              <a:t>SEQ 0</a:t>
            </a:r>
          </a:p>
        </p:txBody>
      </p:sp>
      <p:sp>
        <p:nvSpPr>
          <p:cNvPr id="372" name="SEQ 1"/>
          <p:cNvSpPr/>
          <p:nvPr/>
        </p:nvSpPr>
        <p:spPr>
          <a:xfrm rot="260164">
            <a:off x="5896039" y="5864909"/>
            <a:ext cx="1277280"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942193"/>
                </a:solidFill>
                <a:latin typeface="Courier"/>
                <a:ea typeface="Courier"/>
                <a:cs typeface="Courier"/>
                <a:sym typeface="Courier"/>
              </a:defRPr>
            </a:lvl1pPr>
          </a:lstStyle>
          <a:p>
            <a:r>
              <a:t>SEQ 1</a:t>
            </a:r>
          </a:p>
        </p:txBody>
      </p:sp>
      <p:sp>
        <p:nvSpPr>
          <p:cNvPr id="373" name="deliver_data()"/>
          <p:cNvSpPr/>
          <p:nvPr/>
        </p:nvSpPr>
        <p:spPr>
          <a:xfrm>
            <a:off x="9639718" y="7198357"/>
            <a:ext cx="3293616"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deliver_data()</a:t>
            </a:r>
          </a:p>
        </p:txBody>
      </p:sp>
    </p:spTree>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77" name="Sequence number"/>
          <p:cNvSpPr txBox="1">
            <a:spLocks noGrp="1"/>
          </p:cNvSpPr>
          <p:nvPr>
            <p:ph type="title"/>
          </p:nvPr>
        </p:nvSpPr>
        <p:spPr>
          <a:prstGeom prst="rect">
            <a:avLst/>
          </a:prstGeom>
        </p:spPr>
        <p:txBody>
          <a:bodyPr/>
          <a:lstStyle/>
          <a:p>
            <a:r>
              <a:t>Sequence number</a:t>
            </a:r>
          </a:p>
        </p:txBody>
      </p:sp>
      <p:sp>
        <p:nvSpPr>
          <p:cNvPr id="378" name="An identifier for data…"/>
          <p:cNvSpPr txBox="1">
            <a:spLocks noGrp="1"/>
          </p:cNvSpPr>
          <p:nvPr>
            <p:ph type="body" idx="1"/>
          </p:nvPr>
        </p:nvSpPr>
        <p:spPr>
          <a:xfrm>
            <a:off x="1079500" y="2362199"/>
            <a:ext cx="11391360" cy="6519153"/>
          </a:xfrm>
          <a:prstGeom prst="rect">
            <a:avLst/>
          </a:prstGeom>
        </p:spPr>
        <p:txBody>
          <a:bodyPr anchor="t"/>
          <a:lstStyle/>
          <a:p>
            <a:pPr>
              <a:spcBef>
                <a:spcPts val="3000"/>
              </a:spcBef>
            </a:pPr>
            <a:r>
              <a:rPr dirty="0"/>
              <a:t>An </a:t>
            </a:r>
            <a:r>
              <a:rPr dirty="0">
                <a:solidFill>
                  <a:srgbClr val="942193"/>
                </a:solidFill>
              </a:rPr>
              <a:t>identifier for data</a:t>
            </a:r>
            <a:r>
              <a:rPr dirty="0"/>
              <a:t> </a:t>
            </a:r>
          </a:p>
          <a:p>
            <a:pPr>
              <a:spcBef>
                <a:spcPts val="1000"/>
              </a:spcBef>
            </a:pPr>
            <a:r>
              <a:rPr dirty="0"/>
              <a:t>Sender adds SEQ to each segment</a:t>
            </a:r>
          </a:p>
          <a:p>
            <a:pPr lvl="1">
              <a:spcBef>
                <a:spcPts val="3000"/>
              </a:spcBef>
            </a:pPr>
            <a:r>
              <a:rPr dirty="0"/>
              <a:t>transport-layer header field</a:t>
            </a:r>
            <a:endParaRPr sz="4200" dirty="0"/>
          </a:p>
          <a:p>
            <a:pPr marL="807357" indent="-489857">
              <a:spcBef>
                <a:spcPts val="6000"/>
              </a:spcBef>
            </a:pPr>
            <a:r>
              <a:rPr dirty="0"/>
              <a:t>Receiver uses it to </a:t>
            </a:r>
            <a:r>
              <a:rPr dirty="0">
                <a:solidFill>
                  <a:srgbClr val="942193"/>
                </a:solidFill>
              </a:rPr>
              <a:t>disambiguate data</a:t>
            </a:r>
            <a:endParaRPr lang="fr-CH" dirty="0">
              <a:solidFill>
                <a:srgbClr val="942193"/>
              </a:solidFill>
            </a:endParaRPr>
          </a:p>
          <a:p>
            <a:pPr marL="807357" indent="-489857">
              <a:spcBef>
                <a:spcPts val="6000"/>
              </a:spcBef>
            </a:pPr>
            <a:r>
              <a:rPr lang="en-US" dirty="0"/>
              <a:t>Sequence numbers make it possible to have </a:t>
            </a:r>
            <a:r>
              <a:rPr lang="en-US" b="1" dirty="0"/>
              <a:t>*implicit* negative ACKs</a:t>
            </a:r>
          </a:p>
          <a:p>
            <a:pPr marL="807357" indent="-489857">
              <a:spcBef>
                <a:spcPts val="6000"/>
              </a:spcBef>
            </a:pPr>
            <a:endParaRPr dirty="0">
              <a:solidFill>
                <a:srgbClr val="942193"/>
              </a:solidFill>
            </a:endParaRPr>
          </a:p>
        </p:txBody>
      </p:sp>
      <p:sp>
        <p:nvSpPr>
          <p:cNvPr id="379"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31</a:t>
            </a:fld>
            <a:endParaRP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378">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378">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378">
                                            <p:txEl>
                                              <p:pRg st="1" end="1"/>
                                            </p:txEl>
                                          </p:spTgt>
                                        </p:tgtEl>
                                        <p:attrNameLst>
                                          <p:attrName>style.visibility</p:attrName>
                                        </p:attrNameLst>
                                      </p:cBhvr>
                                      <p:to>
                                        <p:strVal val="visible"/>
                                      </p:to>
                                    </p:set>
                                  </p:childTnLst>
                                </p:cTn>
                              </p:par>
                              <p:par>
                                <p:cTn id="13" presetID="1" presetClass="entr" presetSubtype="0" fill="hold" grpId="1" nodeType="withEffect">
                                  <p:stCondLst>
                                    <p:cond delay="0"/>
                                  </p:stCondLst>
                                  <p:iterate>
                                    <p:tmAbs val="0"/>
                                  </p:iterate>
                                  <p:childTnLst>
                                    <p:set>
                                      <p:cBhvr>
                                        <p:cTn id="14" fill="hold"/>
                                        <p:tgtEl>
                                          <p:spTgt spid="37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1" nodeType="clickEffect">
                                  <p:stCondLst>
                                    <p:cond delay="0"/>
                                  </p:stCondLst>
                                  <p:iterate>
                                    <p:tmAbs val="0"/>
                                  </p:iterate>
                                  <p:childTnLst>
                                    <p:set>
                                      <p:cBhvr>
                                        <p:cTn id="18" fill="hold"/>
                                        <p:tgtEl>
                                          <p:spTgt spid="378">
                                            <p:txEl>
                                              <p:pRg st="3" end="3"/>
                                            </p:txEl>
                                          </p:spTgt>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grpId="1" nodeType="afterEffect">
                                  <p:stCondLst>
                                    <p:cond delay="0"/>
                                  </p:stCondLst>
                                  <p:iterate>
                                    <p:tmAbs val="0"/>
                                  </p:iterate>
                                  <p:childTnLst>
                                    <p:set>
                                      <p:cBhvr>
                                        <p:cTn id="21" fill="hold"/>
                                        <p:tgtEl>
                                          <p:spTgt spid="37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 grpId="1" build="p" animBg="1" advAuto="0"/>
    </p:bldLst>
  </p:timing>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3" name="Rectangle"/>
          <p:cNvSpPr/>
          <p:nvPr/>
        </p:nvSpPr>
        <p:spPr>
          <a:xfrm>
            <a:off x="8220667" y="-187354"/>
            <a:ext cx="3754842" cy="10128308"/>
          </a:xfrm>
          <a:prstGeom prst="rect">
            <a:avLst/>
          </a:prstGeom>
          <a:solidFill>
            <a:srgbClr val="FFD479"/>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384" name="Rectangle"/>
          <p:cNvSpPr/>
          <p:nvPr/>
        </p:nvSpPr>
        <p:spPr>
          <a:xfrm>
            <a:off x="976672" y="-187354"/>
            <a:ext cx="3754842" cy="10128308"/>
          </a:xfrm>
          <a:prstGeom prst="rect">
            <a:avLst/>
          </a:prstGeom>
          <a:solidFill>
            <a:srgbClr val="FFD479"/>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385" name="Rounded Rectangle"/>
          <p:cNvSpPr/>
          <p:nvPr/>
        </p:nvSpPr>
        <p:spPr>
          <a:xfrm>
            <a:off x="7556500" y="1308100"/>
            <a:ext cx="5183039" cy="8174385"/>
          </a:xfrm>
          <a:prstGeom prst="roundRect">
            <a:avLst>
              <a:gd name="adj" fmla="val 3675"/>
            </a:avLst>
          </a:prstGeom>
          <a:ln w="25400">
            <a:solidFill>
              <a:srgbClr val="0096FF"/>
            </a:solidFill>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386" name="Alice’s computer"/>
          <p:cNvSpPr/>
          <p:nvPr/>
        </p:nvSpPr>
        <p:spPr>
          <a:xfrm>
            <a:off x="644293" y="435168"/>
            <a:ext cx="4419601" cy="81876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lvl1pPr>
              <a:defRPr sz="4000">
                <a:solidFill>
                  <a:srgbClr val="0096FF"/>
                </a:solidFill>
                <a:latin typeface="+mn-lt"/>
                <a:ea typeface="+mn-ea"/>
                <a:cs typeface="+mn-cs"/>
                <a:sym typeface="Chalkboard SE Regular"/>
              </a:defRPr>
            </a:lvl1pPr>
          </a:lstStyle>
          <a:p>
            <a:r>
              <a:t>Alice’s computer</a:t>
            </a:r>
          </a:p>
        </p:txBody>
      </p:sp>
      <p:sp>
        <p:nvSpPr>
          <p:cNvPr id="387" name="Bob’s computer"/>
          <p:cNvSpPr/>
          <p:nvPr/>
        </p:nvSpPr>
        <p:spPr>
          <a:xfrm>
            <a:off x="8001000" y="435168"/>
            <a:ext cx="4419600" cy="81876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lvl1pPr>
              <a:defRPr sz="4000">
                <a:solidFill>
                  <a:srgbClr val="0096FF"/>
                </a:solidFill>
                <a:latin typeface="+mn-lt"/>
                <a:ea typeface="+mn-ea"/>
                <a:cs typeface="+mn-cs"/>
                <a:sym typeface="Chalkboard SE Regular"/>
              </a:defRPr>
            </a:lvl1pPr>
          </a:lstStyle>
          <a:p>
            <a:r>
              <a:t>Bob’s computer</a:t>
            </a:r>
          </a:p>
        </p:txBody>
      </p:sp>
      <p:sp>
        <p:nvSpPr>
          <p:cNvPr id="388"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32</a:t>
            </a:fld>
            <a:endParaRPr/>
          </a:p>
        </p:txBody>
      </p:sp>
      <p:sp>
        <p:nvSpPr>
          <p:cNvPr id="389" name="rdt_send()"/>
          <p:cNvSpPr/>
          <p:nvPr/>
        </p:nvSpPr>
        <p:spPr>
          <a:xfrm>
            <a:off x="393294" y="1291985"/>
            <a:ext cx="2384771"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rdt_send()</a:t>
            </a:r>
          </a:p>
        </p:txBody>
      </p:sp>
      <p:sp>
        <p:nvSpPr>
          <p:cNvPr id="390" name="udt_send()"/>
          <p:cNvSpPr/>
          <p:nvPr/>
        </p:nvSpPr>
        <p:spPr>
          <a:xfrm>
            <a:off x="3212543" y="1727243"/>
            <a:ext cx="2527620"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udt_send()</a:t>
            </a:r>
          </a:p>
        </p:txBody>
      </p:sp>
      <p:sp>
        <p:nvSpPr>
          <p:cNvPr id="391" name="rdt_rcv()"/>
          <p:cNvSpPr/>
          <p:nvPr/>
        </p:nvSpPr>
        <p:spPr>
          <a:xfrm>
            <a:off x="7734300" y="6477000"/>
            <a:ext cx="2032000" cy="6858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rdt_rcv()</a:t>
            </a:r>
          </a:p>
        </p:txBody>
      </p:sp>
      <p:sp>
        <p:nvSpPr>
          <p:cNvPr id="392" name="deliver_data()"/>
          <p:cNvSpPr/>
          <p:nvPr/>
        </p:nvSpPr>
        <p:spPr>
          <a:xfrm>
            <a:off x="9639718" y="3247252"/>
            <a:ext cx="3293616"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deliver_data()</a:t>
            </a:r>
          </a:p>
        </p:txBody>
      </p:sp>
      <p:sp>
        <p:nvSpPr>
          <p:cNvPr id="393" name="Line"/>
          <p:cNvSpPr/>
          <p:nvPr/>
        </p:nvSpPr>
        <p:spPr>
          <a:xfrm flipV="1">
            <a:off x="5010563" y="4454169"/>
            <a:ext cx="2894725" cy="253256"/>
          </a:xfrm>
          <a:prstGeom prst="line">
            <a:avLst/>
          </a:prstGeom>
          <a:ln w="25400">
            <a:solidFill>
              <a:srgbClr val="0433FF"/>
            </a:solidFill>
            <a:miter lim="400000"/>
            <a:headEnd type="stealth"/>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394" name="ACK 0"/>
          <p:cNvSpPr/>
          <p:nvPr/>
        </p:nvSpPr>
        <p:spPr>
          <a:xfrm rot="21300000">
            <a:off x="5918199" y="4025900"/>
            <a:ext cx="1460501"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ACK 0</a:t>
            </a:r>
          </a:p>
        </p:txBody>
      </p:sp>
      <p:sp>
        <p:nvSpPr>
          <p:cNvPr id="395" name="Line"/>
          <p:cNvSpPr/>
          <p:nvPr/>
        </p:nvSpPr>
        <p:spPr>
          <a:xfrm flipH="1" flipV="1">
            <a:off x="5008794" y="6282947"/>
            <a:ext cx="3053761" cy="267171"/>
          </a:xfrm>
          <a:prstGeom prst="line">
            <a:avLst/>
          </a:prstGeom>
          <a:ln w="25400">
            <a:solidFill>
              <a:srgbClr val="0433FF"/>
            </a:solidFill>
            <a:miter lim="400000"/>
            <a:headEnd type="stealth"/>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396" name="udt_send()"/>
          <p:cNvSpPr/>
          <p:nvPr/>
        </p:nvSpPr>
        <p:spPr>
          <a:xfrm>
            <a:off x="3212543" y="5616649"/>
            <a:ext cx="2601199"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udt_send()</a:t>
            </a:r>
          </a:p>
        </p:txBody>
      </p:sp>
      <p:sp>
        <p:nvSpPr>
          <p:cNvPr id="397" name="Line"/>
          <p:cNvSpPr/>
          <p:nvPr/>
        </p:nvSpPr>
        <p:spPr>
          <a:xfrm flipV="1">
            <a:off x="4994068" y="8529121"/>
            <a:ext cx="3013309" cy="263631"/>
          </a:xfrm>
          <a:prstGeom prst="line">
            <a:avLst/>
          </a:prstGeom>
          <a:ln w="25400">
            <a:solidFill>
              <a:srgbClr val="0433FF"/>
            </a:solidFill>
            <a:miter lim="400000"/>
            <a:headEnd type="stealth"/>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398" name="udt_send()"/>
          <p:cNvSpPr/>
          <p:nvPr/>
        </p:nvSpPr>
        <p:spPr>
          <a:xfrm>
            <a:off x="7734300" y="3828675"/>
            <a:ext cx="2552700"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udt_send()</a:t>
            </a:r>
          </a:p>
        </p:txBody>
      </p:sp>
      <p:sp>
        <p:nvSpPr>
          <p:cNvPr id="399" name="rdt_rcv()"/>
          <p:cNvSpPr/>
          <p:nvPr/>
        </p:nvSpPr>
        <p:spPr>
          <a:xfrm>
            <a:off x="7734300" y="2616200"/>
            <a:ext cx="2032000"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rdt_rcv()</a:t>
            </a:r>
          </a:p>
        </p:txBody>
      </p:sp>
      <p:sp>
        <p:nvSpPr>
          <p:cNvPr id="400" name="rdt_rcv()"/>
          <p:cNvSpPr/>
          <p:nvPr/>
        </p:nvSpPr>
        <p:spPr>
          <a:xfrm>
            <a:off x="3212543" y="4758021"/>
            <a:ext cx="2222995"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rdt_rcv()</a:t>
            </a:r>
          </a:p>
        </p:txBody>
      </p:sp>
      <p:sp>
        <p:nvSpPr>
          <p:cNvPr id="401" name="udt_send()"/>
          <p:cNvSpPr/>
          <p:nvPr/>
        </p:nvSpPr>
        <p:spPr>
          <a:xfrm>
            <a:off x="7734300" y="7919714"/>
            <a:ext cx="2552700"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udt_send()</a:t>
            </a:r>
          </a:p>
        </p:txBody>
      </p:sp>
      <p:sp>
        <p:nvSpPr>
          <p:cNvPr id="402" name="Line"/>
          <p:cNvSpPr/>
          <p:nvPr/>
        </p:nvSpPr>
        <p:spPr>
          <a:xfrm flipH="1" flipV="1">
            <a:off x="5003341" y="2388516"/>
            <a:ext cx="3064666" cy="268124"/>
          </a:xfrm>
          <a:prstGeom prst="line">
            <a:avLst/>
          </a:prstGeom>
          <a:ln w="25400">
            <a:solidFill>
              <a:srgbClr val="0433FF"/>
            </a:solidFill>
            <a:miter lim="400000"/>
            <a:headEnd type="stealth"/>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403" name="Rounded Rectangle"/>
          <p:cNvSpPr/>
          <p:nvPr/>
        </p:nvSpPr>
        <p:spPr>
          <a:xfrm>
            <a:off x="277589" y="1308100"/>
            <a:ext cx="5183040" cy="8174385"/>
          </a:xfrm>
          <a:prstGeom prst="roundRect">
            <a:avLst>
              <a:gd name="adj" fmla="val 3675"/>
            </a:avLst>
          </a:prstGeom>
          <a:ln w="25400">
            <a:solidFill>
              <a:srgbClr val="0096FF"/>
            </a:solidFill>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404" name="NACK 1"/>
          <p:cNvSpPr/>
          <p:nvPr/>
        </p:nvSpPr>
        <p:spPr>
          <a:xfrm rot="21300000">
            <a:off x="5925454" y="8102536"/>
            <a:ext cx="1430222"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942193"/>
                </a:solidFill>
                <a:latin typeface="Courier"/>
                <a:ea typeface="Courier"/>
                <a:cs typeface="Courier"/>
                <a:sym typeface="Courier"/>
              </a:defRPr>
            </a:lvl1pPr>
          </a:lstStyle>
          <a:p>
            <a:r>
              <a:t>NACK 1</a:t>
            </a:r>
          </a:p>
        </p:txBody>
      </p:sp>
      <p:sp>
        <p:nvSpPr>
          <p:cNvPr id="405" name="rdt_rcv()"/>
          <p:cNvSpPr/>
          <p:nvPr/>
        </p:nvSpPr>
        <p:spPr>
          <a:xfrm>
            <a:off x="3212543" y="8845550"/>
            <a:ext cx="2222995" cy="6858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rdt_rcv()</a:t>
            </a:r>
          </a:p>
        </p:txBody>
      </p:sp>
      <p:sp>
        <p:nvSpPr>
          <p:cNvPr id="406" name="SEQ 0"/>
          <p:cNvSpPr/>
          <p:nvPr/>
        </p:nvSpPr>
        <p:spPr>
          <a:xfrm rot="260164">
            <a:off x="5896039" y="1991409"/>
            <a:ext cx="1277280"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SEQ 0</a:t>
            </a:r>
          </a:p>
        </p:txBody>
      </p:sp>
      <p:sp>
        <p:nvSpPr>
          <p:cNvPr id="407" name="SEQ 1"/>
          <p:cNvSpPr/>
          <p:nvPr/>
        </p:nvSpPr>
        <p:spPr>
          <a:xfrm rot="260164">
            <a:off x="5896039" y="5864909"/>
            <a:ext cx="1277280"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SEQ 1</a:t>
            </a:r>
          </a:p>
        </p:txBody>
      </p:sp>
    </p:spTree>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11" name="Rectangle"/>
          <p:cNvSpPr/>
          <p:nvPr/>
        </p:nvSpPr>
        <p:spPr>
          <a:xfrm>
            <a:off x="8220667" y="-187354"/>
            <a:ext cx="3754842" cy="10128308"/>
          </a:xfrm>
          <a:prstGeom prst="rect">
            <a:avLst/>
          </a:prstGeom>
          <a:solidFill>
            <a:srgbClr val="FFD479"/>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412" name="Rectangle"/>
          <p:cNvSpPr/>
          <p:nvPr/>
        </p:nvSpPr>
        <p:spPr>
          <a:xfrm>
            <a:off x="976672" y="-187354"/>
            <a:ext cx="3754842" cy="10128308"/>
          </a:xfrm>
          <a:prstGeom prst="rect">
            <a:avLst/>
          </a:prstGeom>
          <a:solidFill>
            <a:srgbClr val="FFD479"/>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413" name="Rounded Rectangle"/>
          <p:cNvSpPr/>
          <p:nvPr/>
        </p:nvSpPr>
        <p:spPr>
          <a:xfrm>
            <a:off x="7556500" y="1308100"/>
            <a:ext cx="5183039" cy="8174385"/>
          </a:xfrm>
          <a:prstGeom prst="roundRect">
            <a:avLst>
              <a:gd name="adj" fmla="val 3675"/>
            </a:avLst>
          </a:prstGeom>
          <a:ln w="25400">
            <a:solidFill>
              <a:srgbClr val="0096FF"/>
            </a:solidFill>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414" name="Alice’s computer"/>
          <p:cNvSpPr/>
          <p:nvPr/>
        </p:nvSpPr>
        <p:spPr>
          <a:xfrm>
            <a:off x="644293" y="435168"/>
            <a:ext cx="4419601" cy="81876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lvl1pPr>
              <a:defRPr sz="4000">
                <a:solidFill>
                  <a:srgbClr val="0096FF"/>
                </a:solidFill>
                <a:latin typeface="+mn-lt"/>
                <a:ea typeface="+mn-ea"/>
                <a:cs typeface="+mn-cs"/>
                <a:sym typeface="Chalkboard SE Regular"/>
              </a:defRPr>
            </a:lvl1pPr>
          </a:lstStyle>
          <a:p>
            <a:r>
              <a:t>Alice’s computer</a:t>
            </a:r>
          </a:p>
        </p:txBody>
      </p:sp>
      <p:sp>
        <p:nvSpPr>
          <p:cNvPr id="415" name="Bob’s computer"/>
          <p:cNvSpPr/>
          <p:nvPr/>
        </p:nvSpPr>
        <p:spPr>
          <a:xfrm>
            <a:off x="8001000" y="435168"/>
            <a:ext cx="4419600" cy="81876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lvl1pPr>
              <a:defRPr sz="4000">
                <a:solidFill>
                  <a:srgbClr val="0096FF"/>
                </a:solidFill>
                <a:latin typeface="+mn-lt"/>
                <a:ea typeface="+mn-ea"/>
                <a:cs typeface="+mn-cs"/>
                <a:sym typeface="Chalkboard SE Regular"/>
              </a:defRPr>
            </a:lvl1pPr>
          </a:lstStyle>
          <a:p>
            <a:r>
              <a:t>Bob’s computer</a:t>
            </a:r>
          </a:p>
        </p:txBody>
      </p:sp>
      <p:sp>
        <p:nvSpPr>
          <p:cNvPr id="416"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33</a:t>
            </a:fld>
            <a:endParaRPr/>
          </a:p>
        </p:txBody>
      </p:sp>
      <p:sp>
        <p:nvSpPr>
          <p:cNvPr id="417" name="rdt_send()"/>
          <p:cNvSpPr/>
          <p:nvPr/>
        </p:nvSpPr>
        <p:spPr>
          <a:xfrm>
            <a:off x="393294" y="1291985"/>
            <a:ext cx="2384771"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rdt_send()</a:t>
            </a:r>
          </a:p>
        </p:txBody>
      </p:sp>
      <p:sp>
        <p:nvSpPr>
          <p:cNvPr id="418" name="udt_send()"/>
          <p:cNvSpPr/>
          <p:nvPr/>
        </p:nvSpPr>
        <p:spPr>
          <a:xfrm>
            <a:off x="3212543" y="1727243"/>
            <a:ext cx="2527620"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udt_send()</a:t>
            </a:r>
          </a:p>
        </p:txBody>
      </p:sp>
      <p:sp>
        <p:nvSpPr>
          <p:cNvPr id="419" name="rdt_rcv()"/>
          <p:cNvSpPr/>
          <p:nvPr/>
        </p:nvSpPr>
        <p:spPr>
          <a:xfrm>
            <a:off x="7734300" y="6477000"/>
            <a:ext cx="2032000" cy="6858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rdt_rcv()</a:t>
            </a:r>
          </a:p>
        </p:txBody>
      </p:sp>
      <p:sp>
        <p:nvSpPr>
          <p:cNvPr id="420" name="deliver_data()"/>
          <p:cNvSpPr/>
          <p:nvPr/>
        </p:nvSpPr>
        <p:spPr>
          <a:xfrm>
            <a:off x="9639718" y="3242783"/>
            <a:ext cx="3293616"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deliver_data()</a:t>
            </a:r>
          </a:p>
        </p:txBody>
      </p:sp>
      <p:sp>
        <p:nvSpPr>
          <p:cNvPr id="421" name="Line"/>
          <p:cNvSpPr/>
          <p:nvPr/>
        </p:nvSpPr>
        <p:spPr>
          <a:xfrm flipV="1">
            <a:off x="5010563" y="4454169"/>
            <a:ext cx="2894725" cy="253256"/>
          </a:xfrm>
          <a:prstGeom prst="line">
            <a:avLst/>
          </a:prstGeom>
          <a:ln w="25400">
            <a:solidFill>
              <a:srgbClr val="0433FF"/>
            </a:solidFill>
            <a:miter lim="400000"/>
            <a:headEnd type="stealth"/>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422" name="ACK 0"/>
          <p:cNvSpPr/>
          <p:nvPr/>
        </p:nvSpPr>
        <p:spPr>
          <a:xfrm rot="21300000">
            <a:off x="5918199" y="4025900"/>
            <a:ext cx="1460501"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ACK 0</a:t>
            </a:r>
          </a:p>
        </p:txBody>
      </p:sp>
      <p:sp>
        <p:nvSpPr>
          <p:cNvPr id="423" name="Line"/>
          <p:cNvSpPr/>
          <p:nvPr/>
        </p:nvSpPr>
        <p:spPr>
          <a:xfrm flipH="1" flipV="1">
            <a:off x="5008794" y="6282947"/>
            <a:ext cx="3053761" cy="267171"/>
          </a:xfrm>
          <a:prstGeom prst="line">
            <a:avLst/>
          </a:prstGeom>
          <a:ln w="25400">
            <a:solidFill>
              <a:srgbClr val="0433FF"/>
            </a:solidFill>
            <a:miter lim="400000"/>
            <a:headEnd type="stealth"/>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424" name="udt_send()"/>
          <p:cNvSpPr/>
          <p:nvPr/>
        </p:nvSpPr>
        <p:spPr>
          <a:xfrm>
            <a:off x="3212543" y="5616649"/>
            <a:ext cx="2601199"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udt_send()</a:t>
            </a:r>
          </a:p>
        </p:txBody>
      </p:sp>
      <p:sp>
        <p:nvSpPr>
          <p:cNvPr id="425" name="Line"/>
          <p:cNvSpPr/>
          <p:nvPr/>
        </p:nvSpPr>
        <p:spPr>
          <a:xfrm flipV="1">
            <a:off x="4994068" y="8529121"/>
            <a:ext cx="3013309" cy="263631"/>
          </a:xfrm>
          <a:prstGeom prst="line">
            <a:avLst/>
          </a:prstGeom>
          <a:ln w="25400">
            <a:solidFill>
              <a:srgbClr val="0433FF"/>
            </a:solidFill>
            <a:miter lim="400000"/>
            <a:headEnd type="stealth"/>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426" name="udt_send()"/>
          <p:cNvSpPr/>
          <p:nvPr/>
        </p:nvSpPr>
        <p:spPr>
          <a:xfrm>
            <a:off x="7734300" y="3828675"/>
            <a:ext cx="2552700"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udt_send()</a:t>
            </a:r>
          </a:p>
        </p:txBody>
      </p:sp>
      <p:sp>
        <p:nvSpPr>
          <p:cNvPr id="427" name="rdt_rcv()"/>
          <p:cNvSpPr/>
          <p:nvPr/>
        </p:nvSpPr>
        <p:spPr>
          <a:xfrm>
            <a:off x="7734300" y="2616200"/>
            <a:ext cx="2032000"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rdt_rcv()</a:t>
            </a:r>
          </a:p>
        </p:txBody>
      </p:sp>
      <p:sp>
        <p:nvSpPr>
          <p:cNvPr id="428" name="rdt_rcv()"/>
          <p:cNvSpPr/>
          <p:nvPr/>
        </p:nvSpPr>
        <p:spPr>
          <a:xfrm>
            <a:off x="3212543" y="4758021"/>
            <a:ext cx="2222995"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rdt_rcv()</a:t>
            </a:r>
          </a:p>
        </p:txBody>
      </p:sp>
      <p:sp>
        <p:nvSpPr>
          <p:cNvPr id="429" name="udt_send()"/>
          <p:cNvSpPr/>
          <p:nvPr/>
        </p:nvSpPr>
        <p:spPr>
          <a:xfrm>
            <a:off x="7734300" y="7919714"/>
            <a:ext cx="2552700"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udt_send()</a:t>
            </a:r>
          </a:p>
        </p:txBody>
      </p:sp>
      <p:sp>
        <p:nvSpPr>
          <p:cNvPr id="430" name="Line"/>
          <p:cNvSpPr/>
          <p:nvPr/>
        </p:nvSpPr>
        <p:spPr>
          <a:xfrm flipH="1" flipV="1">
            <a:off x="5003341" y="2388516"/>
            <a:ext cx="3064666" cy="268124"/>
          </a:xfrm>
          <a:prstGeom prst="line">
            <a:avLst/>
          </a:prstGeom>
          <a:ln w="25400">
            <a:solidFill>
              <a:srgbClr val="0433FF"/>
            </a:solidFill>
            <a:miter lim="400000"/>
            <a:headEnd type="stealth"/>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431" name="Rounded Rectangle"/>
          <p:cNvSpPr/>
          <p:nvPr/>
        </p:nvSpPr>
        <p:spPr>
          <a:xfrm>
            <a:off x="277589" y="1308100"/>
            <a:ext cx="5183040" cy="8174385"/>
          </a:xfrm>
          <a:prstGeom prst="roundRect">
            <a:avLst>
              <a:gd name="adj" fmla="val 3675"/>
            </a:avLst>
          </a:prstGeom>
          <a:ln w="25400">
            <a:solidFill>
              <a:srgbClr val="0096FF"/>
            </a:solidFill>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432" name="ACK 0"/>
          <p:cNvSpPr/>
          <p:nvPr/>
        </p:nvSpPr>
        <p:spPr>
          <a:xfrm rot="21300000">
            <a:off x="5925454" y="8102536"/>
            <a:ext cx="1430222"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942193"/>
                </a:solidFill>
                <a:latin typeface="Courier"/>
                <a:ea typeface="Courier"/>
                <a:cs typeface="Courier"/>
                <a:sym typeface="Courier"/>
              </a:defRPr>
            </a:lvl1pPr>
          </a:lstStyle>
          <a:p>
            <a:r>
              <a:t>ACK 0</a:t>
            </a:r>
          </a:p>
        </p:txBody>
      </p:sp>
      <p:sp>
        <p:nvSpPr>
          <p:cNvPr id="433" name="rdt_rcv()"/>
          <p:cNvSpPr/>
          <p:nvPr/>
        </p:nvSpPr>
        <p:spPr>
          <a:xfrm>
            <a:off x="3212543" y="8845550"/>
            <a:ext cx="2222995" cy="6858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rdt_rcv()</a:t>
            </a:r>
          </a:p>
        </p:txBody>
      </p:sp>
      <p:sp>
        <p:nvSpPr>
          <p:cNvPr id="434" name="SEQ 0"/>
          <p:cNvSpPr/>
          <p:nvPr/>
        </p:nvSpPr>
        <p:spPr>
          <a:xfrm rot="260164">
            <a:off x="5896039" y="1991409"/>
            <a:ext cx="1277280"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SEQ 0</a:t>
            </a:r>
          </a:p>
        </p:txBody>
      </p:sp>
      <p:sp>
        <p:nvSpPr>
          <p:cNvPr id="435" name="SEQ 1"/>
          <p:cNvSpPr/>
          <p:nvPr/>
        </p:nvSpPr>
        <p:spPr>
          <a:xfrm rot="260164">
            <a:off x="5896039" y="5864909"/>
            <a:ext cx="1277280"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SEQ 1</a:t>
            </a:r>
          </a:p>
        </p:txBody>
      </p:sp>
    </p:spTree>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39" name="Rectangle"/>
          <p:cNvSpPr/>
          <p:nvPr/>
        </p:nvSpPr>
        <p:spPr>
          <a:xfrm>
            <a:off x="8220667" y="-187354"/>
            <a:ext cx="3754842" cy="10128308"/>
          </a:xfrm>
          <a:prstGeom prst="rect">
            <a:avLst/>
          </a:prstGeom>
          <a:solidFill>
            <a:srgbClr val="FFD479"/>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440" name="Rectangle"/>
          <p:cNvSpPr/>
          <p:nvPr/>
        </p:nvSpPr>
        <p:spPr>
          <a:xfrm>
            <a:off x="976672" y="-187354"/>
            <a:ext cx="3754842" cy="10128308"/>
          </a:xfrm>
          <a:prstGeom prst="rect">
            <a:avLst/>
          </a:prstGeom>
          <a:solidFill>
            <a:srgbClr val="FFD479"/>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441" name="Rounded Rectangle"/>
          <p:cNvSpPr/>
          <p:nvPr/>
        </p:nvSpPr>
        <p:spPr>
          <a:xfrm>
            <a:off x="7556500" y="1308100"/>
            <a:ext cx="5183039" cy="8174385"/>
          </a:xfrm>
          <a:prstGeom prst="roundRect">
            <a:avLst>
              <a:gd name="adj" fmla="val 3675"/>
            </a:avLst>
          </a:prstGeom>
          <a:ln w="25400">
            <a:solidFill>
              <a:srgbClr val="0096FF"/>
            </a:solidFill>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442" name="Alice’s computer"/>
          <p:cNvSpPr/>
          <p:nvPr/>
        </p:nvSpPr>
        <p:spPr>
          <a:xfrm>
            <a:off x="644293" y="435168"/>
            <a:ext cx="4419601" cy="81876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lvl1pPr>
              <a:defRPr sz="4000">
                <a:solidFill>
                  <a:srgbClr val="0096FF"/>
                </a:solidFill>
                <a:latin typeface="+mn-lt"/>
                <a:ea typeface="+mn-ea"/>
                <a:cs typeface="+mn-cs"/>
                <a:sym typeface="Chalkboard SE Regular"/>
              </a:defRPr>
            </a:lvl1pPr>
          </a:lstStyle>
          <a:p>
            <a:r>
              <a:t>Alice’s computer</a:t>
            </a:r>
          </a:p>
        </p:txBody>
      </p:sp>
      <p:sp>
        <p:nvSpPr>
          <p:cNvPr id="443" name="Bob’s computer"/>
          <p:cNvSpPr/>
          <p:nvPr/>
        </p:nvSpPr>
        <p:spPr>
          <a:xfrm>
            <a:off x="8001000" y="435168"/>
            <a:ext cx="4419600" cy="81876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lvl1pPr>
              <a:defRPr sz="4000">
                <a:solidFill>
                  <a:srgbClr val="0096FF"/>
                </a:solidFill>
                <a:latin typeface="+mn-lt"/>
                <a:ea typeface="+mn-ea"/>
                <a:cs typeface="+mn-cs"/>
                <a:sym typeface="Chalkboard SE Regular"/>
              </a:defRPr>
            </a:lvl1pPr>
          </a:lstStyle>
          <a:p>
            <a:r>
              <a:t>Bob’s computer</a:t>
            </a:r>
          </a:p>
        </p:txBody>
      </p:sp>
      <p:sp>
        <p:nvSpPr>
          <p:cNvPr id="444"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34</a:t>
            </a:fld>
            <a:endParaRPr/>
          </a:p>
        </p:txBody>
      </p:sp>
      <p:sp>
        <p:nvSpPr>
          <p:cNvPr id="445" name="rdt_send()"/>
          <p:cNvSpPr/>
          <p:nvPr/>
        </p:nvSpPr>
        <p:spPr>
          <a:xfrm>
            <a:off x="393294" y="1291985"/>
            <a:ext cx="2384771"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rdt_send()</a:t>
            </a:r>
          </a:p>
        </p:txBody>
      </p:sp>
      <p:sp>
        <p:nvSpPr>
          <p:cNvPr id="446" name="udt_send()"/>
          <p:cNvSpPr/>
          <p:nvPr/>
        </p:nvSpPr>
        <p:spPr>
          <a:xfrm>
            <a:off x="3212543" y="1727243"/>
            <a:ext cx="2527620"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udt_send()</a:t>
            </a:r>
          </a:p>
        </p:txBody>
      </p:sp>
      <p:sp>
        <p:nvSpPr>
          <p:cNvPr id="447" name="rdt_rcv()"/>
          <p:cNvSpPr/>
          <p:nvPr/>
        </p:nvSpPr>
        <p:spPr>
          <a:xfrm>
            <a:off x="7734300" y="6477000"/>
            <a:ext cx="2032000" cy="6858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rdt_rcv()</a:t>
            </a:r>
          </a:p>
        </p:txBody>
      </p:sp>
      <p:sp>
        <p:nvSpPr>
          <p:cNvPr id="448" name="Line"/>
          <p:cNvSpPr/>
          <p:nvPr/>
        </p:nvSpPr>
        <p:spPr>
          <a:xfrm flipH="1" flipV="1">
            <a:off x="5008794" y="6282947"/>
            <a:ext cx="3053761" cy="267171"/>
          </a:xfrm>
          <a:prstGeom prst="line">
            <a:avLst/>
          </a:prstGeom>
          <a:ln w="25400">
            <a:solidFill>
              <a:srgbClr val="0433FF"/>
            </a:solidFill>
            <a:miter lim="400000"/>
            <a:headEnd type="stealth"/>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449" name="udt_send()"/>
          <p:cNvSpPr/>
          <p:nvPr/>
        </p:nvSpPr>
        <p:spPr>
          <a:xfrm>
            <a:off x="3212543" y="5616649"/>
            <a:ext cx="2601199"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udt_send()</a:t>
            </a:r>
          </a:p>
        </p:txBody>
      </p:sp>
      <p:sp>
        <p:nvSpPr>
          <p:cNvPr id="450" name="Line"/>
          <p:cNvSpPr/>
          <p:nvPr/>
        </p:nvSpPr>
        <p:spPr>
          <a:xfrm flipV="1">
            <a:off x="4994068" y="8529121"/>
            <a:ext cx="3013309" cy="263631"/>
          </a:xfrm>
          <a:prstGeom prst="line">
            <a:avLst/>
          </a:prstGeom>
          <a:ln w="25400">
            <a:solidFill>
              <a:srgbClr val="0433FF"/>
            </a:solidFill>
            <a:miter lim="400000"/>
            <a:headEnd type="stealth"/>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451" name="udt_send()"/>
          <p:cNvSpPr/>
          <p:nvPr/>
        </p:nvSpPr>
        <p:spPr>
          <a:xfrm>
            <a:off x="7734300" y="7919714"/>
            <a:ext cx="2552700"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udt_send()</a:t>
            </a:r>
          </a:p>
        </p:txBody>
      </p:sp>
      <p:sp>
        <p:nvSpPr>
          <p:cNvPr id="452" name="Line"/>
          <p:cNvSpPr/>
          <p:nvPr/>
        </p:nvSpPr>
        <p:spPr>
          <a:xfrm flipH="1" flipV="1">
            <a:off x="5003341" y="2388516"/>
            <a:ext cx="2030902" cy="181835"/>
          </a:xfrm>
          <a:prstGeom prst="line">
            <a:avLst/>
          </a:prstGeom>
          <a:ln w="25400">
            <a:solidFill>
              <a:srgbClr val="0433FF"/>
            </a:solidFill>
            <a:miter lim="400000"/>
            <a:headEnd type="stealth"/>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453" name="Rounded Rectangle"/>
          <p:cNvSpPr/>
          <p:nvPr/>
        </p:nvSpPr>
        <p:spPr>
          <a:xfrm>
            <a:off x="277589" y="1308100"/>
            <a:ext cx="5183040" cy="8174385"/>
          </a:xfrm>
          <a:prstGeom prst="roundRect">
            <a:avLst>
              <a:gd name="adj" fmla="val 3675"/>
            </a:avLst>
          </a:prstGeom>
          <a:ln w="25400">
            <a:solidFill>
              <a:srgbClr val="0096FF"/>
            </a:solidFill>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454" name="ACK 0"/>
          <p:cNvSpPr/>
          <p:nvPr/>
        </p:nvSpPr>
        <p:spPr>
          <a:xfrm rot="21300000">
            <a:off x="5925454" y="8102536"/>
            <a:ext cx="1430222"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ACK 0</a:t>
            </a:r>
          </a:p>
        </p:txBody>
      </p:sp>
      <p:sp>
        <p:nvSpPr>
          <p:cNvPr id="455" name="rdt_rcv()"/>
          <p:cNvSpPr/>
          <p:nvPr/>
        </p:nvSpPr>
        <p:spPr>
          <a:xfrm>
            <a:off x="3212543" y="8845550"/>
            <a:ext cx="2222995" cy="6858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rdt_rcv()</a:t>
            </a:r>
          </a:p>
        </p:txBody>
      </p:sp>
      <p:sp>
        <p:nvSpPr>
          <p:cNvPr id="456" name="SEQ 0"/>
          <p:cNvSpPr/>
          <p:nvPr/>
        </p:nvSpPr>
        <p:spPr>
          <a:xfrm rot="260164">
            <a:off x="5581946" y="1968752"/>
            <a:ext cx="1277280"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SEQ 0</a:t>
            </a:r>
          </a:p>
        </p:txBody>
      </p:sp>
      <p:sp>
        <p:nvSpPr>
          <p:cNvPr id="457" name="SEQ 0"/>
          <p:cNvSpPr/>
          <p:nvPr/>
        </p:nvSpPr>
        <p:spPr>
          <a:xfrm rot="260164">
            <a:off x="5896039" y="5864909"/>
            <a:ext cx="1277280"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SEQ 0</a:t>
            </a:r>
          </a:p>
        </p:txBody>
      </p:sp>
      <p:sp>
        <p:nvSpPr>
          <p:cNvPr id="458" name="deliver_data()"/>
          <p:cNvSpPr/>
          <p:nvPr/>
        </p:nvSpPr>
        <p:spPr>
          <a:xfrm>
            <a:off x="9628036" y="7198356"/>
            <a:ext cx="3293616"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deliver_data()</a:t>
            </a:r>
          </a:p>
        </p:txBody>
      </p:sp>
      <p:sp>
        <p:nvSpPr>
          <p:cNvPr id="459" name="X"/>
          <p:cNvSpPr/>
          <p:nvPr/>
        </p:nvSpPr>
        <p:spPr>
          <a:xfrm>
            <a:off x="6824039" y="1863032"/>
            <a:ext cx="558801" cy="1270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5000">
                <a:solidFill>
                  <a:srgbClr val="942193"/>
                </a:solidFill>
                <a:latin typeface="Chalkboard SE Bold"/>
                <a:ea typeface="Chalkboard SE Bold"/>
                <a:cs typeface="Chalkboard SE Bold"/>
                <a:sym typeface="Chalkboard SE Bold"/>
              </a:defRPr>
            </a:lvl1pPr>
          </a:lstStyle>
          <a:p>
            <a:r>
              <a:t>X</a:t>
            </a:r>
          </a:p>
        </p:txBody>
      </p:sp>
      <p:sp>
        <p:nvSpPr>
          <p:cNvPr id="460" name="timeout"/>
          <p:cNvSpPr/>
          <p:nvPr/>
        </p:nvSpPr>
        <p:spPr>
          <a:xfrm>
            <a:off x="2365351" y="5052392"/>
            <a:ext cx="2143648"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3600">
                <a:solidFill>
                  <a:srgbClr val="942193"/>
                </a:solidFill>
                <a:latin typeface="Courier"/>
                <a:ea typeface="Courier"/>
                <a:cs typeface="Courier"/>
                <a:sym typeface="Courier"/>
              </a:defRPr>
            </a:lvl1pPr>
          </a:lstStyle>
          <a:p>
            <a:r>
              <a:t>timeout</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46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2" nodeType="clickEffect">
                                  <p:stCondLst>
                                    <p:cond delay="0"/>
                                  </p:stCondLst>
                                  <p:iterate>
                                    <p:tmAbs val="0"/>
                                  </p:iterate>
                                  <p:childTnLst>
                                    <p:set>
                                      <p:cBhvr>
                                        <p:cTn id="10" fill="hold"/>
                                        <p:tgtEl>
                                          <p:spTgt spid="44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8" presetClass="entr" presetSubtype="6" fill="hold" grpId="3" nodeType="clickEffect">
                                  <p:stCondLst>
                                    <p:cond delay="0"/>
                                  </p:stCondLst>
                                  <p:iterate>
                                    <p:tmAbs val="0"/>
                                  </p:iterate>
                                  <p:childTnLst>
                                    <p:set>
                                      <p:cBhvr>
                                        <p:cTn id="14" fill="hold"/>
                                        <p:tgtEl>
                                          <p:spTgt spid="448"/>
                                        </p:tgtEl>
                                        <p:attrNameLst>
                                          <p:attrName>style.visibility</p:attrName>
                                        </p:attrNameLst>
                                      </p:cBhvr>
                                      <p:to>
                                        <p:strVal val="visible"/>
                                      </p:to>
                                    </p:set>
                                    <p:animEffect transition="in" filter="strips(downRight)">
                                      <p:cBhvr>
                                        <p:cTn id="15" dur="1000"/>
                                        <p:tgtEl>
                                          <p:spTgt spid="448"/>
                                        </p:tgtEl>
                                      </p:cBhvr>
                                    </p:animEffect>
                                  </p:childTnLst>
                                </p:cTn>
                              </p:par>
                            </p:childTnLst>
                          </p:cTn>
                        </p:par>
                        <p:par>
                          <p:cTn id="16" fill="hold">
                            <p:stCondLst>
                              <p:cond delay="1000"/>
                            </p:stCondLst>
                            <p:childTnLst>
                              <p:par>
                                <p:cTn id="17" presetID="1" presetClass="entr" presetSubtype="0" fill="hold" grpId="4" nodeType="afterEffect">
                                  <p:stCondLst>
                                    <p:cond delay="300"/>
                                  </p:stCondLst>
                                  <p:iterate>
                                    <p:tmAbs val="0"/>
                                  </p:iterate>
                                  <p:childTnLst>
                                    <p:set>
                                      <p:cBhvr>
                                        <p:cTn id="18" fill="hold"/>
                                        <p:tgtEl>
                                          <p:spTgt spid="45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5" nodeType="clickEffect">
                                  <p:stCondLst>
                                    <p:cond delay="0"/>
                                  </p:stCondLst>
                                  <p:iterate>
                                    <p:tmAbs val="0"/>
                                  </p:iterate>
                                  <p:childTnLst>
                                    <p:set>
                                      <p:cBhvr>
                                        <p:cTn id="22" fill="hold"/>
                                        <p:tgtEl>
                                          <p:spTgt spid="44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6" nodeType="clickEffect">
                                  <p:stCondLst>
                                    <p:cond delay="0"/>
                                  </p:stCondLst>
                                  <p:iterate>
                                    <p:tmAbs val="0"/>
                                  </p:iterate>
                                  <p:childTnLst>
                                    <p:set>
                                      <p:cBhvr>
                                        <p:cTn id="26" fill="hold"/>
                                        <p:tgtEl>
                                          <p:spTgt spid="45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7" nodeType="clickEffect">
                                  <p:stCondLst>
                                    <p:cond delay="0"/>
                                  </p:stCondLst>
                                  <p:iterate>
                                    <p:tmAbs val="0"/>
                                  </p:iterate>
                                  <p:childTnLst>
                                    <p:set>
                                      <p:cBhvr>
                                        <p:cTn id="30" fill="hold"/>
                                        <p:tgtEl>
                                          <p:spTgt spid="45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8" presetClass="entr" presetSubtype="12" fill="hold" grpId="8" nodeType="clickEffect">
                                  <p:stCondLst>
                                    <p:cond delay="0"/>
                                  </p:stCondLst>
                                  <p:iterate>
                                    <p:tmAbs val="0"/>
                                  </p:iterate>
                                  <p:childTnLst>
                                    <p:set>
                                      <p:cBhvr>
                                        <p:cTn id="34" fill="hold"/>
                                        <p:tgtEl>
                                          <p:spTgt spid="450"/>
                                        </p:tgtEl>
                                        <p:attrNameLst>
                                          <p:attrName>style.visibility</p:attrName>
                                        </p:attrNameLst>
                                      </p:cBhvr>
                                      <p:to>
                                        <p:strVal val="visible"/>
                                      </p:to>
                                    </p:set>
                                    <p:animEffect transition="in" filter="strips(downLeft)">
                                      <p:cBhvr>
                                        <p:cTn id="35" dur="1000"/>
                                        <p:tgtEl>
                                          <p:spTgt spid="450"/>
                                        </p:tgtEl>
                                      </p:cBhvr>
                                    </p:animEffect>
                                  </p:childTnLst>
                                </p:cTn>
                              </p:par>
                            </p:childTnLst>
                          </p:cTn>
                        </p:par>
                        <p:par>
                          <p:cTn id="36" fill="hold">
                            <p:stCondLst>
                              <p:cond delay="1000"/>
                            </p:stCondLst>
                            <p:childTnLst>
                              <p:par>
                                <p:cTn id="37" presetID="1" presetClass="entr" presetSubtype="0" fill="hold" grpId="9" nodeType="afterEffect">
                                  <p:stCondLst>
                                    <p:cond delay="300"/>
                                  </p:stCondLst>
                                  <p:iterate>
                                    <p:tmAbs val="0"/>
                                  </p:iterate>
                                  <p:childTnLst>
                                    <p:set>
                                      <p:cBhvr>
                                        <p:cTn id="38" fill="hold"/>
                                        <p:tgtEl>
                                          <p:spTgt spid="45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10" nodeType="clickEffect">
                                  <p:stCondLst>
                                    <p:cond delay="0"/>
                                  </p:stCondLst>
                                  <p:iterate>
                                    <p:tmAbs val="0"/>
                                  </p:iterate>
                                  <p:childTnLst>
                                    <p:set>
                                      <p:cBhvr>
                                        <p:cTn id="42" fill="hold"/>
                                        <p:tgtEl>
                                          <p:spTgt spid="4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7" grpId="5" animBg="1" advAuto="0"/>
      <p:bldP spid="448" grpId="3" animBg="1" advAuto="0"/>
      <p:bldP spid="449" grpId="2" animBg="1" advAuto="0"/>
      <p:bldP spid="450" grpId="8" animBg="1" advAuto="0"/>
      <p:bldP spid="451" grpId="7" animBg="1" advAuto="0"/>
      <p:bldP spid="454" grpId="9" animBg="1" advAuto="0"/>
      <p:bldP spid="455" grpId="10" animBg="1" advAuto="0"/>
      <p:bldP spid="457" grpId="4" animBg="1" advAuto="0"/>
      <p:bldP spid="458" grpId="6" animBg="1" advAuto="0"/>
      <p:bldP spid="460" grpId="1" animBg="1" advAuto="0"/>
    </p:bldLst>
  </p:timing>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64" name="Rectangle"/>
          <p:cNvSpPr/>
          <p:nvPr/>
        </p:nvSpPr>
        <p:spPr>
          <a:xfrm>
            <a:off x="8220667" y="-187354"/>
            <a:ext cx="3754842" cy="10128308"/>
          </a:xfrm>
          <a:prstGeom prst="rect">
            <a:avLst/>
          </a:prstGeom>
          <a:solidFill>
            <a:srgbClr val="FFD479"/>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465" name="Rectangle"/>
          <p:cNvSpPr/>
          <p:nvPr/>
        </p:nvSpPr>
        <p:spPr>
          <a:xfrm>
            <a:off x="976672" y="-187354"/>
            <a:ext cx="3754842" cy="10128308"/>
          </a:xfrm>
          <a:prstGeom prst="rect">
            <a:avLst/>
          </a:prstGeom>
          <a:solidFill>
            <a:srgbClr val="FFD479"/>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466" name="Rounded Rectangle"/>
          <p:cNvSpPr/>
          <p:nvPr/>
        </p:nvSpPr>
        <p:spPr>
          <a:xfrm>
            <a:off x="7556500" y="1308100"/>
            <a:ext cx="5183039" cy="8174385"/>
          </a:xfrm>
          <a:prstGeom prst="roundRect">
            <a:avLst>
              <a:gd name="adj" fmla="val 3675"/>
            </a:avLst>
          </a:prstGeom>
          <a:ln w="25400">
            <a:solidFill>
              <a:srgbClr val="0096FF"/>
            </a:solidFill>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467" name="Alice’s computer"/>
          <p:cNvSpPr/>
          <p:nvPr/>
        </p:nvSpPr>
        <p:spPr>
          <a:xfrm>
            <a:off x="644293" y="435168"/>
            <a:ext cx="4419601" cy="81876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lvl1pPr>
              <a:defRPr sz="4000">
                <a:solidFill>
                  <a:srgbClr val="0096FF"/>
                </a:solidFill>
                <a:latin typeface="+mn-lt"/>
                <a:ea typeface="+mn-ea"/>
                <a:cs typeface="+mn-cs"/>
                <a:sym typeface="Chalkboard SE Regular"/>
              </a:defRPr>
            </a:lvl1pPr>
          </a:lstStyle>
          <a:p>
            <a:r>
              <a:t>Alice’s computer</a:t>
            </a:r>
          </a:p>
        </p:txBody>
      </p:sp>
      <p:sp>
        <p:nvSpPr>
          <p:cNvPr id="468" name="Bob’s computer"/>
          <p:cNvSpPr/>
          <p:nvPr/>
        </p:nvSpPr>
        <p:spPr>
          <a:xfrm>
            <a:off x="8001000" y="435168"/>
            <a:ext cx="4419600" cy="81876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lvl1pPr>
              <a:defRPr sz="4000">
                <a:solidFill>
                  <a:srgbClr val="0096FF"/>
                </a:solidFill>
                <a:latin typeface="+mn-lt"/>
                <a:ea typeface="+mn-ea"/>
                <a:cs typeface="+mn-cs"/>
                <a:sym typeface="Chalkboard SE Regular"/>
              </a:defRPr>
            </a:lvl1pPr>
          </a:lstStyle>
          <a:p>
            <a:r>
              <a:t>Bob’s computer</a:t>
            </a:r>
          </a:p>
        </p:txBody>
      </p:sp>
      <p:sp>
        <p:nvSpPr>
          <p:cNvPr id="469"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35</a:t>
            </a:fld>
            <a:endParaRPr/>
          </a:p>
        </p:txBody>
      </p:sp>
      <p:sp>
        <p:nvSpPr>
          <p:cNvPr id="470" name="rdt_send()"/>
          <p:cNvSpPr/>
          <p:nvPr/>
        </p:nvSpPr>
        <p:spPr>
          <a:xfrm>
            <a:off x="393294" y="1291985"/>
            <a:ext cx="2384771"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rdt_send()</a:t>
            </a:r>
          </a:p>
        </p:txBody>
      </p:sp>
      <p:sp>
        <p:nvSpPr>
          <p:cNvPr id="471" name="udt_send()"/>
          <p:cNvSpPr/>
          <p:nvPr/>
        </p:nvSpPr>
        <p:spPr>
          <a:xfrm>
            <a:off x="3212543" y="1727243"/>
            <a:ext cx="2527620"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udt_send()</a:t>
            </a:r>
          </a:p>
        </p:txBody>
      </p:sp>
      <p:sp>
        <p:nvSpPr>
          <p:cNvPr id="472" name="rdt_rcv()"/>
          <p:cNvSpPr/>
          <p:nvPr/>
        </p:nvSpPr>
        <p:spPr>
          <a:xfrm>
            <a:off x="7734300" y="6477000"/>
            <a:ext cx="2032000" cy="6858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rdt_rcv()</a:t>
            </a:r>
          </a:p>
        </p:txBody>
      </p:sp>
      <p:sp>
        <p:nvSpPr>
          <p:cNvPr id="473" name="Line"/>
          <p:cNvSpPr/>
          <p:nvPr/>
        </p:nvSpPr>
        <p:spPr>
          <a:xfrm flipH="1" flipV="1">
            <a:off x="5008794" y="6282947"/>
            <a:ext cx="3053761" cy="267171"/>
          </a:xfrm>
          <a:prstGeom prst="line">
            <a:avLst/>
          </a:prstGeom>
          <a:ln w="25400">
            <a:solidFill>
              <a:srgbClr val="0433FF"/>
            </a:solidFill>
            <a:miter lim="400000"/>
            <a:headEnd type="stealth"/>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474" name="udt_send()"/>
          <p:cNvSpPr/>
          <p:nvPr/>
        </p:nvSpPr>
        <p:spPr>
          <a:xfrm>
            <a:off x="3212543" y="5616649"/>
            <a:ext cx="2601199"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udt_send()</a:t>
            </a:r>
          </a:p>
        </p:txBody>
      </p:sp>
      <p:sp>
        <p:nvSpPr>
          <p:cNvPr id="475" name="Line"/>
          <p:cNvSpPr/>
          <p:nvPr/>
        </p:nvSpPr>
        <p:spPr>
          <a:xfrm flipV="1">
            <a:off x="4994068" y="8529121"/>
            <a:ext cx="3013309" cy="263631"/>
          </a:xfrm>
          <a:prstGeom prst="line">
            <a:avLst/>
          </a:prstGeom>
          <a:ln w="25400">
            <a:solidFill>
              <a:srgbClr val="0433FF"/>
            </a:solidFill>
            <a:miter lim="400000"/>
            <a:headEnd type="stealth"/>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476" name="udt_send()"/>
          <p:cNvSpPr/>
          <p:nvPr/>
        </p:nvSpPr>
        <p:spPr>
          <a:xfrm>
            <a:off x="7734300" y="7919714"/>
            <a:ext cx="2552700"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udt_send()</a:t>
            </a:r>
          </a:p>
        </p:txBody>
      </p:sp>
      <p:sp>
        <p:nvSpPr>
          <p:cNvPr id="477" name="Rounded Rectangle"/>
          <p:cNvSpPr/>
          <p:nvPr/>
        </p:nvSpPr>
        <p:spPr>
          <a:xfrm>
            <a:off x="277589" y="1308100"/>
            <a:ext cx="5183040" cy="8174385"/>
          </a:xfrm>
          <a:prstGeom prst="roundRect">
            <a:avLst>
              <a:gd name="adj" fmla="val 3675"/>
            </a:avLst>
          </a:prstGeom>
          <a:ln w="25400">
            <a:solidFill>
              <a:srgbClr val="0096FF"/>
            </a:solidFill>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478" name="ACK 0"/>
          <p:cNvSpPr/>
          <p:nvPr/>
        </p:nvSpPr>
        <p:spPr>
          <a:xfrm rot="21300000">
            <a:off x="5925454" y="8102536"/>
            <a:ext cx="1430222"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ACK 0</a:t>
            </a:r>
          </a:p>
        </p:txBody>
      </p:sp>
      <p:sp>
        <p:nvSpPr>
          <p:cNvPr id="479" name="rdt_rcv()"/>
          <p:cNvSpPr/>
          <p:nvPr/>
        </p:nvSpPr>
        <p:spPr>
          <a:xfrm>
            <a:off x="3212543" y="8845550"/>
            <a:ext cx="2222995" cy="6858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rdt_rcv()</a:t>
            </a:r>
          </a:p>
        </p:txBody>
      </p:sp>
      <p:sp>
        <p:nvSpPr>
          <p:cNvPr id="480" name="SEQ 0"/>
          <p:cNvSpPr/>
          <p:nvPr/>
        </p:nvSpPr>
        <p:spPr>
          <a:xfrm rot="260164">
            <a:off x="5896039" y="5864909"/>
            <a:ext cx="1277280"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SEQ 0</a:t>
            </a:r>
          </a:p>
        </p:txBody>
      </p:sp>
      <p:sp>
        <p:nvSpPr>
          <p:cNvPr id="481" name="deliver_data()"/>
          <p:cNvSpPr/>
          <p:nvPr/>
        </p:nvSpPr>
        <p:spPr>
          <a:xfrm>
            <a:off x="9628036" y="7198356"/>
            <a:ext cx="3293616"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deliver_data()</a:t>
            </a:r>
          </a:p>
        </p:txBody>
      </p:sp>
      <p:sp>
        <p:nvSpPr>
          <p:cNvPr id="482" name="X"/>
          <p:cNvSpPr/>
          <p:nvPr/>
        </p:nvSpPr>
        <p:spPr>
          <a:xfrm>
            <a:off x="5858257" y="3930895"/>
            <a:ext cx="558801" cy="1270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5000">
                <a:solidFill>
                  <a:srgbClr val="942193"/>
                </a:solidFill>
                <a:latin typeface="Chalkboard SE Bold"/>
                <a:ea typeface="Chalkboard SE Bold"/>
                <a:cs typeface="Chalkboard SE Bold"/>
                <a:sym typeface="Chalkboard SE Bold"/>
              </a:defRPr>
            </a:lvl1pPr>
          </a:lstStyle>
          <a:p>
            <a:r>
              <a:t>X</a:t>
            </a:r>
          </a:p>
        </p:txBody>
      </p:sp>
      <p:sp>
        <p:nvSpPr>
          <p:cNvPr id="483" name="timeout"/>
          <p:cNvSpPr/>
          <p:nvPr/>
        </p:nvSpPr>
        <p:spPr>
          <a:xfrm>
            <a:off x="2365351" y="5052392"/>
            <a:ext cx="2143648"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3600">
                <a:solidFill>
                  <a:srgbClr val="942193"/>
                </a:solidFill>
                <a:latin typeface="Courier"/>
                <a:ea typeface="Courier"/>
                <a:cs typeface="Courier"/>
                <a:sym typeface="Courier"/>
              </a:defRPr>
            </a:lvl1pPr>
          </a:lstStyle>
          <a:p>
            <a:r>
              <a:t>timeout</a:t>
            </a:r>
          </a:p>
        </p:txBody>
      </p:sp>
      <p:sp>
        <p:nvSpPr>
          <p:cNvPr id="484" name="deliver_data()"/>
          <p:cNvSpPr/>
          <p:nvPr/>
        </p:nvSpPr>
        <p:spPr>
          <a:xfrm>
            <a:off x="9639718" y="3183398"/>
            <a:ext cx="3293616"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deliver_data()</a:t>
            </a:r>
          </a:p>
        </p:txBody>
      </p:sp>
      <p:sp>
        <p:nvSpPr>
          <p:cNvPr id="485" name="Line"/>
          <p:cNvSpPr/>
          <p:nvPr/>
        </p:nvSpPr>
        <p:spPr>
          <a:xfrm flipV="1">
            <a:off x="6251227" y="4454169"/>
            <a:ext cx="1654061" cy="189372"/>
          </a:xfrm>
          <a:prstGeom prst="line">
            <a:avLst/>
          </a:prstGeom>
          <a:ln w="25400">
            <a:solidFill>
              <a:srgbClr val="0433FF"/>
            </a:solidFill>
            <a:miter lim="400000"/>
            <a:headEnd type="stealth"/>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486" name="udt_send()"/>
          <p:cNvSpPr/>
          <p:nvPr/>
        </p:nvSpPr>
        <p:spPr>
          <a:xfrm>
            <a:off x="7734300" y="3828675"/>
            <a:ext cx="2552700"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udt_send()</a:t>
            </a:r>
          </a:p>
        </p:txBody>
      </p:sp>
      <p:sp>
        <p:nvSpPr>
          <p:cNvPr id="487" name="rdt_rcv()"/>
          <p:cNvSpPr/>
          <p:nvPr/>
        </p:nvSpPr>
        <p:spPr>
          <a:xfrm>
            <a:off x="7734300" y="2616200"/>
            <a:ext cx="2032000"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rdt_rcv()</a:t>
            </a:r>
          </a:p>
        </p:txBody>
      </p:sp>
      <p:sp>
        <p:nvSpPr>
          <p:cNvPr id="488" name="Line"/>
          <p:cNvSpPr/>
          <p:nvPr/>
        </p:nvSpPr>
        <p:spPr>
          <a:xfrm flipH="1" flipV="1">
            <a:off x="5003341" y="2388516"/>
            <a:ext cx="3064666" cy="268124"/>
          </a:xfrm>
          <a:prstGeom prst="line">
            <a:avLst/>
          </a:prstGeom>
          <a:ln w="25400">
            <a:solidFill>
              <a:srgbClr val="0433FF"/>
            </a:solidFill>
            <a:miter lim="400000"/>
            <a:headEnd type="stealth"/>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489" name="SEQ 0"/>
          <p:cNvSpPr/>
          <p:nvPr/>
        </p:nvSpPr>
        <p:spPr>
          <a:xfrm rot="260164">
            <a:off x="5896039" y="1991409"/>
            <a:ext cx="1277280"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SEQ 0</a:t>
            </a:r>
          </a:p>
        </p:txBody>
      </p:sp>
      <p:sp>
        <p:nvSpPr>
          <p:cNvPr id="490" name="ACK 0"/>
          <p:cNvSpPr/>
          <p:nvPr/>
        </p:nvSpPr>
        <p:spPr>
          <a:xfrm rot="21300000">
            <a:off x="6348672" y="4009387"/>
            <a:ext cx="1460501"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ACK 0</a:t>
            </a:r>
          </a:p>
        </p:txBody>
      </p:sp>
    </p:spTree>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94" name="Rectangle"/>
          <p:cNvSpPr/>
          <p:nvPr/>
        </p:nvSpPr>
        <p:spPr>
          <a:xfrm>
            <a:off x="8220667" y="-187354"/>
            <a:ext cx="3754842" cy="10128308"/>
          </a:xfrm>
          <a:prstGeom prst="rect">
            <a:avLst/>
          </a:prstGeom>
          <a:solidFill>
            <a:srgbClr val="FFD479"/>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495" name="Rectangle"/>
          <p:cNvSpPr/>
          <p:nvPr/>
        </p:nvSpPr>
        <p:spPr>
          <a:xfrm>
            <a:off x="976672" y="-187354"/>
            <a:ext cx="3754842" cy="10128308"/>
          </a:xfrm>
          <a:prstGeom prst="rect">
            <a:avLst/>
          </a:prstGeom>
          <a:solidFill>
            <a:srgbClr val="FFD479"/>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496" name="Rounded Rectangle"/>
          <p:cNvSpPr/>
          <p:nvPr/>
        </p:nvSpPr>
        <p:spPr>
          <a:xfrm>
            <a:off x="7556500" y="1308100"/>
            <a:ext cx="5183039" cy="8174385"/>
          </a:xfrm>
          <a:prstGeom prst="roundRect">
            <a:avLst>
              <a:gd name="adj" fmla="val 3675"/>
            </a:avLst>
          </a:prstGeom>
          <a:ln w="25400">
            <a:solidFill>
              <a:srgbClr val="0096FF"/>
            </a:solidFill>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497" name="Alice’s computer"/>
          <p:cNvSpPr/>
          <p:nvPr/>
        </p:nvSpPr>
        <p:spPr>
          <a:xfrm>
            <a:off x="644293" y="435168"/>
            <a:ext cx="4419601" cy="81876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lvl1pPr>
              <a:defRPr sz="4000">
                <a:solidFill>
                  <a:srgbClr val="0096FF"/>
                </a:solidFill>
                <a:latin typeface="+mn-lt"/>
                <a:ea typeface="+mn-ea"/>
                <a:cs typeface="+mn-cs"/>
                <a:sym typeface="Chalkboard SE Regular"/>
              </a:defRPr>
            </a:lvl1pPr>
          </a:lstStyle>
          <a:p>
            <a:r>
              <a:t>Alice’s computer</a:t>
            </a:r>
          </a:p>
        </p:txBody>
      </p:sp>
      <p:sp>
        <p:nvSpPr>
          <p:cNvPr id="498" name="Bob’s computer"/>
          <p:cNvSpPr/>
          <p:nvPr/>
        </p:nvSpPr>
        <p:spPr>
          <a:xfrm>
            <a:off x="8001000" y="435168"/>
            <a:ext cx="4419600" cy="81876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lvl1pPr>
              <a:defRPr sz="4000">
                <a:solidFill>
                  <a:srgbClr val="0096FF"/>
                </a:solidFill>
                <a:latin typeface="+mn-lt"/>
                <a:ea typeface="+mn-ea"/>
                <a:cs typeface="+mn-cs"/>
                <a:sym typeface="Chalkboard SE Regular"/>
              </a:defRPr>
            </a:lvl1pPr>
          </a:lstStyle>
          <a:p>
            <a:r>
              <a:t>Bob’s computer</a:t>
            </a:r>
          </a:p>
        </p:txBody>
      </p:sp>
      <p:sp>
        <p:nvSpPr>
          <p:cNvPr id="499"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36</a:t>
            </a:fld>
            <a:endParaRPr/>
          </a:p>
        </p:txBody>
      </p:sp>
      <p:sp>
        <p:nvSpPr>
          <p:cNvPr id="500" name="rdt_send()"/>
          <p:cNvSpPr/>
          <p:nvPr/>
        </p:nvSpPr>
        <p:spPr>
          <a:xfrm>
            <a:off x="393294" y="1291985"/>
            <a:ext cx="2384771"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rdt_send()</a:t>
            </a:r>
          </a:p>
        </p:txBody>
      </p:sp>
      <p:sp>
        <p:nvSpPr>
          <p:cNvPr id="501" name="udt_send()"/>
          <p:cNvSpPr/>
          <p:nvPr/>
        </p:nvSpPr>
        <p:spPr>
          <a:xfrm>
            <a:off x="3212543" y="1727243"/>
            <a:ext cx="2527620"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udt_send()</a:t>
            </a:r>
          </a:p>
        </p:txBody>
      </p:sp>
      <p:sp>
        <p:nvSpPr>
          <p:cNvPr id="502" name="rdt_rcv()"/>
          <p:cNvSpPr/>
          <p:nvPr/>
        </p:nvSpPr>
        <p:spPr>
          <a:xfrm>
            <a:off x="7734300" y="6477000"/>
            <a:ext cx="2032000" cy="6858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rdt_rcv()</a:t>
            </a:r>
          </a:p>
        </p:txBody>
      </p:sp>
      <p:sp>
        <p:nvSpPr>
          <p:cNvPr id="503" name="Line"/>
          <p:cNvSpPr/>
          <p:nvPr/>
        </p:nvSpPr>
        <p:spPr>
          <a:xfrm flipH="1" flipV="1">
            <a:off x="5008794" y="6282947"/>
            <a:ext cx="3053761" cy="267171"/>
          </a:xfrm>
          <a:prstGeom prst="line">
            <a:avLst/>
          </a:prstGeom>
          <a:ln w="25400">
            <a:solidFill>
              <a:srgbClr val="0433FF"/>
            </a:solidFill>
            <a:miter lim="400000"/>
            <a:headEnd type="stealth"/>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504" name="udt_send()"/>
          <p:cNvSpPr/>
          <p:nvPr/>
        </p:nvSpPr>
        <p:spPr>
          <a:xfrm>
            <a:off x="3212543" y="5616649"/>
            <a:ext cx="2601199"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udt_send()</a:t>
            </a:r>
          </a:p>
        </p:txBody>
      </p:sp>
      <p:sp>
        <p:nvSpPr>
          <p:cNvPr id="505" name="Rounded Rectangle"/>
          <p:cNvSpPr/>
          <p:nvPr/>
        </p:nvSpPr>
        <p:spPr>
          <a:xfrm>
            <a:off x="277589" y="1308100"/>
            <a:ext cx="5183040" cy="8174385"/>
          </a:xfrm>
          <a:prstGeom prst="roundRect">
            <a:avLst>
              <a:gd name="adj" fmla="val 3675"/>
            </a:avLst>
          </a:prstGeom>
          <a:ln w="25400">
            <a:solidFill>
              <a:srgbClr val="0096FF"/>
            </a:solidFill>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506" name="SEQ 0"/>
          <p:cNvSpPr/>
          <p:nvPr/>
        </p:nvSpPr>
        <p:spPr>
          <a:xfrm rot="260164">
            <a:off x="5896039" y="5864909"/>
            <a:ext cx="1277280"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SEQ 0</a:t>
            </a:r>
          </a:p>
        </p:txBody>
      </p:sp>
      <p:sp>
        <p:nvSpPr>
          <p:cNvPr id="507" name="timeout"/>
          <p:cNvSpPr/>
          <p:nvPr/>
        </p:nvSpPr>
        <p:spPr>
          <a:xfrm>
            <a:off x="2365351" y="5052392"/>
            <a:ext cx="2143648"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3600">
                <a:solidFill>
                  <a:srgbClr val="942193"/>
                </a:solidFill>
                <a:latin typeface="Courier"/>
                <a:ea typeface="Courier"/>
                <a:cs typeface="Courier"/>
                <a:sym typeface="Courier"/>
              </a:defRPr>
            </a:lvl1pPr>
          </a:lstStyle>
          <a:p>
            <a:r>
              <a:t>timeout</a:t>
            </a:r>
          </a:p>
        </p:txBody>
      </p:sp>
      <p:sp>
        <p:nvSpPr>
          <p:cNvPr id="508" name="deliver_data()"/>
          <p:cNvSpPr/>
          <p:nvPr/>
        </p:nvSpPr>
        <p:spPr>
          <a:xfrm>
            <a:off x="9639718" y="3183398"/>
            <a:ext cx="3293616"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deliver_data()</a:t>
            </a:r>
          </a:p>
        </p:txBody>
      </p:sp>
      <p:sp>
        <p:nvSpPr>
          <p:cNvPr id="509" name="udt_send()"/>
          <p:cNvSpPr/>
          <p:nvPr/>
        </p:nvSpPr>
        <p:spPr>
          <a:xfrm>
            <a:off x="7734300" y="3828675"/>
            <a:ext cx="2552700"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udt_send()</a:t>
            </a:r>
          </a:p>
        </p:txBody>
      </p:sp>
      <p:sp>
        <p:nvSpPr>
          <p:cNvPr id="510" name="rdt_rcv()"/>
          <p:cNvSpPr/>
          <p:nvPr/>
        </p:nvSpPr>
        <p:spPr>
          <a:xfrm>
            <a:off x="7734300" y="2616200"/>
            <a:ext cx="2032000"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rdt_rcv()</a:t>
            </a:r>
          </a:p>
        </p:txBody>
      </p:sp>
      <p:sp>
        <p:nvSpPr>
          <p:cNvPr id="511" name="Line"/>
          <p:cNvSpPr/>
          <p:nvPr/>
        </p:nvSpPr>
        <p:spPr>
          <a:xfrm flipH="1" flipV="1">
            <a:off x="5003341" y="2388516"/>
            <a:ext cx="3064666" cy="268124"/>
          </a:xfrm>
          <a:prstGeom prst="line">
            <a:avLst/>
          </a:prstGeom>
          <a:ln w="25400">
            <a:solidFill>
              <a:srgbClr val="0433FF"/>
            </a:solidFill>
            <a:miter lim="400000"/>
            <a:headEnd type="stealth"/>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512" name="SEQ 0"/>
          <p:cNvSpPr/>
          <p:nvPr/>
        </p:nvSpPr>
        <p:spPr>
          <a:xfrm rot="260164">
            <a:off x="5896039" y="1991409"/>
            <a:ext cx="1277280"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SEQ 0</a:t>
            </a:r>
          </a:p>
        </p:txBody>
      </p:sp>
      <p:sp>
        <p:nvSpPr>
          <p:cNvPr id="513" name="Line"/>
          <p:cNvSpPr/>
          <p:nvPr/>
        </p:nvSpPr>
        <p:spPr>
          <a:xfrm flipV="1">
            <a:off x="5038583" y="4454169"/>
            <a:ext cx="2866705" cy="2353465"/>
          </a:xfrm>
          <a:prstGeom prst="line">
            <a:avLst/>
          </a:prstGeom>
          <a:ln w="25400">
            <a:solidFill>
              <a:srgbClr val="0433FF"/>
            </a:solidFill>
            <a:miter lim="400000"/>
            <a:headEnd type="stealth"/>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514" name="ACK 0"/>
          <p:cNvSpPr/>
          <p:nvPr/>
        </p:nvSpPr>
        <p:spPr>
          <a:xfrm rot="19190303">
            <a:off x="6129447" y="4678312"/>
            <a:ext cx="1460501"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ACK 0</a:t>
            </a:r>
          </a:p>
        </p:txBody>
      </p:sp>
      <p:sp>
        <p:nvSpPr>
          <p:cNvPr id="515" name="rdt_rcv()"/>
          <p:cNvSpPr/>
          <p:nvPr/>
        </p:nvSpPr>
        <p:spPr>
          <a:xfrm>
            <a:off x="3212543" y="6649835"/>
            <a:ext cx="2222995"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rdt_rcv()</a:t>
            </a:r>
          </a:p>
        </p:txBody>
      </p:sp>
      <p:sp>
        <p:nvSpPr>
          <p:cNvPr id="516" name="rdt_rcv()"/>
          <p:cNvSpPr/>
          <p:nvPr/>
        </p:nvSpPr>
        <p:spPr>
          <a:xfrm>
            <a:off x="7720842" y="8105018"/>
            <a:ext cx="2032001"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rdt_rcv()</a:t>
            </a:r>
          </a:p>
        </p:txBody>
      </p:sp>
      <p:sp>
        <p:nvSpPr>
          <p:cNvPr id="517" name="Line"/>
          <p:cNvSpPr/>
          <p:nvPr/>
        </p:nvSpPr>
        <p:spPr>
          <a:xfrm flipH="1" flipV="1">
            <a:off x="4995336" y="7910965"/>
            <a:ext cx="3053762" cy="267171"/>
          </a:xfrm>
          <a:prstGeom prst="line">
            <a:avLst/>
          </a:prstGeom>
          <a:ln w="25400">
            <a:solidFill>
              <a:srgbClr val="0433FF"/>
            </a:solidFill>
            <a:miter lim="400000"/>
            <a:headEnd type="stealth"/>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518" name="udt_send()"/>
          <p:cNvSpPr/>
          <p:nvPr/>
        </p:nvSpPr>
        <p:spPr>
          <a:xfrm>
            <a:off x="3199086" y="7244667"/>
            <a:ext cx="2601199"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udt_send()</a:t>
            </a:r>
          </a:p>
        </p:txBody>
      </p:sp>
      <p:sp>
        <p:nvSpPr>
          <p:cNvPr id="519" name="SEQ 1"/>
          <p:cNvSpPr/>
          <p:nvPr/>
        </p:nvSpPr>
        <p:spPr>
          <a:xfrm rot="260164">
            <a:off x="5882582" y="7492927"/>
            <a:ext cx="1277279"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SEQ 1</a:t>
            </a:r>
          </a:p>
        </p:txBody>
      </p:sp>
      <p:sp>
        <p:nvSpPr>
          <p:cNvPr id="520" name="deliver_data()"/>
          <p:cNvSpPr/>
          <p:nvPr/>
        </p:nvSpPr>
        <p:spPr>
          <a:xfrm>
            <a:off x="9639718" y="8845550"/>
            <a:ext cx="3293616" cy="6858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deliver_data()</a:t>
            </a:r>
          </a:p>
        </p:txBody>
      </p:sp>
      <p:sp>
        <p:nvSpPr>
          <p:cNvPr id="521" name="Line"/>
          <p:cNvSpPr/>
          <p:nvPr/>
        </p:nvSpPr>
        <p:spPr>
          <a:xfrm flipV="1">
            <a:off x="5082559" y="7558102"/>
            <a:ext cx="2834057" cy="1304245"/>
          </a:xfrm>
          <a:prstGeom prst="line">
            <a:avLst/>
          </a:prstGeom>
          <a:ln w="25400">
            <a:solidFill>
              <a:srgbClr val="0433FF"/>
            </a:solidFill>
            <a:miter lim="400000"/>
            <a:headEnd type="stealth"/>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522" name="udt_send()"/>
          <p:cNvSpPr/>
          <p:nvPr/>
        </p:nvSpPr>
        <p:spPr>
          <a:xfrm>
            <a:off x="7745627" y="6932609"/>
            <a:ext cx="2552701"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udt_send()</a:t>
            </a:r>
          </a:p>
        </p:txBody>
      </p:sp>
      <p:sp>
        <p:nvSpPr>
          <p:cNvPr id="523" name="rdt_rcv()"/>
          <p:cNvSpPr/>
          <p:nvPr/>
        </p:nvSpPr>
        <p:spPr>
          <a:xfrm>
            <a:off x="3212543" y="8714719"/>
            <a:ext cx="2222995"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rdt_rcv()</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50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8" presetClass="entr" presetSubtype="6" fill="hold" grpId="2" nodeType="clickEffect">
                                  <p:stCondLst>
                                    <p:cond delay="0"/>
                                  </p:stCondLst>
                                  <p:iterate>
                                    <p:tmAbs val="0"/>
                                  </p:iterate>
                                  <p:childTnLst>
                                    <p:set>
                                      <p:cBhvr>
                                        <p:cTn id="10" fill="hold"/>
                                        <p:tgtEl>
                                          <p:spTgt spid="503"/>
                                        </p:tgtEl>
                                        <p:attrNameLst>
                                          <p:attrName>style.visibility</p:attrName>
                                        </p:attrNameLst>
                                      </p:cBhvr>
                                      <p:to>
                                        <p:strVal val="visible"/>
                                      </p:to>
                                    </p:set>
                                    <p:animEffect transition="in" filter="strips(downRight)">
                                      <p:cBhvr>
                                        <p:cTn id="11" dur="1000"/>
                                        <p:tgtEl>
                                          <p:spTgt spid="503"/>
                                        </p:tgtEl>
                                      </p:cBhvr>
                                    </p:animEffect>
                                  </p:childTnLst>
                                </p:cTn>
                              </p:par>
                            </p:childTnLst>
                          </p:cTn>
                        </p:par>
                        <p:par>
                          <p:cTn id="12" fill="hold">
                            <p:stCondLst>
                              <p:cond delay="1000"/>
                            </p:stCondLst>
                            <p:childTnLst>
                              <p:par>
                                <p:cTn id="13" presetID="1" presetClass="entr" presetSubtype="0" fill="hold" grpId="3" nodeType="afterEffect">
                                  <p:stCondLst>
                                    <p:cond delay="300"/>
                                  </p:stCondLst>
                                  <p:iterate>
                                    <p:tmAbs val="0"/>
                                  </p:iterate>
                                  <p:childTnLst>
                                    <p:set>
                                      <p:cBhvr>
                                        <p:cTn id="14" fill="hold"/>
                                        <p:tgtEl>
                                          <p:spTgt spid="50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4" nodeType="clickEffect">
                                  <p:stCondLst>
                                    <p:cond delay="0"/>
                                  </p:stCondLst>
                                  <p:iterate>
                                    <p:tmAbs val="0"/>
                                  </p:iterate>
                                  <p:childTnLst>
                                    <p:set>
                                      <p:cBhvr>
                                        <p:cTn id="18" fill="hold"/>
                                        <p:tgtEl>
                                          <p:spTgt spid="50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5" nodeType="clickEffect">
                                  <p:stCondLst>
                                    <p:cond delay="0"/>
                                  </p:stCondLst>
                                  <p:iterate>
                                    <p:tmAbs val="0"/>
                                  </p:iterate>
                                  <p:childTnLst>
                                    <p:set>
                                      <p:cBhvr>
                                        <p:cTn id="22" fill="hold"/>
                                        <p:tgtEl>
                                          <p:spTgt spid="52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8" presetClass="entr" presetSubtype="12" fill="hold" grpId="6" nodeType="clickEffect">
                                  <p:stCondLst>
                                    <p:cond delay="0"/>
                                  </p:stCondLst>
                                  <p:iterate>
                                    <p:tmAbs val="0"/>
                                  </p:iterate>
                                  <p:childTnLst>
                                    <p:set>
                                      <p:cBhvr>
                                        <p:cTn id="26" fill="hold"/>
                                        <p:tgtEl>
                                          <p:spTgt spid="521"/>
                                        </p:tgtEl>
                                        <p:attrNameLst>
                                          <p:attrName>style.visibility</p:attrName>
                                        </p:attrNameLst>
                                      </p:cBhvr>
                                      <p:to>
                                        <p:strVal val="visible"/>
                                      </p:to>
                                    </p:set>
                                    <p:animEffect transition="in" filter="strips(downLeft)">
                                      <p:cBhvr>
                                        <p:cTn id="27" dur="1000"/>
                                        <p:tgtEl>
                                          <p:spTgt spid="521"/>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7" nodeType="clickEffect">
                                  <p:stCondLst>
                                    <p:cond delay="0"/>
                                  </p:stCondLst>
                                  <p:iterate>
                                    <p:tmAbs val="0"/>
                                  </p:iterate>
                                  <p:childTnLst>
                                    <p:set>
                                      <p:cBhvr>
                                        <p:cTn id="31" fill="hold"/>
                                        <p:tgtEl>
                                          <p:spTgt spid="523"/>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8" nodeType="clickEffect">
                                  <p:stCondLst>
                                    <p:cond delay="0"/>
                                  </p:stCondLst>
                                  <p:iterate>
                                    <p:tmAbs val="0"/>
                                  </p:iterate>
                                  <p:childTnLst>
                                    <p:set>
                                      <p:cBhvr>
                                        <p:cTn id="35" fill="hold"/>
                                        <p:tgtEl>
                                          <p:spTgt spid="515"/>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9" nodeType="clickEffect">
                                  <p:stCondLst>
                                    <p:cond delay="0"/>
                                  </p:stCondLst>
                                  <p:iterate>
                                    <p:tmAbs val="0"/>
                                  </p:iterate>
                                  <p:childTnLst>
                                    <p:set>
                                      <p:cBhvr>
                                        <p:cTn id="39" fill="hold"/>
                                        <p:tgtEl>
                                          <p:spTgt spid="518"/>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8" presetClass="entr" presetSubtype="6" fill="hold" grpId="10" nodeType="clickEffect">
                                  <p:stCondLst>
                                    <p:cond delay="0"/>
                                  </p:stCondLst>
                                  <p:iterate>
                                    <p:tmAbs val="0"/>
                                  </p:iterate>
                                  <p:childTnLst>
                                    <p:set>
                                      <p:cBhvr>
                                        <p:cTn id="43" fill="hold"/>
                                        <p:tgtEl>
                                          <p:spTgt spid="517"/>
                                        </p:tgtEl>
                                        <p:attrNameLst>
                                          <p:attrName>style.visibility</p:attrName>
                                        </p:attrNameLst>
                                      </p:cBhvr>
                                      <p:to>
                                        <p:strVal val="visible"/>
                                      </p:to>
                                    </p:set>
                                    <p:animEffect transition="in" filter="strips(downRight)">
                                      <p:cBhvr>
                                        <p:cTn id="44" dur="1000"/>
                                        <p:tgtEl>
                                          <p:spTgt spid="517"/>
                                        </p:tgtEl>
                                      </p:cBhvr>
                                    </p:animEffect>
                                  </p:childTnLst>
                                </p:cTn>
                              </p:par>
                            </p:childTnLst>
                          </p:cTn>
                        </p:par>
                        <p:par>
                          <p:cTn id="45" fill="hold">
                            <p:stCondLst>
                              <p:cond delay="1000"/>
                            </p:stCondLst>
                            <p:childTnLst>
                              <p:par>
                                <p:cTn id="46" presetID="1" presetClass="entr" presetSubtype="0" fill="hold" grpId="11" nodeType="afterEffect">
                                  <p:stCondLst>
                                    <p:cond delay="300"/>
                                  </p:stCondLst>
                                  <p:iterate>
                                    <p:tmAbs val="0"/>
                                  </p:iterate>
                                  <p:childTnLst>
                                    <p:set>
                                      <p:cBhvr>
                                        <p:cTn id="47" fill="hold"/>
                                        <p:tgtEl>
                                          <p:spTgt spid="519"/>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12" nodeType="clickEffect">
                                  <p:stCondLst>
                                    <p:cond delay="0"/>
                                  </p:stCondLst>
                                  <p:iterate>
                                    <p:tmAbs val="0"/>
                                  </p:iterate>
                                  <p:childTnLst>
                                    <p:set>
                                      <p:cBhvr>
                                        <p:cTn id="51" fill="hold"/>
                                        <p:tgtEl>
                                          <p:spTgt spid="516"/>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13" nodeType="clickEffect">
                                  <p:stCondLst>
                                    <p:cond delay="0"/>
                                  </p:stCondLst>
                                  <p:iterate>
                                    <p:tmAbs val="0"/>
                                  </p:iterate>
                                  <p:childTnLst>
                                    <p:set>
                                      <p:cBhvr>
                                        <p:cTn id="55" fill="hold"/>
                                        <p:tgtEl>
                                          <p:spTgt spid="5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2" grpId="4" animBg="1" advAuto="0"/>
      <p:bldP spid="503" grpId="2" animBg="1" advAuto="0"/>
      <p:bldP spid="504" grpId="1" animBg="1" advAuto="0"/>
      <p:bldP spid="506" grpId="3" animBg="1" advAuto="0"/>
      <p:bldP spid="515" grpId="8" animBg="1" advAuto="0"/>
      <p:bldP spid="516" grpId="12" animBg="1" advAuto="0"/>
      <p:bldP spid="517" grpId="10" animBg="1" advAuto="0"/>
      <p:bldP spid="518" grpId="9" animBg="1" advAuto="0"/>
      <p:bldP spid="519" grpId="11" animBg="1" advAuto="0"/>
      <p:bldP spid="520" grpId="13" animBg="1" advAuto="0"/>
      <p:bldP spid="521" grpId="6" animBg="1" advAuto="0"/>
      <p:bldP spid="522" grpId="5" animBg="1" advAuto="0"/>
      <p:bldP spid="523" grpId="7" animBg="1" advAuto="0"/>
    </p:bldLst>
  </p:timing>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27" name="Timeout"/>
          <p:cNvSpPr txBox="1">
            <a:spLocks noGrp="1"/>
          </p:cNvSpPr>
          <p:nvPr>
            <p:ph type="title"/>
          </p:nvPr>
        </p:nvSpPr>
        <p:spPr>
          <a:prstGeom prst="rect">
            <a:avLst/>
          </a:prstGeom>
        </p:spPr>
        <p:txBody>
          <a:bodyPr/>
          <a:lstStyle/>
          <a:p>
            <a:r>
              <a:rPr dirty="0"/>
              <a:t>Time</a:t>
            </a:r>
            <a:r>
              <a:rPr lang="fr-CH" dirty="0" err="1"/>
              <a:t>rs</a:t>
            </a:r>
            <a:r>
              <a:rPr lang="fr-CH" dirty="0"/>
              <a:t> and timeouts</a:t>
            </a:r>
            <a:endParaRPr dirty="0"/>
          </a:p>
        </p:txBody>
      </p:sp>
      <p:sp>
        <p:nvSpPr>
          <p:cNvPr id="528" name="No arrival of an expected ACK…"/>
          <p:cNvSpPr txBox="1">
            <a:spLocks noGrp="1"/>
          </p:cNvSpPr>
          <p:nvPr>
            <p:ph type="body" idx="1"/>
          </p:nvPr>
        </p:nvSpPr>
        <p:spPr>
          <a:xfrm>
            <a:off x="1168400" y="2463800"/>
            <a:ext cx="10464800" cy="5343525"/>
          </a:xfrm>
          <a:prstGeom prst="rect">
            <a:avLst/>
          </a:prstGeom>
        </p:spPr>
        <p:txBody>
          <a:bodyPr anchor="t"/>
          <a:lstStyle/>
          <a:p>
            <a:pPr>
              <a:spcBef>
                <a:spcPts val="1000"/>
              </a:spcBef>
            </a:pPr>
            <a:r>
              <a:rPr dirty="0">
                <a:solidFill>
                  <a:srgbClr val="942193"/>
                </a:solidFill>
              </a:rPr>
              <a:t>No arrival of an expected ACK</a:t>
            </a:r>
            <a:r>
              <a:rPr dirty="0"/>
              <a:t> </a:t>
            </a:r>
          </a:p>
          <a:p>
            <a:pPr lvl="1">
              <a:spcBef>
                <a:spcPts val="1000"/>
              </a:spcBef>
            </a:pPr>
            <a:r>
              <a:rPr dirty="0"/>
              <a:t>a segment was lost or delayed</a:t>
            </a:r>
          </a:p>
          <a:p>
            <a:pPr lvl="1">
              <a:spcBef>
                <a:spcPts val="4000"/>
              </a:spcBef>
            </a:pPr>
            <a:r>
              <a:rPr dirty="0"/>
              <a:t>the ACK for a segment was lost or delayed</a:t>
            </a:r>
          </a:p>
          <a:p>
            <a:pPr>
              <a:spcBef>
                <a:spcPts val="1000"/>
              </a:spcBef>
            </a:pPr>
            <a:r>
              <a:rPr dirty="0"/>
              <a:t>Sender uses it to </a:t>
            </a:r>
            <a:r>
              <a:rPr dirty="0">
                <a:solidFill>
                  <a:srgbClr val="942193"/>
                </a:solidFill>
              </a:rPr>
              <a:t>overcome data loss</a:t>
            </a:r>
          </a:p>
          <a:p>
            <a:pPr lvl="1"/>
            <a:r>
              <a:rPr dirty="0"/>
              <a:t>if the sender times out, it retransmits </a:t>
            </a:r>
          </a:p>
        </p:txBody>
      </p:sp>
      <p:sp>
        <p:nvSpPr>
          <p:cNvPr id="529"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37</a:t>
            </a:fld>
            <a:endParaRP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528">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528">
                                            <p:txEl>
                                              <p:pRg st="0" end="0"/>
                                            </p:txEl>
                                          </p:spTgt>
                                        </p:tgtEl>
                                        <p:attrNameLst>
                                          <p:attrName>style.visibility</p:attrName>
                                        </p:attrNameLst>
                                      </p:cBhvr>
                                      <p:to>
                                        <p:strVal val="visible"/>
                                      </p:to>
                                    </p:set>
                                  </p:childTnLst>
                                </p:cTn>
                              </p:par>
                              <p:par>
                                <p:cTn id="9" presetID="1" presetClass="entr" presetSubtype="0" fill="hold" grpId="1" nodeType="withEffect">
                                  <p:stCondLst>
                                    <p:cond delay="0"/>
                                  </p:stCondLst>
                                  <p:iterate>
                                    <p:tmAbs val="0"/>
                                  </p:iterate>
                                  <p:childTnLst>
                                    <p:set>
                                      <p:cBhvr>
                                        <p:cTn id="10" fill="hold"/>
                                        <p:tgtEl>
                                          <p:spTgt spid="528">
                                            <p:txEl>
                                              <p:pRg st="1" end="1"/>
                                            </p:txEl>
                                          </p:spTgt>
                                        </p:tgtEl>
                                        <p:attrNameLst>
                                          <p:attrName>style.visibility</p:attrName>
                                        </p:attrNameLst>
                                      </p:cBhvr>
                                      <p:to>
                                        <p:strVal val="visible"/>
                                      </p:to>
                                    </p:set>
                                  </p:childTnLst>
                                </p:cTn>
                              </p:par>
                              <p:par>
                                <p:cTn id="11" presetID="1" presetClass="entr" presetSubtype="0" fill="hold" grpId="1" nodeType="withEffect">
                                  <p:stCondLst>
                                    <p:cond delay="0"/>
                                  </p:stCondLst>
                                  <p:iterate>
                                    <p:tmAbs val="0"/>
                                  </p:iterate>
                                  <p:childTnLst>
                                    <p:set>
                                      <p:cBhvr>
                                        <p:cTn id="12" fill="hold"/>
                                        <p:tgtEl>
                                          <p:spTgt spid="528">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528">
                                            <p:txEl>
                                              <p:pRg st="3" end="3"/>
                                            </p:txEl>
                                          </p:spTgt>
                                        </p:tgtEl>
                                        <p:attrNameLst>
                                          <p:attrName>style.visibility</p:attrName>
                                        </p:attrNameLst>
                                      </p:cBhvr>
                                      <p:to>
                                        <p:strVal val="visible"/>
                                      </p:to>
                                    </p:set>
                                  </p:childTnLst>
                                </p:cTn>
                              </p:par>
                              <p:par>
                                <p:cTn id="17" presetID="1" presetClass="entr" presetSubtype="0" fill="hold" grpId="1" nodeType="withEffect">
                                  <p:stCondLst>
                                    <p:cond delay="0"/>
                                  </p:stCondLst>
                                  <p:iterate>
                                    <p:tmAbs val="0"/>
                                  </p:iterate>
                                  <p:childTnLst>
                                    <p:set>
                                      <p:cBhvr>
                                        <p:cTn id="18" fill="hold"/>
                                        <p:tgtEl>
                                          <p:spTgt spid="52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8" grpId="1" build="p" animBg="1" advAuto="0"/>
    </p:bldLst>
  </p:timing>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33" name="Basic elements"/>
          <p:cNvSpPr txBox="1">
            <a:spLocks noGrp="1"/>
          </p:cNvSpPr>
          <p:nvPr>
            <p:ph type="title"/>
          </p:nvPr>
        </p:nvSpPr>
        <p:spPr>
          <a:prstGeom prst="rect">
            <a:avLst/>
          </a:prstGeom>
        </p:spPr>
        <p:txBody>
          <a:bodyPr/>
          <a:lstStyle/>
          <a:p>
            <a:r>
              <a:t>Basic elements</a:t>
            </a:r>
          </a:p>
        </p:txBody>
      </p:sp>
      <p:sp>
        <p:nvSpPr>
          <p:cNvPr id="534" name="Checksums…"/>
          <p:cNvSpPr txBox="1">
            <a:spLocks noGrp="1"/>
          </p:cNvSpPr>
          <p:nvPr>
            <p:ph type="body" idx="1"/>
          </p:nvPr>
        </p:nvSpPr>
        <p:spPr>
          <a:xfrm>
            <a:off x="833214" y="2388492"/>
            <a:ext cx="11338372" cy="6252966"/>
          </a:xfrm>
          <a:prstGeom prst="rect">
            <a:avLst/>
          </a:prstGeom>
        </p:spPr>
        <p:txBody>
          <a:bodyPr anchor="t"/>
          <a:lstStyle/>
          <a:p>
            <a:pPr>
              <a:spcBef>
                <a:spcPts val="1000"/>
              </a:spcBef>
              <a:defRPr>
                <a:solidFill>
                  <a:srgbClr val="942193"/>
                </a:solidFill>
              </a:defRPr>
            </a:pPr>
            <a:r>
              <a:rPr dirty="0"/>
              <a:t>Checksums</a:t>
            </a:r>
          </a:p>
          <a:p>
            <a:pPr lvl="1">
              <a:spcBef>
                <a:spcPts val="3000"/>
              </a:spcBef>
            </a:pPr>
            <a:r>
              <a:rPr dirty="0"/>
              <a:t>detect data corruption</a:t>
            </a:r>
          </a:p>
          <a:p>
            <a:pPr>
              <a:spcBef>
                <a:spcPts val="1000"/>
              </a:spcBef>
            </a:pPr>
            <a:r>
              <a:rPr dirty="0">
                <a:solidFill>
                  <a:srgbClr val="942193"/>
                </a:solidFill>
              </a:rPr>
              <a:t>ACKs</a:t>
            </a:r>
            <a:r>
              <a:rPr dirty="0"/>
              <a:t> + </a:t>
            </a:r>
            <a:r>
              <a:rPr dirty="0">
                <a:solidFill>
                  <a:srgbClr val="942193"/>
                </a:solidFill>
              </a:rPr>
              <a:t>retransmissions</a:t>
            </a:r>
            <a:r>
              <a:rPr dirty="0"/>
              <a:t> + </a:t>
            </a:r>
            <a:r>
              <a:rPr dirty="0">
                <a:solidFill>
                  <a:srgbClr val="942193"/>
                </a:solidFill>
              </a:rPr>
              <a:t>SEQs</a:t>
            </a:r>
          </a:p>
          <a:p>
            <a:pPr lvl="1">
              <a:spcBef>
                <a:spcPts val="3000"/>
              </a:spcBef>
            </a:pPr>
            <a:r>
              <a:rPr dirty="0"/>
              <a:t>overcome </a:t>
            </a:r>
            <a:r>
              <a:rPr b="1" dirty="0"/>
              <a:t>data corruption</a:t>
            </a:r>
          </a:p>
          <a:p>
            <a:pPr>
              <a:spcBef>
                <a:spcPts val="1000"/>
              </a:spcBef>
            </a:pPr>
            <a:r>
              <a:rPr dirty="0">
                <a:solidFill>
                  <a:srgbClr val="942193"/>
                </a:solidFill>
              </a:rPr>
              <a:t>Timeouts</a:t>
            </a:r>
            <a:r>
              <a:rPr dirty="0"/>
              <a:t> + ACKs + retransmissions + SEQs</a:t>
            </a:r>
          </a:p>
          <a:p>
            <a:pPr lvl="1"/>
            <a:r>
              <a:rPr dirty="0"/>
              <a:t>overcome </a:t>
            </a:r>
            <a:r>
              <a:rPr b="1" dirty="0"/>
              <a:t>data loss </a:t>
            </a:r>
          </a:p>
        </p:txBody>
      </p:sp>
      <p:sp>
        <p:nvSpPr>
          <p:cNvPr id="535"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38</a:t>
            </a:fld>
            <a:endParaRP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534">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534">
                                            <p:txEl>
                                              <p:pRg st="0" end="0"/>
                                            </p:txEl>
                                          </p:spTgt>
                                        </p:tgtEl>
                                        <p:attrNameLst>
                                          <p:attrName>style.visibility</p:attrName>
                                        </p:attrNameLst>
                                      </p:cBhvr>
                                      <p:to>
                                        <p:strVal val="visible"/>
                                      </p:to>
                                    </p:set>
                                  </p:childTnLst>
                                </p:cTn>
                              </p:par>
                              <p:par>
                                <p:cTn id="9" presetID="1" presetClass="entr" presetSubtype="0" fill="hold" grpId="1" nodeType="withEffect">
                                  <p:stCondLst>
                                    <p:cond delay="0"/>
                                  </p:stCondLst>
                                  <p:iterate>
                                    <p:tmAbs val="0"/>
                                  </p:iterate>
                                  <p:childTnLst>
                                    <p:set>
                                      <p:cBhvr>
                                        <p:cTn id="10" fill="hold"/>
                                        <p:tgtEl>
                                          <p:spTgt spid="53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1" nodeType="clickEffect">
                                  <p:stCondLst>
                                    <p:cond delay="0"/>
                                  </p:stCondLst>
                                  <p:iterate>
                                    <p:tmAbs val="0"/>
                                  </p:iterate>
                                  <p:childTnLst>
                                    <p:set>
                                      <p:cBhvr>
                                        <p:cTn id="14" fill="hold"/>
                                        <p:tgtEl>
                                          <p:spTgt spid="534">
                                            <p:txEl>
                                              <p:pRg st="2" end="2"/>
                                            </p:txEl>
                                          </p:spTgt>
                                        </p:tgtEl>
                                        <p:attrNameLst>
                                          <p:attrName>style.visibility</p:attrName>
                                        </p:attrNameLst>
                                      </p:cBhvr>
                                      <p:to>
                                        <p:strVal val="visible"/>
                                      </p:to>
                                    </p:set>
                                  </p:childTnLst>
                                </p:cTn>
                              </p:par>
                              <p:par>
                                <p:cTn id="15" presetID="1" presetClass="entr" presetSubtype="0" fill="hold" grpId="1" nodeType="withEffect">
                                  <p:stCondLst>
                                    <p:cond delay="0"/>
                                  </p:stCondLst>
                                  <p:iterate>
                                    <p:tmAbs val="0"/>
                                  </p:iterate>
                                  <p:childTnLst>
                                    <p:set>
                                      <p:cBhvr>
                                        <p:cTn id="16" fill="hold"/>
                                        <p:tgtEl>
                                          <p:spTgt spid="534">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iterate>
                                    <p:tmAbs val="0"/>
                                  </p:iterate>
                                  <p:childTnLst>
                                    <p:set>
                                      <p:cBhvr>
                                        <p:cTn id="20" fill="hold"/>
                                        <p:tgtEl>
                                          <p:spTgt spid="534">
                                            <p:txEl>
                                              <p:pRg st="4" end="4"/>
                                            </p:txEl>
                                          </p:spTgt>
                                        </p:tgtEl>
                                        <p:attrNameLst>
                                          <p:attrName>style.visibility</p:attrName>
                                        </p:attrNameLst>
                                      </p:cBhvr>
                                      <p:to>
                                        <p:strVal val="visible"/>
                                      </p:to>
                                    </p:set>
                                  </p:childTnLst>
                                </p:cTn>
                              </p:par>
                              <p:par>
                                <p:cTn id="21" presetID="1" presetClass="entr" presetSubtype="0" fill="hold" grpId="1" nodeType="withEffect">
                                  <p:stCondLst>
                                    <p:cond delay="0"/>
                                  </p:stCondLst>
                                  <p:iterate>
                                    <p:tmAbs val="0"/>
                                  </p:iterate>
                                  <p:childTnLst>
                                    <p:set>
                                      <p:cBhvr>
                                        <p:cTn id="22" fill="hold"/>
                                        <p:tgtEl>
                                          <p:spTgt spid="53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4" grpId="1" build="p" animBg="1" advAuto="0"/>
    </p:bldLst>
  </p:timing>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37" name="Rectangle"/>
          <p:cNvSpPr/>
          <p:nvPr/>
        </p:nvSpPr>
        <p:spPr>
          <a:xfrm>
            <a:off x="8220667" y="-187354"/>
            <a:ext cx="3754842" cy="10128308"/>
          </a:xfrm>
          <a:prstGeom prst="rect">
            <a:avLst/>
          </a:prstGeom>
          <a:solidFill>
            <a:srgbClr val="FFD479"/>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538" name="Rectangle"/>
          <p:cNvSpPr/>
          <p:nvPr/>
        </p:nvSpPr>
        <p:spPr>
          <a:xfrm>
            <a:off x="976672" y="-187354"/>
            <a:ext cx="3754842" cy="10128308"/>
          </a:xfrm>
          <a:prstGeom prst="rect">
            <a:avLst/>
          </a:prstGeom>
          <a:solidFill>
            <a:srgbClr val="FFD479"/>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539"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39</a:t>
            </a:fld>
            <a:endParaRPr/>
          </a:p>
        </p:txBody>
      </p:sp>
      <p:sp>
        <p:nvSpPr>
          <p:cNvPr id="540" name="ACK 0"/>
          <p:cNvSpPr/>
          <p:nvPr/>
        </p:nvSpPr>
        <p:spPr>
          <a:xfrm rot="19795886">
            <a:off x="5830272" y="3289405"/>
            <a:ext cx="1257301"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ACK 0</a:t>
            </a:r>
          </a:p>
        </p:txBody>
      </p:sp>
      <p:sp>
        <p:nvSpPr>
          <p:cNvPr id="541" name="SEQ 1"/>
          <p:cNvSpPr/>
          <p:nvPr/>
        </p:nvSpPr>
        <p:spPr>
          <a:xfrm rot="1673837">
            <a:off x="5863416" y="5223120"/>
            <a:ext cx="1447801"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SEQ 1</a:t>
            </a:r>
          </a:p>
        </p:txBody>
      </p:sp>
      <p:sp>
        <p:nvSpPr>
          <p:cNvPr id="542" name="SEQ 0"/>
          <p:cNvSpPr/>
          <p:nvPr/>
        </p:nvSpPr>
        <p:spPr>
          <a:xfrm rot="1631915">
            <a:off x="5844416" y="1711559"/>
            <a:ext cx="1665429"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SEQ 0</a:t>
            </a:r>
          </a:p>
        </p:txBody>
      </p:sp>
      <p:sp>
        <p:nvSpPr>
          <p:cNvPr id="543" name="ACK 1"/>
          <p:cNvSpPr/>
          <p:nvPr/>
        </p:nvSpPr>
        <p:spPr>
          <a:xfrm rot="19762584">
            <a:off x="5738705" y="6898231"/>
            <a:ext cx="1257301"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ACK 1</a:t>
            </a:r>
          </a:p>
        </p:txBody>
      </p:sp>
      <p:sp>
        <p:nvSpPr>
          <p:cNvPr id="544" name="Line"/>
          <p:cNvSpPr/>
          <p:nvPr/>
        </p:nvSpPr>
        <p:spPr>
          <a:xfrm flipH="1" flipV="1">
            <a:off x="4981855" y="4962692"/>
            <a:ext cx="2920354" cy="1507896"/>
          </a:xfrm>
          <a:prstGeom prst="line">
            <a:avLst/>
          </a:prstGeom>
          <a:ln w="25400">
            <a:solidFill>
              <a:srgbClr val="0433FF"/>
            </a:solidFill>
            <a:miter lim="400000"/>
            <a:headEnd type="stealth"/>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545" name="Line"/>
          <p:cNvSpPr/>
          <p:nvPr/>
        </p:nvSpPr>
        <p:spPr>
          <a:xfrm flipV="1">
            <a:off x="4899118" y="2980970"/>
            <a:ext cx="3107770" cy="1777852"/>
          </a:xfrm>
          <a:prstGeom prst="line">
            <a:avLst/>
          </a:prstGeom>
          <a:ln w="25400">
            <a:solidFill>
              <a:srgbClr val="0433FF"/>
            </a:solidFill>
            <a:miter lim="400000"/>
            <a:headEnd type="stealth"/>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546" name="Line"/>
          <p:cNvSpPr/>
          <p:nvPr/>
        </p:nvSpPr>
        <p:spPr>
          <a:xfrm flipH="1" flipV="1">
            <a:off x="4905430" y="1412457"/>
            <a:ext cx="3092140" cy="1507898"/>
          </a:xfrm>
          <a:prstGeom prst="line">
            <a:avLst/>
          </a:prstGeom>
          <a:ln w="25400">
            <a:solidFill>
              <a:srgbClr val="0433FF"/>
            </a:solidFill>
            <a:miter lim="400000"/>
            <a:headEnd type="stealth"/>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547" name="Line"/>
          <p:cNvSpPr/>
          <p:nvPr/>
        </p:nvSpPr>
        <p:spPr>
          <a:xfrm flipV="1">
            <a:off x="4972272" y="6522134"/>
            <a:ext cx="2949025" cy="1807202"/>
          </a:xfrm>
          <a:prstGeom prst="line">
            <a:avLst/>
          </a:prstGeom>
          <a:ln w="25400">
            <a:solidFill>
              <a:srgbClr val="0433FF"/>
            </a:solidFill>
            <a:miter lim="400000"/>
            <a:headEnd type="stealth"/>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548" name="Line"/>
          <p:cNvSpPr/>
          <p:nvPr/>
        </p:nvSpPr>
        <p:spPr>
          <a:xfrm>
            <a:off x="4671916" y="1371250"/>
            <a:ext cx="1" cy="225621"/>
          </a:xfrm>
          <a:prstGeom prst="line">
            <a:avLst/>
          </a:prstGeom>
          <a:ln w="381000">
            <a:solidFill>
              <a:srgbClr val="942193"/>
            </a:solidFill>
            <a:miter lim="400000"/>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549" name="Line"/>
          <p:cNvSpPr/>
          <p:nvPr/>
        </p:nvSpPr>
        <p:spPr>
          <a:xfrm>
            <a:off x="4691648" y="4914900"/>
            <a:ext cx="1" cy="225621"/>
          </a:xfrm>
          <a:prstGeom prst="line">
            <a:avLst/>
          </a:prstGeom>
          <a:ln w="381000">
            <a:solidFill>
              <a:srgbClr val="942193"/>
            </a:solidFill>
            <a:miter lim="400000"/>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550" name="Line"/>
          <p:cNvSpPr/>
          <p:nvPr/>
        </p:nvSpPr>
        <p:spPr>
          <a:xfrm flipH="1">
            <a:off x="4664204" y="1676400"/>
            <a:ext cx="8153" cy="3090882"/>
          </a:xfrm>
          <a:prstGeom prst="line">
            <a:avLst/>
          </a:prstGeom>
          <a:ln w="381000">
            <a:solidFill>
              <a:srgbClr val="942193"/>
            </a:solidFill>
            <a:miter lim="400000"/>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551" name="Line"/>
          <p:cNvSpPr/>
          <p:nvPr/>
        </p:nvSpPr>
        <p:spPr>
          <a:xfrm>
            <a:off x="4687513" y="5257797"/>
            <a:ext cx="3" cy="3102983"/>
          </a:xfrm>
          <a:prstGeom prst="line">
            <a:avLst/>
          </a:prstGeom>
          <a:ln w="381000">
            <a:solidFill>
              <a:srgbClr val="942193"/>
            </a:solidFill>
            <a:miter lim="400000"/>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552" name="transmission"/>
          <p:cNvSpPr/>
          <p:nvPr/>
        </p:nvSpPr>
        <p:spPr>
          <a:xfrm>
            <a:off x="1601141" y="1137500"/>
            <a:ext cx="2653592"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r">
              <a:defRPr sz="3200">
                <a:solidFill>
                  <a:srgbClr val="942193"/>
                </a:solidFill>
                <a:latin typeface="+mn-lt"/>
                <a:ea typeface="+mn-ea"/>
                <a:cs typeface="+mn-cs"/>
                <a:sym typeface="Chalkboard SE Regular"/>
              </a:defRPr>
            </a:lvl1pPr>
          </a:lstStyle>
          <a:p>
            <a:r>
              <a:t>transmission</a:t>
            </a:r>
          </a:p>
        </p:txBody>
      </p:sp>
      <p:sp>
        <p:nvSpPr>
          <p:cNvPr id="553" name="RTT"/>
          <p:cNvSpPr/>
          <p:nvPr/>
        </p:nvSpPr>
        <p:spPr>
          <a:xfrm>
            <a:off x="1981200" y="2667000"/>
            <a:ext cx="2273300" cy="6858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r">
              <a:defRPr sz="3200">
                <a:solidFill>
                  <a:srgbClr val="942193"/>
                </a:solidFill>
                <a:latin typeface="+mn-lt"/>
                <a:ea typeface="+mn-ea"/>
                <a:cs typeface="+mn-cs"/>
                <a:sym typeface="Chalkboard SE Regular"/>
              </a:defRPr>
            </a:lvl1pPr>
          </a:lstStyle>
          <a:p>
            <a:r>
              <a:t>RTT</a:t>
            </a:r>
          </a:p>
        </p:txBody>
      </p:sp>
      <p:sp>
        <p:nvSpPr>
          <p:cNvPr id="554" name="transmission"/>
          <p:cNvSpPr/>
          <p:nvPr/>
        </p:nvSpPr>
        <p:spPr>
          <a:xfrm>
            <a:off x="1601373" y="4584700"/>
            <a:ext cx="2653127" cy="6858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r">
              <a:defRPr sz="3200">
                <a:solidFill>
                  <a:srgbClr val="942193"/>
                </a:solidFill>
                <a:latin typeface="+mn-lt"/>
                <a:ea typeface="+mn-ea"/>
                <a:cs typeface="+mn-cs"/>
                <a:sym typeface="Chalkboard SE Regular"/>
              </a:defRPr>
            </a:lvl1pPr>
          </a:lstStyle>
          <a:p>
            <a:r>
              <a:t>transmission</a:t>
            </a:r>
          </a:p>
        </p:txBody>
      </p:sp>
      <p:sp>
        <p:nvSpPr>
          <p:cNvPr id="555" name="RTT"/>
          <p:cNvSpPr/>
          <p:nvPr/>
        </p:nvSpPr>
        <p:spPr>
          <a:xfrm>
            <a:off x="2082800" y="6184900"/>
            <a:ext cx="2171700" cy="6858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r">
              <a:defRPr sz="3200">
                <a:solidFill>
                  <a:srgbClr val="942193"/>
                </a:solidFill>
                <a:latin typeface="+mn-lt"/>
                <a:ea typeface="+mn-ea"/>
                <a:cs typeface="+mn-cs"/>
                <a:sym typeface="Chalkboard SE Regular"/>
              </a:defRPr>
            </a:lvl1pPr>
          </a:lstStyle>
          <a:p>
            <a:r>
              <a:t>RTT</a:t>
            </a:r>
          </a:p>
        </p:txBody>
      </p:sp>
      <p:sp>
        <p:nvSpPr>
          <p:cNvPr id="556" name="Rounded Rectangle"/>
          <p:cNvSpPr/>
          <p:nvPr/>
        </p:nvSpPr>
        <p:spPr>
          <a:xfrm>
            <a:off x="7556500" y="1308100"/>
            <a:ext cx="5183039" cy="8174385"/>
          </a:xfrm>
          <a:prstGeom prst="roundRect">
            <a:avLst>
              <a:gd name="adj" fmla="val 3675"/>
            </a:avLst>
          </a:prstGeom>
          <a:ln w="25400">
            <a:solidFill>
              <a:srgbClr val="0096FF"/>
            </a:solidFill>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557" name="Alice’s computer"/>
          <p:cNvSpPr/>
          <p:nvPr/>
        </p:nvSpPr>
        <p:spPr>
          <a:xfrm>
            <a:off x="644293" y="435168"/>
            <a:ext cx="4419601" cy="81876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lvl1pPr>
              <a:defRPr sz="4000">
                <a:solidFill>
                  <a:srgbClr val="0096FF"/>
                </a:solidFill>
                <a:latin typeface="+mn-lt"/>
                <a:ea typeface="+mn-ea"/>
                <a:cs typeface="+mn-cs"/>
                <a:sym typeface="Chalkboard SE Regular"/>
              </a:defRPr>
            </a:lvl1pPr>
          </a:lstStyle>
          <a:p>
            <a:r>
              <a:t>Alice’s computer</a:t>
            </a:r>
          </a:p>
        </p:txBody>
      </p:sp>
      <p:sp>
        <p:nvSpPr>
          <p:cNvPr id="558" name="Bob’s computer"/>
          <p:cNvSpPr/>
          <p:nvPr/>
        </p:nvSpPr>
        <p:spPr>
          <a:xfrm>
            <a:off x="8001000" y="435168"/>
            <a:ext cx="4419600" cy="81876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lvl1pPr>
              <a:defRPr sz="4000">
                <a:solidFill>
                  <a:srgbClr val="0096FF"/>
                </a:solidFill>
                <a:latin typeface="+mn-lt"/>
                <a:ea typeface="+mn-ea"/>
                <a:cs typeface="+mn-cs"/>
                <a:sym typeface="Chalkboard SE Regular"/>
              </a:defRPr>
            </a:lvl1pPr>
          </a:lstStyle>
          <a:p>
            <a:r>
              <a:t>Bob’s computer</a:t>
            </a:r>
          </a:p>
        </p:txBody>
      </p:sp>
      <p:sp>
        <p:nvSpPr>
          <p:cNvPr id="559" name="Rounded Rectangle"/>
          <p:cNvSpPr/>
          <p:nvPr/>
        </p:nvSpPr>
        <p:spPr>
          <a:xfrm>
            <a:off x="277589" y="1308100"/>
            <a:ext cx="5183040" cy="8174385"/>
          </a:xfrm>
          <a:prstGeom prst="roundRect">
            <a:avLst>
              <a:gd name="adj" fmla="val 3675"/>
            </a:avLst>
          </a:prstGeom>
          <a:ln w="25400">
            <a:solidFill>
              <a:srgbClr val="0096FF"/>
            </a:solidFill>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22" presetClass="entr" presetSubtype="8" fill="hold" grpId="1" nodeType="clickEffect">
                                  <p:stCondLst>
                                    <p:cond delay="0"/>
                                  </p:stCondLst>
                                  <p:iterate>
                                    <p:tmAbs val="0"/>
                                  </p:iterate>
                                  <p:childTnLst>
                                    <p:set>
                                      <p:cBhvr>
                                        <p:cTn id="6" fill="hold"/>
                                        <p:tgtEl>
                                          <p:spTgt spid="546"/>
                                        </p:tgtEl>
                                        <p:attrNameLst>
                                          <p:attrName>style.visibility</p:attrName>
                                        </p:attrNameLst>
                                      </p:cBhvr>
                                      <p:to>
                                        <p:strVal val="visible"/>
                                      </p:to>
                                    </p:set>
                                    <p:animEffect transition="in" filter="wipe(left)">
                                      <p:cBhvr>
                                        <p:cTn id="7" dur="1500"/>
                                        <p:tgtEl>
                                          <p:spTgt spid="546"/>
                                        </p:tgtEl>
                                      </p:cBhvr>
                                    </p:animEffect>
                                  </p:childTnLst>
                                </p:cTn>
                              </p:par>
                            </p:childTnLst>
                          </p:cTn>
                        </p:par>
                        <p:par>
                          <p:cTn id="8" fill="hold">
                            <p:stCondLst>
                              <p:cond delay="1500"/>
                            </p:stCondLst>
                            <p:childTnLst>
                              <p:par>
                                <p:cTn id="9" presetID="1" presetClass="entr" presetSubtype="0" fill="hold" grpId="2" nodeType="afterEffect">
                                  <p:stCondLst>
                                    <p:cond delay="0"/>
                                  </p:stCondLst>
                                  <p:iterate>
                                    <p:tmAbs val="0"/>
                                  </p:iterate>
                                  <p:childTnLst>
                                    <p:set>
                                      <p:cBhvr>
                                        <p:cTn id="10" fill="hold"/>
                                        <p:tgtEl>
                                          <p:spTgt spid="542"/>
                                        </p:tgtEl>
                                        <p:attrNameLst>
                                          <p:attrName>style.visibility</p:attrName>
                                        </p:attrNameLst>
                                      </p:cBhvr>
                                      <p:to>
                                        <p:strVal val="visible"/>
                                      </p:to>
                                    </p:set>
                                  </p:childTnLst>
                                </p:cTn>
                              </p:par>
                            </p:childTnLst>
                          </p:cTn>
                        </p:par>
                        <p:par>
                          <p:cTn id="11" fill="hold">
                            <p:stCondLst>
                              <p:cond delay="1500"/>
                            </p:stCondLst>
                            <p:childTnLst>
                              <p:par>
                                <p:cTn id="12" presetID="22" presetClass="entr" presetSubtype="2" fill="hold" grpId="3" nodeType="afterEffect">
                                  <p:stCondLst>
                                    <p:cond delay="500"/>
                                  </p:stCondLst>
                                  <p:iterate>
                                    <p:tmAbs val="0"/>
                                  </p:iterate>
                                  <p:childTnLst>
                                    <p:set>
                                      <p:cBhvr>
                                        <p:cTn id="13" fill="hold"/>
                                        <p:tgtEl>
                                          <p:spTgt spid="545"/>
                                        </p:tgtEl>
                                        <p:attrNameLst>
                                          <p:attrName>style.visibility</p:attrName>
                                        </p:attrNameLst>
                                      </p:cBhvr>
                                      <p:to>
                                        <p:strVal val="visible"/>
                                      </p:to>
                                    </p:set>
                                    <p:animEffect transition="in" filter="wipe(right)">
                                      <p:cBhvr>
                                        <p:cTn id="14" dur="1500"/>
                                        <p:tgtEl>
                                          <p:spTgt spid="545"/>
                                        </p:tgtEl>
                                      </p:cBhvr>
                                    </p:animEffect>
                                  </p:childTnLst>
                                </p:cTn>
                              </p:par>
                            </p:childTnLst>
                          </p:cTn>
                        </p:par>
                        <p:par>
                          <p:cTn id="15" fill="hold">
                            <p:stCondLst>
                              <p:cond delay="3500"/>
                            </p:stCondLst>
                            <p:childTnLst>
                              <p:par>
                                <p:cTn id="16" presetID="1" presetClass="entr" presetSubtype="0" fill="hold" grpId="4" nodeType="afterEffect">
                                  <p:stCondLst>
                                    <p:cond delay="0"/>
                                  </p:stCondLst>
                                  <p:iterate>
                                    <p:tmAbs val="0"/>
                                  </p:iterate>
                                  <p:childTnLst>
                                    <p:set>
                                      <p:cBhvr>
                                        <p:cTn id="17" fill="hold"/>
                                        <p:tgtEl>
                                          <p:spTgt spid="540"/>
                                        </p:tgtEl>
                                        <p:attrNameLst>
                                          <p:attrName>style.visibility</p:attrName>
                                        </p:attrNameLst>
                                      </p:cBhvr>
                                      <p:to>
                                        <p:strVal val="visible"/>
                                      </p:to>
                                    </p:set>
                                  </p:childTnLst>
                                </p:cTn>
                              </p:par>
                            </p:childTnLst>
                          </p:cTn>
                        </p:par>
                        <p:par>
                          <p:cTn id="18" fill="hold">
                            <p:stCondLst>
                              <p:cond delay="3500"/>
                            </p:stCondLst>
                            <p:childTnLst>
                              <p:par>
                                <p:cTn id="19" presetID="22" presetClass="entr" presetSubtype="8" fill="hold" grpId="5" nodeType="afterEffect">
                                  <p:stCondLst>
                                    <p:cond delay="500"/>
                                  </p:stCondLst>
                                  <p:iterate>
                                    <p:tmAbs val="0"/>
                                  </p:iterate>
                                  <p:childTnLst>
                                    <p:set>
                                      <p:cBhvr>
                                        <p:cTn id="20" fill="hold"/>
                                        <p:tgtEl>
                                          <p:spTgt spid="544"/>
                                        </p:tgtEl>
                                        <p:attrNameLst>
                                          <p:attrName>style.visibility</p:attrName>
                                        </p:attrNameLst>
                                      </p:cBhvr>
                                      <p:to>
                                        <p:strVal val="visible"/>
                                      </p:to>
                                    </p:set>
                                    <p:animEffect transition="in" filter="wipe(left)">
                                      <p:cBhvr>
                                        <p:cTn id="21" dur="1500"/>
                                        <p:tgtEl>
                                          <p:spTgt spid="544"/>
                                        </p:tgtEl>
                                      </p:cBhvr>
                                    </p:animEffect>
                                  </p:childTnLst>
                                </p:cTn>
                              </p:par>
                            </p:childTnLst>
                          </p:cTn>
                        </p:par>
                        <p:par>
                          <p:cTn id="22" fill="hold">
                            <p:stCondLst>
                              <p:cond delay="5500"/>
                            </p:stCondLst>
                            <p:childTnLst>
                              <p:par>
                                <p:cTn id="23" presetID="1" presetClass="entr" presetSubtype="0" fill="hold" grpId="6" nodeType="afterEffect">
                                  <p:stCondLst>
                                    <p:cond delay="0"/>
                                  </p:stCondLst>
                                  <p:iterate>
                                    <p:tmAbs val="0"/>
                                  </p:iterate>
                                  <p:childTnLst>
                                    <p:set>
                                      <p:cBhvr>
                                        <p:cTn id="24" fill="hold"/>
                                        <p:tgtEl>
                                          <p:spTgt spid="541"/>
                                        </p:tgtEl>
                                        <p:attrNameLst>
                                          <p:attrName>style.visibility</p:attrName>
                                        </p:attrNameLst>
                                      </p:cBhvr>
                                      <p:to>
                                        <p:strVal val="visible"/>
                                      </p:to>
                                    </p:set>
                                  </p:childTnLst>
                                </p:cTn>
                              </p:par>
                            </p:childTnLst>
                          </p:cTn>
                        </p:par>
                        <p:par>
                          <p:cTn id="25" fill="hold">
                            <p:stCondLst>
                              <p:cond delay="5500"/>
                            </p:stCondLst>
                            <p:childTnLst>
                              <p:par>
                                <p:cTn id="26" presetID="22" presetClass="entr" presetSubtype="2" fill="hold" grpId="7" nodeType="afterEffect">
                                  <p:stCondLst>
                                    <p:cond delay="500"/>
                                  </p:stCondLst>
                                  <p:iterate>
                                    <p:tmAbs val="0"/>
                                  </p:iterate>
                                  <p:childTnLst>
                                    <p:set>
                                      <p:cBhvr>
                                        <p:cTn id="27" fill="hold"/>
                                        <p:tgtEl>
                                          <p:spTgt spid="547"/>
                                        </p:tgtEl>
                                        <p:attrNameLst>
                                          <p:attrName>style.visibility</p:attrName>
                                        </p:attrNameLst>
                                      </p:cBhvr>
                                      <p:to>
                                        <p:strVal val="visible"/>
                                      </p:to>
                                    </p:set>
                                    <p:animEffect transition="in" filter="wipe(right)">
                                      <p:cBhvr>
                                        <p:cTn id="28" dur="1500"/>
                                        <p:tgtEl>
                                          <p:spTgt spid="547"/>
                                        </p:tgtEl>
                                      </p:cBhvr>
                                    </p:animEffect>
                                  </p:childTnLst>
                                </p:cTn>
                              </p:par>
                            </p:childTnLst>
                          </p:cTn>
                        </p:par>
                        <p:par>
                          <p:cTn id="29" fill="hold">
                            <p:stCondLst>
                              <p:cond delay="7500"/>
                            </p:stCondLst>
                            <p:childTnLst>
                              <p:par>
                                <p:cTn id="30" presetID="1" presetClass="entr" presetSubtype="0" fill="hold" grpId="8" nodeType="afterEffect">
                                  <p:stCondLst>
                                    <p:cond delay="0"/>
                                  </p:stCondLst>
                                  <p:iterate>
                                    <p:tmAbs val="0"/>
                                  </p:iterate>
                                  <p:childTnLst>
                                    <p:set>
                                      <p:cBhvr>
                                        <p:cTn id="31" fill="hold"/>
                                        <p:tgtEl>
                                          <p:spTgt spid="543"/>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grpId="9" nodeType="clickEffect">
                                  <p:stCondLst>
                                    <p:cond delay="0"/>
                                  </p:stCondLst>
                                  <p:iterate>
                                    <p:tmAbs val="0"/>
                                  </p:iterate>
                                  <p:childTnLst>
                                    <p:set>
                                      <p:cBhvr>
                                        <p:cTn id="35" fill="hold"/>
                                        <p:tgtEl>
                                          <p:spTgt spid="548"/>
                                        </p:tgtEl>
                                        <p:attrNameLst>
                                          <p:attrName>style.visibility</p:attrName>
                                        </p:attrNameLst>
                                      </p:cBhvr>
                                      <p:to>
                                        <p:strVal val="visible"/>
                                      </p:to>
                                    </p:set>
                                    <p:animEffect transition="in" filter="wipe(up)">
                                      <p:cBhvr>
                                        <p:cTn id="36" dur="250"/>
                                        <p:tgtEl>
                                          <p:spTgt spid="548"/>
                                        </p:tgtEl>
                                      </p:cBhvr>
                                    </p:animEffect>
                                  </p:childTnLst>
                                </p:cTn>
                              </p:par>
                            </p:childTnLst>
                          </p:cTn>
                        </p:par>
                        <p:par>
                          <p:cTn id="37" fill="hold">
                            <p:stCondLst>
                              <p:cond delay="250"/>
                            </p:stCondLst>
                            <p:childTnLst>
                              <p:par>
                                <p:cTn id="38" presetID="1" presetClass="entr" presetSubtype="0" fill="hold" grpId="10" nodeType="afterEffect">
                                  <p:stCondLst>
                                    <p:cond delay="500"/>
                                  </p:stCondLst>
                                  <p:iterate>
                                    <p:tmAbs val="0"/>
                                  </p:iterate>
                                  <p:childTnLst>
                                    <p:set>
                                      <p:cBhvr>
                                        <p:cTn id="39" fill="hold"/>
                                        <p:tgtEl>
                                          <p:spTgt spid="552"/>
                                        </p:tgtEl>
                                        <p:attrNameLst>
                                          <p:attrName>style.visibility</p:attrName>
                                        </p:attrNameLst>
                                      </p:cBhvr>
                                      <p:to>
                                        <p:strVal val="visible"/>
                                      </p:to>
                                    </p:set>
                                  </p:childTnLst>
                                </p:cTn>
                              </p:par>
                            </p:childTnLst>
                          </p:cTn>
                        </p:par>
                        <p:par>
                          <p:cTn id="40" fill="hold">
                            <p:stCondLst>
                              <p:cond delay="750"/>
                            </p:stCondLst>
                            <p:childTnLst>
                              <p:par>
                                <p:cTn id="41" presetID="22" presetClass="entr" presetSubtype="1" fill="hold" grpId="11" nodeType="afterEffect">
                                  <p:stCondLst>
                                    <p:cond delay="0"/>
                                  </p:stCondLst>
                                  <p:iterate>
                                    <p:tmAbs val="0"/>
                                  </p:iterate>
                                  <p:childTnLst>
                                    <p:set>
                                      <p:cBhvr>
                                        <p:cTn id="42" fill="hold"/>
                                        <p:tgtEl>
                                          <p:spTgt spid="550"/>
                                        </p:tgtEl>
                                        <p:attrNameLst>
                                          <p:attrName>style.visibility</p:attrName>
                                        </p:attrNameLst>
                                      </p:cBhvr>
                                      <p:to>
                                        <p:strVal val="visible"/>
                                      </p:to>
                                    </p:set>
                                    <p:animEffect transition="in" filter="wipe(up)">
                                      <p:cBhvr>
                                        <p:cTn id="43" dur="2000"/>
                                        <p:tgtEl>
                                          <p:spTgt spid="550"/>
                                        </p:tgtEl>
                                      </p:cBhvr>
                                    </p:animEffect>
                                  </p:childTnLst>
                                </p:cTn>
                              </p:par>
                            </p:childTnLst>
                          </p:cTn>
                        </p:par>
                        <p:par>
                          <p:cTn id="44" fill="hold">
                            <p:stCondLst>
                              <p:cond delay="2750"/>
                            </p:stCondLst>
                            <p:childTnLst>
                              <p:par>
                                <p:cTn id="45" presetID="1" presetClass="entr" presetSubtype="0" fill="hold" grpId="12" nodeType="afterEffect">
                                  <p:stCondLst>
                                    <p:cond delay="1000"/>
                                  </p:stCondLst>
                                  <p:iterate>
                                    <p:tmAbs val="0"/>
                                  </p:iterate>
                                  <p:childTnLst>
                                    <p:set>
                                      <p:cBhvr>
                                        <p:cTn id="46" fill="hold"/>
                                        <p:tgtEl>
                                          <p:spTgt spid="55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22" presetClass="entr" presetSubtype="1" fill="hold" grpId="13" nodeType="clickEffect">
                                  <p:stCondLst>
                                    <p:cond delay="0"/>
                                  </p:stCondLst>
                                  <p:iterate>
                                    <p:tmAbs val="0"/>
                                  </p:iterate>
                                  <p:childTnLst>
                                    <p:set>
                                      <p:cBhvr>
                                        <p:cTn id="50" fill="hold"/>
                                        <p:tgtEl>
                                          <p:spTgt spid="549"/>
                                        </p:tgtEl>
                                        <p:attrNameLst>
                                          <p:attrName>style.visibility</p:attrName>
                                        </p:attrNameLst>
                                      </p:cBhvr>
                                      <p:to>
                                        <p:strVal val="visible"/>
                                      </p:to>
                                    </p:set>
                                    <p:animEffect transition="in" filter="wipe(up)">
                                      <p:cBhvr>
                                        <p:cTn id="51" dur="250"/>
                                        <p:tgtEl>
                                          <p:spTgt spid="549"/>
                                        </p:tgtEl>
                                      </p:cBhvr>
                                    </p:animEffect>
                                  </p:childTnLst>
                                </p:cTn>
                              </p:par>
                            </p:childTnLst>
                          </p:cTn>
                        </p:par>
                        <p:par>
                          <p:cTn id="52" fill="hold">
                            <p:stCondLst>
                              <p:cond delay="250"/>
                            </p:stCondLst>
                            <p:childTnLst>
                              <p:par>
                                <p:cTn id="53" presetID="1" presetClass="entr" presetSubtype="0" fill="hold" grpId="14" nodeType="afterEffect">
                                  <p:stCondLst>
                                    <p:cond delay="500"/>
                                  </p:stCondLst>
                                  <p:iterate>
                                    <p:tmAbs val="0"/>
                                  </p:iterate>
                                  <p:childTnLst>
                                    <p:set>
                                      <p:cBhvr>
                                        <p:cTn id="54" fill="hold"/>
                                        <p:tgtEl>
                                          <p:spTgt spid="554"/>
                                        </p:tgtEl>
                                        <p:attrNameLst>
                                          <p:attrName>style.visibility</p:attrName>
                                        </p:attrNameLst>
                                      </p:cBhvr>
                                      <p:to>
                                        <p:strVal val="visible"/>
                                      </p:to>
                                    </p:set>
                                  </p:childTnLst>
                                </p:cTn>
                              </p:par>
                            </p:childTnLst>
                          </p:cTn>
                        </p:par>
                        <p:par>
                          <p:cTn id="55" fill="hold">
                            <p:stCondLst>
                              <p:cond delay="750"/>
                            </p:stCondLst>
                            <p:childTnLst>
                              <p:par>
                                <p:cTn id="56" presetID="22" presetClass="entr" presetSubtype="1" fill="hold" grpId="15" nodeType="afterEffect">
                                  <p:stCondLst>
                                    <p:cond delay="0"/>
                                  </p:stCondLst>
                                  <p:iterate>
                                    <p:tmAbs val="0"/>
                                  </p:iterate>
                                  <p:childTnLst>
                                    <p:set>
                                      <p:cBhvr>
                                        <p:cTn id="57" fill="hold"/>
                                        <p:tgtEl>
                                          <p:spTgt spid="551"/>
                                        </p:tgtEl>
                                        <p:attrNameLst>
                                          <p:attrName>style.visibility</p:attrName>
                                        </p:attrNameLst>
                                      </p:cBhvr>
                                      <p:to>
                                        <p:strVal val="visible"/>
                                      </p:to>
                                    </p:set>
                                    <p:animEffect transition="in" filter="wipe(up)">
                                      <p:cBhvr>
                                        <p:cTn id="58" dur="2000"/>
                                        <p:tgtEl>
                                          <p:spTgt spid="551"/>
                                        </p:tgtEl>
                                      </p:cBhvr>
                                    </p:animEffect>
                                  </p:childTnLst>
                                </p:cTn>
                              </p:par>
                            </p:childTnLst>
                          </p:cTn>
                        </p:par>
                        <p:par>
                          <p:cTn id="59" fill="hold">
                            <p:stCondLst>
                              <p:cond delay="2750"/>
                            </p:stCondLst>
                            <p:childTnLst>
                              <p:par>
                                <p:cTn id="60" presetID="1" presetClass="entr" presetSubtype="0" fill="hold" grpId="16" nodeType="afterEffect">
                                  <p:stCondLst>
                                    <p:cond delay="1000"/>
                                  </p:stCondLst>
                                  <p:iterate>
                                    <p:tmAbs val="0"/>
                                  </p:iterate>
                                  <p:childTnLst>
                                    <p:set>
                                      <p:cBhvr>
                                        <p:cTn id="61" fill="hold"/>
                                        <p:tgtEl>
                                          <p:spTgt spid="5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0" grpId="4" animBg="1" advAuto="0"/>
      <p:bldP spid="541" grpId="6" animBg="1" advAuto="0"/>
      <p:bldP spid="542" grpId="2" animBg="1" advAuto="0"/>
      <p:bldP spid="543" grpId="8" animBg="1" advAuto="0"/>
      <p:bldP spid="544" grpId="5" animBg="1" advAuto="0"/>
      <p:bldP spid="545" grpId="3" animBg="1" advAuto="0"/>
      <p:bldP spid="546" grpId="1" animBg="1" advAuto="0"/>
      <p:bldP spid="547" grpId="7" animBg="1" advAuto="0"/>
      <p:bldP spid="548" grpId="9" animBg="1" advAuto="0"/>
      <p:bldP spid="549" grpId="13" animBg="1" advAuto="0"/>
      <p:bldP spid="550" grpId="11" animBg="1" advAuto="0"/>
      <p:bldP spid="551" grpId="15" animBg="1" advAuto="0"/>
      <p:bldP spid="552" grpId="10" animBg="1" advAuto="0"/>
      <p:bldP spid="553" grpId="12" animBg="1" advAuto="0"/>
      <p:bldP spid="554" grpId="14" animBg="1" advAuto="0"/>
      <p:bldP spid="555" grpId="16" animBg="1" advAuto="0"/>
    </p:bldLst>
  </p:timing>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63" name="Line"/>
          <p:cNvSpPr/>
          <p:nvPr/>
        </p:nvSpPr>
        <p:spPr>
          <a:xfrm flipV="1">
            <a:off x="2067070" y="3639026"/>
            <a:ext cx="8862409" cy="8"/>
          </a:xfrm>
          <a:prstGeom prst="line">
            <a:avLst/>
          </a:prstGeom>
          <a:ln w="25400">
            <a:solidFill>
              <a:srgbClr val="797979"/>
            </a:solidFill>
            <a:miter lim="400000"/>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564" name="Circle"/>
          <p:cNvSpPr/>
          <p:nvPr/>
        </p:nvSpPr>
        <p:spPr>
          <a:xfrm>
            <a:off x="10655300" y="3390900"/>
            <a:ext cx="508000" cy="508000"/>
          </a:xfrm>
          <a:prstGeom prst="ellipse">
            <a:avLst/>
          </a:prstGeom>
          <a:solidFill>
            <a:srgbClr val="0096FF"/>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565"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40</a:t>
            </a:fld>
            <a:endParaRPr/>
          </a:p>
        </p:txBody>
      </p:sp>
      <p:sp>
        <p:nvSpPr>
          <p:cNvPr id="566" name="Circle"/>
          <p:cNvSpPr/>
          <p:nvPr/>
        </p:nvSpPr>
        <p:spPr>
          <a:xfrm>
            <a:off x="1905000" y="3390900"/>
            <a:ext cx="508000" cy="508000"/>
          </a:xfrm>
          <a:prstGeom prst="ellipse">
            <a:avLst/>
          </a:prstGeom>
          <a:solidFill>
            <a:srgbClr val="0096FF"/>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567" name="Line"/>
          <p:cNvSpPr/>
          <p:nvPr/>
        </p:nvSpPr>
        <p:spPr>
          <a:xfrm flipV="1">
            <a:off x="3676001" y="2654263"/>
            <a:ext cx="3" cy="816272"/>
          </a:xfrm>
          <a:prstGeom prst="line">
            <a:avLst/>
          </a:prstGeom>
          <a:ln w="38100">
            <a:solidFill>
              <a:srgbClr val="5E5E5E"/>
            </a:solidFill>
            <a:miter lim="400000"/>
            <a:headEnd type="stealth"/>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568" name="transmission rate R=1 Gbps"/>
          <p:cNvSpPr/>
          <p:nvPr/>
        </p:nvSpPr>
        <p:spPr>
          <a:xfrm>
            <a:off x="2133600" y="1838181"/>
            <a:ext cx="5969000" cy="74323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lvl1pPr algn="l">
              <a:defRPr sz="3600">
                <a:solidFill>
                  <a:srgbClr val="424242"/>
                </a:solidFill>
                <a:latin typeface="+mn-lt"/>
                <a:ea typeface="+mn-ea"/>
                <a:cs typeface="+mn-cs"/>
                <a:sym typeface="Chalkboard SE Regular"/>
              </a:defRPr>
            </a:lvl1pPr>
          </a:lstStyle>
          <a:p>
            <a:r>
              <a:t>transmission rate R=1 Gbps</a:t>
            </a:r>
          </a:p>
        </p:txBody>
      </p:sp>
      <p:sp>
        <p:nvSpPr>
          <p:cNvPr id="569" name="packet size L = 1000 bytes"/>
          <p:cNvSpPr/>
          <p:nvPr/>
        </p:nvSpPr>
        <p:spPr>
          <a:xfrm>
            <a:off x="1790700" y="4777105"/>
            <a:ext cx="6149854" cy="65659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lvl1pPr algn="l">
              <a:defRPr sz="3600">
                <a:solidFill>
                  <a:srgbClr val="424242"/>
                </a:solidFill>
                <a:latin typeface="+mn-lt"/>
                <a:ea typeface="+mn-ea"/>
                <a:cs typeface="+mn-cs"/>
                <a:sym typeface="Chalkboard SE Regular"/>
              </a:defRPr>
            </a:lvl1pPr>
          </a:lstStyle>
          <a:p>
            <a:r>
              <a:rPr dirty="0"/>
              <a:t>packet size L = 1000 b</a:t>
            </a:r>
          </a:p>
        </p:txBody>
      </p:sp>
      <p:sp>
        <p:nvSpPr>
          <p:cNvPr id="570" name="Alice’s computer"/>
          <p:cNvSpPr/>
          <p:nvPr/>
        </p:nvSpPr>
        <p:spPr>
          <a:xfrm>
            <a:off x="872573" y="168468"/>
            <a:ext cx="4419601" cy="81876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lvl1pPr>
              <a:defRPr sz="4000">
                <a:solidFill>
                  <a:srgbClr val="0096FF"/>
                </a:solidFill>
                <a:latin typeface="+mn-lt"/>
                <a:ea typeface="+mn-ea"/>
                <a:cs typeface="+mn-cs"/>
                <a:sym typeface="Chalkboard SE Regular"/>
              </a:defRPr>
            </a:lvl1pPr>
          </a:lstStyle>
          <a:p>
            <a:r>
              <a:t>Alice’s computer</a:t>
            </a:r>
          </a:p>
        </p:txBody>
      </p:sp>
      <p:sp>
        <p:nvSpPr>
          <p:cNvPr id="571" name="Bob’s computer"/>
          <p:cNvSpPr/>
          <p:nvPr/>
        </p:nvSpPr>
        <p:spPr>
          <a:xfrm>
            <a:off x="8001000" y="155768"/>
            <a:ext cx="4419600" cy="81876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lvl1pPr>
              <a:defRPr sz="4000">
                <a:solidFill>
                  <a:srgbClr val="0096FF"/>
                </a:solidFill>
                <a:latin typeface="+mn-lt"/>
                <a:ea typeface="+mn-ea"/>
                <a:cs typeface="+mn-cs"/>
                <a:sym typeface="Chalkboard SE Regular"/>
              </a:defRPr>
            </a:lvl1pPr>
          </a:lstStyle>
          <a:p>
            <a:r>
              <a:t>Bob’s computer</a:t>
            </a:r>
          </a:p>
        </p:txBody>
      </p:sp>
      <p:sp>
        <p:nvSpPr>
          <p:cNvPr id="572" name="transmission delay = L/R = 8 usec"/>
          <p:cNvSpPr/>
          <p:nvPr/>
        </p:nvSpPr>
        <p:spPr>
          <a:xfrm>
            <a:off x="1790700" y="6002149"/>
            <a:ext cx="7743947" cy="65659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lvl1pPr algn="l">
              <a:defRPr sz="3600">
                <a:solidFill>
                  <a:srgbClr val="424242"/>
                </a:solidFill>
                <a:latin typeface="+mn-lt"/>
                <a:ea typeface="+mn-ea"/>
                <a:cs typeface="+mn-cs"/>
                <a:sym typeface="Chalkboard SE Regular"/>
              </a:defRPr>
            </a:lvl1pPr>
          </a:lstStyle>
          <a:p>
            <a:r>
              <a:rPr dirty="0"/>
              <a:t>transmission delay = L/R = 8 us</a:t>
            </a:r>
          </a:p>
        </p:txBody>
      </p:sp>
      <p:sp>
        <p:nvSpPr>
          <p:cNvPr id="573" name="propagation delay = 15 msec"/>
          <p:cNvSpPr/>
          <p:nvPr/>
        </p:nvSpPr>
        <p:spPr>
          <a:xfrm>
            <a:off x="1790700" y="6745605"/>
            <a:ext cx="6389162" cy="65659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lvl1pPr algn="l">
              <a:defRPr sz="3600">
                <a:solidFill>
                  <a:srgbClr val="424242"/>
                </a:solidFill>
                <a:latin typeface="+mn-lt"/>
                <a:ea typeface="+mn-ea"/>
                <a:cs typeface="+mn-cs"/>
                <a:sym typeface="Chalkboard SE Regular"/>
              </a:defRPr>
            </a:lvl1pPr>
          </a:lstStyle>
          <a:p>
            <a:r>
              <a:rPr dirty="0"/>
              <a:t>propagation delay = 15 </a:t>
            </a:r>
            <a:r>
              <a:rPr dirty="0" err="1"/>
              <a:t>ms</a:t>
            </a:r>
            <a:endParaRPr dirty="0"/>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567"/>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2" nodeType="afterEffect">
                                  <p:stCondLst>
                                    <p:cond delay="0"/>
                                  </p:stCondLst>
                                  <p:iterate>
                                    <p:tmAbs val="0"/>
                                  </p:iterate>
                                  <p:childTnLst>
                                    <p:set>
                                      <p:cBhvr>
                                        <p:cTn id="9" fill="hold"/>
                                        <p:tgtEl>
                                          <p:spTgt spid="568"/>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3" nodeType="clickEffect">
                                  <p:stCondLst>
                                    <p:cond delay="0"/>
                                  </p:stCondLst>
                                  <p:iterate>
                                    <p:tmAbs val="0"/>
                                  </p:iterate>
                                  <p:childTnLst>
                                    <p:set>
                                      <p:cBhvr>
                                        <p:cTn id="13" fill="hold"/>
                                        <p:tgtEl>
                                          <p:spTgt spid="573"/>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4" nodeType="clickEffect">
                                  <p:stCondLst>
                                    <p:cond delay="0"/>
                                  </p:stCondLst>
                                  <p:iterate>
                                    <p:tmAbs val="0"/>
                                  </p:iterate>
                                  <p:childTnLst>
                                    <p:set>
                                      <p:cBhvr>
                                        <p:cTn id="17" fill="hold"/>
                                        <p:tgtEl>
                                          <p:spTgt spid="569"/>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5" nodeType="clickEffect">
                                  <p:stCondLst>
                                    <p:cond delay="0"/>
                                  </p:stCondLst>
                                  <p:iterate>
                                    <p:tmAbs val="0"/>
                                  </p:iterate>
                                  <p:childTnLst>
                                    <p:set>
                                      <p:cBhvr>
                                        <p:cTn id="21" fill="hold"/>
                                        <p:tgtEl>
                                          <p:spTgt spid="5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7" grpId="1" animBg="1" advAuto="0"/>
      <p:bldP spid="568" grpId="2" animBg="1" advAuto="0"/>
      <p:bldP spid="569" grpId="4" animBg="1" advAuto="0"/>
      <p:bldP spid="572" grpId="5" animBg="1" advAuto="0"/>
      <p:bldP spid="573" grpId="3" animBg="1" advAuto="0"/>
    </p:bldLst>
  </p:timing>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77" name="Rectangle"/>
          <p:cNvSpPr/>
          <p:nvPr/>
        </p:nvSpPr>
        <p:spPr>
          <a:xfrm>
            <a:off x="8220667" y="-187354"/>
            <a:ext cx="3754842" cy="10128308"/>
          </a:xfrm>
          <a:prstGeom prst="rect">
            <a:avLst/>
          </a:prstGeom>
          <a:solidFill>
            <a:srgbClr val="FFD479"/>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578" name="Rectangle"/>
          <p:cNvSpPr/>
          <p:nvPr/>
        </p:nvSpPr>
        <p:spPr>
          <a:xfrm>
            <a:off x="976672" y="-187354"/>
            <a:ext cx="3754842" cy="10128308"/>
          </a:xfrm>
          <a:prstGeom prst="rect">
            <a:avLst/>
          </a:prstGeom>
          <a:solidFill>
            <a:srgbClr val="FFD479"/>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579"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41</a:t>
            </a:fld>
            <a:endParaRPr/>
          </a:p>
        </p:txBody>
      </p:sp>
      <p:sp>
        <p:nvSpPr>
          <p:cNvPr id="580" name="Line"/>
          <p:cNvSpPr/>
          <p:nvPr/>
        </p:nvSpPr>
        <p:spPr>
          <a:xfrm>
            <a:off x="4671916" y="1371250"/>
            <a:ext cx="1" cy="225621"/>
          </a:xfrm>
          <a:prstGeom prst="line">
            <a:avLst/>
          </a:prstGeom>
          <a:ln w="381000">
            <a:solidFill>
              <a:srgbClr val="942193"/>
            </a:solidFill>
            <a:miter lim="400000"/>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581" name="0.008 msec"/>
          <p:cNvSpPr/>
          <p:nvPr/>
        </p:nvSpPr>
        <p:spPr>
          <a:xfrm>
            <a:off x="1956032" y="1137500"/>
            <a:ext cx="2298701"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r">
              <a:defRPr sz="3200">
                <a:solidFill>
                  <a:srgbClr val="942193"/>
                </a:solidFill>
                <a:latin typeface="+mn-lt"/>
                <a:ea typeface="+mn-ea"/>
                <a:cs typeface="+mn-cs"/>
                <a:sym typeface="Chalkboard SE Regular"/>
              </a:defRPr>
            </a:lvl1pPr>
          </a:lstStyle>
          <a:p>
            <a:r>
              <a:rPr dirty="0"/>
              <a:t>0.008 </a:t>
            </a:r>
            <a:r>
              <a:rPr dirty="0" err="1"/>
              <a:t>ms</a:t>
            </a:r>
            <a:endParaRPr dirty="0"/>
          </a:p>
        </p:txBody>
      </p:sp>
      <p:sp>
        <p:nvSpPr>
          <p:cNvPr id="582" name="30 msec"/>
          <p:cNvSpPr/>
          <p:nvPr/>
        </p:nvSpPr>
        <p:spPr>
          <a:xfrm>
            <a:off x="2552700" y="2501900"/>
            <a:ext cx="1701800" cy="6858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r">
              <a:defRPr sz="3200">
                <a:solidFill>
                  <a:srgbClr val="942193"/>
                </a:solidFill>
                <a:latin typeface="+mn-lt"/>
                <a:ea typeface="+mn-ea"/>
                <a:cs typeface="+mn-cs"/>
                <a:sym typeface="Chalkboard SE Regular"/>
              </a:defRPr>
            </a:lvl1pPr>
          </a:lstStyle>
          <a:p>
            <a:r>
              <a:rPr dirty="0"/>
              <a:t>30 </a:t>
            </a:r>
            <a:r>
              <a:rPr dirty="0" err="1"/>
              <a:t>ms</a:t>
            </a:r>
            <a:endParaRPr dirty="0"/>
          </a:p>
        </p:txBody>
      </p:sp>
      <p:sp>
        <p:nvSpPr>
          <p:cNvPr id="583" name="Busy for"/>
          <p:cNvSpPr/>
          <p:nvPr/>
        </p:nvSpPr>
        <p:spPr>
          <a:xfrm>
            <a:off x="1422400" y="3851131"/>
            <a:ext cx="1701800" cy="139093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lvl1pPr algn="l">
              <a:defRPr sz="3600">
                <a:solidFill>
                  <a:srgbClr val="424242"/>
                </a:solidFill>
                <a:latin typeface="+mn-lt"/>
                <a:ea typeface="+mn-ea"/>
                <a:cs typeface="+mn-cs"/>
                <a:sym typeface="Chalkboard SE Regular"/>
              </a:defRPr>
            </a:lvl1pPr>
          </a:lstStyle>
          <a:p>
            <a:r>
              <a:t>Busy for</a:t>
            </a:r>
          </a:p>
        </p:txBody>
      </p:sp>
      <p:sp>
        <p:nvSpPr>
          <p:cNvPr id="584" name="Line"/>
          <p:cNvSpPr/>
          <p:nvPr/>
        </p:nvSpPr>
        <p:spPr>
          <a:xfrm>
            <a:off x="2022974" y="5588000"/>
            <a:ext cx="1796052" cy="0"/>
          </a:xfrm>
          <a:prstGeom prst="line">
            <a:avLst/>
          </a:prstGeom>
          <a:ln w="38100">
            <a:solidFill>
              <a:srgbClr val="424242"/>
            </a:solidFill>
            <a:miter lim="400000"/>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585" name="0.008"/>
          <p:cNvSpPr/>
          <p:nvPr/>
        </p:nvSpPr>
        <p:spPr>
          <a:xfrm>
            <a:off x="2324100" y="4848081"/>
            <a:ext cx="1701800" cy="74323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lvl1pPr algn="l">
              <a:defRPr sz="3600">
                <a:solidFill>
                  <a:srgbClr val="424242"/>
                </a:solidFill>
                <a:latin typeface="+mn-lt"/>
                <a:ea typeface="+mn-ea"/>
                <a:cs typeface="+mn-cs"/>
                <a:sym typeface="Chalkboard SE Regular"/>
              </a:defRPr>
            </a:lvl1pPr>
          </a:lstStyle>
          <a:p>
            <a:r>
              <a:t>0.008</a:t>
            </a:r>
          </a:p>
        </p:txBody>
      </p:sp>
      <p:sp>
        <p:nvSpPr>
          <p:cNvPr id="586" name="30.008"/>
          <p:cNvSpPr/>
          <p:nvPr/>
        </p:nvSpPr>
        <p:spPr>
          <a:xfrm>
            <a:off x="2197100" y="5533881"/>
            <a:ext cx="2062622" cy="74323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lvl1pPr algn="l">
              <a:defRPr sz="3600">
                <a:solidFill>
                  <a:srgbClr val="424242"/>
                </a:solidFill>
                <a:latin typeface="+mn-lt"/>
                <a:ea typeface="+mn-ea"/>
                <a:cs typeface="+mn-cs"/>
                <a:sym typeface="Chalkboard SE Regular"/>
              </a:defRPr>
            </a:lvl1pPr>
          </a:lstStyle>
          <a:p>
            <a:r>
              <a:t>30.008</a:t>
            </a:r>
          </a:p>
        </p:txBody>
      </p:sp>
      <p:sp>
        <p:nvSpPr>
          <p:cNvPr id="587" name="= 0.00027"/>
          <p:cNvSpPr/>
          <p:nvPr/>
        </p:nvSpPr>
        <p:spPr>
          <a:xfrm>
            <a:off x="1943100" y="6295881"/>
            <a:ext cx="2570622" cy="74323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lvl1pPr algn="l">
              <a:defRPr sz="3600">
                <a:solidFill>
                  <a:srgbClr val="424242"/>
                </a:solidFill>
                <a:latin typeface="+mn-lt"/>
                <a:ea typeface="+mn-ea"/>
                <a:cs typeface="+mn-cs"/>
                <a:sym typeface="Chalkboard SE Regular"/>
              </a:defRPr>
            </a:lvl1pPr>
          </a:lstStyle>
          <a:p>
            <a:r>
              <a:t>= 0.00027</a:t>
            </a:r>
          </a:p>
        </p:txBody>
      </p:sp>
      <p:sp>
        <p:nvSpPr>
          <p:cNvPr id="588" name="Line"/>
          <p:cNvSpPr/>
          <p:nvPr/>
        </p:nvSpPr>
        <p:spPr>
          <a:xfrm flipH="1">
            <a:off x="2914001" y="6934164"/>
            <a:ext cx="3" cy="816271"/>
          </a:xfrm>
          <a:prstGeom prst="line">
            <a:avLst/>
          </a:prstGeom>
          <a:ln w="38100">
            <a:solidFill>
              <a:srgbClr val="942193"/>
            </a:solidFill>
            <a:miter lim="400000"/>
            <a:headEnd type="stealth"/>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589" name="sender/channel utilization"/>
          <p:cNvSpPr/>
          <p:nvPr/>
        </p:nvSpPr>
        <p:spPr>
          <a:xfrm>
            <a:off x="1536700" y="7534131"/>
            <a:ext cx="3383422" cy="139093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lvl1pPr algn="l">
              <a:defRPr sz="3600">
                <a:solidFill>
                  <a:srgbClr val="942193"/>
                </a:solidFill>
                <a:latin typeface="+mn-lt"/>
                <a:ea typeface="+mn-ea"/>
                <a:cs typeface="+mn-cs"/>
                <a:sym typeface="Chalkboard SE Regular"/>
              </a:defRPr>
            </a:lvl1pPr>
          </a:lstStyle>
          <a:p>
            <a:r>
              <a:t>sender/channel utilization</a:t>
            </a:r>
          </a:p>
        </p:txBody>
      </p:sp>
      <p:sp>
        <p:nvSpPr>
          <p:cNvPr id="590" name="Line"/>
          <p:cNvSpPr/>
          <p:nvPr/>
        </p:nvSpPr>
        <p:spPr>
          <a:xfrm flipH="1">
            <a:off x="4664204" y="1676400"/>
            <a:ext cx="8153" cy="3090882"/>
          </a:xfrm>
          <a:prstGeom prst="line">
            <a:avLst/>
          </a:prstGeom>
          <a:ln w="381000">
            <a:solidFill>
              <a:srgbClr val="942193"/>
            </a:solidFill>
            <a:miter lim="400000"/>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591" name="Rounded Rectangle"/>
          <p:cNvSpPr/>
          <p:nvPr/>
        </p:nvSpPr>
        <p:spPr>
          <a:xfrm>
            <a:off x="7556500" y="1308100"/>
            <a:ext cx="5183039" cy="8174385"/>
          </a:xfrm>
          <a:prstGeom prst="roundRect">
            <a:avLst>
              <a:gd name="adj" fmla="val 3675"/>
            </a:avLst>
          </a:prstGeom>
          <a:ln w="25400">
            <a:solidFill>
              <a:srgbClr val="0096FF"/>
            </a:solidFill>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592" name="Alice’s computer"/>
          <p:cNvSpPr/>
          <p:nvPr/>
        </p:nvSpPr>
        <p:spPr>
          <a:xfrm>
            <a:off x="644293" y="435168"/>
            <a:ext cx="4419601" cy="81876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lvl1pPr>
              <a:defRPr sz="4000">
                <a:solidFill>
                  <a:srgbClr val="0096FF"/>
                </a:solidFill>
                <a:latin typeface="+mn-lt"/>
                <a:ea typeface="+mn-ea"/>
                <a:cs typeface="+mn-cs"/>
                <a:sym typeface="Chalkboard SE Regular"/>
              </a:defRPr>
            </a:lvl1pPr>
          </a:lstStyle>
          <a:p>
            <a:r>
              <a:t>Alice’s computer</a:t>
            </a:r>
          </a:p>
        </p:txBody>
      </p:sp>
      <p:sp>
        <p:nvSpPr>
          <p:cNvPr id="593" name="Bob’s computer"/>
          <p:cNvSpPr/>
          <p:nvPr/>
        </p:nvSpPr>
        <p:spPr>
          <a:xfrm>
            <a:off x="8001000" y="435168"/>
            <a:ext cx="4419600" cy="81876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lvl1pPr>
              <a:defRPr sz="4000">
                <a:solidFill>
                  <a:srgbClr val="0096FF"/>
                </a:solidFill>
                <a:latin typeface="+mn-lt"/>
                <a:ea typeface="+mn-ea"/>
                <a:cs typeface="+mn-cs"/>
                <a:sym typeface="Chalkboard SE Regular"/>
              </a:defRPr>
            </a:lvl1pPr>
          </a:lstStyle>
          <a:p>
            <a:r>
              <a:t>Bob’s computer</a:t>
            </a:r>
          </a:p>
        </p:txBody>
      </p:sp>
      <p:sp>
        <p:nvSpPr>
          <p:cNvPr id="594" name="Rounded Rectangle"/>
          <p:cNvSpPr/>
          <p:nvPr/>
        </p:nvSpPr>
        <p:spPr>
          <a:xfrm>
            <a:off x="277589" y="1308100"/>
            <a:ext cx="5183040" cy="8174385"/>
          </a:xfrm>
          <a:prstGeom prst="roundRect">
            <a:avLst>
              <a:gd name="adj" fmla="val 3675"/>
            </a:avLst>
          </a:prstGeom>
          <a:ln w="25400">
            <a:solidFill>
              <a:srgbClr val="0096FF"/>
            </a:solidFill>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595" name="ACK 0"/>
          <p:cNvSpPr/>
          <p:nvPr/>
        </p:nvSpPr>
        <p:spPr>
          <a:xfrm rot="19795886">
            <a:off x="5830272" y="3289405"/>
            <a:ext cx="1257301"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ACK 0</a:t>
            </a:r>
          </a:p>
        </p:txBody>
      </p:sp>
      <p:sp>
        <p:nvSpPr>
          <p:cNvPr id="596" name="SEQ 0"/>
          <p:cNvSpPr/>
          <p:nvPr/>
        </p:nvSpPr>
        <p:spPr>
          <a:xfrm rot="1631915">
            <a:off x="5844416" y="1711559"/>
            <a:ext cx="1665429"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2800">
                <a:solidFill>
                  <a:srgbClr val="0433FF"/>
                </a:solidFill>
                <a:latin typeface="Courier"/>
                <a:ea typeface="Courier"/>
                <a:cs typeface="Courier"/>
                <a:sym typeface="Courier"/>
              </a:defRPr>
            </a:lvl1pPr>
          </a:lstStyle>
          <a:p>
            <a:r>
              <a:t>SEQ 0</a:t>
            </a:r>
          </a:p>
        </p:txBody>
      </p:sp>
      <p:sp>
        <p:nvSpPr>
          <p:cNvPr id="597" name="Line"/>
          <p:cNvSpPr/>
          <p:nvPr/>
        </p:nvSpPr>
        <p:spPr>
          <a:xfrm flipV="1">
            <a:off x="4899118" y="2980970"/>
            <a:ext cx="3107770" cy="1777852"/>
          </a:xfrm>
          <a:prstGeom prst="line">
            <a:avLst/>
          </a:prstGeom>
          <a:ln w="25400">
            <a:solidFill>
              <a:srgbClr val="0433FF"/>
            </a:solidFill>
            <a:miter lim="400000"/>
            <a:headEnd type="stealth"/>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598" name="Line"/>
          <p:cNvSpPr/>
          <p:nvPr/>
        </p:nvSpPr>
        <p:spPr>
          <a:xfrm flipH="1" flipV="1">
            <a:off x="4905430" y="1412457"/>
            <a:ext cx="3092140" cy="1507898"/>
          </a:xfrm>
          <a:prstGeom prst="line">
            <a:avLst/>
          </a:prstGeom>
          <a:ln w="25400">
            <a:solidFill>
              <a:srgbClr val="0433FF"/>
            </a:solidFill>
            <a:miter lim="400000"/>
            <a:headEnd type="stealth"/>
          </a:ln>
        </p:spPr>
        <p:txBody>
          <a:bodyPr lIns="50800" tIns="50800" rIns="50800" bIns="50800" anchor="ctr"/>
          <a:lstStyle/>
          <a:p>
            <a:pPr algn="l" defTabSz="457200">
              <a:defRPr sz="1200">
                <a:latin typeface="Helvetica"/>
                <a:ea typeface="Helvetica"/>
                <a:cs typeface="Helvetica"/>
                <a:sym typeface="Helvetica"/>
              </a:defRPr>
            </a:pPr>
            <a:endParaRP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58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2" nodeType="clickEffect">
                                  <p:stCondLst>
                                    <p:cond delay="0"/>
                                  </p:stCondLst>
                                  <p:iterate>
                                    <p:tmAbs val="0"/>
                                  </p:iterate>
                                  <p:childTnLst>
                                    <p:set>
                                      <p:cBhvr>
                                        <p:cTn id="10" fill="hold"/>
                                        <p:tgtEl>
                                          <p:spTgt spid="584"/>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grpId="3" nodeType="afterEffect">
                                  <p:stCondLst>
                                    <p:cond delay="0"/>
                                  </p:stCondLst>
                                  <p:iterate>
                                    <p:tmAbs val="0"/>
                                  </p:iterate>
                                  <p:childTnLst>
                                    <p:set>
                                      <p:cBhvr>
                                        <p:cTn id="13" fill="hold"/>
                                        <p:tgtEl>
                                          <p:spTgt spid="586"/>
                                        </p:tgtEl>
                                        <p:attrNameLst>
                                          <p:attrName>style.visibility</p:attrName>
                                        </p:attrNameLst>
                                      </p:cBhvr>
                                      <p:to>
                                        <p:strVal val="visible"/>
                                      </p:to>
                                    </p:set>
                                  </p:childTnLst>
                                </p:cTn>
                              </p:par>
                            </p:childTnLst>
                          </p:cTn>
                        </p:par>
                        <p:par>
                          <p:cTn id="14" fill="hold">
                            <p:stCondLst>
                              <p:cond delay="0"/>
                            </p:stCondLst>
                            <p:childTnLst>
                              <p:par>
                                <p:cTn id="15" presetID="1" presetClass="entr" presetSubtype="0" fill="hold" grpId="4" nodeType="afterEffect">
                                  <p:stCondLst>
                                    <p:cond delay="0"/>
                                  </p:stCondLst>
                                  <p:iterate>
                                    <p:tmAbs val="0"/>
                                  </p:iterate>
                                  <p:childTnLst>
                                    <p:set>
                                      <p:cBhvr>
                                        <p:cTn id="16" fill="hold"/>
                                        <p:tgtEl>
                                          <p:spTgt spid="58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5" nodeType="clickEffect">
                                  <p:stCondLst>
                                    <p:cond delay="0"/>
                                  </p:stCondLst>
                                  <p:iterate>
                                    <p:tmAbs val="0"/>
                                  </p:iterate>
                                  <p:childTnLst>
                                    <p:set>
                                      <p:cBhvr>
                                        <p:cTn id="20" fill="hold"/>
                                        <p:tgtEl>
                                          <p:spTgt spid="58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6" nodeType="clickEffect">
                                  <p:stCondLst>
                                    <p:cond delay="0"/>
                                  </p:stCondLst>
                                  <p:iterate>
                                    <p:tmAbs val="0"/>
                                  </p:iterate>
                                  <p:childTnLst>
                                    <p:set>
                                      <p:cBhvr>
                                        <p:cTn id="24" fill="hold"/>
                                        <p:tgtEl>
                                          <p:spTgt spid="588"/>
                                        </p:tgtEl>
                                        <p:attrNameLst>
                                          <p:attrName>style.visibility</p:attrName>
                                        </p:attrNameLst>
                                      </p:cBhvr>
                                      <p:to>
                                        <p:strVal val="visible"/>
                                      </p:to>
                                    </p:set>
                                  </p:childTnLst>
                                </p:cTn>
                              </p:par>
                            </p:childTnLst>
                          </p:cTn>
                        </p:par>
                        <p:par>
                          <p:cTn id="25" fill="hold">
                            <p:stCondLst>
                              <p:cond delay="0"/>
                            </p:stCondLst>
                            <p:childTnLst>
                              <p:par>
                                <p:cTn id="26" presetID="1" presetClass="entr" presetSubtype="0" fill="hold" grpId="7" nodeType="afterEffect">
                                  <p:stCondLst>
                                    <p:cond delay="0"/>
                                  </p:stCondLst>
                                  <p:iterate>
                                    <p:tmAbs val="0"/>
                                  </p:iterate>
                                  <p:childTnLst>
                                    <p:set>
                                      <p:cBhvr>
                                        <p:cTn id="27" fill="hold"/>
                                        <p:tgtEl>
                                          <p:spTgt spid="5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 grpId="1" animBg="1" advAuto="0"/>
      <p:bldP spid="584" grpId="2" animBg="1" advAuto="0"/>
      <p:bldP spid="585" grpId="4" animBg="1" advAuto="0"/>
      <p:bldP spid="586" grpId="3" animBg="1" advAuto="0"/>
      <p:bldP spid="587" grpId="5" animBg="1" advAuto="0"/>
      <p:bldP spid="588" grpId="6" animBg="1" advAuto="0"/>
      <p:bldP spid="589" grpId="7" animBg="1" advAuto="0"/>
    </p:bldLst>
  </p:timing>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02" name="Rectangle"/>
          <p:cNvSpPr/>
          <p:nvPr/>
        </p:nvSpPr>
        <p:spPr>
          <a:xfrm>
            <a:off x="9831978" y="-187354"/>
            <a:ext cx="3754843" cy="10128308"/>
          </a:xfrm>
          <a:prstGeom prst="rect">
            <a:avLst/>
          </a:prstGeom>
          <a:solidFill>
            <a:srgbClr val="FFD479"/>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603" name="Rectangle"/>
          <p:cNvSpPr/>
          <p:nvPr/>
        </p:nvSpPr>
        <p:spPr>
          <a:xfrm>
            <a:off x="-609280" y="-187354"/>
            <a:ext cx="3754843" cy="10128308"/>
          </a:xfrm>
          <a:prstGeom prst="rect">
            <a:avLst/>
          </a:prstGeom>
          <a:solidFill>
            <a:srgbClr val="FFD479"/>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604"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42</a:t>
            </a:fld>
            <a:endParaRPr/>
          </a:p>
        </p:txBody>
      </p:sp>
      <p:sp>
        <p:nvSpPr>
          <p:cNvPr id="605" name="Alice’s computer"/>
          <p:cNvSpPr/>
          <p:nvPr/>
        </p:nvSpPr>
        <p:spPr>
          <a:xfrm>
            <a:off x="-308527" y="155768"/>
            <a:ext cx="4419601" cy="81876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lvl1pPr>
              <a:defRPr sz="4000">
                <a:solidFill>
                  <a:srgbClr val="0096FF"/>
                </a:solidFill>
                <a:latin typeface="+mn-lt"/>
                <a:ea typeface="+mn-ea"/>
                <a:cs typeface="+mn-cs"/>
                <a:sym typeface="Chalkboard SE Regular"/>
              </a:defRPr>
            </a:lvl1pPr>
          </a:lstStyle>
          <a:p>
            <a:r>
              <a:t>Alice’s computer</a:t>
            </a:r>
          </a:p>
        </p:txBody>
      </p:sp>
      <p:sp>
        <p:nvSpPr>
          <p:cNvPr id="606" name="Bob’s computer"/>
          <p:cNvSpPr/>
          <p:nvPr/>
        </p:nvSpPr>
        <p:spPr>
          <a:xfrm>
            <a:off x="8788400" y="155768"/>
            <a:ext cx="4419600" cy="81876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lvl1pPr>
              <a:defRPr sz="4000">
                <a:solidFill>
                  <a:srgbClr val="0096FF"/>
                </a:solidFill>
                <a:latin typeface="+mn-lt"/>
                <a:ea typeface="+mn-ea"/>
                <a:cs typeface="+mn-cs"/>
                <a:sym typeface="Chalkboard SE Regular"/>
              </a:defRPr>
            </a:lvl1pPr>
          </a:lstStyle>
          <a:p>
            <a:r>
              <a:t>Bob’s computer</a:t>
            </a:r>
          </a:p>
        </p:txBody>
      </p:sp>
      <p:sp>
        <p:nvSpPr>
          <p:cNvPr id="607" name="Rounded Rectangle"/>
          <p:cNvSpPr/>
          <p:nvPr/>
        </p:nvSpPr>
        <p:spPr>
          <a:xfrm>
            <a:off x="-241300" y="1054100"/>
            <a:ext cx="4013200" cy="8394700"/>
          </a:xfrm>
          <a:prstGeom prst="roundRect">
            <a:avLst>
              <a:gd name="adj" fmla="val 4747"/>
            </a:avLst>
          </a:prstGeom>
          <a:ln w="25400">
            <a:solidFill>
              <a:srgbClr val="0096FF"/>
            </a:solidFill>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608" name="Rounded Rectangle"/>
          <p:cNvSpPr/>
          <p:nvPr/>
        </p:nvSpPr>
        <p:spPr>
          <a:xfrm>
            <a:off x="9194800" y="1028700"/>
            <a:ext cx="5029200" cy="8394700"/>
          </a:xfrm>
          <a:prstGeom prst="roundRect">
            <a:avLst>
              <a:gd name="adj" fmla="val 3788"/>
            </a:avLst>
          </a:prstGeom>
          <a:ln w="25400">
            <a:solidFill>
              <a:srgbClr val="0096FF"/>
            </a:solidFill>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grpSp>
        <p:nvGrpSpPr>
          <p:cNvPr id="611" name="Group"/>
          <p:cNvGrpSpPr/>
          <p:nvPr/>
        </p:nvGrpSpPr>
        <p:grpSpPr>
          <a:xfrm>
            <a:off x="3379102" y="2541291"/>
            <a:ext cx="6275476" cy="3552389"/>
            <a:chOff x="0" y="500811"/>
            <a:chExt cx="6275475" cy="3552387"/>
          </a:xfrm>
        </p:grpSpPr>
        <p:sp>
          <p:nvSpPr>
            <p:cNvPr id="609" name="ACK 0"/>
            <p:cNvSpPr/>
            <p:nvPr/>
          </p:nvSpPr>
          <p:spPr>
            <a:xfrm rot="19821242">
              <a:off x="1727269" y="2125224"/>
              <a:ext cx="1257301" cy="6858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l">
                <a:defRPr sz="2800">
                  <a:solidFill>
                    <a:srgbClr val="0433FF"/>
                  </a:solidFill>
                  <a:latin typeface="Courier"/>
                  <a:ea typeface="Courier"/>
                  <a:cs typeface="Courier"/>
                  <a:sym typeface="Courier"/>
                </a:defRPr>
              </a:lvl1pPr>
            </a:lstStyle>
            <a:p>
              <a:r>
                <a:t>ACK 0</a:t>
              </a:r>
            </a:p>
          </p:txBody>
        </p:sp>
        <p:sp>
          <p:nvSpPr>
            <p:cNvPr id="610" name="Line"/>
            <p:cNvSpPr/>
            <p:nvPr/>
          </p:nvSpPr>
          <p:spPr>
            <a:xfrm flipV="1">
              <a:off x="-1" y="500811"/>
              <a:ext cx="6275477" cy="3552389"/>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grpSp>
      <p:grpSp>
        <p:nvGrpSpPr>
          <p:cNvPr id="614" name="Group"/>
          <p:cNvGrpSpPr/>
          <p:nvPr/>
        </p:nvGrpSpPr>
        <p:grpSpPr>
          <a:xfrm>
            <a:off x="3366724" y="1305447"/>
            <a:ext cx="6312611" cy="1071065"/>
            <a:chOff x="0" y="327632"/>
            <a:chExt cx="6312610" cy="1071064"/>
          </a:xfrm>
        </p:grpSpPr>
        <p:sp>
          <p:nvSpPr>
            <p:cNvPr id="612" name="SEQ 0"/>
            <p:cNvSpPr/>
            <p:nvPr/>
          </p:nvSpPr>
          <p:spPr>
            <a:xfrm rot="440413">
              <a:off x="2426224" y="417308"/>
              <a:ext cx="1447801" cy="6858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l">
                <a:defRPr sz="2800">
                  <a:solidFill>
                    <a:srgbClr val="0433FF"/>
                  </a:solidFill>
                  <a:latin typeface="Courier"/>
                  <a:ea typeface="Courier"/>
                  <a:cs typeface="Courier"/>
                  <a:sym typeface="Courier"/>
                </a:defRPr>
              </a:lvl1pPr>
            </a:lstStyle>
            <a:p>
              <a:r>
                <a:t>SEQ 0</a:t>
              </a:r>
            </a:p>
          </p:txBody>
        </p:sp>
        <p:sp>
          <p:nvSpPr>
            <p:cNvPr id="613" name="Line"/>
            <p:cNvSpPr/>
            <p:nvPr/>
          </p:nvSpPr>
          <p:spPr>
            <a:xfrm flipH="1" flipV="1">
              <a:off x="0" y="581769"/>
              <a:ext cx="6312610" cy="816928"/>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grpSp>
      <p:grpSp>
        <p:nvGrpSpPr>
          <p:cNvPr id="617" name="Group"/>
          <p:cNvGrpSpPr/>
          <p:nvPr/>
        </p:nvGrpSpPr>
        <p:grpSpPr>
          <a:xfrm>
            <a:off x="3378199" y="1968500"/>
            <a:ext cx="6312611" cy="1055797"/>
            <a:chOff x="0" y="342900"/>
            <a:chExt cx="6312610" cy="1055796"/>
          </a:xfrm>
        </p:grpSpPr>
        <p:sp>
          <p:nvSpPr>
            <p:cNvPr id="615" name="Line"/>
            <p:cNvSpPr/>
            <p:nvPr/>
          </p:nvSpPr>
          <p:spPr>
            <a:xfrm flipH="1" flipV="1">
              <a:off x="0" y="581769"/>
              <a:ext cx="6312610" cy="816928"/>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616" name="SEQ 1"/>
            <p:cNvSpPr/>
            <p:nvPr/>
          </p:nvSpPr>
          <p:spPr>
            <a:xfrm rot="440413">
              <a:off x="2387376" y="432575"/>
              <a:ext cx="1447801" cy="6858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l">
                <a:defRPr sz="2800">
                  <a:solidFill>
                    <a:srgbClr val="0433FF"/>
                  </a:solidFill>
                  <a:latin typeface="Courier"/>
                  <a:ea typeface="Courier"/>
                  <a:cs typeface="Courier"/>
                  <a:sym typeface="Courier"/>
                </a:defRPr>
              </a:lvl1pPr>
            </a:lstStyle>
            <a:p>
              <a:r>
                <a:t>SEQ 1</a:t>
              </a:r>
            </a:p>
          </p:txBody>
        </p:sp>
      </p:grpSp>
      <p:grpSp>
        <p:nvGrpSpPr>
          <p:cNvPr id="620" name="Group"/>
          <p:cNvGrpSpPr/>
          <p:nvPr/>
        </p:nvGrpSpPr>
        <p:grpSpPr>
          <a:xfrm>
            <a:off x="3378199" y="2628900"/>
            <a:ext cx="6312611" cy="1055797"/>
            <a:chOff x="0" y="342900"/>
            <a:chExt cx="6312610" cy="1055796"/>
          </a:xfrm>
        </p:grpSpPr>
        <p:sp>
          <p:nvSpPr>
            <p:cNvPr id="618" name="Line"/>
            <p:cNvSpPr/>
            <p:nvPr/>
          </p:nvSpPr>
          <p:spPr>
            <a:xfrm flipH="1" flipV="1">
              <a:off x="0" y="581769"/>
              <a:ext cx="6312610" cy="816928"/>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619" name="SEQ 2"/>
            <p:cNvSpPr/>
            <p:nvPr/>
          </p:nvSpPr>
          <p:spPr>
            <a:xfrm rot="440413">
              <a:off x="2387376" y="432575"/>
              <a:ext cx="1447801" cy="6858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l">
                <a:defRPr sz="2800">
                  <a:solidFill>
                    <a:srgbClr val="0433FF"/>
                  </a:solidFill>
                  <a:latin typeface="Courier"/>
                  <a:ea typeface="Courier"/>
                  <a:cs typeface="Courier"/>
                  <a:sym typeface="Courier"/>
                </a:defRPr>
              </a:lvl1pPr>
            </a:lstStyle>
            <a:p>
              <a:r>
                <a:t>SEQ 2</a:t>
              </a:r>
            </a:p>
          </p:txBody>
        </p:sp>
      </p:grpSp>
      <p:grpSp>
        <p:nvGrpSpPr>
          <p:cNvPr id="623" name="Group"/>
          <p:cNvGrpSpPr/>
          <p:nvPr/>
        </p:nvGrpSpPr>
        <p:grpSpPr>
          <a:xfrm>
            <a:off x="3378199" y="3302000"/>
            <a:ext cx="6312611" cy="1055797"/>
            <a:chOff x="0" y="342900"/>
            <a:chExt cx="6312610" cy="1055796"/>
          </a:xfrm>
        </p:grpSpPr>
        <p:sp>
          <p:nvSpPr>
            <p:cNvPr id="621" name="Line"/>
            <p:cNvSpPr/>
            <p:nvPr/>
          </p:nvSpPr>
          <p:spPr>
            <a:xfrm flipH="1" flipV="1">
              <a:off x="0" y="581769"/>
              <a:ext cx="6312610" cy="816928"/>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622" name="SEQ 3"/>
            <p:cNvSpPr/>
            <p:nvPr/>
          </p:nvSpPr>
          <p:spPr>
            <a:xfrm rot="440413">
              <a:off x="2387376" y="432575"/>
              <a:ext cx="1447801" cy="6858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l">
                <a:defRPr sz="2800">
                  <a:solidFill>
                    <a:srgbClr val="0433FF"/>
                  </a:solidFill>
                  <a:latin typeface="Courier"/>
                  <a:ea typeface="Courier"/>
                  <a:cs typeface="Courier"/>
                  <a:sym typeface="Courier"/>
                </a:defRPr>
              </a:lvl1pPr>
            </a:lstStyle>
            <a:p>
              <a:r>
                <a:t>SEQ 3</a:t>
              </a:r>
            </a:p>
          </p:txBody>
        </p:sp>
      </p:grpSp>
      <p:grpSp>
        <p:nvGrpSpPr>
          <p:cNvPr id="626" name="Group"/>
          <p:cNvGrpSpPr/>
          <p:nvPr/>
        </p:nvGrpSpPr>
        <p:grpSpPr>
          <a:xfrm>
            <a:off x="3403599" y="3155111"/>
            <a:ext cx="6275477" cy="3552389"/>
            <a:chOff x="0" y="500811"/>
            <a:chExt cx="6275475" cy="3552387"/>
          </a:xfrm>
        </p:grpSpPr>
        <p:sp>
          <p:nvSpPr>
            <p:cNvPr id="624" name="ACK 1"/>
            <p:cNvSpPr/>
            <p:nvPr/>
          </p:nvSpPr>
          <p:spPr>
            <a:xfrm rot="19821242">
              <a:off x="1928820" y="2005969"/>
              <a:ext cx="1257301" cy="6858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l">
                <a:defRPr sz="2800">
                  <a:solidFill>
                    <a:srgbClr val="0433FF"/>
                  </a:solidFill>
                  <a:latin typeface="Courier"/>
                  <a:ea typeface="Courier"/>
                  <a:cs typeface="Courier"/>
                  <a:sym typeface="Courier"/>
                </a:defRPr>
              </a:lvl1pPr>
            </a:lstStyle>
            <a:p>
              <a:r>
                <a:t>ACK 1</a:t>
              </a:r>
            </a:p>
          </p:txBody>
        </p:sp>
        <p:sp>
          <p:nvSpPr>
            <p:cNvPr id="625" name="Line"/>
            <p:cNvSpPr/>
            <p:nvPr/>
          </p:nvSpPr>
          <p:spPr>
            <a:xfrm flipV="1">
              <a:off x="-1" y="500811"/>
              <a:ext cx="6275477" cy="3552389"/>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grpSp>
      <p:grpSp>
        <p:nvGrpSpPr>
          <p:cNvPr id="629" name="Group"/>
          <p:cNvGrpSpPr/>
          <p:nvPr/>
        </p:nvGrpSpPr>
        <p:grpSpPr>
          <a:xfrm>
            <a:off x="3428999" y="3802811"/>
            <a:ext cx="6275477" cy="3552389"/>
            <a:chOff x="0" y="500811"/>
            <a:chExt cx="6275475" cy="3552387"/>
          </a:xfrm>
        </p:grpSpPr>
        <p:sp>
          <p:nvSpPr>
            <p:cNvPr id="627" name="ACK 2"/>
            <p:cNvSpPr/>
            <p:nvPr/>
          </p:nvSpPr>
          <p:spPr>
            <a:xfrm rot="19821242">
              <a:off x="2119320" y="1904369"/>
              <a:ext cx="1257301" cy="6858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l">
                <a:defRPr sz="2800">
                  <a:solidFill>
                    <a:srgbClr val="0433FF"/>
                  </a:solidFill>
                  <a:latin typeface="Courier"/>
                  <a:ea typeface="Courier"/>
                  <a:cs typeface="Courier"/>
                  <a:sym typeface="Courier"/>
                </a:defRPr>
              </a:lvl1pPr>
            </a:lstStyle>
            <a:p>
              <a:r>
                <a:t>ACK 2</a:t>
              </a:r>
            </a:p>
          </p:txBody>
        </p:sp>
        <p:sp>
          <p:nvSpPr>
            <p:cNvPr id="628" name="Line"/>
            <p:cNvSpPr/>
            <p:nvPr/>
          </p:nvSpPr>
          <p:spPr>
            <a:xfrm flipV="1">
              <a:off x="-1" y="500811"/>
              <a:ext cx="6275477" cy="3552389"/>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grpSp>
      <p:grpSp>
        <p:nvGrpSpPr>
          <p:cNvPr id="632" name="Group"/>
          <p:cNvGrpSpPr/>
          <p:nvPr/>
        </p:nvGrpSpPr>
        <p:grpSpPr>
          <a:xfrm>
            <a:off x="3416299" y="4475911"/>
            <a:ext cx="6275477" cy="3552389"/>
            <a:chOff x="0" y="500811"/>
            <a:chExt cx="6275475" cy="3552387"/>
          </a:xfrm>
        </p:grpSpPr>
        <p:sp>
          <p:nvSpPr>
            <p:cNvPr id="630" name="ACK 3"/>
            <p:cNvSpPr/>
            <p:nvPr/>
          </p:nvSpPr>
          <p:spPr>
            <a:xfrm rot="19821242">
              <a:off x="2386020" y="1751969"/>
              <a:ext cx="1257301" cy="6858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l">
                <a:defRPr sz="2800">
                  <a:solidFill>
                    <a:srgbClr val="0433FF"/>
                  </a:solidFill>
                  <a:latin typeface="Courier"/>
                  <a:ea typeface="Courier"/>
                  <a:cs typeface="Courier"/>
                  <a:sym typeface="Courier"/>
                </a:defRPr>
              </a:lvl1pPr>
            </a:lstStyle>
            <a:p>
              <a:r>
                <a:t>ACK 3</a:t>
              </a:r>
            </a:p>
          </p:txBody>
        </p:sp>
        <p:sp>
          <p:nvSpPr>
            <p:cNvPr id="631" name="Line"/>
            <p:cNvSpPr/>
            <p:nvPr/>
          </p:nvSpPr>
          <p:spPr>
            <a:xfrm flipV="1">
              <a:off x="-1" y="500811"/>
              <a:ext cx="6275477" cy="3552389"/>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grpSp>
      <p:grpSp>
        <p:nvGrpSpPr>
          <p:cNvPr id="641" name="Group"/>
          <p:cNvGrpSpPr/>
          <p:nvPr/>
        </p:nvGrpSpPr>
        <p:grpSpPr>
          <a:xfrm>
            <a:off x="1308100" y="1143000"/>
            <a:ext cx="482600" cy="5486400"/>
            <a:chOff x="0" y="0"/>
            <a:chExt cx="482600" cy="5486400"/>
          </a:xfrm>
        </p:grpSpPr>
        <p:sp>
          <p:nvSpPr>
            <p:cNvPr id="633" name="0"/>
            <p:cNvSpPr/>
            <p:nvPr/>
          </p:nvSpPr>
          <p:spPr>
            <a:xfrm>
              <a:off x="0" y="0"/>
              <a:ext cx="469900" cy="685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r">
                <a:defRPr sz="3200">
                  <a:solidFill>
                    <a:srgbClr val="424242"/>
                  </a:solidFill>
                  <a:latin typeface="+mn-lt"/>
                  <a:ea typeface="+mn-ea"/>
                  <a:cs typeface="+mn-cs"/>
                  <a:sym typeface="Chalkboard SE Regular"/>
                </a:defRPr>
              </a:lvl1pPr>
            </a:lstStyle>
            <a:p>
              <a:r>
                <a:t>0</a:t>
              </a:r>
            </a:p>
          </p:txBody>
        </p:sp>
        <p:sp>
          <p:nvSpPr>
            <p:cNvPr id="634" name="1"/>
            <p:cNvSpPr/>
            <p:nvPr/>
          </p:nvSpPr>
          <p:spPr>
            <a:xfrm>
              <a:off x="0" y="685800"/>
              <a:ext cx="469900" cy="685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r">
                <a:defRPr sz="3200">
                  <a:solidFill>
                    <a:srgbClr val="424242"/>
                  </a:solidFill>
                  <a:latin typeface="+mn-lt"/>
                  <a:ea typeface="+mn-ea"/>
                  <a:cs typeface="+mn-cs"/>
                  <a:sym typeface="Chalkboard SE Regular"/>
                </a:defRPr>
              </a:lvl1pPr>
            </a:lstStyle>
            <a:p>
              <a:r>
                <a:t>1</a:t>
              </a:r>
            </a:p>
          </p:txBody>
        </p:sp>
        <p:sp>
          <p:nvSpPr>
            <p:cNvPr id="635" name="2"/>
            <p:cNvSpPr/>
            <p:nvPr/>
          </p:nvSpPr>
          <p:spPr>
            <a:xfrm>
              <a:off x="0" y="1371600"/>
              <a:ext cx="469900" cy="685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r">
                <a:defRPr sz="3200">
                  <a:solidFill>
                    <a:srgbClr val="424242"/>
                  </a:solidFill>
                  <a:latin typeface="+mn-lt"/>
                  <a:ea typeface="+mn-ea"/>
                  <a:cs typeface="+mn-cs"/>
                  <a:sym typeface="Chalkboard SE Regular"/>
                </a:defRPr>
              </a:lvl1pPr>
            </a:lstStyle>
            <a:p>
              <a:r>
                <a:t>2</a:t>
              </a:r>
            </a:p>
          </p:txBody>
        </p:sp>
        <p:sp>
          <p:nvSpPr>
            <p:cNvPr id="636" name="3"/>
            <p:cNvSpPr/>
            <p:nvPr/>
          </p:nvSpPr>
          <p:spPr>
            <a:xfrm>
              <a:off x="0" y="2057400"/>
              <a:ext cx="469900" cy="685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r">
                <a:defRPr sz="3200">
                  <a:solidFill>
                    <a:srgbClr val="424242"/>
                  </a:solidFill>
                  <a:latin typeface="+mn-lt"/>
                  <a:ea typeface="+mn-ea"/>
                  <a:cs typeface="+mn-cs"/>
                  <a:sym typeface="Chalkboard SE Regular"/>
                </a:defRPr>
              </a:lvl1pPr>
            </a:lstStyle>
            <a:p>
              <a:r>
                <a:t>3</a:t>
              </a:r>
            </a:p>
          </p:txBody>
        </p:sp>
        <p:sp>
          <p:nvSpPr>
            <p:cNvPr id="637" name="4"/>
            <p:cNvSpPr/>
            <p:nvPr/>
          </p:nvSpPr>
          <p:spPr>
            <a:xfrm>
              <a:off x="12700" y="2743200"/>
              <a:ext cx="469900" cy="685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r">
                <a:defRPr sz="3200">
                  <a:solidFill>
                    <a:srgbClr val="424242"/>
                  </a:solidFill>
                  <a:latin typeface="+mn-lt"/>
                  <a:ea typeface="+mn-ea"/>
                  <a:cs typeface="+mn-cs"/>
                  <a:sym typeface="Chalkboard SE Regular"/>
                </a:defRPr>
              </a:lvl1pPr>
            </a:lstStyle>
            <a:p>
              <a:r>
                <a:t>4</a:t>
              </a:r>
            </a:p>
          </p:txBody>
        </p:sp>
        <p:sp>
          <p:nvSpPr>
            <p:cNvPr id="638" name="5"/>
            <p:cNvSpPr/>
            <p:nvPr/>
          </p:nvSpPr>
          <p:spPr>
            <a:xfrm>
              <a:off x="12700" y="3429000"/>
              <a:ext cx="469900" cy="685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r">
                <a:defRPr sz="3200">
                  <a:solidFill>
                    <a:srgbClr val="424242"/>
                  </a:solidFill>
                  <a:latin typeface="+mn-lt"/>
                  <a:ea typeface="+mn-ea"/>
                  <a:cs typeface="+mn-cs"/>
                  <a:sym typeface="Chalkboard SE Regular"/>
                </a:defRPr>
              </a:lvl1pPr>
            </a:lstStyle>
            <a:p>
              <a:r>
                <a:t>5</a:t>
              </a:r>
            </a:p>
          </p:txBody>
        </p:sp>
        <p:sp>
          <p:nvSpPr>
            <p:cNvPr id="639" name="6"/>
            <p:cNvSpPr/>
            <p:nvPr/>
          </p:nvSpPr>
          <p:spPr>
            <a:xfrm>
              <a:off x="12700" y="4114800"/>
              <a:ext cx="469900" cy="685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r">
                <a:defRPr sz="3200">
                  <a:solidFill>
                    <a:srgbClr val="424242"/>
                  </a:solidFill>
                  <a:latin typeface="+mn-lt"/>
                  <a:ea typeface="+mn-ea"/>
                  <a:cs typeface="+mn-cs"/>
                  <a:sym typeface="Chalkboard SE Regular"/>
                </a:defRPr>
              </a:lvl1pPr>
            </a:lstStyle>
            <a:p>
              <a:r>
                <a:t>6</a:t>
              </a:r>
            </a:p>
          </p:txBody>
        </p:sp>
        <p:sp>
          <p:nvSpPr>
            <p:cNvPr id="640" name="7"/>
            <p:cNvSpPr/>
            <p:nvPr/>
          </p:nvSpPr>
          <p:spPr>
            <a:xfrm>
              <a:off x="12700" y="4800600"/>
              <a:ext cx="469900" cy="685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r">
                <a:defRPr sz="3200">
                  <a:solidFill>
                    <a:srgbClr val="424242"/>
                  </a:solidFill>
                  <a:latin typeface="+mn-lt"/>
                  <a:ea typeface="+mn-ea"/>
                  <a:cs typeface="+mn-cs"/>
                  <a:sym typeface="Chalkboard SE Regular"/>
                </a:defRPr>
              </a:lvl1pPr>
            </a:lstStyle>
            <a:p>
              <a:r>
                <a:t>7</a:t>
              </a:r>
            </a:p>
          </p:txBody>
        </p:sp>
      </p:grpSp>
      <p:sp>
        <p:nvSpPr>
          <p:cNvPr id="642" name="Rounded Rectangle"/>
          <p:cNvSpPr/>
          <p:nvPr/>
        </p:nvSpPr>
        <p:spPr>
          <a:xfrm>
            <a:off x="1244600" y="1231900"/>
            <a:ext cx="736600" cy="2628900"/>
          </a:xfrm>
          <a:prstGeom prst="roundRect">
            <a:avLst>
              <a:gd name="adj" fmla="val 25862"/>
            </a:avLst>
          </a:prstGeom>
          <a:ln w="50800">
            <a:solidFill>
              <a:srgbClr val="942193"/>
            </a:solidFill>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643" name="window size N = 4"/>
          <p:cNvSpPr/>
          <p:nvPr/>
        </p:nvSpPr>
        <p:spPr>
          <a:xfrm>
            <a:off x="88900" y="8826500"/>
            <a:ext cx="3624747" cy="6858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3200">
                <a:solidFill>
                  <a:srgbClr val="942193"/>
                </a:solidFill>
                <a:latin typeface="+mn-lt"/>
                <a:ea typeface="+mn-ea"/>
                <a:cs typeface="+mn-cs"/>
                <a:sym typeface="Chalkboard SE Regular"/>
              </a:defRPr>
            </a:lvl1pPr>
          </a:lstStyle>
          <a:p>
            <a:r>
              <a:t>window size N = 4</a:t>
            </a:r>
          </a:p>
        </p:txBody>
      </p:sp>
      <p:sp>
        <p:nvSpPr>
          <p:cNvPr id="644" name="Line"/>
          <p:cNvSpPr/>
          <p:nvPr/>
        </p:nvSpPr>
        <p:spPr>
          <a:xfrm flipH="1">
            <a:off x="1652915" y="8385132"/>
            <a:ext cx="2" cy="533730"/>
          </a:xfrm>
          <a:prstGeom prst="line">
            <a:avLst/>
          </a:prstGeom>
          <a:ln w="38100">
            <a:solidFill>
              <a:srgbClr val="942193"/>
            </a:solidFill>
            <a:miter lim="400000"/>
            <a:headEnd type="stealth"/>
          </a:ln>
        </p:spPr>
        <p:txBody>
          <a:bodyPr lIns="50800" tIns="50800" rIns="50800" bIns="50800" anchor="ctr"/>
          <a:lstStyle/>
          <a:p>
            <a:pPr algn="l" defTabSz="457200">
              <a:defRPr sz="1200">
                <a:latin typeface="Helvetica"/>
                <a:ea typeface="Helvetica"/>
                <a:cs typeface="Helvetica"/>
                <a:sym typeface="Helvetica"/>
              </a:defRPr>
            </a:pPr>
            <a:endParaRPr/>
          </a:p>
        </p:txBody>
      </p:sp>
      <p:grpSp>
        <p:nvGrpSpPr>
          <p:cNvPr id="647" name="Group"/>
          <p:cNvGrpSpPr/>
          <p:nvPr/>
        </p:nvGrpSpPr>
        <p:grpSpPr>
          <a:xfrm>
            <a:off x="3417524" y="6093701"/>
            <a:ext cx="6312611" cy="918311"/>
            <a:chOff x="0" y="480386"/>
            <a:chExt cx="6312610" cy="918310"/>
          </a:xfrm>
        </p:grpSpPr>
        <p:sp>
          <p:nvSpPr>
            <p:cNvPr id="645" name="SEQ 4"/>
            <p:cNvSpPr/>
            <p:nvPr/>
          </p:nvSpPr>
          <p:spPr>
            <a:xfrm rot="440413">
              <a:off x="3491077" y="570062"/>
              <a:ext cx="1447801" cy="6858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l">
                <a:defRPr sz="2800">
                  <a:solidFill>
                    <a:srgbClr val="0433FF"/>
                  </a:solidFill>
                  <a:latin typeface="Courier"/>
                  <a:ea typeface="Courier"/>
                  <a:cs typeface="Courier"/>
                  <a:sym typeface="Courier"/>
                </a:defRPr>
              </a:lvl1pPr>
            </a:lstStyle>
            <a:p>
              <a:r>
                <a:t>SEQ 4</a:t>
              </a:r>
            </a:p>
          </p:txBody>
        </p:sp>
        <p:sp>
          <p:nvSpPr>
            <p:cNvPr id="646" name="Line"/>
            <p:cNvSpPr/>
            <p:nvPr/>
          </p:nvSpPr>
          <p:spPr>
            <a:xfrm flipH="1" flipV="1">
              <a:off x="0" y="581769"/>
              <a:ext cx="6312610" cy="816928"/>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grpSp>
      <p:grpSp>
        <p:nvGrpSpPr>
          <p:cNvPr id="650" name="Group"/>
          <p:cNvGrpSpPr/>
          <p:nvPr/>
        </p:nvGrpSpPr>
        <p:grpSpPr>
          <a:xfrm>
            <a:off x="3428999" y="6751266"/>
            <a:ext cx="6312611" cy="908531"/>
            <a:chOff x="0" y="490166"/>
            <a:chExt cx="6312610" cy="908529"/>
          </a:xfrm>
        </p:grpSpPr>
        <p:sp>
          <p:nvSpPr>
            <p:cNvPr id="648" name="Line"/>
            <p:cNvSpPr/>
            <p:nvPr/>
          </p:nvSpPr>
          <p:spPr>
            <a:xfrm flipH="1" flipV="1">
              <a:off x="0" y="581769"/>
              <a:ext cx="6312610" cy="816928"/>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649" name="SEQ 5"/>
            <p:cNvSpPr/>
            <p:nvPr/>
          </p:nvSpPr>
          <p:spPr>
            <a:xfrm rot="440413">
              <a:off x="3429573" y="579842"/>
              <a:ext cx="1447801" cy="6858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l">
                <a:defRPr sz="2800">
                  <a:solidFill>
                    <a:srgbClr val="0433FF"/>
                  </a:solidFill>
                  <a:latin typeface="Courier"/>
                  <a:ea typeface="Courier"/>
                  <a:cs typeface="Courier"/>
                  <a:sym typeface="Courier"/>
                </a:defRPr>
              </a:lvl1pPr>
            </a:lstStyle>
            <a:p>
              <a:r>
                <a:t>SEQ 5</a:t>
              </a:r>
            </a:p>
          </p:txBody>
        </p:sp>
      </p:grpSp>
      <p:grpSp>
        <p:nvGrpSpPr>
          <p:cNvPr id="653" name="Group"/>
          <p:cNvGrpSpPr/>
          <p:nvPr/>
        </p:nvGrpSpPr>
        <p:grpSpPr>
          <a:xfrm>
            <a:off x="3428999" y="7400338"/>
            <a:ext cx="6312611" cy="919859"/>
            <a:chOff x="0" y="478838"/>
            <a:chExt cx="6312610" cy="919858"/>
          </a:xfrm>
        </p:grpSpPr>
        <p:sp>
          <p:nvSpPr>
            <p:cNvPr id="651" name="Line"/>
            <p:cNvSpPr/>
            <p:nvPr/>
          </p:nvSpPr>
          <p:spPr>
            <a:xfrm flipH="1" flipV="1">
              <a:off x="0" y="581769"/>
              <a:ext cx="6312610" cy="816928"/>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652" name="SEQ 6"/>
            <p:cNvSpPr/>
            <p:nvPr/>
          </p:nvSpPr>
          <p:spPr>
            <a:xfrm rot="440413">
              <a:off x="3372932" y="568514"/>
              <a:ext cx="1447801" cy="6858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l">
                <a:defRPr sz="2800">
                  <a:solidFill>
                    <a:srgbClr val="0433FF"/>
                  </a:solidFill>
                  <a:latin typeface="Courier"/>
                  <a:ea typeface="Courier"/>
                  <a:cs typeface="Courier"/>
                  <a:sym typeface="Courier"/>
                </a:defRPr>
              </a:lvl1pPr>
            </a:lstStyle>
            <a:p>
              <a:r>
                <a:t>SEQ 6</a:t>
              </a:r>
            </a:p>
          </p:txBody>
        </p:sp>
      </p:grpSp>
      <p:grpSp>
        <p:nvGrpSpPr>
          <p:cNvPr id="656" name="Group"/>
          <p:cNvGrpSpPr/>
          <p:nvPr/>
        </p:nvGrpSpPr>
        <p:grpSpPr>
          <a:xfrm>
            <a:off x="3428999" y="8084766"/>
            <a:ext cx="6312611" cy="908531"/>
            <a:chOff x="0" y="490166"/>
            <a:chExt cx="6312610" cy="908529"/>
          </a:xfrm>
        </p:grpSpPr>
        <p:sp>
          <p:nvSpPr>
            <p:cNvPr id="654" name="Line"/>
            <p:cNvSpPr/>
            <p:nvPr/>
          </p:nvSpPr>
          <p:spPr>
            <a:xfrm flipH="1" flipV="1">
              <a:off x="0" y="581769"/>
              <a:ext cx="6312610" cy="816928"/>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655" name="SEQ 7"/>
            <p:cNvSpPr/>
            <p:nvPr/>
          </p:nvSpPr>
          <p:spPr>
            <a:xfrm rot="440413">
              <a:off x="3372932" y="579842"/>
              <a:ext cx="1447801" cy="6858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l">
                <a:defRPr sz="2800">
                  <a:solidFill>
                    <a:srgbClr val="0433FF"/>
                  </a:solidFill>
                  <a:latin typeface="Courier"/>
                  <a:ea typeface="Courier"/>
                  <a:cs typeface="Courier"/>
                  <a:sym typeface="Courier"/>
                </a:defRPr>
              </a:lvl1pPr>
            </a:lstStyle>
            <a:p>
              <a:r>
                <a:t>SEQ 7</a:t>
              </a:r>
            </a:p>
          </p:txBody>
        </p:sp>
      </p:gr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64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2" nodeType="clickEffect">
                                  <p:stCondLst>
                                    <p:cond delay="0"/>
                                  </p:stCondLst>
                                  <p:iterate>
                                    <p:tmAbs val="0"/>
                                  </p:iterate>
                                  <p:childTnLst>
                                    <p:set>
                                      <p:cBhvr>
                                        <p:cTn id="10" fill="hold"/>
                                        <p:tgtEl>
                                          <p:spTgt spid="64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3" nodeType="clickEffect">
                                  <p:stCondLst>
                                    <p:cond delay="0"/>
                                  </p:stCondLst>
                                  <p:iterate>
                                    <p:tmAbs val="0"/>
                                  </p:iterate>
                                  <p:childTnLst>
                                    <p:set>
                                      <p:cBhvr>
                                        <p:cTn id="14" fill="hold"/>
                                        <p:tgtEl>
                                          <p:spTgt spid="614"/>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grpId="4" nodeType="afterEffect">
                                  <p:stCondLst>
                                    <p:cond delay="500"/>
                                  </p:stCondLst>
                                  <p:iterate>
                                    <p:tmAbs val="0"/>
                                  </p:iterate>
                                  <p:childTnLst>
                                    <p:set>
                                      <p:cBhvr>
                                        <p:cTn id="17" fill="hold"/>
                                        <p:tgtEl>
                                          <p:spTgt spid="617"/>
                                        </p:tgtEl>
                                        <p:attrNameLst>
                                          <p:attrName>style.visibility</p:attrName>
                                        </p:attrNameLst>
                                      </p:cBhvr>
                                      <p:to>
                                        <p:strVal val="visible"/>
                                      </p:to>
                                    </p:set>
                                  </p:childTnLst>
                                </p:cTn>
                              </p:par>
                            </p:childTnLst>
                          </p:cTn>
                        </p:par>
                        <p:par>
                          <p:cTn id="18" fill="hold">
                            <p:stCondLst>
                              <p:cond delay="500"/>
                            </p:stCondLst>
                            <p:childTnLst>
                              <p:par>
                                <p:cTn id="19" presetID="1" presetClass="entr" presetSubtype="0" fill="hold" grpId="5" nodeType="afterEffect">
                                  <p:stCondLst>
                                    <p:cond delay="500"/>
                                  </p:stCondLst>
                                  <p:iterate>
                                    <p:tmAbs val="0"/>
                                  </p:iterate>
                                  <p:childTnLst>
                                    <p:set>
                                      <p:cBhvr>
                                        <p:cTn id="20" fill="hold"/>
                                        <p:tgtEl>
                                          <p:spTgt spid="620"/>
                                        </p:tgtEl>
                                        <p:attrNameLst>
                                          <p:attrName>style.visibility</p:attrName>
                                        </p:attrNameLst>
                                      </p:cBhvr>
                                      <p:to>
                                        <p:strVal val="visible"/>
                                      </p:to>
                                    </p:set>
                                  </p:childTnLst>
                                </p:cTn>
                              </p:par>
                            </p:childTnLst>
                          </p:cTn>
                        </p:par>
                        <p:par>
                          <p:cTn id="21" fill="hold">
                            <p:stCondLst>
                              <p:cond delay="1000"/>
                            </p:stCondLst>
                            <p:childTnLst>
                              <p:par>
                                <p:cTn id="22" presetID="1" presetClass="entr" presetSubtype="0" fill="hold" grpId="6" nodeType="afterEffect">
                                  <p:stCondLst>
                                    <p:cond delay="500"/>
                                  </p:stCondLst>
                                  <p:iterate>
                                    <p:tmAbs val="0"/>
                                  </p:iterate>
                                  <p:childTnLst>
                                    <p:set>
                                      <p:cBhvr>
                                        <p:cTn id="23" fill="hold"/>
                                        <p:tgtEl>
                                          <p:spTgt spid="623"/>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7" nodeType="clickEffect">
                                  <p:stCondLst>
                                    <p:cond delay="0"/>
                                  </p:stCondLst>
                                  <p:iterate>
                                    <p:tmAbs val="0"/>
                                  </p:iterate>
                                  <p:childTnLst>
                                    <p:set>
                                      <p:cBhvr>
                                        <p:cTn id="27" fill="hold"/>
                                        <p:tgtEl>
                                          <p:spTgt spid="611"/>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path" presetSubtype="0" accel="50000" decel="50000" fill="hold" nodeType="clickEffect">
                                  <p:stCondLst>
                                    <p:cond delay="0"/>
                                  </p:stCondLst>
                                  <p:childTnLst>
                                    <p:animMotion origin="layout" path="M 0.000000 0.000000 L 0.000000 0.178385" pathEditMode="relative">
                                      <p:cBhvr>
                                        <p:cTn id="31" dur="1000" fill="hold"/>
                                        <p:tgtEl>
                                          <p:spTgt spid="641"/>
                                        </p:tgtEl>
                                        <p:attrNameLst>
                                          <p:attrName>ppt_x</p:attrName>
                                          <p:attrName>ppt_y</p:attrName>
                                        </p:attrNameLst>
                                      </p:cBhvr>
                                    </p:animMotion>
                                  </p:childTnLst>
                                </p:cTn>
                              </p:par>
                            </p:childTnLst>
                          </p:cTn>
                        </p:par>
                        <p:par>
                          <p:cTn id="32" fill="hold">
                            <p:stCondLst>
                              <p:cond delay="0"/>
                            </p:stCondLst>
                            <p:childTnLst>
                              <p:par>
                                <p:cTn id="33" presetID="-1" presetClass="path" presetSubtype="0" accel="50000" decel="50000" fill="hold" nodeType="withEffect">
                                  <p:stCondLst>
                                    <p:cond delay="0"/>
                                  </p:stCondLst>
                                  <p:childTnLst>
                                    <p:animMotion origin="layout" path="M 0.000000 0.000000 L 0.000000 0.180339" pathEditMode="relative">
                                      <p:cBhvr>
                                        <p:cTn id="34" dur="1000" fill="hold"/>
                                        <p:tgtEl>
                                          <p:spTgt spid="642"/>
                                        </p:tgtEl>
                                        <p:attrNameLst>
                                          <p:attrName>ppt_x</p:attrName>
                                          <p:attrName>ppt_y</p:attrName>
                                        </p:attrNameLst>
                                      </p:cBhvr>
                                    </p:animMotion>
                                  </p:childTnLst>
                                </p:cTn>
                              </p:par>
                            </p:childTnLst>
                          </p:cTn>
                        </p:par>
                      </p:childTnLst>
                    </p:cTn>
                  </p:par>
                  <p:par>
                    <p:cTn id="35" fill="hold">
                      <p:stCondLst>
                        <p:cond delay="indefinite"/>
                      </p:stCondLst>
                      <p:childTnLst>
                        <p:par>
                          <p:cTn id="36" fill="hold">
                            <p:stCondLst>
                              <p:cond delay="0"/>
                            </p:stCondLst>
                            <p:childTnLst>
                              <p:par>
                                <p:cTn id="37" presetID="-1" presetClass="path" presetSubtype="0" accel="50000" decel="50000" fill="hold" nodeType="clickEffect">
                                  <p:stCondLst>
                                    <p:cond delay="0"/>
                                  </p:stCondLst>
                                  <p:childTnLst>
                                    <p:animMotion origin="layout" path="M 0.000000 0.180339 L 0.000000 0.244141" pathEditMode="relative">
                                      <p:cBhvr>
                                        <p:cTn id="38" dur="1000" fill="hold"/>
                                        <p:tgtEl>
                                          <p:spTgt spid="642"/>
                                        </p:tgtEl>
                                        <p:attrNameLst>
                                          <p:attrName>ppt_x</p:attrName>
                                          <p:attrName>ppt_y</p:attrName>
                                        </p:attrNameLst>
                                      </p:cBhvr>
                                    </p:animMotion>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11" nodeType="clickEffect">
                                  <p:stCondLst>
                                    <p:cond delay="0"/>
                                  </p:stCondLst>
                                  <p:iterate>
                                    <p:tmAbs val="0"/>
                                  </p:iterate>
                                  <p:childTnLst>
                                    <p:set>
                                      <p:cBhvr>
                                        <p:cTn id="42" fill="hold"/>
                                        <p:tgtEl>
                                          <p:spTgt spid="64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12" nodeType="clickEffect">
                                  <p:stCondLst>
                                    <p:cond delay="0"/>
                                  </p:stCondLst>
                                  <p:iterate>
                                    <p:tmAbs val="0"/>
                                  </p:iterate>
                                  <p:childTnLst>
                                    <p:set>
                                      <p:cBhvr>
                                        <p:cTn id="46" fill="hold"/>
                                        <p:tgtEl>
                                          <p:spTgt spid="62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path" presetSubtype="0" accel="50000" decel="50000" fill="hold" nodeType="clickEffect">
                                  <p:stCondLst>
                                    <p:cond delay="0"/>
                                  </p:stCondLst>
                                  <p:childTnLst>
                                    <p:animMotion origin="layout" path="M 0.000000 0.244141 L 0.000000 0.315755" pathEditMode="relative">
                                      <p:cBhvr>
                                        <p:cTn id="50" dur="1000" fill="hold"/>
                                        <p:tgtEl>
                                          <p:spTgt spid="642"/>
                                        </p:tgtEl>
                                        <p:attrNameLst>
                                          <p:attrName>ppt_x</p:attrName>
                                          <p:attrName>ppt_y</p:attrName>
                                        </p:attrNameLst>
                                      </p:cBhvr>
                                    </p:animMotion>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4" nodeType="clickEffect">
                                  <p:stCondLst>
                                    <p:cond delay="0"/>
                                  </p:stCondLst>
                                  <p:iterate>
                                    <p:tmAbs val="0"/>
                                  </p:iterate>
                                  <p:childTnLst>
                                    <p:set>
                                      <p:cBhvr>
                                        <p:cTn id="54" fill="hold"/>
                                        <p:tgtEl>
                                          <p:spTgt spid="650"/>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15" nodeType="clickEffect">
                                  <p:stCondLst>
                                    <p:cond delay="0"/>
                                  </p:stCondLst>
                                  <p:iterate>
                                    <p:tmAbs val="0"/>
                                  </p:iterate>
                                  <p:childTnLst>
                                    <p:set>
                                      <p:cBhvr>
                                        <p:cTn id="58" fill="hold"/>
                                        <p:tgtEl>
                                          <p:spTgt spid="629"/>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path" presetSubtype="0" accel="50000" decel="50000" fill="hold" nodeType="clickEffect">
                                  <p:stCondLst>
                                    <p:cond delay="0"/>
                                  </p:stCondLst>
                                  <p:childTnLst>
                                    <p:animMotion origin="layout" path="M 0.000000 0.315755 L 0.000000 0.386068" pathEditMode="relative">
                                      <p:cBhvr>
                                        <p:cTn id="62" dur="1000" fill="hold"/>
                                        <p:tgtEl>
                                          <p:spTgt spid="642"/>
                                        </p:tgtEl>
                                        <p:attrNameLst>
                                          <p:attrName>ppt_x</p:attrName>
                                          <p:attrName>ppt_y</p:attrName>
                                        </p:attrNameLst>
                                      </p:cBhvr>
                                    </p:animMotion>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17" nodeType="clickEffect">
                                  <p:stCondLst>
                                    <p:cond delay="0"/>
                                  </p:stCondLst>
                                  <p:iterate>
                                    <p:tmAbs val="0"/>
                                  </p:iterate>
                                  <p:childTnLst>
                                    <p:set>
                                      <p:cBhvr>
                                        <p:cTn id="66" fill="hold"/>
                                        <p:tgtEl>
                                          <p:spTgt spid="632"/>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18" nodeType="clickEffect">
                                  <p:stCondLst>
                                    <p:cond delay="0"/>
                                  </p:stCondLst>
                                  <p:iterate>
                                    <p:tmAbs val="0"/>
                                  </p:iterate>
                                  <p:childTnLst>
                                    <p:set>
                                      <p:cBhvr>
                                        <p:cTn id="70" fill="hold"/>
                                        <p:tgtEl>
                                          <p:spTgt spid="653"/>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path" presetSubtype="0" accel="50000" decel="50000" fill="hold" nodeType="clickEffect">
                                  <p:stCondLst>
                                    <p:cond delay="0"/>
                                  </p:stCondLst>
                                  <p:childTnLst>
                                    <p:animMotion origin="layout" path="M 0.000000 0.386068 L 0.000000 0.455838" pathEditMode="relative">
                                      <p:cBhvr>
                                        <p:cTn id="74" dur="1000" fill="hold"/>
                                        <p:tgtEl>
                                          <p:spTgt spid="642"/>
                                        </p:tgtEl>
                                        <p:attrNameLst>
                                          <p:attrName>ppt_x</p:attrName>
                                          <p:attrName>ppt_y</p:attrName>
                                        </p:attrNameLst>
                                      </p:cBhvr>
                                    </p:animMotion>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20" nodeType="clickEffect">
                                  <p:stCondLst>
                                    <p:cond delay="0"/>
                                  </p:stCondLst>
                                  <p:iterate>
                                    <p:tmAbs val="0"/>
                                  </p:iterate>
                                  <p:childTnLst>
                                    <p:set>
                                      <p:cBhvr>
                                        <p:cTn id="78" fill="hold"/>
                                        <p:tgtEl>
                                          <p:spTgt spid="656"/>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21" nodeType="clickEffect">
                                  <p:stCondLst>
                                    <p:cond delay="0"/>
                                  </p:stCondLst>
                                  <p:iterate>
                                    <p:tmAbs val="0"/>
                                  </p:iterate>
                                  <p:childTnLst>
                                    <p:set>
                                      <p:cBhvr>
                                        <p:cTn id="82" fill="hold"/>
                                        <p:tgtEl>
                                          <p:spTgt spid="643"/>
                                        </p:tgtEl>
                                        <p:attrNameLst>
                                          <p:attrName>style.visibility</p:attrName>
                                        </p:attrNameLst>
                                      </p:cBhvr>
                                      <p:to>
                                        <p:strVal val="visible"/>
                                      </p:to>
                                    </p:set>
                                  </p:childTnLst>
                                </p:cTn>
                              </p:par>
                            </p:childTnLst>
                          </p:cTn>
                        </p:par>
                        <p:par>
                          <p:cTn id="83" fill="hold">
                            <p:stCondLst>
                              <p:cond delay="0"/>
                            </p:stCondLst>
                            <p:childTnLst>
                              <p:par>
                                <p:cTn id="84" presetID="1" presetClass="entr" presetSubtype="0" fill="hold" grpId="22" nodeType="afterEffect">
                                  <p:stCondLst>
                                    <p:cond delay="0"/>
                                  </p:stCondLst>
                                  <p:iterate>
                                    <p:tmAbs val="0"/>
                                  </p:iterate>
                                  <p:childTnLst>
                                    <p:set>
                                      <p:cBhvr>
                                        <p:cTn id="85" fill="hold"/>
                                        <p:tgtEl>
                                          <p:spTgt spid="6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1" grpId="7" animBg="1" advAuto="0"/>
      <p:bldP spid="614" grpId="3" animBg="1" advAuto="0"/>
      <p:bldP spid="617" grpId="4" animBg="1" advAuto="0"/>
      <p:bldP spid="620" grpId="5" animBg="1" advAuto="0"/>
      <p:bldP spid="623" grpId="6" animBg="1" advAuto="0"/>
      <p:bldP spid="626" grpId="12" animBg="1" advAuto="0"/>
      <p:bldP spid="629" grpId="15" animBg="1" advAuto="0"/>
      <p:bldP spid="632" grpId="17" animBg="1" advAuto="0"/>
      <p:bldP spid="641" grpId="1" animBg="1" advAuto="0"/>
      <p:bldP spid="642" grpId="2" animBg="1" advAuto="0"/>
      <p:bldP spid="643" grpId="21" animBg="1" advAuto="0"/>
      <p:bldP spid="644" grpId="22" animBg="1" advAuto="0"/>
      <p:bldP spid="647" grpId="11" animBg="1" advAuto="0"/>
      <p:bldP spid="650" grpId="14" animBg="1" advAuto="0"/>
      <p:bldP spid="653" grpId="18" animBg="1" advAuto="0"/>
      <p:bldP spid="656" grpId="20" animBg="1" advAuto="0"/>
    </p:bldLst>
  </p:timing>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60" name="Rectangle"/>
          <p:cNvSpPr/>
          <p:nvPr/>
        </p:nvSpPr>
        <p:spPr>
          <a:xfrm>
            <a:off x="9831978" y="-187354"/>
            <a:ext cx="3754843" cy="10128308"/>
          </a:xfrm>
          <a:prstGeom prst="rect">
            <a:avLst/>
          </a:prstGeom>
          <a:solidFill>
            <a:srgbClr val="FFD479"/>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661" name="Rectangle"/>
          <p:cNvSpPr/>
          <p:nvPr/>
        </p:nvSpPr>
        <p:spPr>
          <a:xfrm>
            <a:off x="-609280" y="-187354"/>
            <a:ext cx="3754843" cy="10128308"/>
          </a:xfrm>
          <a:prstGeom prst="rect">
            <a:avLst/>
          </a:prstGeom>
          <a:solidFill>
            <a:srgbClr val="FFD479"/>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662"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43</a:t>
            </a:fld>
            <a:endParaRPr/>
          </a:p>
        </p:txBody>
      </p:sp>
      <p:sp>
        <p:nvSpPr>
          <p:cNvPr id="663" name="Line"/>
          <p:cNvSpPr/>
          <p:nvPr/>
        </p:nvSpPr>
        <p:spPr>
          <a:xfrm>
            <a:off x="3071716" y="1510950"/>
            <a:ext cx="1" cy="225621"/>
          </a:xfrm>
          <a:prstGeom prst="line">
            <a:avLst/>
          </a:prstGeom>
          <a:ln w="381000">
            <a:solidFill>
              <a:srgbClr val="942193"/>
            </a:solidFill>
            <a:miter lim="400000"/>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664" name="transmission"/>
          <p:cNvSpPr/>
          <p:nvPr/>
        </p:nvSpPr>
        <p:spPr>
          <a:xfrm>
            <a:off x="211575" y="1226400"/>
            <a:ext cx="2481058" cy="685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r">
              <a:defRPr sz="3200">
                <a:solidFill>
                  <a:srgbClr val="942193"/>
                </a:solidFill>
                <a:latin typeface="+mn-lt"/>
                <a:ea typeface="+mn-ea"/>
                <a:cs typeface="+mn-cs"/>
                <a:sym typeface="Chalkboard SE Regular"/>
              </a:defRPr>
            </a:lvl1pPr>
          </a:lstStyle>
          <a:p>
            <a:r>
              <a:t>transmission</a:t>
            </a:r>
          </a:p>
        </p:txBody>
      </p:sp>
      <p:sp>
        <p:nvSpPr>
          <p:cNvPr id="665" name="Line"/>
          <p:cNvSpPr/>
          <p:nvPr/>
        </p:nvSpPr>
        <p:spPr>
          <a:xfrm flipH="1">
            <a:off x="2537500" y="1816099"/>
            <a:ext cx="1257" cy="4308255"/>
          </a:xfrm>
          <a:prstGeom prst="line">
            <a:avLst/>
          </a:prstGeom>
          <a:ln w="381000">
            <a:solidFill>
              <a:srgbClr val="942193"/>
            </a:solidFill>
            <a:miter lim="400000"/>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666" name="RTT"/>
          <p:cNvSpPr/>
          <p:nvPr/>
        </p:nvSpPr>
        <p:spPr>
          <a:xfrm>
            <a:off x="520700" y="3352800"/>
            <a:ext cx="1701800" cy="6858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r">
              <a:defRPr sz="3200">
                <a:solidFill>
                  <a:srgbClr val="942193"/>
                </a:solidFill>
                <a:latin typeface="+mn-lt"/>
                <a:ea typeface="+mn-ea"/>
                <a:cs typeface="+mn-cs"/>
                <a:sym typeface="Chalkboard SE Regular"/>
              </a:defRPr>
            </a:lvl1pPr>
          </a:lstStyle>
          <a:p>
            <a:r>
              <a:t>RTT</a:t>
            </a:r>
          </a:p>
        </p:txBody>
      </p:sp>
      <p:sp>
        <p:nvSpPr>
          <p:cNvPr id="667" name="Line"/>
          <p:cNvSpPr/>
          <p:nvPr/>
        </p:nvSpPr>
        <p:spPr>
          <a:xfrm>
            <a:off x="3091448" y="2159000"/>
            <a:ext cx="1" cy="225621"/>
          </a:xfrm>
          <a:prstGeom prst="line">
            <a:avLst/>
          </a:prstGeom>
          <a:ln w="381000">
            <a:solidFill>
              <a:srgbClr val="942193"/>
            </a:solidFill>
            <a:miter lim="400000"/>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668" name="Line"/>
          <p:cNvSpPr/>
          <p:nvPr/>
        </p:nvSpPr>
        <p:spPr>
          <a:xfrm>
            <a:off x="3091448" y="2806700"/>
            <a:ext cx="1" cy="225621"/>
          </a:xfrm>
          <a:prstGeom prst="line">
            <a:avLst/>
          </a:prstGeom>
          <a:ln w="381000">
            <a:solidFill>
              <a:srgbClr val="942193"/>
            </a:solidFill>
            <a:miter lim="400000"/>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669" name="Line"/>
          <p:cNvSpPr/>
          <p:nvPr/>
        </p:nvSpPr>
        <p:spPr>
          <a:xfrm>
            <a:off x="3091448" y="3454400"/>
            <a:ext cx="1" cy="225621"/>
          </a:xfrm>
          <a:prstGeom prst="line">
            <a:avLst/>
          </a:prstGeom>
          <a:ln w="381000">
            <a:solidFill>
              <a:srgbClr val="942193"/>
            </a:solidFill>
            <a:miter lim="400000"/>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670" name="Busy for"/>
          <p:cNvSpPr/>
          <p:nvPr/>
        </p:nvSpPr>
        <p:spPr>
          <a:xfrm>
            <a:off x="177800" y="6486381"/>
            <a:ext cx="2298700" cy="74323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lvl1pPr algn="l">
              <a:defRPr sz="3600">
                <a:solidFill>
                  <a:srgbClr val="424242"/>
                </a:solidFill>
                <a:latin typeface="+mn-lt"/>
                <a:ea typeface="+mn-ea"/>
                <a:cs typeface="+mn-cs"/>
                <a:sym typeface="Chalkboard SE Regular"/>
              </a:defRPr>
            </a:lvl1pPr>
          </a:lstStyle>
          <a:p>
            <a:r>
              <a:t>Busy for</a:t>
            </a:r>
          </a:p>
        </p:txBody>
      </p:sp>
      <p:sp>
        <p:nvSpPr>
          <p:cNvPr id="671" name="Line"/>
          <p:cNvSpPr/>
          <p:nvPr/>
        </p:nvSpPr>
        <p:spPr>
          <a:xfrm>
            <a:off x="473574" y="8242300"/>
            <a:ext cx="2370500" cy="4681"/>
          </a:xfrm>
          <a:prstGeom prst="line">
            <a:avLst/>
          </a:prstGeom>
          <a:ln w="38100">
            <a:solidFill>
              <a:srgbClr val="424242"/>
            </a:solidFill>
            <a:miter lim="400000"/>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672" name="trans. N"/>
          <p:cNvSpPr/>
          <p:nvPr/>
        </p:nvSpPr>
        <p:spPr>
          <a:xfrm>
            <a:off x="863600" y="7438881"/>
            <a:ext cx="1942348" cy="74323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p>
            <a:pPr algn="l">
              <a:defRPr sz="3600">
                <a:solidFill>
                  <a:srgbClr val="424242"/>
                </a:solidFill>
                <a:latin typeface="+mn-lt"/>
                <a:ea typeface="+mn-ea"/>
                <a:cs typeface="+mn-cs"/>
                <a:sym typeface="Chalkboard SE Regular"/>
              </a:defRPr>
            </a:pPr>
            <a:r>
              <a:t>trans. </a:t>
            </a:r>
            <a:r>
              <a:rPr>
                <a:solidFill>
                  <a:srgbClr val="942193"/>
                </a:solidFill>
              </a:rPr>
              <a:t>N</a:t>
            </a:r>
          </a:p>
        </p:txBody>
      </p:sp>
      <p:sp>
        <p:nvSpPr>
          <p:cNvPr id="673" name="trans. + RTT"/>
          <p:cNvSpPr/>
          <p:nvPr/>
        </p:nvSpPr>
        <p:spPr>
          <a:xfrm>
            <a:off x="508000" y="8264381"/>
            <a:ext cx="2653548" cy="74323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lvl1pPr algn="l">
              <a:defRPr sz="3600">
                <a:solidFill>
                  <a:srgbClr val="424242"/>
                </a:solidFill>
                <a:latin typeface="+mn-lt"/>
                <a:ea typeface="+mn-ea"/>
                <a:cs typeface="+mn-cs"/>
                <a:sym typeface="Chalkboard SE Regular"/>
              </a:defRPr>
            </a:lvl1pPr>
          </a:lstStyle>
          <a:p>
            <a:r>
              <a:t>trans. + RTT</a:t>
            </a:r>
          </a:p>
        </p:txBody>
      </p:sp>
      <p:sp>
        <p:nvSpPr>
          <p:cNvPr id="674" name="Alice’s computer"/>
          <p:cNvSpPr/>
          <p:nvPr/>
        </p:nvSpPr>
        <p:spPr>
          <a:xfrm>
            <a:off x="-308527" y="155768"/>
            <a:ext cx="4419601" cy="81876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lvl1pPr>
              <a:defRPr sz="4000">
                <a:solidFill>
                  <a:srgbClr val="0096FF"/>
                </a:solidFill>
                <a:latin typeface="+mn-lt"/>
                <a:ea typeface="+mn-ea"/>
                <a:cs typeface="+mn-cs"/>
                <a:sym typeface="Chalkboard SE Regular"/>
              </a:defRPr>
            </a:lvl1pPr>
          </a:lstStyle>
          <a:p>
            <a:r>
              <a:t>Alice’s computer</a:t>
            </a:r>
          </a:p>
        </p:txBody>
      </p:sp>
      <p:sp>
        <p:nvSpPr>
          <p:cNvPr id="675" name="Bob’s computer"/>
          <p:cNvSpPr/>
          <p:nvPr/>
        </p:nvSpPr>
        <p:spPr>
          <a:xfrm>
            <a:off x="8788400" y="155768"/>
            <a:ext cx="4419600" cy="81876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lvl1pPr>
              <a:defRPr sz="4000">
                <a:solidFill>
                  <a:srgbClr val="0096FF"/>
                </a:solidFill>
                <a:latin typeface="+mn-lt"/>
                <a:ea typeface="+mn-ea"/>
                <a:cs typeface="+mn-cs"/>
                <a:sym typeface="Chalkboard SE Regular"/>
              </a:defRPr>
            </a:lvl1pPr>
          </a:lstStyle>
          <a:p>
            <a:r>
              <a:t>Bob’s computer</a:t>
            </a:r>
          </a:p>
        </p:txBody>
      </p:sp>
      <p:sp>
        <p:nvSpPr>
          <p:cNvPr id="676" name="Rounded Rectangle"/>
          <p:cNvSpPr/>
          <p:nvPr/>
        </p:nvSpPr>
        <p:spPr>
          <a:xfrm>
            <a:off x="-241300" y="1054100"/>
            <a:ext cx="4013200" cy="8394700"/>
          </a:xfrm>
          <a:prstGeom prst="roundRect">
            <a:avLst>
              <a:gd name="adj" fmla="val 4747"/>
            </a:avLst>
          </a:prstGeom>
          <a:ln w="25400">
            <a:solidFill>
              <a:srgbClr val="0096FF"/>
            </a:solidFill>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677" name="Rounded Rectangle"/>
          <p:cNvSpPr/>
          <p:nvPr/>
        </p:nvSpPr>
        <p:spPr>
          <a:xfrm>
            <a:off x="9194800" y="1028700"/>
            <a:ext cx="5029200" cy="8394700"/>
          </a:xfrm>
          <a:prstGeom prst="roundRect">
            <a:avLst>
              <a:gd name="adj" fmla="val 3788"/>
            </a:avLst>
          </a:prstGeom>
          <a:ln w="25400">
            <a:solidFill>
              <a:srgbClr val="0096FF"/>
            </a:solidFill>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grpSp>
        <p:nvGrpSpPr>
          <p:cNvPr id="680" name="Group"/>
          <p:cNvGrpSpPr/>
          <p:nvPr/>
        </p:nvGrpSpPr>
        <p:grpSpPr>
          <a:xfrm>
            <a:off x="3366724" y="1305447"/>
            <a:ext cx="6312611" cy="1071065"/>
            <a:chOff x="0" y="327632"/>
            <a:chExt cx="6312610" cy="1071064"/>
          </a:xfrm>
        </p:grpSpPr>
        <p:sp>
          <p:nvSpPr>
            <p:cNvPr id="678" name="SEQ 0"/>
            <p:cNvSpPr/>
            <p:nvPr/>
          </p:nvSpPr>
          <p:spPr>
            <a:xfrm rot="440413">
              <a:off x="2426224" y="417308"/>
              <a:ext cx="1447801" cy="6858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l">
                <a:defRPr sz="2800">
                  <a:solidFill>
                    <a:srgbClr val="0433FF"/>
                  </a:solidFill>
                  <a:latin typeface="Courier"/>
                  <a:ea typeface="Courier"/>
                  <a:cs typeface="Courier"/>
                  <a:sym typeface="Courier"/>
                </a:defRPr>
              </a:lvl1pPr>
            </a:lstStyle>
            <a:p>
              <a:r>
                <a:t>SEQ 0</a:t>
              </a:r>
            </a:p>
          </p:txBody>
        </p:sp>
        <p:sp>
          <p:nvSpPr>
            <p:cNvPr id="679" name="Line"/>
            <p:cNvSpPr/>
            <p:nvPr/>
          </p:nvSpPr>
          <p:spPr>
            <a:xfrm flipH="1" flipV="1">
              <a:off x="0" y="581769"/>
              <a:ext cx="6312610" cy="816928"/>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grpSp>
      <p:grpSp>
        <p:nvGrpSpPr>
          <p:cNvPr id="683" name="Group"/>
          <p:cNvGrpSpPr/>
          <p:nvPr/>
        </p:nvGrpSpPr>
        <p:grpSpPr>
          <a:xfrm>
            <a:off x="3378199" y="1968500"/>
            <a:ext cx="6312611" cy="1055797"/>
            <a:chOff x="0" y="342900"/>
            <a:chExt cx="6312610" cy="1055796"/>
          </a:xfrm>
        </p:grpSpPr>
        <p:sp>
          <p:nvSpPr>
            <p:cNvPr id="681" name="Line"/>
            <p:cNvSpPr/>
            <p:nvPr/>
          </p:nvSpPr>
          <p:spPr>
            <a:xfrm flipH="1" flipV="1">
              <a:off x="0" y="581769"/>
              <a:ext cx="6312610" cy="816928"/>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682" name="SEQ 1"/>
            <p:cNvSpPr/>
            <p:nvPr/>
          </p:nvSpPr>
          <p:spPr>
            <a:xfrm rot="440413">
              <a:off x="2387376" y="432575"/>
              <a:ext cx="1447801" cy="6858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l">
                <a:defRPr sz="2800">
                  <a:solidFill>
                    <a:srgbClr val="0433FF"/>
                  </a:solidFill>
                  <a:latin typeface="Courier"/>
                  <a:ea typeface="Courier"/>
                  <a:cs typeface="Courier"/>
                  <a:sym typeface="Courier"/>
                </a:defRPr>
              </a:lvl1pPr>
            </a:lstStyle>
            <a:p>
              <a:r>
                <a:t>SEQ 1</a:t>
              </a:r>
            </a:p>
          </p:txBody>
        </p:sp>
      </p:grpSp>
      <p:grpSp>
        <p:nvGrpSpPr>
          <p:cNvPr id="686" name="Group"/>
          <p:cNvGrpSpPr/>
          <p:nvPr/>
        </p:nvGrpSpPr>
        <p:grpSpPr>
          <a:xfrm>
            <a:off x="3378199" y="2628900"/>
            <a:ext cx="6312611" cy="1055797"/>
            <a:chOff x="0" y="342900"/>
            <a:chExt cx="6312610" cy="1055796"/>
          </a:xfrm>
        </p:grpSpPr>
        <p:sp>
          <p:nvSpPr>
            <p:cNvPr id="684" name="Line"/>
            <p:cNvSpPr/>
            <p:nvPr/>
          </p:nvSpPr>
          <p:spPr>
            <a:xfrm flipH="1" flipV="1">
              <a:off x="0" y="581769"/>
              <a:ext cx="6312610" cy="816928"/>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685" name="SEQ 2"/>
            <p:cNvSpPr/>
            <p:nvPr/>
          </p:nvSpPr>
          <p:spPr>
            <a:xfrm rot="440413">
              <a:off x="2387376" y="432575"/>
              <a:ext cx="1447801" cy="6858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l">
                <a:defRPr sz="2800">
                  <a:solidFill>
                    <a:srgbClr val="0433FF"/>
                  </a:solidFill>
                  <a:latin typeface="Courier"/>
                  <a:ea typeface="Courier"/>
                  <a:cs typeface="Courier"/>
                  <a:sym typeface="Courier"/>
                </a:defRPr>
              </a:lvl1pPr>
            </a:lstStyle>
            <a:p>
              <a:r>
                <a:t>SEQ 2</a:t>
              </a:r>
            </a:p>
          </p:txBody>
        </p:sp>
      </p:grpSp>
      <p:grpSp>
        <p:nvGrpSpPr>
          <p:cNvPr id="689" name="Group"/>
          <p:cNvGrpSpPr/>
          <p:nvPr/>
        </p:nvGrpSpPr>
        <p:grpSpPr>
          <a:xfrm>
            <a:off x="3378199" y="3302000"/>
            <a:ext cx="6312611" cy="1055797"/>
            <a:chOff x="0" y="342900"/>
            <a:chExt cx="6312610" cy="1055796"/>
          </a:xfrm>
        </p:grpSpPr>
        <p:sp>
          <p:nvSpPr>
            <p:cNvPr id="687" name="Line"/>
            <p:cNvSpPr/>
            <p:nvPr/>
          </p:nvSpPr>
          <p:spPr>
            <a:xfrm flipH="1" flipV="1">
              <a:off x="0" y="581769"/>
              <a:ext cx="6312610" cy="816928"/>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688" name="SEQ 3"/>
            <p:cNvSpPr/>
            <p:nvPr/>
          </p:nvSpPr>
          <p:spPr>
            <a:xfrm rot="440413">
              <a:off x="2387376" y="432575"/>
              <a:ext cx="1447801" cy="6858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l">
                <a:defRPr sz="2800">
                  <a:solidFill>
                    <a:srgbClr val="0433FF"/>
                  </a:solidFill>
                  <a:latin typeface="Courier"/>
                  <a:ea typeface="Courier"/>
                  <a:cs typeface="Courier"/>
                  <a:sym typeface="Courier"/>
                </a:defRPr>
              </a:lvl1pPr>
            </a:lstStyle>
            <a:p>
              <a:r>
                <a:t>SEQ 3</a:t>
              </a:r>
            </a:p>
          </p:txBody>
        </p:sp>
      </p:grpSp>
      <p:grpSp>
        <p:nvGrpSpPr>
          <p:cNvPr id="692" name="Group"/>
          <p:cNvGrpSpPr/>
          <p:nvPr/>
        </p:nvGrpSpPr>
        <p:grpSpPr>
          <a:xfrm>
            <a:off x="3379102" y="2541291"/>
            <a:ext cx="6275476" cy="3552389"/>
            <a:chOff x="0" y="500811"/>
            <a:chExt cx="6275475" cy="3552387"/>
          </a:xfrm>
        </p:grpSpPr>
        <p:sp>
          <p:nvSpPr>
            <p:cNvPr id="690" name="ACK 0"/>
            <p:cNvSpPr/>
            <p:nvPr/>
          </p:nvSpPr>
          <p:spPr>
            <a:xfrm rot="19821242">
              <a:off x="1727269" y="2125224"/>
              <a:ext cx="1257301" cy="6858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l">
                <a:defRPr sz="2800">
                  <a:solidFill>
                    <a:srgbClr val="0433FF"/>
                  </a:solidFill>
                  <a:latin typeface="Courier"/>
                  <a:ea typeface="Courier"/>
                  <a:cs typeface="Courier"/>
                  <a:sym typeface="Courier"/>
                </a:defRPr>
              </a:lvl1pPr>
            </a:lstStyle>
            <a:p>
              <a:r>
                <a:t>ACK 0</a:t>
              </a:r>
            </a:p>
          </p:txBody>
        </p:sp>
        <p:sp>
          <p:nvSpPr>
            <p:cNvPr id="691" name="Line"/>
            <p:cNvSpPr/>
            <p:nvPr/>
          </p:nvSpPr>
          <p:spPr>
            <a:xfrm flipV="1">
              <a:off x="-1" y="500811"/>
              <a:ext cx="6275477" cy="3552389"/>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gr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664"/>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2" nodeType="afterEffect">
                                  <p:stCondLst>
                                    <p:cond delay="0"/>
                                  </p:stCondLst>
                                  <p:iterate>
                                    <p:tmAbs val="0"/>
                                  </p:iterate>
                                  <p:childTnLst>
                                    <p:set>
                                      <p:cBhvr>
                                        <p:cTn id="9" fill="hold"/>
                                        <p:tgtEl>
                                          <p:spTgt spid="663"/>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grpId="3" nodeType="afterEffect">
                                  <p:stCondLst>
                                    <p:cond delay="0"/>
                                  </p:stCondLst>
                                  <p:iterate>
                                    <p:tmAbs val="0"/>
                                  </p:iterate>
                                  <p:childTnLst>
                                    <p:set>
                                      <p:cBhvr>
                                        <p:cTn id="12" fill="hold"/>
                                        <p:tgtEl>
                                          <p:spTgt spid="667"/>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grpId="4" nodeType="afterEffect">
                                  <p:stCondLst>
                                    <p:cond delay="0"/>
                                  </p:stCondLst>
                                  <p:iterate>
                                    <p:tmAbs val="0"/>
                                  </p:iterate>
                                  <p:childTnLst>
                                    <p:set>
                                      <p:cBhvr>
                                        <p:cTn id="15" fill="hold"/>
                                        <p:tgtEl>
                                          <p:spTgt spid="668"/>
                                        </p:tgtEl>
                                        <p:attrNameLst>
                                          <p:attrName>style.visibility</p:attrName>
                                        </p:attrNameLst>
                                      </p:cBhvr>
                                      <p:to>
                                        <p:strVal val="visible"/>
                                      </p:to>
                                    </p:set>
                                  </p:childTnLst>
                                </p:cTn>
                              </p:par>
                            </p:childTnLst>
                          </p:cTn>
                        </p:par>
                        <p:par>
                          <p:cTn id="16" fill="hold">
                            <p:stCondLst>
                              <p:cond delay="0"/>
                            </p:stCondLst>
                            <p:childTnLst>
                              <p:par>
                                <p:cTn id="17" presetID="1" presetClass="entr" presetSubtype="0" fill="hold" grpId="5" nodeType="afterEffect">
                                  <p:stCondLst>
                                    <p:cond delay="0"/>
                                  </p:stCondLst>
                                  <p:iterate>
                                    <p:tmAbs val="0"/>
                                  </p:iterate>
                                  <p:childTnLst>
                                    <p:set>
                                      <p:cBhvr>
                                        <p:cTn id="18" fill="hold"/>
                                        <p:tgtEl>
                                          <p:spTgt spid="66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6" nodeType="clickEffect">
                                  <p:stCondLst>
                                    <p:cond delay="0"/>
                                  </p:stCondLst>
                                  <p:iterate>
                                    <p:tmAbs val="0"/>
                                  </p:iterate>
                                  <p:childTnLst>
                                    <p:set>
                                      <p:cBhvr>
                                        <p:cTn id="22" fill="hold"/>
                                        <p:tgtEl>
                                          <p:spTgt spid="666"/>
                                        </p:tgtEl>
                                        <p:attrNameLst>
                                          <p:attrName>style.visibility</p:attrName>
                                        </p:attrNameLst>
                                      </p:cBhvr>
                                      <p:to>
                                        <p:strVal val="visible"/>
                                      </p:to>
                                    </p:set>
                                  </p:childTnLst>
                                </p:cTn>
                              </p:par>
                            </p:childTnLst>
                          </p:cTn>
                        </p:par>
                        <p:par>
                          <p:cTn id="23" fill="hold">
                            <p:stCondLst>
                              <p:cond delay="0"/>
                            </p:stCondLst>
                            <p:childTnLst>
                              <p:par>
                                <p:cTn id="24" presetID="1" presetClass="entr" presetSubtype="0" fill="hold" grpId="7" nodeType="afterEffect">
                                  <p:stCondLst>
                                    <p:cond delay="0"/>
                                  </p:stCondLst>
                                  <p:iterate>
                                    <p:tmAbs val="0"/>
                                  </p:iterate>
                                  <p:childTnLst>
                                    <p:set>
                                      <p:cBhvr>
                                        <p:cTn id="25" fill="hold"/>
                                        <p:tgtEl>
                                          <p:spTgt spid="665"/>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8" nodeType="clickEffect">
                                  <p:stCondLst>
                                    <p:cond delay="0"/>
                                  </p:stCondLst>
                                  <p:iterate>
                                    <p:tmAbs val="0"/>
                                  </p:iterate>
                                  <p:childTnLst>
                                    <p:set>
                                      <p:cBhvr>
                                        <p:cTn id="29" fill="hold"/>
                                        <p:tgtEl>
                                          <p:spTgt spid="670"/>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9" nodeType="clickEffect">
                                  <p:stCondLst>
                                    <p:cond delay="0"/>
                                  </p:stCondLst>
                                  <p:iterate>
                                    <p:tmAbs val="0"/>
                                  </p:iterate>
                                  <p:childTnLst>
                                    <p:set>
                                      <p:cBhvr>
                                        <p:cTn id="33" fill="hold"/>
                                        <p:tgtEl>
                                          <p:spTgt spid="671"/>
                                        </p:tgtEl>
                                        <p:attrNameLst>
                                          <p:attrName>style.visibility</p:attrName>
                                        </p:attrNameLst>
                                      </p:cBhvr>
                                      <p:to>
                                        <p:strVal val="visible"/>
                                      </p:to>
                                    </p:set>
                                  </p:childTnLst>
                                </p:cTn>
                              </p:par>
                            </p:childTnLst>
                          </p:cTn>
                        </p:par>
                        <p:par>
                          <p:cTn id="34" fill="hold">
                            <p:stCondLst>
                              <p:cond delay="0"/>
                            </p:stCondLst>
                            <p:childTnLst>
                              <p:par>
                                <p:cTn id="35" presetID="1" presetClass="entr" presetSubtype="0" fill="hold" grpId="10" nodeType="afterEffect">
                                  <p:stCondLst>
                                    <p:cond delay="0"/>
                                  </p:stCondLst>
                                  <p:iterate>
                                    <p:tmAbs val="0"/>
                                  </p:iterate>
                                  <p:childTnLst>
                                    <p:set>
                                      <p:cBhvr>
                                        <p:cTn id="36" fill="hold"/>
                                        <p:tgtEl>
                                          <p:spTgt spid="673"/>
                                        </p:tgtEl>
                                        <p:attrNameLst>
                                          <p:attrName>style.visibility</p:attrName>
                                        </p:attrNameLst>
                                      </p:cBhvr>
                                      <p:to>
                                        <p:strVal val="visible"/>
                                      </p:to>
                                    </p:set>
                                  </p:childTnLst>
                                </p:cTn>
                              </p:par>
                            </p:childTnLst>
                          </p:cTn>
                        </p:par>
                        <p:par>
                          <p:cTn id="37" fill="hold">
                            <p:stCondLst>
                              <p:cond delay="0"/>
                            </p:stCondLst>
                            <p:childTnLst>
                              <p:par>
                                <p:cTn id="38" presetID="1" presetClass="entr" presetSubtype="0" fill="hold" grpId="11" nodeType="afterEffect">
                                  <p:stCondLst>
                                    <p:cond delay="0"/>
                                  </p:stCondLst>
                                  <p:iterate>
                                    <p:tmAbs val="0"/>
                                  </p:iterate>
                                  <p:childTnLst>
                                    <p:set>
                                      <p:cBhvr>
                                        <p:cTn id="39" fill="hold"/>
                                        <p:tgtEl>
                                          <p:spTgt spid="6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3" grpId="2" animBg="1" advAuto="0"/>
      <p:bldP spid="664" grpId="1" animBg="1" advAuto="0"/>
      <p:bldP spid="665" grpId="7" animBg="1" advAuto="0"/>
      <p:bldP spid="666" grpId="6" animBg="1" advAuto="0"/>
      <p:bldP spid="667" grpId="3" animBg="1" advAuto="0"/>
      <p:bldP spid="668" grpId="4" animBg="1" advAuto="0"/>
      <p:bldP spid="669" grpId="5" animBg="1" advAuto="0"/>
      <p:bldP spid="670" grpId="8" animBg="1" advAuto="0"/>
      <p:bldP spid="671" grpId="9" animBg="1" advAuto="0"/>
      <p:bldP spid="672" grpId="11" animBg="1" advAuto="0"/>
      <p:bldP spid="673" grpId="10" animBg="1" advAuto="0"/>
    </p:bldLst>
  </p:timing>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96" name="Sender utilization"/>
          <p:cNvSpPr txBox="1">
            <a:spLocks noGrp="1"/>
          </p:cNvSpPr>
          <p:nvPr>
            <p:ph type="title"/>
          </p:nvPr>
        </p:nvSpPr>
        <p:spPr>
          <a:prstGeom prst="rect">
            <a:avLst/>
          </a:prstGeom>
        </p:spPr>
        <p:txBody>
          <a:bodyPr/>
          <a:lstStyle/>
          <a:p>
            <a:r>
              <a:rPr lang="fr-CH" dirty="0" err="1"/>
              <a:t>Improving</a:t>
            </a:r>
            <a:r>
              <a:rPr lang="fr-CH" dirty="0"/>
              <a:t> s</a:t>
            </a:r>
            <a:r>
              <a:rPr dirty="0"/>
              <a:t>ender utilization</a:t>
            </a:r>
            <a:r>
              <a:rPr lang="fr-CH" dirty="0"/>
              <a:t> </a:t>
            </a:r>
            <a:r>
              <a:rPr lang="fr-CH" dirty="0" err="1"/>
              <a:t>through</a:t>
            </a:r>
            <a:r>
              <a:rPr lang="fr-CH" dirty="0"/>
              <a:t> </a:t>
            </a:r>
            <a:r>
              <a:rPr lang="fr-CH" b="1" dirty="0"/>
              <a:t>Pipelining</a:t>
            </a:r>
            <a:endParaRPr b="1" dirty="0"/>
          </a:p>
        </p:txBody>
      </p:sp>
      <p:sp>
        <p:nvSpPr>
          <p:cNvPr id="697" name="Stop and wait: poor sender utilization…"/>
          <p:cNvSpPr txBox="1">
            <a:spLocks noGrp="1"/>
          </p:cNvSpPr>
          <p:nvPr>
            <p:ph type="body" idx="1"/>
          </p:nvPr>
        </p:nvSpPr>
        <p:spPr>
          <a:xfrm>
            <a:off x="153210" y="2861703"/>
            <a:ext cx="11237715" cy="6139608"/>
          </a:xfrm>
          <a:prstGeom prst="rect">
            <a:avLst/>
          </a:prstGeom>
        </p:spPr>
        <p:txBody>
          <a:bodyPr anchor="t"/>
          <a:lstStyle/>
          <a:p>
            <a:pPr>
              <a:spcBef>
                <a:spcPts val="500"/>
              </a:spcBef>
            </a:pPr>
            <a:r>
              <a:rPr dirty="0">
                <a:solidFill>
                  <a:srgbClr val="942193"/>
                </a:solidFill>
              </a:rPr>
              <a:t>Stop and wait</a:t>
            </a:r>
            <a:r>
              <a:rPr dirty="0"/>
              <a:t>: poor sender utilization </a:t>
            </a:r>
          </a:p>
          <a:p>
            <a:pPr lvl="1">
              <a:spcBef>
                <a:spcPts val="4000"/>
              </a:spcBef>
            </a:pPr>
            <a:r>
              <a:rPr dirty="0"/>
              <a:t>the sender does nothing while waiting </a:t>
            </a:r>
            <a:br>
              <a:rPr dirty="0"/>
            </a:br>
            <a:r>
              <a:rPr dirty="0"/>
              <a:t>for the receiver’s ACK or the timeout</a:t>
            </a:r>
            <a:endParaRPr lang="fr-CH" dirty="0"/>
          </a:p>
          <a:p>
            <a:pPr lvl="1">
              <a:spcBef>
                <a:spcPts val="4000"/>
              </a:spcBef>
            </a:pPr>
            <a:endParaRPr dirty="0"/>
          </a:p>
          <a:p>
            <a:pPr>
              <a:spcBef>
                <a:spcPts val="500"/>
              </a:spcBef>
            </a:pPr>
            <a:r>
              <a:rPr dirty="0">
                <a:solidFill>
                  <a:srgbClr val="942193"/>
                </a:solidFill>
              </a:rPr>
              <a:t>Pipelining</a:t>
            </a:r>
            <a:r>
              <a:rPr dirty="0"/>
              <a:t>: better utilization</a:t>
            </a:r>
          </a:p>
          <a:p>
            <a:pPr lvl="1">
              <a:spcBef>
                <a:spcPts val="500"/>
              </a:spcBef>
            </a:pPr>
            <a:r>
              <a:rPr dirty="0"/>
              <a:t>the sender sends up to N un-</a:t>
            </a:r>
            <a:r>
              <a:rPr dirty="0" err="1"/>
              <a:t>ACKed</a:t>
            </a:r>
            <a:r>
              <a:rPr dirty="0"/>
              <a:t> segments</a:t>
            </a:r>
          </a:p>
          <a:p>
            <a:pPr lvl="1"/>
            <a:r>
              <a:rPr dirty="0"/>
              <a:t>N = sliding window size </a:t>
            </a:r>
          </a:p>
        </p:txBody>
      </p:sp>
      <p:sp>
        <p:nvSpPr>
          <p:cNvPr id="698"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44</a:t>
            </a:fld>
            <a:endParaRP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697">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697">
                                            <p:txEl>
                                              <p:pRg st="0" end="0"/>
                                            </p:txEl>
                                          </p:spTgt>
                                        </p:tgtEl>
                                        <p:attrNameLst>
                                          <p:attrName>style.visibility</p:attrName>
                                        </p:attrNameLst>
                                      </p:cBhvr>
                                      <p:to>
                                        <p:strVal val="visible"/>
                                      </p:to>
                                    </p:set>
                                  </p:childTnLst>
                                </p:cTn>
                              </p:par>
                              <p:par>
                                <p:cTn id="9" presetID="1" presetClass="entr" presetSubtype="0" fill="hold" grpId="1" nodeType="withEffect">
                                  <p:stCondLst>
                                    <p:cond delay="0"/>
                                  </p:stCondLst>
                                  <p:iterate>
                                    <p:tmAbs val="0"/>
                                  </p:iterate>
                                  <p:childTnLst>
                                    <p:set>
                                      <p:cBhvr>
                                        <p:cTn id="10" fill="hold"/>
                                        <p:tgtEl>
                                          <p:spTgt spid="69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1" nodeType="clickEffect">
                                  <p:stCondLst>
                                    <p:cond delay="0"/>
                                  </p:stCondLst>
                                  <p:iterate>
                                    <p:tmAbs val="0"/>
                                  </p:iterate>
                                  <p:childTnLst>
                                    <p:set>
                                      <p:cBhvr>
                                        <p:cTn id="14" fill="hold"/>
                                        <p:tgtEl>
                                          <p:spTgt spid="697">
                                            <p:txEl>
                                              <p:pRg st="3" end="3"/>
                                            </p:txEl>
                                          </p:spTgt>
                                        </p:tgtEl>
                                        <p:attrNameLst>
                                          <p:attrName>style.visibility</p:attrName>
                                        </p:attrNameLst>
                                      </p:cBhvr>
                                      <p:to>
                                        <p:strVal val="visible"/>
                                      </p:to>
                                    </p:set>
                                  </p:childTnLst>
                                </p:cTn>
                              </p:par>
                              <p:par>
                                <p:cTn id="15" presetID="1" presetClass="entr" presetSubtype="0" fill="hold" grpId="1" nodeType="withEffect">
                                  <p:stCondLst>
                                    <p:cond delay="0"/>
                                  </p:stCondLst>
                                  <p:iterate>
                                    <p:tmAbs val="0"/>
                                  </p:iterate>
                                  <p:childTnLst>
                                    <p:set>
                                      <p:cBhvr>
                                        <p:cTn id="16" fill="hold"/>
                                        <p:tgtEl>
                                          <p:spTgt spid="697">
                                            <p:txEl>
                                              <p:pRg st="4" end="4"/>
                                            </p:txEl>
                                          </p:spTgt>
                                        </p:tgtEl>
                                        <p:attrNameLst>
                                          <p:attrName>style.visibility</p:attrName>
                                        </p:attrNameLst>
                                      </p:cBhvr>
                                      <p:to>
                                        <p:strVal val="visible"/>
                                      </p:to>
                                    </p:set>
                                  </p:childTnLst>
                                </p:cTn>
                              </p:par>
                              <p:par>
                                <p:cTn id="17" presetID="1" presetClass="entr" presetSubtype="0" fill="hold" grpId="1" nodeType="withEffect">
                                  <p:stCondLst>
                                    <p:cond delay="0"/>
                                  </p:stCondLst>
                                  <p:iterate>
                                    <p:tmAbs val="0"/>
                                  </p:iterate>
                                  <p:childTnLst>
                                    <p:set>
                                      <p:cBhvr>
                                        <p:cTn id="18" fill="hold"/>
                                        <p:tgtEl>
                                          <p:spTgt spid="69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7" grpId="1" build="p" animBg="1" advAuto="0"/>
    </p:bldLst>
  </p:timing>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96" name="Sender utilization"/>
          <p:cNvSpPr txBox="1">
            <a:spLocks noGrp="1"/>
          </p:cNvSpPr>
          <p:nvPr>
            <p:ph type="title"/>
          </p:nvPr>
        </p:nvSpPr>
        <p:spPr>
          <a:xfrm>
            <a:off x="674490" y="0"/>
            <a:ext cx="11591925" cy="2438400"/>
          </a:xfrm>
          <a:prstGeom prst="rect">
            <a:avLst/>
          </a:prstGeom>
        </p:spPr>
        <p:txBody>
          <a:bodyPr/>
          <a:lstStyle/>
          <a:p>
            <a:r>
              <a:rPr lang="fr-CH" dirty="0" err="1"/>
              <a:t>What</a:t>
            </a:r>
            <a:r>
              <a:rPr lang="fr-CH" dirty="0"/>
              <a:t> </a:t>
            </a:r>
            <a:r>
              <a:rPr lang="fr-CH" dirty="0" err="1"/>
              <a:t>happens</a:t>
            </a:r>
            <a:r>
              <a:rPr lang="fr-CH" dirty="0"/>
              <a:t> in Pipelining </a:t>
            </a:r>
            <a:r>
              <a:rPr lang="fr-CH" dirty="0" err="1"/>
              <a:t>when</a:t>
            </a:r>
            <a:r>
              <a:rPr lang="fr-CH" dirty="0"/>
              <a:t> a segment </a:t>
            </a:r>
            <a:r>
              <a:rPr lang="fr-CH" dirty="0" err="1"/>
              <a:t>gets</a:t>
            </a:r>
            <a:r>
              <a:rPr lang="fr-CH" dirty="0"/>
              <a:t> </a:t>
            </a:r>
            <a:r>
              <a:rPr lang="fr-CH" dirty="0" err="1"/>
              <a:t>corrupted</a:t>
            </a:r>
            <a:r>
              <a:rPr lang="fr-CH" dirty="0"/>
              <a:t>/</a:t>
            </a:r>
            <a:r>
              <a:rPr lang="fr-CH" dirty="0" err="1"/>
              <a:t>lost</a:t>
            </a:r>
            <a:r>
              <a:rPr lang="fr-CH" dirty="0"/>
              <a:t>?</a:t>
            </a:r>
            <a:endParaRPr dirty="0"/>
          </a:p>
        </p:txBody>
      </p:sp>
      <p:sp>
        <p:nvSpPr>
          <p:cNvPr id="697" name="Stop and wait: poor sender utilization…"/>
          <p:cNvSpPr txBox="1">
            <a:spLocks noGrp="1"/>
          </p:cNvSpPr>
          <p:nvPr>
            <p:ph type="body" idx="1"/>
          </p:nvPr>
        </p:nvSpPr>
        <p:spPr>
          <a:xfrm>
            <a:off x="636784" y="2957723"/>
            <a:ext cx="11237715" cy="3838154"/>
          </a:xfrm>
          <a:prstGeom prst="rect">
            <a:avLst/>
          </a:prstGeom>
        </p:spPr>
        <p:txBody>
          <a:bodyPr anchor="t"/>
          <a:lstStyle/>
          <a:p>
            <a:pPr marL="317500" indent="0">
              <a:spcBef>
                <a:spcPts val="500"/>
              </a:spcBef>
              <a:buNone/>
            </a:pPr>
            <a:r>
              <a:rPr lang="fr-CH" dirty="0" err="1">
                <a:solidFill>
                  <a:srgbClr val="942193"/>
                </a:solidFill>
              </a:rPr>
              <a:t>Two</a:t>
            </a:r>
            <a:r>
              <a:rPr lang="fr-CH" dirty="0">
                <a:solidFill>
                  <a:srgbClr val="942193"/>
                </a:solidFill>
              </a:rPr>
              <a:t> </a:t>
            </a:r>
            <a:r>
              <a:rPr lang="fr-CH" dirty="0" err="1">
                <a:solidFill>
                  <a:srgbClr val="942193"/>
                </a:solidFill>
              </a:rPr>
              <a:t>strategies</a:t>
            </a:r>
            <a:r>
              <a:rPr lang="fr-CH" dirty="0">
                <a:solidFill>
                  <a:srgbClr val="942193"/>
                </a:solidFill>
              </a:rPr>
              <a:t> </a:t>
            </a:r>
            <a:r>
              <a:rPr lang="fr-CH" dirty="0">
                <a:solidFill>
                  <a:schemeClr val="tx1"/>
                </a:solidFill>
              </a:rPr>
              <a:t>to deal </a:t>
            </a:r>
            <a:r>
              <a:rPr lang="fr-CH" dirty="0" err="1">
                <a:solidFill>
                  <a:schemeClr val="tx1"/>
                </a:solidFill>
              </a:rPr>
              <a:t>with</a:t>
            </a:r>
            <a:r>
              <a:rPr lang="fr-CH" dirty="0">
                <a:solidFill>
                  <a:schemeClr val="tx1"/>
                </a:solidFill>
              </a:rPr>
              <a:t> </a:t>
            </a:r>
            <a:r>
              <a:rPr lang="fr-CH" dirty="0" err="1">
                <a:solidFill>
                  <a:schemeClr val="tx1"/>
                </a:solidFill>
              </a:rPr>
              <a:t>this</a:t>
            </a:r>
            <a:r>
              <a:rPr lang="fr-CH" dirty="0">
                <a:solidFill>
                  <a:schemeClr val="tx1"/>
                </a:solidFill>
              </a:rPr>
              <a:t>:</a:t>
            </a:r>
          </a:p>
          <a:p>
            <a:pPr marL="317500" indent="0">
              <a:spcBef>
                <a:spcPts val="500"/>
              </a:spcBef>
              <a:buNone/>
            </a:pPr>
            <a:endParaRPr lang="fr-CH" dirty="0">
              <a:solidFill>
                <a:schemeClr val="tx1"/>
              </a:solidFill>
            </a:endParaRPr>
          </a:p>
          <a:p>
            <a:pPr>
              <a:spcBef>
                <a:spcPts val="500"/>
              </a:spcBef>
            </a:pPr>
            <a:r>
              <a:rPr lang="fr-CH" dirty="0">
                <a:solidFill>
                  <a:schemeClr val="tx1"/>
                </a:solidFill>
              </a:rPr>
              <a:t>Go-back-N</a:t>
            </a:r>
          </a:p>
          <a:p>
            <a:pPr>
              <a:spcBef>
                <a:spcPts val="500"/>
              </a:spcBef>
            </a:pPr>
            <a:endParaRPr lang="fr-CH" dirty="0">
              <a:solidFill>
                <a:schemeClr val="tx1"/>
              </a:solidFill>
            </a:endParaRPr>
          </a:p>
          <a:p>
            <a:pPr>
              <a:spcBef>
                <a:spcPts val="500"/>
              </a:spcBef>
            </a:pPr>
            <a:r>
              <a:rPr lang="fr-CH" dirty="0" err="1">
                <a:solidFill>
                  <a:schemeClr val="tx1"/>
                </a:solidFill>
              </a:rPr>
              <a:t>Selective</a:t>
            </a:r>
            <a:r>
              <a:rPr lang="fr-CH" dirty="0">
                <a:solidFill>
                  <a:schemeClr val="tx1"/>
                </a:solidFill>
              </a:rPr>
              <a:t> </a:t>
            </a:r>
            <a:r>
              <a:rPr lang="fr-CH" dirty="0" err="1">
                <a:solidFill>
                  <a:schemeClr val="tx1"/>
                </a:solidFill>
              </a:rPr>
              <a:t>Repeat</a:t>
            </a:r>
            <a:endParaRPr dirty="0">
              <a:solidFill>
                <a:schemeClr val="tx1"/>
              </a:solidFill>
            </a:endParaRPr>
          </a:p>
        </p:txBody>
      </p:sp>
      <p:sp>
        <p:nvSpPr>
          <p:cNvPr id="698"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45</a:t>
            </a:fld>
            <a:endParaRPr/>
          </a:p>
        </p:txBody>
      </p:sp>
    </p:spTree>
    <p:extLst>
      <p:ext uri="{BB962C8B-B14F-4D97-AF65-F5344CB8AC3E}">
        <p14:creationId xmlns:p14="http://schemas.microsoft.com/office/powerpoint/2010/main" val="362861291"/>
      </p:ext>
    </p:extLst>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697">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697">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iterate>
                                    <p:tmAbs val="0"/>
                                  </p:iterate>
                                  <p:childTnLst>
                                    <p:set>
                                      <p:cBhvr>
                                        <p:cTn id="10" fill="hold"/>
                                        <p:tgtEl>
                                          <p:spTgt spid="697">
                                            <p:txEl>
                                              <p:pRg st="2" end="2"/>
                                            </p:txEl>
                                          </p:spTgt>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grpId="0" nodeType="afterEffect">
                                  <p:stCondLst>
                                    <p:cond delay="0"/>
                                  </p:stCondLst>
                                  <p:iterate>
                                    <p:tmAbs val="0"/>
                                  </p:iterate>
                                  <p:childTnLst>
                                    <p:set>
                                      <p:cBhvr>
                                        <p:cTn id="13" fill="hold"/>
                                        <p:tgtEl>
                                          <p:spTgt spid="69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7" grpId="0" build="p" animBg="1" advAuto="0"/>
    </p:bldLst>
  </p:timing>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02" name="Rectangle"/>
          <p:cNvSpPr/>
          <p:nvPr/>
        </p:nvSpPr>
        <p:spPr>
          <a:xfrm>
            <a:off x="9831978" y="-187354"/>
            <a:ext cx="3754843" cy="10128308"/>
          </a:xfrm>
          <a:prstGeom prst="rect">
            <a:avLst/>
          </a:prstGeom>
          <a:solidFill>
            <a:srgbClr val="FFD479"/>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703" name="Rectangle"/>
          <p:cNvSpPr/>
          <p:nvPr/>
        </p:nvSpPr>
        <p:spPr>
          <a:xfrm>
            <a:off x="-609280" y="-187354"/>
            <a:ext cx="3754843" cy="10128308"/>
          </a:xfrm>
          <a:prstGeom prst="rect">
            <a:avLst/>
          </a:prstGeom>
          <a:solidFill>
            <a:srgbClr val="FFD479"/>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dirty="0"/>
          </a:p>
        </p:txBody>
      </p:sp>
      <p:sp>
        <p:nvSpPr>
          <p:cNvPr id="704"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46</a:t>
            </a:fld>
            <a:endParaRPr/>
          </a:p>
        </p:txBody>
      </p:sp>
      <p:grpSp>
        <p:nvGrpSpPr>
          <p:cNvPr id="707" name="Group"/>
          <p:cNvGrpSpPr/>
          <p:nvPr/>
        </p:nvGrpSpPr>
        <p:grpSpPr>
          <a:xfrm>
            <a:off x="3319570" y="2950627"/>
            <a:ext cx="6321954" cy="2518715"/>
            <a:chOff x="0" y="512019"/>
            <a:chExt cx="6321952" cy="2518713"/>
          </a:xfrm>
        </p:grpSpPr>
        <p:sp>
          <p:nvSpPr>
            <p:cNvPr id="705" name="ACK 0"/>
            <p:cNvSpPr/>
            <p:nvPr/>
          </p:nvSpPr>
          <p:spPr>
            <a:xfrm rot="20261404">
              <a:off x="999045" y="1831630"/>
              <a:ext cx="1257301" cy="6858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l">
                <a:defRPr sz="2800">
                  <a:solidFill>
                    <a:srgbClr val="0433FF"/>
                  </a:solidFill>
                  <a:latin typeface="Courier"/>
                  <a:ea typeface="Courier"/>
                  <a:cs typeface="Courier"/>
                  <a:sym typeface="Courier"/>
                </a:defRPr>
              </a:lvl1pPr>
            </a:lstStyle>
            <a:p>
              <a:r>
                <a:t>ACK 0</a:t>
              </a:r>
            </a:p>
          </p:txBody>
        </p:sp>
        <p:sp>
          <p:nvSpPr>
            <p:cNvPr id="706" name="Line"/>
            <p:cNvSpPr/>
            <p:nvPr/>
          </p:nvSpPr>
          <p:spPr>
            <a:xfrm flipV="1">
              <a:off x="0" y="512019"/>
              <a:ext cx="6321953" cy="2518714"/>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grpSp>
      <p:grpSp>
        <p:nvGrpSpPr>
          <p:cNvPr id="710" name="Group"/>
          <p:cNvGrpSpPr/>
          <p:nvPr/>
        </p:nvGrpSpPr>
        <p:grpSpPr>
          <a:xfrm>
            <a:off x="3403244" y="2136534"/>
            <a:ext cx="6312611" cy="1246297"/>
            <a:chOff x="0" y="152400"/>
            <a:chExt cx="6312610" cy="1246296"/>
          </a:xfrm>
        </p:grpSpPr>
        <p:sp>
          <p:nvSpPr>
            <p:cNvPr id="708" name="Line"/>
            <p:cNvSpPr/>
            <p:nvPr/>
          </p:nvSpPr>
          <p:spPr>
            <a:xfrm flipH="1" flipV="1">
              <a:off x="0" y="581769"/>
              <a:ext cx="6312610" cy="816928"/>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709" name="SEQ 1"/>
            <p:cNvSpPr/>
            <p:nvPr/>
          </p:nvSpPr>
          <p:spPr>
            <a:xfrm rot="440413">
              <a:off x="926876" y="242075"/>
              <a:ext cx="1447801" cy="6858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l">
                <a:defRPr sz="2800">
                  <a:solidFill>
                    <a:srgbClr val="0433FF"/>
                  </a:solidFill>
                  <a:latin typeface="Courier"/>
                  <a:ea typeface="Courier"/>
                  <a:cs typeface="Courier"/>
                  <a:sym typeface="Courier"/>
                </a:defRPr>
              </a:lvl1pPr>
            </a:lstStyle>
            <a:p>
              <a:r>
                <a:t>SEQ 1</a:t>
              </a:r>
            </a:p>
          </p:txBody>
        </p:sp>
      </p:grpSp>
      <p:grpSp>
        <p:nvGrpSpPr>
          <p:cNvPr id="713" name="Group"/>
          <p:cNvGrpSpPr/>
          <p:nvPr/>
        </p:nvGrpSpPr>
        <p:grpSpPr>
          <a:xfrm>
            <a:off x="3377845" y="2708034"/>
            <a:ext cx="2412554" cy="865152"/>
            <a:chOff x="0" y="0"/>
            <a:chExt cx="2412553" cy="865151"/>
          </a:xfrm>
        </p:grpSpPr>
        <p:sp>
          <p:nvSpPr>
            <p:cNvPr id="711" name="Line"/>
            <p:cNvSpPr/>
            <p:nvPr/>
          </p:nvSpPr>
          <p:spPr>
            <a:xfrm flipH="1" flipV="1">
              <a:off x="0" y="416669"/>
              <a:ext cx="2379740" cy="325271"/>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712" name="SEQ 2"/>
            <p:cNvSpPr/>
            <p:nvPr/>
          </p:nvSpPr>
          <p:spPr>
            <a:xfrm rot="440413">
              <a:off x="926876" y="89675"/>
              <a:ext cx="1447801" cy="6858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l">
                <a:defRPr sz="2800">
                  <a:solidFill>
                    <a:srgbClr val="0433FF"/>
                  </a:solidFill>
                  <a:latin typeface="Courier"/>
                  <a:ea typeface="Courier"/>
                  <a:cs typeface="Courier"/>
                  <a:sym typeface="Courier"/>
                </a:defRPr>
              </a:lvl1pPr>
            </a:lstStyle>
            <a:p>
              <a:r>
                <a:t>SEQ 2</a:t>
              </a:r>
            </a:p>
          </p:txBody>
        </p:sp>
      </p:grpSp>
      <p:grpSp>
        <p:nvGrpSpPr>
          <p:cNvPr id="716" name="Group"/>
          <p:cNvGrpSpPr/>
          <p:nvPr/>
        </p:nvGrpSpPr>
        <p:grpSpPr>
          <a:xfrm>
            <a:off x="3327044" y="3292234"/>
            <a:ext cx="6312611" cy="1246297"/>
            <a:chOff x="0" y="152400"/>
            <a:chExt cx="6312610" cy="1246296"/>
          </a:xfrm>
        </p:grpSpPr>
        <p:sp>
          <p:nvSpPr>
            <p:cNvPr id="714" name="Line"/>
            <p:cNvSpPr/>
            <p:nvPr/>
          </p:nvSpPr>
          <p:spPr>
            <a:xfrm flipH="1" flipV="1">
              <a:off x="0" y="581769"/>
              <a:ext cx="6312610" cy="816928"/>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715" name="SEQ 3"/>
            <p:cNvSpPr/>
            <p:nvPr/>
          </p:nvSpPr>
          <p:spPr>
            <a:xfrm rot="440413">
              <a:off x="901476" y="242075"/>
              <a:ext cx="1447801" cy="6858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l">
                <a:defRPr sz="2800">
                  <a:solidFill>
                    <a:srgbClr val="0433FF"/>
                  </a:solidFill>
                  <a:latin typeface="Courier"/>
                  <a:ea typeface="Courier"/>
                  <a:cs typeface="Courier"/>
                  <a:sym typeface="Courier"/>
                </a:defRPr>
              </a:lvl1pPr>
            </a:lstStyle>
            <a:p>
              <a:r>
                <a:t>SEQ 3</a:t>
              </a:r>
            </a:p>
          </p:txBody>
        </p:sp>
      </p:grpSp>
      <p:grpSp>
        <p:nvGrpSpPr>
          <p:cNvPr id="719" name="Group"/>
          <p:cNvGrpSpPr/>
          <p:nvPr/>
        </p:nvGrpSpPr>
        <p:grpSpPr>
          <a:xfrm>
            <a:off x="3337018" y="3564444"/>
            <a:ext cx="6329001" cy="2533036"/>
            <a:chOff x="0" y="512508"/>
            <a:chExt cx="6328999" cy="2533035"/>
          </a:xfrm>
        </p:grpSpPr>
        <p:sp>
          <p:nvSpPr>
            <p:cNvPr id="717" name="ACK 1"/>
            <p:cNvSpPr/>
            <p:nvPr/>
          </p:nvSpPr>
          <p:spPr>
            <a:xfrm rot="20256627">
              <a:off x="1804546" y="1509667"/>
              <a:ext cx="1257301" cy="6858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l">
                <a:defRPr sz="2800">
                  <a:solidFill>
                    <a:srgbClr val="0433FF"/>
                  </a:solidFill>
                  <a:latin typeface="Courier"/>
                  <a:ea typeface="Courier"/>
                  <a:cs typeface="Courier"/>
                  <a:sym typeface="Courier"/>
                </a:defRPr>
              </a:lvl1pPr>
            </a:lstStyle>
            <a:p>
              <a:r>
                <a:t>ACK 1</a:t>
              </a:r>
            </a:p>
          </p:txBody>
        </p:sp>
        <p:sp>
          <p:nvSpPr>
            <p:cNvPr id="718" name="Line"/>
            <p:cNvSpPr/>
            <p:nvPr/>
          </p:nvSpPr>
          <p:spPr>
            <a:xfrm flipV="1">
              <a:off x="0" y="512508"/>
              <a:ext cx="6329000" cy="2533037"/>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grpSp>
      <p:sp>
        <p:nvSpPr>
          <p:cNvPr id="720" name="X"/>
          <p:cNvSpPr/>
          <p:nvPr/>
        </p:nvSpPr>
        <p:spPr>
          <a:xfrm>
            <a:off x="5589505" y="2776049"/>
            <a:ext cx="558801" cy="1270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5000">
                <a:solidFill>
                  <a:srgbClr val="942193"/>
                </a:solidFill>
                <a:latin typeface="Chalkboard SE Bold"/>
                <a:ea typeface="Chalkboard SE Bold"/>
                <a:cs typeface="Chalkboard SE Bold"/>
                <a:sym typeface="Chalkboard SE Bold"/>
              </a:defRPr>
            </a:lvl1pPr>
          </a:lstStyle>
          <a:p>
            <a:r>
              <a:t>X</a:t>
            </a:r>
          </a:p>
        </p:txBody>
      </p:sp>
      <p:sp>
        <p:nvSpPr>
          <p:cNvPr id="721" name="timeout for packet 2"/>
          <p:cNvSpPr/>
          <p:nvPr/>
        </p:nvSpPr>
        <p:spPr>
          <a:xfrm>
            <a:off x="396479" y="8385926"/>
            <a:ext cx="2473187" cy="1270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lstStyle>
            <a:lvl1pPr algn="l">
              <a:defRPr sz="2800">
                <a:solidFill>
                  <a:srgbClr val="942193"/>
                </a:solidFill>
                <a:latin typeface="Courier"/>
                <a:ea typeface="Courier"/>
                <a:cs typeface="Courier"/>
                <a:sym typeface="Courier"/>
              </a:defRPr>
            </a:lvl1pPr>
          </a:lstStyle>
          <a:p>
            <a:r>
              <a:t>timeout for packet 2</a:t>
            </a:r>
          </a:p>
        </p:txBody>
      </p:sp>
      <p:grpSp>
        <p:nvGrpSpPr>
          <p:cNvPr id="730" name="Group"/>
          <p:cNvGrpSpPr/>
          <p:nvPr/>
        </p:nvGrpSpPr>
        <p:grpSpPr>
          <a:xfrm>
            <a:off x="1308100" y="1676400"/>
            <a:ext cx="482600" cy="5486400"/>
            <a:chOff x="0" y="0"/>
            <a:chExt cx="482600" cy="5486400"/>
          </a:xfrm>
        </p:grpSpPr>
        <p:sp>
          <p:nvSpPr>
            <p:cNvPr id="722" name="0"/>
            <p:cNvSpPr/>
            <p:nvPr/>
          </p:nvSpPr>
          <p:spPr>
            <a:xfrm>
              <a:off x="0" y="0"/>
              <a:ext cx="469900" cy="685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r">
                <a:defRPr sz="3200">
                  <a:solidFill>
                    <a:srgbClr val="424242"/>
                  </a:solidFill>
                  <a:latin typeface="+mn-lt"/>
                  <a:ea typeface="+mn-ea"/>
                  <a:cs typeface="+mn-cs"/>
                  <a:sym typeface="Chalkboard SE Regular"/>
                </a:defRPr>
              </a:lvl1pPr>
            </a:lstStyle>
            <a:p>
              <a:r>
                <a:t>0</a:t>
              </a:r>
            </a:p>
          </p:txBody>
        </p:sp>
        <p:sp>
          <p:nvSpPr>
            <p:cNvPr id="723" name="1"/>
            <p:cNvSpPr/>
            <p:nvPr/>
          </p:nvSpPr>
          <p:spPr>
            <a:xfrm>
              <a:off x="0" y="685800"/>
              <a:ext cx="469900" cy="685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r">
                <a:defRPr sz="3200">
                  <a:solidFill>
                    <a:srgbClr val="424242"/>
                  </a:solidFill>
                  <a:latin typeface="+mn-lt"/>
                  <a:ea typeface="+mn-ea"/>
                  <a:cs typeface="+mn-cs"/>
                  <a:sym typeface="Chalkboard SE Regular"/>
                </a:defRPr>
              </a:lvl1pPr>
            </a:lstStyle>
            <a:p>
              <a:r>
                <a:t>1</a:t>
              </a:r>
            </a:p>
          </p:txBody>
        </p:sp>
        <p:sp>
          <p:nvSpPr>
            <p:cNvPr id="724" name="2"/>
            <p:cNvSpPr/>
            <p:nvPr/>
          </p:nvSpPr>
          <p:spPr>
            <a:xfrm>
              <a:off x="0" y="1371600"/>
              <a:ext cx="469900" cy="685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r">
                <a:defRPr sz="3200">
                  <a:solidFill>
                    <a:srgbClr val="424242"/>
                  </a:solidFill>
                  <a:latin typeface="+mn-lt"/>
                  <a:ea typeface="+mn-ea"/>
                  <a:cs typeface="+mn-cs"/>
                  <a:sym typeface="Chalkboard SE Regular"/>
                </a:defRPr>
              </a:lvl1pPr>
            </a:lstStyle>
            <a:p>
              <a:r>
                <a:t>2</a:t>
              </a:r>
            </a:p>
          </p:txBody>
        </p:sp>
        <p:sp>
          <p:nvSpPr>
            <p:cNvPr id="725" name="3"/>
            <p:cNvSpPr/>
            <p:nvPr/>
          </p:nvSpPr>
          <p:spPr>
            <a:xfrm>
              <a:off x="0" y="2057400"/>
              <a:ext cx="469900" cy="685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r">
                <a:defRPr sz="3200">
                  <a:solidFill>
                    <a:srgbClr val="424242"/>
                  </a:solidFill>
                  <a:latin typeface="+mn-lt"/>
                  <a:ea typeface="+mn-ea"/>
                  <a:cs typeface="+mn-cs"/>
                  <a:sym typeface="Chalkboard SE Regular"/>
                </a:defRPr>
              </a:lvl1pPr>
            </a:lstStyle>
            <a:p>
              <a:r>
                <a:t>3</a:t>
              </a:r>
            </a:p>
          </p:txBody>
        </p:sp>
        <p:sp>
          <p:nvSpPr>
            <p:cNvPr id="726" name="4"/>
            <p:cNvSpPr/>
            <p:nvPr/>
          </p:nvSpPr>
          <p:spPr>
            <a:xfrm>
              <a:off x="12700" y="2743200"/>
              <a:ext cx="469900" cy="685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r">
                <a:defRPr sz="3200">
                  <a:solidFill>
                    <a:srgbClr val="424242"/>
                  </a:solidFill>
                  <a:latin typeface="+mn-lt"/>
                  <a:ea typeface="+mn-ea"/>
                  <a:cs typeface="+mn-cs"/>
                  <a:sym typeface="Chalkboard SE Regular"/>
                </a:defRPr>
              </a:lvl1pPr>
            </a:lstStyle>
            <a:p>
              <a:r>
                <a:t>4</a:t>
              </a:r>
            </a:p>
          </p:txBody>
        </p:sp>
        <p:sp>
          <p:nvSpPr>
            <p:cNvPr id="727" name="5"/>
            <p:cNvSpPr/>
            <p:nvPr/>
          </p:nvSpPr>
          <p:spPr>
            <a:xfrm>
              <a:off x="12700" y="3429000"/>
              <a:ext cx="469900" cy="685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r">
                <a:defRPr sz="3200">
                  <a:solidFill>
                    <a:srgbClr val="424242"/>
                  </a:solidFill>
                  <a:latin typeface="+mn-lt"/>
                  <a:ea typeface="+mn-ea"/>
                  <a:cs typeface="+mn-cs"/>
                  <a:sym typeface="Chalkboard SE Regular"/>
                </a:defRPr>
              </a:lvl1pPr>
            </a:lstStyle>
            <a:p>
              <a:r>
                <a:t>5</a:t>
              </a:r>
            </a:p>
          </p:txBody>
        </p:sp>
        <p:sp>
          <p:nvSpPr>
            <p:cNvPr id="728" name="6"/>
            <p:cNvSpPr/>
            <p:nvPr/>
          </p:nvSpPr>
          <p:spPr>
            <a:xfrm>
              <a:off x="12700" y="4114800"/>
              <a:ext cx="469900" cy="685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r">
                <a:defRPr sz="3200">
                  <a:solidFill>
                    <a:srgbClr val="424242"/>
                  </a:solidFill>
                  <a:latin typeface="+mn-lt"/>
                  <a:ea typeface="+mn-ea"/>
                  <a:cs typeface="+mn-cs"/>
                  <a:sym typeface="Chalkboard SE Regular"/>
                </a:defRPr>
              </a:lvl1pPr>
            </a:lstStyle>
            <a:p>
              <a:r>
                <a:t>6</a:t>
              </a:r>
            </a:p>
          </p:txBody>
        </p:sp>
        <p:sp>
          <p:nvSpPr>
            <p:cNvPr id="729" name="7"/>
            <p:cNvSpPr/>
            <p:nvPr/>
          </p:nvSpPr>
          <p:spPr>
            <a:xfrm>
              <a:off x="12700" y="4800600"/>
              <a:ext cx="469900" cy="685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r">
                <a:defRPr sz="3200">
                  <a:solidFill>
                    <a:srgbClr val="424242"/>
                  </a:solidFill>
                  <a:latin typeface="+mn-lt"/>
                  <a:ea typeface="+mn-ea"/>
                  <a:cs typeface="+mn-cs"/>
                  <a:sym typeface="Chalkboard SE Regular"/>
                </a:defRPr>
              </a:lvl1pPr>
            </a:lstStyle>
            <a:p>
              <a:r>
                <a:t>7</a:t>
              </a:r>
            </a:p>
          </p:txBody>
        </p:sp>
      </p:grpSp>
      <p:sp>
        <p:nvSpPr>
          <p:cNvPr id="731" name="Rounded Rectangle"/>
          <p:cNvSpPr/>
          <p:nvPr/>
        </p:nvSpPr>
        <p:spPr>
          <a:xfrm>
            <a:off x="1244600" y="1765300"/>
            <a:ext cx="736600" cy="2628900"/>
          </a:xfrm>
          <a:prstGeom prst="roundRect">
            <a:avLst>
              <a:gd name="adj" fmla="val 25862"/>
            </a:avLst>
          </a:prstGeom>
          <a:ln w="50800">
            <a:solidFill>
              <a:srgbClr val="942193"/>
            </a:solidFill>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grpSp>
        <p:nvGrpSpPr>
          <p:cNvPr id="734" name="Group"/>
          <p:cNvGrpSpPr/>
          <p:nvPr/>
        </p:nvGrpSpPr>
        <p:grpSpPr>
          <a:xfrm>
            <a:off x="3441344" y="1600566"/>
            <a:ext cx="6312611" cy="1261565"/>
            <a:chOff x="0" y="137132"/>
            <a:chExt cx="6312610" cy="1261564"/>
          </a:xfrm>
        </p:grpSpPr>
        <p:sp>
          <p:nvSpPr>
            <p:cNvPr id="732" name="SEQ 0"/>
            <p:cNvSpPr/>
            <p:nvPr/>
          </p:nvSpPr>
          <p:spPr>
            <a:xfrm rot="440413">
              <a:off x="978424" y="226808"/>
              <a:ext cx="1447801" cy="6858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l">
                <a:defRPr sz="2800">
                  <a:solidFill>
                    <a:srgbClr val="0433FF"/>
                  </a:solidFill>
                  <a:latin typeface="Courier"/>
                  <a:ea typeface="Courier"/>
                  <a:cs typeface="Courier"/>
                  <a:sym typeface="Courier"/>
                </a:defRPr>
              </a:lvl1pPr>
            </a:lstStyle>
            <a:p>
              <a:r>
                <a:t>SEQ 0</a:t>
              </a:r>
            </a:p>
          </p:txBody>
        </p:sp>
        <p:sp>
          <p:nvSpPr>
            <p:cNvPr id="733" name="Line"/>
            <p:cNvSpPr/>
            <p:nvPr/>
          </p:nvSpPr>
          <p:spPr>
            <a:xfrm flipH="1" flipV="1">
              <a:off x="0" y="581769"/>
              <a:ext cx="6312610" cy="816928"/>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grpSp>
      <p:grpSp>
        <p:nvGrpSpPr>
          <p:cNvPr id="737" name="Group"/>
          <p:cNvGrpSpPr/>
          <p:nvPr/>
        </p:nvGrpSpPr>
        <p:grpSpPr>
          <a:xfrm>
            <a:off x="3352444" y="5626603"/>
            <a:ext cx="6312611" cy="880284"/>
            <a:chOff x="0" y="581769"/>
            <a:chExt cx="6312610" cy="880282"/>
          </a:xfrm>
        </p:grpSpPr>
        <p:sp>
          <p:nvSpPr>
            <p:cNvPr id="735" name="SEQ 4"/>
            <p:cNvSpPr/>
            <p:nvPr/>
          </p:nvSpPr>
          <p:spPr>
            <a:xfrm rot="440413">
              <a:off x="4432076" y="686575"/>
              <a:ext cx="1447801" cy="6858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l">
                <a:defRPr sz="2800">
                  <a:solidFill>
                    <a:srgbClr val="0433FF"/>
                  </a:solidFill>
                  <a:latin typeface="Courier"/>
                  <a:ea typeface="Courier"/>
                  <a:cs typeface="Courier"/>
                  <a:sym typeface="Courier"/>
                </a:defRPr>
              </a:lvl1pPr>
            </a:lstStyle>
            <a:p>
              <a:r>
                <a:t>SEQ 4</a:t>
              </a:r>
            </a:p>
          </p:txBody>
        </p:sp>
        <p:sp>
          <p:nvSpPr>
            <p:cNvPr id="736" name="Line"/>
            <p:cNvSpPr/>
            <p:nvPr/>
          </p:nvSpPr>
          <p:spPr>
            <a:xfrm flipH="1" flipV="1">
              <a:off x="0" y="581769"/>
              <a:ext cx="6312610" cy="816928"/>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grpSp>
      <p:grpSp>
        <p:nvGrpSpPr>
          <p:cNvPr id="740" name="Group"/>
          <p:cNvGrpSpPr/>
          <p:nvPr/>
        </p:nvGrpSpPr>
        <p:grpSpPr>
          <a:xfrm>
            <a:off x="3377844" y="6223503"/>
            <a:ext cx="6312611" cy="867655"/>
            <a:chOff x="0" y="581769"/>
            <a:chExt cx="6312610" cy="867653"/>
          </a:xfrm>
        </p:grpSpPr>
        <p:sp>
          <p:nvSpPr>
            <p:cNvPr id="738" name="SEQ 5"/>
            <p:cNvSpPr/>
            <p:nvPr/>
          </p:nvSpPr>
          <p:spPr>
            <a:xfrm rot="440413">
              <a:off x="4227504" y="673947"/>
              <a:ext cx="1447801" cy="6858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l">
                <a:defRPr sz="2800">
                  <a:solidFill>
                    <a:srgbClr val="0433FF"/>
                  </a:solidFill>
                  <a:latin typeface="Courier"/>
                  <a:ea typeface="Courier"/>
                  <a:cs typeface="Courier"/>
                  <a:sym typeface="Courier"/>
                </a:defRPr>
              </a:lvl1pPr>
            </a:lstStyle>
            <a:p>
              <a:r>
                <a:t>SEQ 5</a:t>
              </a:r>
            </a:p>
          </p:txBody>
        </p:sp>
        <p:sp>
          <p:nvSpPr>
            <p:cNvPr id="739" name="Line"/>
            <p:cNvSpPr/>
            <p:nvPr/>
          </p:nvSpPr>
          <p:spPr>
            <a:xfrm flipH="1" flipV="1">
              <a:off x="0" y="581769"/>
              <a:ext cx="6312610" cy="816928"/>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grpSp>
      <p:grpSp>
        <p:nvGrpSpPr>
          <p:cNvPr id="743" name="Group"/>
          <p:cNvGrpSpPr/>
          <p:nvPr/>
        </p:nvGrpSpPr>
        <p:grpSpPr>
          <a:xfrm>
            <a:off x="3250845" y="4681042"/>
            <a:ext cx="6329000" cy="2533037"/>
            <a:chOff x="0" y="512508"/>
            <a:chExt cx="6328999" cy="2533035"/>
          </a:xfrm>
        </p:grpSpPr>
        <p:sp>
          <p:nvSpPr>
            <p:cNvPr id="741" name="ACK 1"/>
            <p:cNvSpPr/>
            <p:nvPr/>
          </p:nvSpPr>
          <p:spPr>
            <a:xfrm rot="20256627">
              <a:off x="3138046" y="976267"/>
              <a:ext cx="1257301" cy="6858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l">
                <a:defRPr sz="2800">
                  <a:solidFill>
                    <a:srgbClr val="0433FF"/>
                  </a:solidFill>
                  <a:latin typeface="Courier"/>
                  <a:ea typeface="Courier"/>
                  <a:cs typeface="Courier"/>
                  <a:sym typeface="Courier"/>
                </a:defRPr>
              </a:lvl1pPr>
            </a:lstStyle>
            <a:p>
              <a:r>
                <a:t>ACK 1</a:t>
              </a:r>
            </a:p>
          </p:txBody>
        </p:sp>
        <p:sp>
          <p:nvSpPr>
            <p:cNvPr id="742" name="Line"/>
            <p:cNvSpPr/>
            <p:nvPr/>
          </p:nvSpPr>
          <p:spPr>
            <a:xfrm flipV="1">
              <a:off x="0" y="512508"/>
              <a:ext cx="6329000" cy="2533037"/>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grpSp>
      <p:grpSp>
        <p:nvGrpSpPr>
          <p:cNvPr id="752" name="Group"/>
          <p:cNvGrpSpPr/>
          <p:nvPr/>
        </p:nvGrpSpPr>
        <p:grpSpPr>
          <a:xfrm>
            <a:off x="10972800" y="1727200"/>
            <a:ext cx="482600" cy="5486400"/>
            <a:chOff x="0" y="0"/>
            <a:chExt cx="482600" cy="5486400"/>
          </a:xfrm>
        </p:grpSpPr>
        <p:sp>
          <p:nvSpPr>
            <p:cNvPr id="744" name="0"/>
            <p:cNvSpPr/>
            <p:nvPr/>
          </p:nvSpPr>
          <p:spPr>
            <a:xfrm>
              <a:off x="0" y="0"/>
              <a:ext cx="469900" cy="685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r">
                <a:defRPr sz="3200">
                  <a:solidFill>
                    <a:srgbClr val="424242"/>
                  </a:solidFill>
                  <a:latin typeface="+mn-lt"/>
                  <a:ea typeface="+mn-ea"/>
                  <a:cs typeface="+mn-cs"/>
                  <a:sym typeface="Chalkboard SE Regular"/>
                </a:defRPr>
              </a:lvl1pPr>
            </a:lstStyle>
            <a:p>
              <a:r>
                <a:t>0</a:t>
              </a:r>
            </a:p>
          </p:txBody>
        </p:sp>
        <p:sp>
          <p:nvSpPr>
            <p:cNvPr id="745" name="1"/>
            <p:cNvSpPr/>
            <p:nvPr/>
          </p:nvSpPr>
          <p:spPr>
            <a:xfrm>
              <a:off x="0" y="685800"/>
              <a:ext cx="469900" cy="685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r">
                <a:defRPr sz="3200">
                  <a:solidFill>
                    <a:srgbClr val="424242"/>
                  </a:solidFill>
                  <a:latin typeface="+mn-lt"/>
                  <a:ea typeface="+mn-ea"/>
                  <a:cs typeface="+mn-cs"/>
                  <a:sym typeface="Chalkboard SE Regular"/>
                </a:defRPr>
              </a:lvl1pPr>
            </a:lstStyle>
            <a:p>
              <a:r>
                <a:t>1</a:t>
              </a:r>
            </a:p>
          </p:txBody>
        </p:sp>
        <p:sp>
          <p:nvSpPr>
            <p:cNvPr id="746" name="2"/>
            <p:cNvSpPr/>
            <p:nvPr/>
          </p:nvSpPr>
          <p:spPr>
            <a:xfrm>
              <a:off x="0" y="1371600"/>
              <a:ext cx="469900" cy="685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r">
                <a:defRPr sz="3200">
                  <a:solidFill>
                    <a:srgbClr val="424242"/>
                  </a:solidFill>
                  <a:latin typeface="+mn-lt"/>
                  <a:ea typeface="+mn-ea"/>
                  <a:cs typeface="+mn-cs"/>
                  <a:sym typeface="Chalkboard SE Regular"/>
                </a:defRPr>
              </a:lvl1pPr>
            </a:lstStyle>
            <a:p>
              <a:r>
                <a:t>2</a:t>
              </a:r>
            </a:p>
          </p:txBody>
        </p:sp>
        <p:sp>
          <p:nvSpPr>
            <p:cNvPr id="747" name="3"/>
            <p:cNvSpPr/>
            <p:nvPr/>
          </p:nvSpPr>
          <p:spPr>
            <a:xfrm>
              <a:off x="0" y="2057400"/>
              <a:ext cx="469900" cy="685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r">
                <a:defRPr sz="3200">
                  <a:solidFill>
                    <a:srgbClr val="424242"/>
                  </a:solidFill>
                  <a:latin typeface="+mn-lt"/>
                  <a:ea typeface="+mn-ea"/>
                  <a:cs typeface="+mn-cs"/>
                  <a:sym typeface="Chalkboard SE Regular"/>
                </a:defRPr>
              </a:lvl1pPr>
            </a:lstStyle>
            <a:p>
              <a:r>
                <a:t>3</a:t>
              </a:r>
            </a:p>
          </p:txBody>
        </p:sp>
        <p:sp>
          <p:nvSpPr>
            <p:cNvPr id="748" name="4"/>
            <p:cNvSpPr/>
            <p:nvPr/>
          </p:nvSpPr>
          <p:spPr>
            <a:xfrm>
              <a:off x="12700" y="2743200"/>
              <a:ext cx="469900" cy="685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r">
                <a:defRPr sz="3200">
                  <a:solidFill>
                    <a:srgbClr val="424242"/>
                  </a:solidFill>
                  <a:latin typeface="+mn-lt"/>
                  <a:ea typeface="+mn-ea"/>
                  <a:cs typeface="+mn-cs"/>
                  <a:sym typeface="Chalkboard SE Regular"/>
                </a:defRPr>
              </a:lvl1pPr>
            </a:lstStyle>
            <a:p>
              <a:r>
                <a:t>4</a:t>
              </a:r>
            </a:p>
          </p:txBody>
        </p:sp>
        <p:sp>
          <p:nvSpPr>
            <p:cNvPr id="749" name="5"/>
            <p:cNvSpPr/>
            <p:nvPr/>
          </p:nvSpPr>
          <p:spPr>
            <a:xfrm>
              <a:off x="12700" y="3429000"/>
              <a:ext cx="469900" cy="685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r">
                <a:defRPr sz="3200">
                  <a:solidFill>
                    <a:srgbClr val="424242"/>
                  </a:solidFill>
                  <a:latin typeface="+mn-lt"/>
                  <a:ea typeface="+mn-ea"/>
                  <a:cs typeface="+mn-cs"/>
                  <a:sym typeface="Chalkboard SE Regular"/>
                </a:defRPr>
              </a:lvl1pPr>
            </a:lstStyle>
            <a:p>
              <a:r>
                <a:t>5</a:t>
              </a:r>
            </a:p>
          </p:txBody>
        </p:sp>
        <p:sp>
          <p:nvSpPr>
            <p:cNvPr id="750" name="6"/>
            <p:cNvSpPr/>
            <p:nvPr/>
          </p:nvSpPr>
          <p:spPr>
            <a:xfrm>
              <a:off x="12700" y="4114800"/>
              <a:ext cx="469900" cy="685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r">
                <a:defRPr sz="3200">
                  <a:solidFill>
                    <a:srgbClr val="424242"/>
                  </a:solidFill>
                  <a:latin typeface="+mn-lt"/>
                  <a:ea typeface="+mn-ea"/>
                  <a:cs typeface="+mn-cs"/>
                  <a:sym typeface="Chalkboard SE Regular"/>
                </a:defRPr>
              </a:lvl1pPr>
            </a:lstStyle>
            <a:p>
              <a:r>
                <a:t>6</a:t>
              </a:r>
            </a:p>
          </p:txBody>
        </p:sp>
        <p:sp>
          <p:nvSpPr>
            <p:cNvPr id="751" name="7"/>
            <p:cNvSpPr/>
            <p:nvPr/>
          </p:nvSpPr>
          <p:spPr>
            <a:xfrm>
              <a:off x="12700" y="4800600"/>
              <a:ext cx="469900" cy="685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r">
                <a:defRPr sz="3200">
                  <a:solidFill>
                    <a:srgbClr val="424242"/>
                  </a:solidFill>
                  <a:latin typeface="+mn-lt"/>
                  <a:ea typeface="+mn-ea"/>
                  <a:cs typeface="+mn-cs"/>
                  <a:sym typeface="Chalkboard SE Regular"/>
                </a:defRPr>
              </a:lvl1pPr>
            </a:lstStyle>
            <a:p>
              <a:r>
                <a:t>7</a:t>
              </a:r>
            </a:p>
          </p:txBody>
        </p:sp>
      </p:grpSp>
      <p:sp>
        <p:nvSpPr>
          <p:cNvPr id="753" name="Rounded Rectangle"/>
          <p:cNvSpPr/>
          <p:nvPr/>
        </p:nvSpPr>
        <p:spPr>
          <a:xfrm>
            <a:off x="10947400" y="1727200"/>
            <a:ext cx="736600" cy="698500"/>
          </a:xfrm>
          <a:prstGeom prst="roundRect">
            <a:avLst>
              <a:gd name="adj" fmla="val 27273"/>
            </a:avLst>
          </a:prstGeom>
          <a:ln w="50800">
            <a:solidFill>
              <a:srgbClr val="942193"/>
            </a:solidFill>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754" name="0"/>
          <p:cNvSpPr/>
          <p:nvPr/>
        </p:nvSpPr>
        <p:spPr>
          <a:xfrm>
            <a:off x="1451308" y="1691794"/>
            <a:ext cx="363529" cy="6677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3200">
                <a:solidFill>
                  <a:srgbClr val="942193"/>
                </a:solidFill>
                <a:latin typeface="Chalkboard SE Bold"/>
                <a:ea typeface="Chalkboard SE Bold"/>
                <a:cs typeface="Chalkboard SE Bold"/>
                <a:sym typeface="Chalkboard SE Bold"/>
              </a:defRPr>
            </a:lvl1pPr>
          </a:lstStyle>
          <a:p>
            <a:r>
              <a:t>0</a:t>
            </a:r>
          </a:p>
        </p:txBody>
      </p:sp>
      <p:sp>
        <p:nvSpPr>
          <p:cNvPr id="755" name="1"/>
          <p:cNvSpPr/>
          <p:nvPr/>
        </p:nvSpPr>
        <p:spPr>
          <a:xfrm>
            <a:off x="1438874" y="2377594"/>
            <a:ext cx="363530" cy="6677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3200">
                <a:solidFill>
                  <a:srgbClr val="942193"/>
                </a:solidFill>
                <a:latin typeface="Chalkboard SE Bold"/>
                <a:ea typeface="Chalkboard SE Bold"/>
                <a:cs typeface="Chalkboard SE Bold"/>
                <a:sym typeface="Chalkboard SE Bold"/>
              </a:defRPr>
            </a:lvl1pPr>
          </a:lstStyle>
          <a:p>
            <a:r>
              <a:t>1</a:t>
            </a:r>
          </a:p>
        </p:txBody>
      </p:sp>
      <p:sp>
        <p:nvSpPr>
          <p:cNvPr id="756" name="X"/>
          <p:cNvSpPr/>
          <p:nvPr/>
        </p:nvSpPr>
        <p:spPr>
          <a:xfrm>
            <a:off x="9525000" y="3909210"/>
            <a:ext cx="558800" cy="1270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5000">
                <a:solidFill>
                  <a:srgbClr val="942193"/>
                </a:solidFill>
                <a:latin typeface="Chalkboard SE Bold"/>
                <a:ea typeface="Chalkboard SE Bold"/>
                <a:cs typeface="Chalkboard SE Bold"/>
                <a:sym typeface="Chalkboard SE Bold"/>
              </a:defRPr>
            </a:lvl1pPr>
          </a:lstStyle>
          <a:p>
            <a:r>
              <a:t>X</a:t>
            </a:r>
          </a:p>
        </p:txBody>
      </p:sp>
      <p:sp>
        <p:nvSpPr>
          <p:cNvPr id="757" name="X"/>
          <p:cNvSpPr/>
          <p:nvPr/>
        </p:nvSpPr>
        <p:spPr>
          <a:xfrm>
            <a:off x="9493250" y="5717567"/>
            <a:ext cx="558800" cy="1270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5000">
                <a:solidFill>
                  <a:srgbClr val="942193"/>
                </a:solidFill>
                <a:latin typeface="Chalkboard SE Bold"/>
                <a:ea typeface="Chalkboard SE Bold"/>
                <a:cs typeface="Chalkboard SE Bold"/>
                <a:sym typeface="Chalkboard SE Bold"/>
              </a:defRPr>
            </a:lvl1pPr>
          </a:lstStyle>
          <a:p>
            <a:r>
              <a:t>X</a:t>
            </a:r>
          </a:p>
        </p:txBody>
      </p:sp>
      <p:sp>
        <p:nvSpPr>
          <p:cNvPr id="758" name="X"/>
          <p:cNvSpPr/>
          <p:nvPr/>
        </p:nvSpPr>
        <p:spPr>
          <a:xfrm>
            <a:off x="9525000" y="6344336"/>
            <a:ext cx="558800" cy="1270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5000">
                <a:solidFill>
                  <a:srgbClr val="942193"/>
                </a:solidFill>
                <a:latin typeface="Chalkboard SE Bold"/>
                <a:ea typeface="Chalkboard SE Bold"/>
                <a:cs typeface="Chalkboard SE Bold"/>
                <a:sym typeface="Chalkboard SE Bold"/>
              </a:defRPr>
            </a:lvl1pPr>
          </a:lstStyle>
          <a:p>
            <a:r>
              <a:t>X</a:t>
            </a:r>
          </a:p>
        </p:txBody>
      </p:sp>
      <p:sp>
        <p:nvSpPr>
          <p:cNvPr id="759" name="Alice’s computer"/>
          <p:cNvSpPr/>
          <p:nvPr/>
        </p:nvSpPr>
        <p:spPr>
          <a:xfrm>
            <a:off x="-308527" y="155768"/>
            <a:ext cx="4419601" cy="81876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lvl1pPr>
              <a:defRPr sz="4000">
                <a:solidFill>
                  <a:srgbClr val="0096FF"/>
                </a:solidFill>
                <a:latin typeface="+mn-lt"/>
                <a:ea typeface="+mn-ea"/>
                <a:cs typeface="+mn-cs"/>
                <a:sym typeface="Chalkboard SE Regular"/>
              </a:defRPr>
            </a:lvl1pPr>
          </a:lstStyle>
          <a:p>
            <a:r>
              <a:t>Alice’s computer</a:t>
            </a:r>
          </a:p>
        </p:txBody>
      </p:sp>
      <p:sp>
        <p:nvSpPr>
          <p:cNvPr id="760" name="Bob’s computer"/>
          <p:cNvSpPr/>
          <p:nvPr/>
        </p:nvSpPr>
        <p:spPr>
          <a:xfrm>
            <a:off x="8788400" y="155768"/>
            <a:ext cx="4419600" cy="81876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lvl1pPr>
              <a:defRPr sz="4000">
                <a:solidFill>
                  <a:srgbClr val="0096FF"/>
                </a:solidFill>
                <a:latin typeface="+mn-lt"/>
                <a:ea typeface="+mn-ea"/>
                <a:cs typeface="+mn-cs"/>
                <a:sym typeface="Chalkboard SE Regular"/>
              </a:defRPr>
            </a:lvl1pPr>
          </a:lstStyle>
          <a:p>
            <a:r>
              <a:t>Bob’s computer</a:t>
            </a:r>
          </a:p>
        </p:txBody>
      </p:sp>
      <p:sp>
        <p:nvSpPr>
          <p:cNvPr id="761" name="Rounded Rectangle"/>
          <p:cNvSpPr/>
          <p:nvPr/>
        </p:nvSpPr>
        <p:spPr>
          <a:xfrm>
            <a:off x="-241300" y="1054100"/>
            <a:ext cx="4013200" cy="8394700"/>
          </a:xfrm>
          <a:prstGeom prst="roundRect">
            <a:avLst>
              <a:gd name="adj" fmla="val 4747"/>
            </a:avLst>
          </a:prstGeom>
          <a:ln w="25400">
            <a:solidFill>
              <a:srgbClr val="0096FF"/>
            </a:solidFill>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762" name="Rounded Rectangle"/>
          <p:cNvSpPr/>
          <p:nvPr/>
        </p:nvSpPr>
        <p:spPr>
          <a:xfrm>
            <a:off x="9194800" y="1153310"/>
            <a:ext cx="5029200" cy="8394701"/>
          </a:xfrm>
          <a:prstGeom prst="roundRect">
            <a:avLst>
              <a:gd name="adj" fmla="val 3788"/>
            </a:avLst>
          </a:prstGeom>
          <a:ln w="25400">
            <a:solidFill>
              <a:srgbClr val="0096FF"/>
            </a:solidFill>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73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path" presetSubtype="0" accel="50000" decel="50000" fill="hold" nodeType="clickEffect">
                                  <p:stCondLst>
                                    <p:cond delay="0"/>
                                  </p:stCondLst>
                                  <p:childTnLst>
                                    <p:animMotion origin="layout" path="M 0.000000 0.000000 L 0.000000 0.067057" pathEditMode="relative">
                                      <p:cBhvr>
                                        <p:cTn id="10" dur="1000" fill="hold"/>
                                        <p:tgtEl>
                                          <p:spTgt spid="753"/>
                                        </p:tgtEl>
                                        <p:attrNameLst>
                                          <p:attrName>ppt_x</p:attrName>
                                          <p:attrName>ppt_y</p:attrName>
                                        </p:attrNameLst>
                                      </p:cBhvr>
                                    </p:animMotion>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3" nodeType="clickEffect">
                                  <p:stCondLst>
                                    <p:cond delay="0"/>
                                  </p:stCondLst>
                                  <p:iterate>
                                    <p:tmAbs val="0"/>
                                  </p:iterate>
                                  <p:childTnLst>
                                    <p:set>
                                      <p:cBhvr>
                                        <p:cTn id="14" fill="hold"/>
                                        <p:tgtEl>
                                          <p:spTgt spid="7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path" presetSubtype="0" accel="50000" decel="50000" fill="hold" nodeType="clickEffect">
                                  <p:stCondLst>
                                    <p:cond delay="0"/>
                                  </p:stCondLst>
                                  <p:childTnLst>
                                    <p:animMotion origin="layout" path="M 0.000000 0.067057 L 0.000000 0.137370" pathEditMode="relative">
                                      <p:cBhvr>
                                        <p:cTn id="18" dur="1000" fill="hold"/>
                                        <p:tgtEl>
                                          <p:spTgt spid="753"/>
                                        </p:tgtEl>
                                        <p:attrNameLst>
                                          <p:attrName>ppt_x</p:attrName>
                                          <p:attrName>ppt_y</p:attrName>
                                        </p:attrNameLst>
                                      </p:cBhvr>
                                    </p:animMotion>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5" nodeType="clickEffect">
                                  <p:stCondLst>
                                    <p:cond delay="0"/>
                                  </p:stCondLst>
                                  <p:iterate>
                                    <p:tmAbs val="0"/>
                                  </p:iterate>
                                  <p:childTnLst>
                                    <p:set>
                                      <p:cBhvr>
                                        <p:cTn id="22" fill="hold"/>
                                        <p:tgtEl>
                                          <p:spTgt spid="713"/>
                                        </p:tgtEl>
                                        <p:attrNameLst>
                                          <p:attrName>style.visibility</p:attrName>
                                        </p:attrNameLst>
                                      </p:cBhvr>
                                      <p:to>
                                        <p:strVal val="visible"/>
                                      </p:to>
                                    </p:set>
                                  </p:childTnLst>
                                </p:cTn>
                              </p:par>
                            </p:childTnLst>
                          </p:cTn>
                        </p:par>
                        <p:par>
                          <p:cTn id="23" fill="hold">
                            <p:stCondLst>
                              <p:cond delay="0"/>
                            </p:stCondLst>
                            <p:childTnLst>
                              <p:par>
                                <p:cTn id="24" presetID="1" presetClass="entr" presetSubtype="0" fill="hold" grpId="6" nodeType="afterEffect">
                                  <p:stCondLst>
                                    <p:cond delay="0"/>
                                  </p:stCondLst>
                                  <p:iterate>
                                    <p:tmAbs val="0"/>
                                  </p:iterate>
                                  <p:childTnLst>
                                    <p:set>
                                      <p:cBhvr>
                                        <p:cTn id="25" fill="hold"/>
                                        <p:tgtEl>
                                          <p:spTgt spid="720"/>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7" nodeType="clickEffect">
                                  <p:stCondLst>
                                    <p:cond delay="0"/>
                                  </p:stCondLst>
                                  <p:iterate>
                                    <p:tmAbs val="0"/>
                                  </p:iterate>
                                  <p:childTnLst>
                                    <p:set>
                                      <p:cBhvr>
                                        <p:cTn id="29" fill="hold"/>
                                        <p:tgtEl>
                                          <p:spTgt spid="716"/>
                                        </p:tgtEl>
                                        <p:attrNameLst>
                                          <p:attrName>style.visibility</p:attrName>
                                        </p:attrNameLst>
                                      </p:cBhvr>
                                      <p:to>
                                        <p:strVal val="visible"/>
                                      </p:to>
                                    </p:set>
                                  </p:childTnLst>
                                </p:cTn>
                              </p:par>
                            </p:childTnLst>
                          </p:cTn>
                        </p:par>
                        <p:par>
                          <p:cTn id="30" fill="hold">
                            <p:stCondLst>
                              <p:cond delay="0"/>
                            </p:stCondLst>
                            <p:childTnLst>
                              <p:par>
                                <p:cTn id="31" presetID="1" presetClass="entr" presetSubtype="0" fill="hold" grpId="8" nodeType="afterEffect">
                                  <p:stCondLst>
                                    <p:cond delay="0"/>
                                  </p:stCondLst>
                                  <p:iterate>
                                    <p:tmAbs val="0"/>
                                  </p:iterate>
                                  <p:childTnLst>
                                    <p:set>
                                      <p:cBhvr>
                                        <p:cTn id="32" fill="hold"/>
                                        <p:tgtEl>
                                          <p:spTgt spid="75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9" nodeType="clickEffect">
                                  <p:stCondLst>
                                    <p:cond delay="0"/>
                                  </p:stCondLst>
                                  <p:iterate>
                                    <p:tmAbs val="0"/>
                                  </p:iterate>
                                  <p:childTnLst>
                                    <p:set>
                                      <p:cBhvr>
                                        <p:cTn id="36" fill="hold"/>
                                        <p:tgtEl>
                                          <p:spTgt spid="70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10" nodeType="clickEffect">
                                  <p:stCondLst>
                                    <p:cond delay="0"/>
                                  </p:stCondLst>
                                  <p:iterate>
                                    <p:tmAbs val="0"/>
                                  </p:iterate>
                                  <p:childTnLst>
                                    <p:set>
                                      <p:cBhvr>
                                        <p:cTn id="40" fill="hold"/>
                                        <p:tgtEl>
                                          <p:spTgt spid="754"/>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path" presetSubtype="0" accel="50000" decel="50000" fill="hold" nodeType="clickEffect">
                                  <p:stCondLst>
                                    <p:cond delay="0"/>
                                  </p:stCondLst>
                                  <p:childTnLst>
                                    <p:animMotion origin="layout" path="M 0.000000 0.000000 L 0.000000 0.061849" pathEditMode="relative">
                                      <p:cBhvr>
                                        <p:cTn id="44" dur="1000" fill="hold"/>
                                        <p:tgtEl>
                                          <p:spTgt spid="731"/>
                                        </p:tgtEl>
                                        <p:attrNameLst>
                                          <p:attrName>ppt_x</p:attrName>
                                          <p:attrName>ppt_y</p:attrName>
                                        </p:attrNameLst>
                                      </p:cBhvr>
                                    </p:animMotion>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12" nodeType="clickEffect">
                                  <p:stCondLst>
                                    <p:cond delay="0"/>
                                  </p:stCondLst>
                                  <p:iterate>
                                    <p:tmAbs val="0"/>
                                  </p:iterate>
                                  <p:childTnLst>
                                    <p:set>
                                      <p:cBhvr>
                                        <p:cTn id="48" fill="hold"/>
                                        <p:tgtEl>
                                          <p:spTgt spid="737"/>
                                        </p:tgtEl>
                                        <p:attrNameLst>
                                          <p:attrName>style.visibility</p:attrName>
                                        </p:attrNameLst>
                                      </p:cBhvr>
                                      <p:to>
                                        <p:strVal val="visible"/>
                                      </p:to>
                                    </p:set>
                                  </p:childTnLst>
                                </p:cTn>
                              </p:par>
                            </p:childTnLst>
                          </p:cTn>
                        </p:par>
                        <p:par>
                          <p:cTn id="49" fill="hold">
                            <p:stCondLst>
                              <p:cond delay="0"/>
                            </p:stCondLst>
                            <p:childTnLst>
                              <p:par>
                                <p:cTn id="50" presetID="1" presetClass="entr" presetSubtype="0" fill="hold" grpId="13" nodeType="afterEffect">
                                  <p:stCondLst>
                                    <p:cond delay="0"/>
                                  </p:stCondLst>
                                  <p:iterate>
                                    <p:tmAbs val="0"/>
                                  </p:iterate>
                                  <p:childTnLst>
                                    <p:set>
                                      <p:cBhvr>
                                        <p:cTn id="51" fill="hold"/>
                                        <p:tgtEl>
                                          <p:spTgt spid="757"/>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14" nodeType="clickEffect">
                                  <p:stCondLst>
                                    <p:cond delay="0"/>
                                  </p:stCondLst>
                                  <p:iterate>
                                    <p:tmAbs val="0"/>
                                  </p:iterate>
                                  <p:childTnLst>
                                    <p:set>
                                      <p:cBhvr>
                                        <p:cTn id="55" fill="hold"/>
                                        <p:tgtEl>
                                          <p:spTgt spid="719"/>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15" nodeType="clickEffect">
                                  <p:stCondLst>
                                    <p:cond delay="0"/>
                                  </p:stCondLst>
                                  <p:iterate>
                                    <p:tmAbs val="0"/>
                                  </p:iterate>
                                  <p:childTnLst>
                                    <p:set>
                                      <p:cBhvr>
                                        <p:cTn id="59" fill="hold"/>
                                        <p:tgtEl>
                                          <p:spTgt spid="755"/>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path" presetSubtype="0" accel="50000" decel="50000" fill="hold" nodeType="clickEffect">
                                  <p:stCondLst>
                                    <p:cond delay="0"/>
                                  </p:stCondLst>
                                  <p:childTnLst>
                                    <p:animMotion origin="layout" path="M 0.000000 0.061849 L 0.000000 0.137370" pathEditMode="relative">
                                      <p:cBhvr>
                                        <p:cTn id="63" dur="1000" fill="hold"/>
                                        <p:tgtEl>
                                          <p:spTgt spid="731"/>
                                        </p:tgtEl>
                                        <p:attrNameLst>
                                          <p:attrName>ppt_x</p:attrName>
                                          <p:attrName>ppt_y</p:attrName>
                                        </p:attrNameLst>
                                      </p:cBhvr>
                                    </p:animMotion>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17" nodeType="clickEffect">
                                  <p:stCondLst>
                                    <p:cond delay="0"/>
                                  </p:stCondLst>
                                  <p:iterate>
                                    <p:tmAbs val="0"/>
                                  </p:iterate>
                                  <p:childTnLst>
                                    <p:set>
                                      <p:cBhvr>
                                        <p:cTn id="67" fill="hold"/>
                                        <p:tgtEl>
                                          <p:spTgt spid="740"/>
                                        </p:tgtEl>
                                        <p:attrNameLst>
                                          <p:attrName>style.visibility</p:attrName>
                                        </p:attrNameLst>
                                      </p:cBhvr>
                                      <p:to>
                                        <p:strVal val="visible"/>
                                      </p:to>
                                    </p:set>
                                  </p:childTnLst>
                                </p:cTn>
                              </p:par>
                            </p:childTnLst>
                          </p:cTn>
                        </p:par>
                        <p:par>
                          <p:cTn id="68" fill="hold">
                            <p:stCondLst>
                              <p:cond delay="0"/>
                            </p:stCondLst>
                            <p:childTnLst>
                              <p:par>
                                <p:cTn id="69" presetID="1" presetClass="entr" presetSubtype="0" fill="hold" grpId="18" nodeType="afterEffect">
                                  <p:stCondLst>
                                    <p:cond delay="0"/>
                                  </p:stCondLst>
                                  <p:iterate>
                                    <p:tmAbs val="0"/>
                                  </p:iterate>
                                  <p:childTnLst>
                                    <p:set>
                                      <p:cBhvr>
                                        <p:cTn id="70" fill="hold"/>
                                        <p:tgtEl>
                                          <p:spTgt spid="758"/>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19" nodeType="clickEffect">
                                  <p:stCondLst>
                                    <p:cond delay="0"/>
                                  </p:stCondLst>
                                  <p:iterate>
                                    <p:tmAbs val="0"/>
                                  </p:iterate>
                                  <p:childTnLst>
                                    <p:set>
                                      <p:cBhvr>
                                        <p:cTn id="74" fill="hold"/>
                                        <p:tgtEl>
                                          <p:spTgt spid="743"/>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20" nodeType="clickEffect">
                                  <p:stCondLst>
                                    <p:cond delay="0"/>
                                  </p:stCondLst>
                                  <p:iterate>
                                    <p:tmAbs val="0"/>
                                  </p:iterate>
                                  <p:childTnLst>
                                    <p:set>
                                      <p:cBhvr>
                                        <p:cTn id="78" fill="hold"/>
                                        <p:tgtEl>
                                          <p:spTgt spid="7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7" grpId="9" animBg="1" advAuto="0"/>
      <p:bldP spid="710" grpId="3" animBg="1" advAuto="0"/>
      <p:bldP spid="713" grpId="5" animBg="1" advAuto="0"/>
      <p:bldP spid="716" grpId="7" animBg="1" advAuto="0"/>
      <p:bldP spid="719" grpId="14" animBg="1" advAuto="0"/>
      <p:bldP spid="720" grpId="6" animBg="1" advAuto="0"/>
      <p:bldP spid="721" grpId="20" animBg="1" advAuto="0"/>
      <p:bldP spid="734" grpId="1" animBg="1" advAuto="0"/>
      <p:bldP spid="737" grpId="12" animBg="1" advAuto="0"/>
      <p:bldP spid="740" grpId="17" animBg="1" advAuto="0"/>
      <p:bldP spid="743" grpId="19" animBg="1" advAuto="0"/>
      <p:bldP spid="754" grpId="10" animBg="1" advAuto="0"/>
      <p:bldP spid="755" grpId="15" animBg="1" advAuto="0"/>
      <p:bldP spid="756" grpId="8" animBg="1" advAuto="0"/>
      <p:bldP spid="757" grpId="13" animBg="1" advAuto="0"/>
      <p:bldP spid="758" grpId="18" animBg="1" advAuto="0"/>
    </p:bldLst>
  </p:timing>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66" name="Rectangle"/>
          <p:cNvSpPr/>
          <p:nvPr/>
        </p:nvSpPr>
        <p:spPr>
          <a:xfrm>
            <a:off x="9831978" y="-187354"/>
            <a:ext cx="3754843" cy="10128308"/>
          </a:xfrm>
          <a:prstGeom prst="rect">
            <a:avLst/>
          </a:prstGeom>
          <a:solidFill>
            <a:srgbClr val="FFD479"/>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767" name="Rectangle"/>
          <p:cNvSpPr/>
          <p:nvPr/>
        </p:nvSpPr>
        <p:spPr>
          <a:xfrm>
            <a:off x="-609280" y="-187354"/>
            <a:ext cx="3754843" cy="10128308"/>
          </a:xfrm>
          <a:prstGeom prst="rect">
            <a:avLst/>
          </a:prstGeom>
          <a:solidFill>
            <a:srgbClr val="FFD479"/>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768"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47</a:t>
            </a:fld>
            <a:endParaRPr/>
          </a:p>
        </p:txBody>
      </p:sp>
      <p:grpSp>
        <p:nvGrpSpPr>
          <p:cNvPr id="771" name="Group"/>
          <p:cNvGrpSpPr/>
          <p:nvPr/>
        </p:nvGrpSpPr>
        <p:grpSpPr>
          <a:xfrm>
            <a:off x="3325560" y="3001834"/>
            <a:ext cx="6321954" cy="2518715"/>
            <a:chOff x="0" y="512019"/>
            <a:chExt cx="6321952" cy="2518713"/>
          </a:xfrm>
        </p:grpSpPr>
        <p:sp>
          <p:nvSpPr>
            <p:cNvPr id="769" name="ACK 2"/>
            <p:cNvSpPr/>
            <p:nvPr/>
          </p:nvSpPr>
          <p:spPr>
            <a:xfrm rot="20261404">
              <a:off x="999045" y="1831630"/>
              <a:ext cx="1257301" cy="6858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l">
                <a:defRPr sz="2800">
                  <a:solidFill>
                    <a:srgbClr val="0433FF"/>
                  </a:solidFill>
                  <a:latin typeface="Courier"/>
                  <a:ea typeface="Courier"/>
                  <a:cs typeface="Courier"/>
                  <a:sym typeface="Courier"/>
                </a:defRPr>
              </a:lvl1pPr>
            </a:lstStyle>
            <a:p>
              <a:r>
                <a:t>ACK 2</a:t>
              </a:r>
            </a:p>
          </p:txBody>
        </p:sp>
        <p:sp>
          <p:nvSpPr>
            <p:cNvPr id="770" name="Line"/>
            <p:cNvSpPr/>
            <p:nvPr/>
          </p:nvSpPr>
          <p:spPr>
            <a:xfrm flipV="1">
              <a:off x="0" y="512019"/>
              <a:ext cx="6321953" cy="2518714"/>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grpSp>
      <p:grpSp>
        <p:nvGrpSpPr>
          <p:cNvPr id="774" name="Group"/>
          <p:cNvGrpSpPr/>
          <p:nvPr/>
        </p:nvGrpSpPr>
        <p:grpSpPr>
          <a:xfrm>
            <a:off x="3334902" y="1840914"/>
            <a:ext cx="6312612" cy="1058365"/>
            <a:chOff x="0" y="340332"/>
            <a:chExt cx="6312610" cy="1058364"/>
          </a:xfrm>
        </p:grpSpPr>
        <p:sp>
          <p:nvSpPr>
            <p:cNvPr id="772" name="SEQ 2"/>
            <p:cNvSpPr/>
            <p:nvPr/>
          </p:nvSpPr>
          <p:spPr>
            <a:xfrm rot="440413">
              <a:off x="2591324" y="430008"/>
              <a:ext cx="1447801" cy="6858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l">
                <a:defRPr sz="2800">
                  <a:solidFill>
                    <a:srgbClr val="0433FF"/>
                  </a:solidFill>
                  <a:latin typeface="Courier"/>
                  <a:ea typeface="Courier"/>
                  <a:cs typeface="Courier"/>
                  <a:sym typeface="Courier"/>
                </a:defRPr>
              </a:lvl1pPr>
            </a:lstStyle>
            <a:p>
              <a:r>
                <a:t>SEQ 2</a:t>
              </a:r>
            </a:p>
          </p:txBody>
        </p:sp>
        <p:sp>
          <p:nvSpPr>
            <p:cNvPr id="773" name="Line"/>
            <p:cNvSpPr/>
            <p:nvPr/>
          </p:nvSpPr>
          <p:spPr>
            <a:xfrm flipH="1" flipV="1">
              <a:off x="0" y="581769"/>
              <a:ext cx="6312610" cy="816928"/>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grpSp>
      <p:grpSp>
        <p:nvGrpSpPr>
          <p:cNvPr id="777" name="Group"/>
          <p:cNvGrpSpPr/>
          <p:nvPr/>
        </p:nvGrpSpPr>
        <p:grpSpPr>
          <a:xfrm>
            <a:off x="3333678" y="2796067"/>
            <a:ext cx="6312611" cy="1017698"/>
            <a:chOff x="0" y="381000"/>
            <a:chExt cx="6312610" cy="1017696"/>
          </a:xfrm>
        </p:grpSpPr>
        <p:sp>
          <p:nvSpPr>
            <p:cNvPr id="775" name="SEQ 4"/>
            <p:cNvSpPr/>
            <p:nvPr/>
          </p:nvSpPr>
          <p:spPr>
            <a:xfrm rot="440413">
              <a:off x="2603276" y="470675"/>
              <a:ext cx="1447801" cy="6858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l">
                <a:defRPr sz="2800">
                  <a:solidFill>
                    <a:srgbClr val="0433FF"/>
                  </a:solidFill>
                  <a:latin typeface="Courier"/>
                  <a:ea typeface="Courier"/>
                  <a:cs typeface="Courier"/>
                  <a:sym typeface="Courier"/>
                </a:defRPr>
              </a:lvl1pPr>
            </a:lstStyle>
            <a:p>
              <a:r>
                <a:t>SEQ 4</a:t>
              </a:r>
            </a:p>
          </p:txBody>
        </p:sp>
        <p:sp>
          <p:nvSpPr>
            <p:cNvPr id="776" name="Line"/>
            <p:cNvSpPr/>
            <p:nvPr/>
          </p:nvSpPr>
          <p:spPr>
            <a:xfrm flipH="1" flipV="1">
              <a:off x="0" y="581769"/>
              <a:ext cx="6312610" cy="816928"/>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grpSp>
      <p:grpSp>
        <p:nvGrpSpPr>
          <p:cNvPr id="780" name="Group"/>
          <p:cNvGrpSpPr/>
          <p:nvPr/>
        </p:nvGrpSpPr>
        <p:grpSpPr>
          <a:xfrm>
            <a:off x="3326708" y="3423071"/>
            <a:ext cx="6329000" cy="2533037"/>
            <a:chOff x="0" y="512508"/>
            <a:chExt cx="6328999" cy="2533035"/>
          </a:xfrm>
        </p:grpSpPr>
        <p:sp>
          <p:nvSpPr>
            <p:cNvPr id="778" name="ACK 3"/>
            <p:cNvSpPr/>
            <p:nvPr/>
          </p:nvSpPr>
          <p:spPr>
            <a:xfrm rot="20256627">
              <a:off x="1804546" y="1509667"/>
              <a:ext cx="1257301" cy="6858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l">
                <a:defRPr sz="2800">
                  <a:solidFill>
                    <a:srgbClr val="0433FF"/>
                  </a:solidFill>
                  <a:latin typeface="Courier"/>
                  <a:ea typeface="Courier"/>
                  <a:cs typeface="Courier"/>
                  <a:sym typeface="Courier"/>
                </a:defRPr>
              </a:lvl1pPr>
            </a:lstStyle>
            <a:p>
              <a:r>
                <a:t>ACK 3</a:t>
              </a:r>
            </a:p>
          </p:txBody>
        </p:sp>
        <p:sp>
          <p:nvSpPr>
            <p:cNvPr id="779" name="Line"/>
            <p:cNvSpPr/>
            <p:nvPr/>
          </p:nvSpPr>
          <p:spPr>
            <a:xfrm flipV="1">
              <a:off x="0" y="512508"/>
              <a:ext cx="6329000" cy="2533037"/>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grpSp>
      <p:grpSp>
        <p:nvGrpSpPr>
          <p:cNvPr id="783" name="Group"/>
          <p:cNvGrpSpPr/>
          <p:nvPr/>
        </p:nvGrpSpPr>
        <p:grpSpPr>
          <a:xfrm>
            <a:off x="3333678" y="3265967"/>
            <a:ext cx="6312611" cy="1030398"/>
            <a:chOff x="0" y="368300"/>
            <a:chExt cx="6312610" cy="1030396"/>
          </a:xfrm>
        </p:grpSpPr>
        <p:sp>
          <p:nvSpPr>
            <p:cNvPr id="781" name="SEQ 5"/>
            <p:cNvSpPr/>
            <p:nvPr/>
          </p:nvSpPr>
          <p:spPr>
            <a:xfrm rot="440413">
              <a:off x="2590576" y="457975"/>
              <a:ext cx="1447801" cy="6858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l">
                <a:defRPr sz="2800">
                  <a:solidFill>
                    <a:srgbClr val="0433FF"/>
                  </a:solidFill>
                  <a:latin typeface="Courier"/>
                  <a:ea typeface="Courier"/>
                  <a:cs typeface="Courier"/>
                  <a:sym typeface="Courier"/>
                </a:defRPr>
              </a:lvl1pPr>
            </a:lstStyle>
            <a:p>
              <a:r>
                <a:t>SEQ 5</a:t>
              </a:r>
            </a:p>
          </p:txBody>
        </p:sp>
        <p:sp>
          <p:nvSpPr>
            <p:cNvPr id="782" name="Line"/>
            <p:cNvSpPr/>
            <p:nvPr/>
          </p:nvSpPr>
          <p:spPr>
            <a:xfrm flipH="1" flipV="1">
              <a:off x="0" y="581769"/>
              <a:ext cx="6312610" cy="816928"/>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grpSp>
      <p:grpSp>
        <p:nvGrpSpPr>
          <p:cNvPr id="792" name="Group"/>
          <p:cNvGrpSpPr/>
          <p:nvPr/>
        </p:nvGrpSpPr>
        <p:grpSpPr>
          <a:xfrm>
            <a:off x="1308100" y="1676400"/>
            <a:ext cx="482600" cy="5486400"/>
            <a:chOff x="0" y="0"/>
            <a:chExt cx="482600" cy="5486400"/>
          </a:xfrm>
        </p:grpSpPr>
        <p:sp>
          <p:nvSpPr>
            <p:cNvPr id="784" name="0"/>
            <p:cNvSpPr/>
            <p:nvPr/>
          </p:nvSpPr>
          <p:spPr>
            <a:xfrm>
              <a:off x="0" y="0"/>
              <a:ext cx="469900" cy="685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r">
                <a:defRPr sz="3200">
                  <a:solidFill>
                    <a:srgbClr val="424242"/>
                  </a:solidFill>
                  <a:latin typeface="+mn-lt"/>
                  <a:ea typeface="+mn-ea"/>
                  <a:cs typeface="+mn-cs"/>
                  <a:sym typeface="Chalkboard SE Regular"/>
                </a:defRPr>
              </a:lvl1pPr>
            </a:lstStyle>
            <a:p>
              <a:r>
                <a:t>0</a:t>
              </a:r>
            </a:p>
          </p:txBody>
        </p:sp>
        <p:sp>
          <p:nvSpPr>
            <p:cNvPr id="785" name="1"/>
            <p:cNvSpPr/>
            <p:nvPr/>
          </p:nvSpPr>
          <p:spPr>
            <a:xfrm>
              <a:off x="0" y="685800"/>
              <a:ext cx="469900" cy="685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r">
                <a:defRPr sz="3200">
                  <a:solidFill>
                    <a:srgbClr val="424242"/>
                  </a:solidFill>
                  <a:latin typeface="+mn-lt"/>
                  <a:ea typeface="+mn-ea"/>
                  <a:cs typeface="+mn-cs"/>
                  <a:sym typeface="Chalkboard SE Regular"/>
                </a:defRPr>
              </a:lvl1pPr>
            </a:lstStyle>
            <a:p>
              <a:r>
                <a:t>1</a:t>
              </a:r>
            </a:p>
          </p:txBody>
        </p:sp>
        <p:sp>
          <p:nvSpPr>
            <p:cNvPr id="786" name="2"/>
            <p:cNvSpPr/>
            <p:nvPr/>
          </p:nvSpPr>
          <p:spPr>
            <a:xfrm>
              <a:off x="0" y="1371600"/>
              <a:ext cx="469900" cy="685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r">
                <a:defRPr sz="3200">
                  <a:solidFill>
                    <a:srgbClr val="424242"/>
                  </a:solidFill>
                  <a:latin typeface="+mn-lt"/>
                  <a:ea typeface="+mn-ea"/>
                  <a:cs typeface="+mn-cs"/>
                  <a:sym typeface="Chalkboard SE Regular"/>
                </a:defRPr>
              </a:lvl1pPr>
            </a:lstStyle>
            <a:p>
              <a:r>
                <a:t>2</a:t>
              </a:r>
            </a:p>
          </p:txBody>
        </p:sp>
        <p:sp>
          <p:nvSpPr>
            <p:cNvPr id="787" name="3"/>
            <p:cNvSpPr/>
            <p:nvPr/>
          </p:nvSpPr>
          <p:spPr>
            <a:xfrm>
              <a:off x="0" y="2057400"/>
              <a:ext cx="469900" cy="685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r">
                <a:defRPr sz="3200">
                  <a:solidFill>
                    <a:srgbClr val="424242"/>
                  </a:solidFill>
                  <a:latin typeface="+mn-lt"/>
                  <a:ea typeface="+mn-ea"/>
                  <a:cs typeface="+mn-cs"/>
                  <a:sym typeface="Chalkboard SE Regular"/>
                </a:defRPr>
              </a:lvl1pPr>
            </a:lstStyle>
            <a:p>
              <a:r>
                <a:t>3</a:t>
              </a:r>
            </a:p>
          </p:txBody>
        </p:sp>
        <p:sp>
          <p:nvSpPr>
            <p:cNvPr id="788" name="4"/>
            <p:cNvSpPr/>
            <p:nvPr/>
          </p:nvSpPr>
          <p:spPr>
            <a:xfrm>
              <a:off x="12700" y="2743200"/>
              <a:ext cx="469900" cy="685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r">
                <a:defRPr sz="3200">
                  <a:solidFill>
                    <a:srgbClr val="424242"/>
                  </a:solidFill>
                  <a:latin typeface="+mn-lt"/>
                  <a:ea typeface="+mn-ea"/>
                  <a:cs typeface="+mn-cs"/>
                  <a:sym typeface="Chalkboard SE Regular"/>
                </a:defRPr>
              </a:lvl1pPr>
            </a:lstStyle>
            <a:p>
              <a:r>
                <a:t>4</a:t>
              </a:r>
            </a:p>
          </p:txBody>
        </p:sp>
        <p:sp>
          <p:nvSpPr>
            <p:cNvPr id="789" name="5"/>
            <p:cNvSpPr/>
            <p:nvPr/>
          </p:nvSpPr>
          <p:spPr>
            <a:xfrm>
              <a:off x="12700" y="3429000"/>
              <a:ext cx="469900" cy="685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r">
                <a:defRPr sz="3200">
                  <a:solidFill>
                    <a:srgbClr val="424242"/>
                  </a:solidFill>
                  <a:latin typeface="+mn-lt"/>
                  <a:ea typeface="+mn-ea"/>
                  <a:cs typeface="+mn-cs"/>
                  <a:sym typeface="Chalkboard SE Regular"/>
                </a:defRPr>
              </a:lvl1pPr>
            </a:lstStyle>
            <a:p>
              <a:r>
                <a:t>5</a:t>
              </a:r>
            </a:p>
          </p:txBody>
        </p:sp>
        <p:sp>
          <p:nvSpPr>
            <p:cNvPr id="790" name="6"/>
            <p:cNvSpPr/>
            <p:nvPr/>
          </p:nvSpPr>
          <p:spPr>
            <a:xfrm>
              <a:off x="12700" y="4114800"/>
              <a:ext cx="469900" cy="685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r">
                <a:defRPr sz="3200">
                  <a:solidFill>
                    <a:srgbClr val="424242"/>
                  </a:solidFill>
                  <a:latin typeface="+mn-lt"/>
                  <a:ea typeface="+mn-ea"/>
                  <a:cs typeface="+mn-cs"/>
                  <a:sym typeface="Chalkboard SE Regular"/>
                </a:defRPr>
              </a:lvl1pPr>
            </a:lstStyle>
            <a:p>
              <a:r>
                <a:t>6</a:t>
              </a:r>
            </a:p>
          </p:txBody>
        </p:sp>
        <p:sp>
          <p:nvSpPr>
            <p:cNvPr id="791" name="7"/>
            <p:cNvSpPr/>
            <p:nvPr/>
          </p:nvSpPr>
          <p:spPr>
            <a:xfrm>
              <a:off x="12700" y="4800600"/>
              <a:ext cx="469900" cy="685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r">
                <a:defRPr sz="3200">
                  <a:solidFill>
                    <a:srgbClr val="424242"/>
                  </a:solidFill>
                  <a:latin typeface="+mn-lt"/>
                  <a:ea typeface="+mn-ea"/>
                  <a:cs typeface="+mn-cs"/>
                  <a:sym typeface="Chalkboard SE Regular"/>
                </a:defRPr>
              </a:lvl1pPr>
            </a:lstStyle>
            <a:p>
              <a:r>
                <a:t>7</a:t>
              </a:r>
            </a:p>
          </p:txBody>
        </p:sp>
      </p:grpSp>
      <p:sp>
        <p:nvSpPr>
          <p:cNvPr id="793" name="Rounded Rectangle"/>
          <p:cNvSpPr/>
          <p:nvPr/>
        </p:nvSpPr>
        <p:spPr>
          <a:xfrm>
            <a:off x="1252339" y="3088794"/>
            <a:ext cx="736601" cy="2628901"/>
          </a:xfrm>
          <a:prstGeom prst="roundRect">
            <a:avLst>
              <a:gd name="adj" fmla="val 25862"/>
            </a:avLst>
          </a:prstGeom>
          <a:ln w="50800">
            <a:solidFill>
              <a:srgbClr val="942193"/>
            </a:solidFill>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grpSp>
        <p:nvGrpSpPr>
          <p:cNvPr id="796" name="Group"/>
          <p:cNvGrpSpPr/>
          <p:nvPr/>
        </p:nvGrpSpPr>
        <p:grpSpPr>
          <a:xfrm>
            <a:off x="3333678" y="2310900"/>
            <a:ext cx="6312611" cy="1032965"/>
            <a:chOff x="0" y="365732"/>
            <a:chExt cx="6312610" cy="1032964"/>
          </a:xfrm>
        </p:grpSpPr>
        <p:sp>
          <p:nvSpPr>
            <p:cNvPr id="794" name="SEQ 3"/>
            <p:cNvSpPr/>
            <p:nvPr/>
          </p:nvSpPr>
          <p:spPr>
            <a:xfrm rot="440413">
              <a:off x="2578624" y="455408"/>
              <a:ext cx="1447801" cy="6858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l">
                <a:defRPr sz="2800">
                  <a:solidFill>
                    <a:srgbClr val="0433FF"/>
                  </a:solidFill>
                  <a:latin typeface="Courier"/>
                  <a:ea typeface="Courier"/>
                  <a:cs typeface="Courier"/>
                  <a:sym typeface="Courier"/>
                </a:defRPr>
              </a:lvl1pPr>
            </a:lstStyle>
            <a:p>
              <a:r>
                <a:t>SEQ 3</a:t>
              </a:r>
            </a:p>
          </p:txBody>
        </p:sp>
        <p:sp>
          <p:nvSpPr>
            <p:cNvPr id="795" name="Line"/>
            <p:cNvSpPr/>
            <p:nvPr/>
          </p:nvSpPr>
          <p:spPr>
            <a:xfrm flipH="1" flipV="1">
              <a:off x="0" y="581769"/>
              <a:ext cx="6312610" cy="816928"/>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grpSp>
      <p:grpSp>
        <p:nvGrpSpPr>
          <p:cNvPr id="799" name="Group"/>
          <p:cNvGrpSpPr/>
          <p:nvPr/>
        </p:nvGrpSpPr>
        <p:grpSpPr>
          <a:xfrm>
            <a:off x="3350240" y="3908503"/>
            <a:ext cx="6329000" cy="2533036"/>
            <a:chOff x="0" y="512508"/>
            <a:chExt cx="6328999" cy="2533035"/>
          </a:xfrm>
        </p:grpSpPr>
        <p:sp>
          <p:nvSpPr>
            <p:cNvPr id="797" name="ACK 4"/>
            <p:cNvSpPr/>
            <p:nvPr/>
          </p:nvSpPr>
          <p:spPr>
            <a:xfrm rot="20256627">
              <a:off x="2368286" y="1293457"/>
              <a:ext cx="1257301" cy="6858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l">
                <a:defRPr sz="2800">
                  <a:solidFill>
                    <a:srgbClr val="0433FF"/>
                  </a:solidFill>
                  <a:latin typeface="Courier"/>
                  <a:ea typeface="Courier"/>
                  <a:cs typeface="Courier"/>
                  <a:sym typeface="Courier"/>
                </a:defRPr>
              </a:lvl1pPr>
            </a:lstStyle>
            <a:p>
              <a:r>
                <a:t>ACK 4</a:t>
              </a:r>
            </a:p>
          </p:txBody>
        </p:sp>
        <p:sp>
          <p:nvSpPr>
            <p:cNvPr id="798" name="Line"/>
            <p:cNvSpPr/>
            <p:nvPr/>
          </p:nvSpPr>
          <p:spPr>
            <a:xfrm flipV="1">
              <a:off x="0" y="512508"/>
              <a:ext cx="6329000" cy="2533037"/>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grpSp>
      <p:grpSp>
        <p:nvGrpSpPr>
          <p:cNvPr id="808" name="Group"/>
          <p:cNvGrpSpPr/>
          <p:nvPr/>
        </p:nvGrpSpPr>
        <p:grpSpPr>
          <a:xfrm>
            <a:off x="10972800" y="1727200"/>
            <a:ext cx="482600" cy="5486400"/>
            <a:chOff x="0" y="0"/>
            <a:chExt cx="482600" cy="5486400"/>
          </a:xfrm>
        </p:grpSpPr>
        <p:sp>
          <p:nvSpPr>
            <p:cNvPr id="800" name="0"/>
            <p:cNvSpPr/>
            <p:nvPr/>
          </p:nvSpPr>
          <p:spPr>
            <a:xfrm>
              <a:off x="0" y="0"/>
              <a:ext cx="469900" cy="685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r">
                <a:defRPr sz="3200">
                  <a:solidFill>
                    <a:srgbClr val="424242"/>
                  </a:solidFill>
                  <a:latin typeface="+mn-lt"/>
                  <a:ea typeface="+mn-ea"/>
                  <a:cs typeface="+mn-cs"/>
                  <a:sym typeface="Chalkboard SE Regular"/>
                </a:defRPr>
              </a:lvl1pPr>
            </a:lstStyle>
            <a:p>
              <a:r>
                <a:t>0</a:t>
              </a:r>
            </a:p>
          </p:txBody>
        </p:sp>
        <p:sp>
          <p:nvSpPr>
            <p:cNvPr id="801" name="1"/>
            <p:cNvSpPr/>
            <p:nvPr/>
          </p:nvSpPr>
          <p:spPr>
            <a:xfrm>
              <a:off x="0" y="685800"/>
              <a:ext cx="469900" cy="685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r">
                <a:defRPr sz="3200">
                  <a:solidFill>
                    <a:srgbClr val="424242"/>
                  </a:solidFill>
                  <a:latin typeface="+mn-lt"/>
                  <a:ea typeface="+mn-ea"/>
                  <a:cs typeface="+mn-cs"/>
                  <a:sym typeface="Chalkboard SE Regular"/>
                </a:defRPr>
              </a:lvl1pPr>
            </a:lstStyle>
            <a:p>
              <a:r>
                <a:t>1</a:t>
              </a:r>
            </a:p>
          </p:txBody>
        </p:sp>
        <p:sp>
          <p:nvSpPr>
            <p:cNvPr id="802" name="2"/>
            <p:cNvSpPr/>
            <p:nvPr/>
          </p:nvSpPr>
          <p:spPr>
            <a:xfrm>
              <a:off x="0" y="1371600"/>
              <a:ext cx="469900" cy="685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r">
                <a:defRPr sz="3200">
                  <a:solidFill>
                    <a:srgbClr val="424242"/>
                  </a:solidFill>
                  <a:latin typeface="+mn-lt"/>
                  <a:ea typeface="+mn-ea"/>
                  <a:cs typeface="+mn-cs"/>
                  <a:sym typeface="Chalkboard SE Regular"/>
                </a:defRPr>
              </a:lvl1pPr>
            </a:lstStyle>
            <a:p>
              <a:r>
                <a:t>2</a:t>
              </a:r>
            </a:p>
          </p:txBody>
        </p:sp>
        <p:sp>
          <p:nvSpPr>
            <p:cNvPr id="803" name="3"/>
            <p:cNvSpPr/>
            <p:nvPr/>
          </p:nvSpPr>
          <p:spPr>
            <a:xfrm>
              <a:off x="0" y="2057400"/>
              <a:ext cx="469900" cy="685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r">
                <a:defRPr sz="3200">
                  <a:solidFill>
                    <a:srgbClr val="424242"/>
                  </a:solidFill>
                  <a:latin typeface="+mn-lt"/>
                  <a:ea typeface="+mn-ea"/>
                  <a:cs typeface="+mn-cs"/>
                  <a:sym typeface="Chalkboard SE Regular"/>
                </a:defRPr>
              </a:lvl1pPr>
            </a:lstStyle>
            <a:p>
              <a:r>
                <a:t>3</a:t>
              </a:r>
            </a:p>
          </p:txBody>
        </p:sp>
        <p:sp>
          <p:nvSpPr>
            <p:cNvPr id="804" name="4"/>
            <p:cNvSpPr/>
            <p:nvPr/>
          </p:nvSpPr>
          <p:spPr>
            <a:xfrm>
              <a:off x="12700" y="2743200"/>
              <a:ext cx="469900" cy="685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r">
                <a:defRPr sz="3200">
                  <a:solidFill>
                    <a:srgbClr val="424242"/>
                  </a:solidFill>
                  <a:latin typeface="+mn-lt"/>
                  <a:ea typeface="+mn-ea"/>
                  <a:cs typeface="+mn-cs"/>
                  <a:sym typeface="Chalkboard SE Regular"/>
                </a:defRPr>
              </a:lvl1pPr>
            </a:lstStyle>
            <a:p>
              <a:r>
                <a:t>4</a:t>
              </a:r>
            </a:p>
          </p:txBody>
        </p:sp>
        <p:sp>
          <p:nvSpPr>
            <p:cNvPr id="805" name="5"/>
            <p:cNvSpPr/>
            <p:nvPr/>
          </p:nvSpPr>
          <p:spPr>
            <a:xfrm>
              <a:off x="12700" y="3429000"/>
              <a:ext cx="469900" cy="685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r">
                <a:defRPr sz="3200">
                  <a:solidFill>
                    <a:srgbClr val="424242"/>
                  </a:solidFill>
                  <a:latin typeface="+mn-lt"/>
                  <a:ea typeface="+mn-ea"/>
                  <a:cs typeface="+mn-cs"/>
                  <a:sym typeface="Chalkboard SE Regular"/>
                </a:defRPr>
              </a:lvl1pPr>
            </a:lstStyle>
            <a:p>
              <a:r>
                <a:t>5</a:t>
              </a:r>
            </a:p>
          </p:txBody>
        </p:sp>
        <p:sp>
          <p:nvSpPr>
            <p:cNvPr id="806" name="6"/>
            <p:cNvSpPr/>
            <p:nvPr/>
          </p:nvSpPr>
          <p:spPr>
            <a:xfrm>
              <a:off x="12700" y="4114800"/>
              <a:ext cx="469900" cy="685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r">
                <a:defRPr sz="3200">
                  <a:solidFill>
                    <a:srgbClr val="424242"/>
                  </a:solidFill>
                  <a:latin typeface="+mn-lt"/>
                  <a:ea typeface="+mn-ea"/>
                  <a:cs typeface="+mn-cs"/>
                  <a:sym typeface="Chalkboard SE Regular"/>
                </a:defRPr>
              </a:lvl1pPr>
            </a:lstStyle>
            <a:p>
              <a:r>
                <a:t>6</a:t>
              </a:r>
            </a:p>
          </p:txBody>
        </p:sp>
        <p:sp>
          <p:nvSpPr>
            <p:cNvPr id="807" name="7"/>
            <p:cNvSpPr/>
            <p:nvPr/>
          </p:nvSpPr>
          <p:spPr>
            <a:xfrm>
              <a:off x="12700" y="4800600"/>
              <a:ext cx="469900" cy="685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r">
                <a:defRPr sz="3200">
                  <a:solidFill>
                    <a:srgbClr val="424242"/>
                  </a:solidFill>
                  <a:latin typeface="+mn-lt"/>
                  <a:ea typeface="+mn-ea"/>
                  <a:cs typeface="+mn-cs"/>
                  <a:sym typeface="Chalkboard SE Regular"/>
                </a:defRPr>
              </a:lvl1pPr>
            </a:lstStyle>
            <a:p>
              <a:r>
                <a:t>7</a:t>
              </a:r>
            </a:p>
          </p:txBody>
        </p:sp>
      </p:grpSp>
      <p:sp>
        <p:nvSpPr>
          <p:cNvPr id="809" name="Rounded Rectangle"/>
          <p:cNvSpPr/>
          <p:nvPr/>
        </p:nvSpPr>
        <p:spPr>
          <a:xfrm>
            <a:off x="10936072" y="3128908"/>
            <a:ext cx="736601" cy="698501"/>
          </a:xfrm>
          <a:prstGeom prst="roundRect">
            <a:avLst>
              <a:gd name="adj" fmla="val 27273"/>
            </a:avLst>
          </a:prstGeom>
          <a:ln w="50800">
            <a:solidFill>
              <a:srgbClr val="942193"/>
            </a:solidFill>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810" name="0"/>
          <p:cNvSpPr/>
          <p:nvPr/>
        </p:nvSpPr>
        <p:spPr>
          <a:xfrm>
            <a:off x="1451308" y="1691794"/>
            <a:ext cx="363529" cy="6677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3200">
                <a:solidFill>
                  <a:srgbClr val="942193"/>
                </a:solidFill>
                <a:latin typeface="Chalkboard SE Bold"/>
                <a:ea typeface="Chalkboard SE Bold"/>
                <a:cs typeface="Chalkboard SE Bold"/>
                <a:sym typeface="Chalkboard SE Bold"/>
              </a:defRPr>
            </a:lvl1pPr>
          </a:lstStyle>
          <a:p>
            <a:r>
              <a:t>0</a:t>
            </a:r>
          </a:p>
        </p:txBody>
      </p:sp>
      <p:sp>
        <p:nvSpPr>
          <p:cNvPr id="811" name="1"/>
          <p:cNvSpPr/>
          <p:nvPr/>
        </p:nvSpPr>
        <p:spPr>
          <a:xfrm>
            <a:off x="1438874" y="2377594"/>
            <a:ext cx="363530" cy="6677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3200">
                <a:solidFill>
                  <a:srgbClr val="942193"/>
                </a:solidFill>
                <a:latin typeface="Chalkboard SE Bold"/>
                <a:ea typeface="Chalkboard SE Bold"/>
                <a:cs typeface="Chalkboard SE Bold"/>
                <a:sym typeface="Chalkboard SE Bold"/>
              </a:defRPr>
            </a:lvl1pPr>
          </a:lstStyle>
          <a:p>
            <a:r>
              <a:t>1</a:t>
            </a:r>
          </a:p>
        </p:txBody>
      </p:sp>
      <p:sp>
        <p:nvSpPr>
          <p:cNvPr id="812" name="Alice’s computer"/>
          <p:cNvSpPr/>
          <p:nvPr/>
        </p:nvSpPr>
        <p:spPr>
          <a:xfrm>
            <a:off x="-308527" y="155768"/>
            <a:ext cx="4419601" cy="81876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lvl1pPr>
              <a:defRPr sz="4000">
                <a:solidFill>
                  <a:srgbClr val="0096FF"/>
                </a:solidFill>
                <a:latin typeface="+mn-lt"/>
                <a:ea typeface="+mn-ea"/>
                <a:cs typeface="+mn-cs"/>
                <a:sym typeface="Chalkboard SE Regular"/>
              </a:defRPr>
            </a:lvl1pPr>
          </a:lstStyle>
          <a:p>
            <a:r>
              <a:t>Alice’s computer</a:t>
            </a:r>
          </a:p>
        </p:txBody>
      </p:sp>
      <p:sp>
        <p:nvSpPr>
          <p:cNvPr id="813" name="Bob’s computer"/>
          <p:cNvSpPr/>
          <p:nvPr/>
        </p:nvSpPr>
        <p:spPr>
          <a:xfrm>
            <a:off x="8788400" y="155768"/>
            <a:ext cx="4419600" cy="81876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lvl1pPr>
              <a:defRPr sz="4000">
                <a:solidFill>
                  <a:srgbClr val="0096FF"/>
                </a:solidFill>
                <a:latin typeface="+mn-lt"/>
                <a:ea typeface="+mn-ea"/>
                <a:cs typeface="+mn-cs"/>
                <a:sym typeface="Chalkboard SE Regular"/>
              </a:defRPr>
            </a:lvl1pPr>
          </a:lstStyle>
          <a:p>
            <a:r>
              <a:t>Bob’s computer</a:t>
            </a:r>
          </a:p>
        </p:txBody>
      </p:sp>
      <p:sp>
        <p:nvSpPr>
          <p:cNvPr id="814" name="Rounded Rectangle"/>
          <p:cNvSpPr/>
          <p:nvPr/>
        </p:nvSpPr>
        <p:spPr>
          <a:xfrm>
            <a:off x="-241300" y="1054100"/>
            <a:ext cx="4013200" cy="8394700"/>
          </a:xfrm>
          <a:prstGeom prst="roundRect">
            <a:avLst>
              <a:gd name="adj" fmla="val 4747"/>
            </a:avLst>
          </a:prstGeom>
          <a:ln w="25400">
            <a:solidFill>
              <a:srgbClr val="0096FF"/>
            </a:solidFill>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815" name="Rounded Rectangle"/>
          <p:cNvSpPr/>
          <p:nvPr/>
        </p:nvSpPr>
        <p:spPr>
          <a:xfrm>
            <a:off x="9194800" y="1028700"/>
            <a:ext cx="5029200" cy="8394700"/>
          </a:xfrm>
          <a:prstGeom prst="roundRect">
            <a:avLst>
              <a:gd name="adj" fmla="val 3788"/>
            </a:avLst>
          </a:prstGeom>
          <a:ln w="25400">
            <a:solidFill>
              <a:srgbClr val="0096FF"/>
            </a:solidFill>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grpSp>
        <p:nvGrpSpPr>
          <p:cNvPr id="818" name="Group"/>
          <p:cNvGrpSpPr/>
          <p:nvPr/>
        </p:nvGrpSpPr>
        <p:grpSpPr>
          <a:xfrm>
            <a:off x="3326708" y="4394673"/>
            <a:ext cx="6329000" cy="2533037"/>
            <a:chOff x="0" y="512508"/>
            <a:chExt cx="6328999" cy="2533035"/>
          </a:xfrm>
        </p:grpSpPr>
        <p:sp>
          <p:nvSpPr>
            <p:cNvPr id="816" name="ACK 5"/>
            <p:cNvSpPr/>
            <p:nvPr/>
          </p:nvSpPr>
          <p:spPr>
            <a:xfrm rot="20256627">
              <a:off x="3081964" y="1010252"/>
              <a:ext cx="1257301" cy="6858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l">
                <a:defRPr sz="2800">
                  <a:solidFill>
                    <a:srgbClr val="0433FF"/>
                  </a:solidFill>
                  <a:latin typeface="Courier"/>
                  <a:ea typeface="Courier"/>
                  <a:cs typeface="Courier"/>
                  <a:sym typeface="Courier"/>
                </a:defRPr>
              </a:lvl1pPr>
            </a:lstStyle>
            <a:p>
              <a:r>
                <a:t>ACK 5</a:t>
              </a:r>
            </a:p>
          </p:txBody>
        </p:sp>
        <p:sp>
          <p:nvSpPr>
            <p:cNvPr id="817" name="Line"/>
            <p:cNvSpPr/>
            <p:nvPr/>
          </p:nvSpPr>
          <p:spPr>
            <a:xfrm flipV="1">
              <a:off x="0" y="512508"/>
              <a:ext cx="6329000" cy="2533037"/>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grpSp>
      <p:sp>
        <p:nvSpPr>
          <p:cNvPr id="819" name="2"/>
          <p:cNvSpPr/>
          <p:nvPr/>
        </p:nvSpPr>
        <p:spPr>
          <a:xfrm>
            <a:off x="1415342" y="3071306"/>
            <a:ext cx="363530" cy="6677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3200">
                <a:solidFill>
                  <a:srgbClr val="942193"/>
                </a:solidFill>
                <a:latin typeface="Chalkboard SE Bold"/>
                <a:ea typeface="Chalkboard SE Bold"/>
                <a:cs typeface="Chalkboard SE Bold"/>
                <a:sym typeface="Chalkboard SE Bold"/>
              </a:defRPr>
            </a:lvl1pPr>
          </a:lstStyle>
          <a:p>
            <a:r>
              <a:t>2</a:t>
            </a:r>
          </a:p>
        </p:txBody>
      </p:sp>
      <p:sp>
        <p:nvSpPr>
          <p:cNvPr id="820" name="3"/>
          <p:cNvSpPr/>
          <p:nvPr/>
        </p:nvSpPr>
        <p:spPr>
          <a:xfrm>
            <a:off x="1438874" y="3765018"/>
            <a:ext cx="363530" cy="6677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3200">
                <a:solidFill>
                  <a:srgbClr val="942193"/>
                </a:solidFill>
                <a:latin typeface="Chalkboard SE Bold"/>
                <a:ea typeface="Chalkboard SE Bold"/>
                <a:cs typeface="Chalkboard SE Bold"/>
                <a:sym typeface="Chalkboard SE Bold"/>
              </a:defRPr>
            </a:lvl1pPr>
          </a:lstStyle>
          <a:p>
            <a:r>
              <a:t>3</a:t>
            </a:r>
          </a:p>
        </p:txBody>
      </p:sp>
      <p:sp>
        <p:nvSpPr>
          <p:cNvPr id="821" name="4"/>
          <p:cNvSpPr/>
          <p:nvPr/>
        </p:nvSpPr>
        <p:spPr>
          <a:xfrm>
            <a:off x="1451308" y="4431423"/>
            <a:ext cx="363529" cy="6677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3200">
                <a:solidFill>
                  <a:srgbClr val="942193"/>
                </a:solidFill>
                <a:latin typeface="Chalkboard SE Bold"/>
                <a:ea typeface="Chalkboard SE Bold"/>
                <a:cs typeface="Chalkboard SE Bold"/>
                <a:sym typeface="Chalkboard SE Bold"/>
              </a:defRPr>
            </a:lvl1pPr>
          </a:lstStyle>
          <a:p>
            <a:r>
              <a:t>4</a:t>
            </a:r>
          </a:p>
        </p:txBody>
      </p:sp>
      <p:sp>
        <p:nvSpPr>
          <p:cNvPr id="822" name="5"/>
          <p:cNvSpPr/>
          <p:nvPr/>
        </p:nvSpPr>
        <p:spPr>
          <a:xfrm>
            <a:off x="1451308" y="5121897"/>
            <a:ext cx="363529" cy="66771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3200">
                <a:solidFill>
                  <a:srgbClr val="942193"/>
                </a:solidFill>
                <a:latin typeface="Chalkboard SE Bold"/>
                <a:ea typeface="Chalkboard SE Bold"/>
                <a:cs typeface="Chalkboard SE Bold"/>
                <a:sym typeface="Chalkboard SE Bold"/>
              </a:defRPr>
            </a:lvl1pPr>
          </a:lstStyle>
          <a:p>
            <a:r>
              <a:t>5</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77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path" presetSubtype="0" accel="50000" decel="50000" fill="hold" nodeType="clickEffect">
                                  <p:stCondLst>
                                    <p:cond delay="0"/>
                                  </p:stCondLst>
                                  <p:childTnLst>
                                    <p:animMotion origin="layout" path="M 0.000000 0.000000 L 0.000000 0.067057" pathEditMode="relative">
                                      <p:cBhvr>
                                        <p:cTn id="10" dur="1000" fill="hold"/>
                                        <p:tgtEl>
                                          <p:spTgt spid="809"/>
                                        </p:tgtEl>
                                        <p:attrNameLst>
                                          <p:attrName>ppt_x</p:attrName>
                                          <p:attrName>ppt_y</p:attrName>
                                        </p:attrNameLst>
                                      </p:cBhvr>
                                    </p:animMotion>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3" nodeType="clickEffect">
                                  <p:stCondLst>
                                    <p:cond delay="0"/>
                                  </p:stCondLst>
                                  <p:iterate>
                                    <p:tmAbs val="0"/>
                                  </p:iterate>
                                  <p:childTnLst>
                                    <p:set>
                                      <p:cBhvr>
                                        <p:cTn id="14" fill="hold"/>
                                        <p:tgtEl>
                                          <p:spTgt spid="79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path" presetSubtype="0" accel="50000" decel="50000" fill="hold" nodeType="clickEffect">
                                  <p:stCondLst>
                                    <p:cond delay="0"/>
                                  </p:stCondLst>
                                  <p:childTnLst>
                                    <p:animMotion origin="layout" path="M 0.000000 0.067057 L 0.000000 0.137370" pathEditMode="relative">
                                      <p:cBhvr>
                                        <p:cTn id="18" dur="1000" fill="hold"/>
                                        <p:tgtEl>
                                          <p:spTgt spid="809"/>
                                        </p:tgtEl>
                                        <p:attrNameLst>
                                          <p:attrName>ppt_x</p:attrName>
                                          <p:attrName>ppt_y</p:attrName>
                                        </p:attrNameLst>
                                      </p:cBhvr>
                                    </p:animMotion>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5" nodeType="clickEffect">
                                  <p:stCondLst>
                                    <p:cond delay="0"/>
                                  </p:stCondLst>
                                  <p:iterate>
                                    <p:tmAbs val="0"/>
                                  </p:iterate>
                                  <p:childTnLst>
                                    <p:set>
                                      <p:cBhvr>
                                        <p:cTn id="22" fill="hold"/>
                                        <p:tgtEl>
                                          <p:spTgt spid="77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path" presetSubtype="0" accel="50000" decel="50000" fill="hold" nodeType="clickEffect">
                                  <p:stCondLst>
                                    <p:cond delay="0"/>
                                  </p:stCondLst>
                                  <p:childTnLst>
                                    <p:animMotion origin="layout" path="M 0.000000 0.137370 L 0.000878 0.207700" pathEditMode="relative">
                                      <p:cBhvr>
                                        <p:cTn id="26" dur="1000" fill="hold"/>
                                        <p:tgtEl>
                                          <p:spTgt spid="809"/>
                                        </p:tgtEl>
                                        <p:attrNameLst>
                                          <p:attrName>ppt_x</p:attrName>
                                          <p:attrName>ppt_y</p:attrName>
                                        </p:attrNameLst>
                                      </p:cBhvr>
                                    </p:animMotion>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7" nodeType="clickEffect">
                                  <p:stCondLst>
                                    <p:cond delay="0"/>
                                  </p:stCondLst>
                                  <p:iterate>
                                    <p:tmAbs val="0"/>
                                  </p:iterate>
                                  <p:childTnLst>
                                    <p:set>
                                      <p:cBhvr>
                                        <p:cTn id="30" fill="hold"/>
                                        <p:tgtEl>
                                          <p:spTgt spid="78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path" presetSubtype="0" accel="50000" decel="50000" fill="hold" nodeType="clickEffect">
                                  <p:stCondLst>
                                    <p:cond delay="0"/>
                                  </p:stCondLst>
                                  <p:childTnLst>
                                    <p:animMotion origin="layout" path="M 0.000878 0.207700 L 0.001296 0.282636" pathEditMode="relative">
                                      <p:cBhvr>
                                        <p:cTn id="34" dur="1000" fill="hold"/>
                                        <p:tgtEl>
                                          <p:spTgt spid="809"/>
                                        </p:tgtEl>
                                        <p:attrNameLst>
                                          <p:attrName>ppt_x</p:attrName>
                                          <p:attrName>ppt_y</p:attrName>
                                        </p:attrNameLst>
                                      </p:cBhvr>
                                    </p:animMotion>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9" nodeType="clickEffect">
                                  <p:stCondLst>
                                    <p:cond delay="0"/>
                                  </p:stCondLst>
                                  <p:iterate>
                                    <p:tmAbs val="0"/>
                                  </p:iterate>
                                  <p:childTnLst>
                                    <p:set>
                                      <p:cBhvr>
                                        <p:cTn id="38" fill="hold"/>
                                        <p:tgtEl>
                                          <p:spTgt spid="77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10" nodeType="clickEffect">
                                  <p:stCondLst>
                                    <p:cond delay="0"/>
                                  </p:stCondLst>
                                  <p:iterate>
                                    <p:tmAbs val="0"/>
                                  </p:iterate>
                                  <p:childTnLst>
                                    <p:set>
                                      <p:cBhvr>
                                        <p:cTn id="42" fill="hold"/>
                                        <p:tgtEl>
                                          <p:spTgt spid="81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path" presetSubtype="0" accel="50000" decel="50000" fill="hold" nodeType="clickEffect">
                                  <p:stCondLst>
                                    <p:cond delay="0"/>
                                  </p:stCondLst>
                                  <p:childTnLst>
                                    <p:animMotion origin="layout" path="M 0.000000 0.000000 L 0.000000 0.061849" pathEditMode="relative">
                                      <p:cBhvr>
                                        <p:cTn id="46" dur="1000" fill="hold"/>
                                        <p:tgtEl>
                                          <p:spTgt spid="793"/>
                                        </p:tgtEl>
                                        <p:attrNameLst>
                                          <p:attrName>ppt_x</p:attrName>
                                          <p:attrName>ppt_y</p:attrName>
                                        </p:attrNameLst>
                                      </p:cBhvr>
                                    </p:animMotion>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2" nodeType="clickEffect">
                                  <p:stCondLst>
                                    <p:cond delay="0"/>
                                  </p:stCondLst>
                                  <p:iterate>
                                    <p:tmAbs val="0"/>
                                  </p:iterate>
                                  <p:childTnLst>
                                    <p:set>
                                      <p:cBhvr>
                                        <p:cTn id="50" fill="hold"/>
                                        <p:tgtEl>
                                          <p:spTgt spid="780"/>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3" nodeType="clickEffect">
                                  <p:stCondLst>
                                    <p:cond delay="0"/>
                                  </p:stCondLst>
                                  <p:iterate>
                                    <p:tmAbs val="0"/>
                                  </p:iterate>
                                  <p:childTnLst>
                                    <p:set>
                                      <p:cBhvr>
                                        <p:cTn id="54" fill="hold"/>
                                        <p:tgtEl>
                                          <p:spTgt spid="820"/>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path" presetSubtype="0" accel="50000" decel="50000" fill="hold" nodeType="clickEffect">
                                  <p:stCondLst>
                                    <p:cond delay="0"/>
                                  </p:stCondLst>
                                  <p:childTnLst>
                                    <p:animMotion origin="layout" path="M 0.000000 0.061849 L 0.000000 0.137370" pathEditMode="relative">
                                      <p:cBhvr>
                                        <p:cTn id="58" dur="1000" fill="hold"/>
                                        <p:tgtEl>
                                          <p:spTgt spid="793"/>
                                        </p:tgtEl>
                                        <p:attrNameLst>
                                          <p:attrName>ppt_x</p:attrName>
                                          <p:attrName>ppt_y</p:attrName>
                                        </p:attrNameLst>
                                      </p:cBhvr>
                                    </p:animMotion>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15" nodeType="clickEffect">
                                  <p:stCondLst>
                                    <p:cond delay="0"/>
                                  </p:stCondLst>
                                  <p:iterate>
                                    <p:tmAbs val="0"/>
                                  </p:iterate>
                                  <p:childTnLst>
                                    <p:set>
                                      <p:cBhvr>
                                        <p:cTn id="62" fill="hold"/>
                                        <p:tgtEl>
                                          <p:spTgt spid="799"/>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16" nodeType="clickEffect">
                                  <p:stCondLst>
                                    <p:cond delay="0"/>
                                  </p:stCondLst>
                                  <p:iterate>
                                    <p:tmAbs val="0"/>
                                  </p:iterate>
                                  <p:childTnLst>
                                    <p:set>
                                      <p:cBhvr>
                                        <p:cTn id="66" fill="hold"/>
                                        <p:tgtEl>
                                          <p:spTgt spid="821"/>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path" presetSubtype="0" accel="50000" decel="50000" fill="hold" nodeType="clickEffect">
                                  <p:stCondLst>
                                    <p:cond delay="0"/>
                                  </p:stCondLst>
                                  <p:childTnLst>
                                    <p:animMotion origin="layout" path="M 0.000000 0.137370 L 0.000691 0.207374" pathEditMode="relative">
                                      <p:cBhvr>
                                        <p:cTn id="70" dur="1000" fill="hold"/>
                                        <p:tgtEl>
                                          <p:spTgt spid="793"/>
                                        </p:tgtEl>
                                        <p:attrNameLst>
                                          <p:attrName>ppt_x</p:attrName>
                                          <p:attrName>ppt_y</p:attrName>
                                        </p:attrNameLst>
                                      </p:cBhvr>
                                    </p:animMotion>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18" nodeType="clickEffect">
                                  <p:stCondLst>
                                    <p:cond delay="0"/>
                                  </p:stCondLst>
                                  <p:iterate>
                                    <p:tmAbs val="0"/>
                                  </p:iterate>
                                  <p:childTnLst>
                                    <p:set>
                                      <p:cBhvr>
                                        <p:cTn id="74" fill="hold"/>
                                        <p:tgtEl>
                                          <p:spTgt spid="818"/>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19" nodeType="clickEffect">
                                  <p:stCondLst>
                                    <p:cond delay="0"/>
                                  </p:stCondLst>
                                  <p:iterate>
                                    <p:tmAbs val="0"/>
                                  </p:iterate>
                                  <p:childTnLst>
                                    <p:set>
                                      <p:cBhvr>
                                        <p:cTn id="78" fill="hold"/>
                                        <p:tgtEl>
                                          <p:spTgt spid="822"/>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path" presetSubtype="0" accel="50000" decel="50000" fill="hold" nodeType="clickEffect">
                                  <p:stCondLst>
                                    <p:cond delay="0"/>
                                  </p:stCondLst>
                                  <p:childTnLst>
                                    <p:animMotion origin="layout" path="M 0.000691 0.207374 L 0.000374 0.277323" pathEditMode="relative">
                                      <p:cBhvr>
                                        <p:cTn id="82" dur="1000" fill="hold"/>
                                        <p:tgtEl>
                                          <p:spTgt spid="793"/>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1" grpId="9" animBg="1" advAuto="0"/>
      <p:bldP spid="774" grpId="1" animBg="1" advAuto="0"/>
      <p:bldP spid="777" grpId="5" animBg="1" advAuto="0"/>
      <p:bldP spid="780" grpId="12" animBg="1" advAuto="0"/>
      <p:bldP spid="783" grpId="7" animBg="1" advAuto="0"/>
      <p:bldP spid="796" grpId="3" animBg="1" advAuto="0"/>
      <p:bldP spid="799" grpId="15" animBg="1" advAuto="0"/>
      <p:bldP spid="818" grpId="18" animBg="1" advAuto="0"/>
      <p:bldP spid="819" grpId="10" animBg="1" advAuto="0"/>
      <p:bldP spid="820" grpId="13" animBg="1" advAuto="0"/>
      <p:bldP spid="821" grpId="16" animBg="1" advAuto="0"/>
      <p:bldP spid="822" grpId="19" animBg="1" advAuto="0"/>
    </p:bldLst>
  </p:timing>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26" name="Go-back-N"/>
          <p:cNvSpPr txBox="1">
            <a:spLocks noGrp="1"/>
          </p:cNvSpPr>
          <p:nvPr>
            <p:ph type="title"/>
          </p:nvPr>
        </p:nvSpPr>
        <p:spPr>
          <a:prstGeom prst="rect">
            <a:avLst/>
          </a:prstGeom>
        </p:spPr>
        <p:txBody>
          <a:bodyPr/>
          <a:lstStyle/>
          <a:p>
            <a:r>
              <a:rPr lang="fr-CH" dirty="0"/>
              <a:t>Main </a:t>
            </a:r>
            <a:r>
              <a:rPr lang="fr-CH" dirty="0" err="1"/>
              <a:t>features</a:t>
            </a:r>
            <a:r>
              <a:rPr lang="fr-CH" dirty="0"/>
              <a:t> of </a:t>
            </a:r>
            <a:r>
              <a:rPr dirty="0"/>
              <a:t>Go-back-N</a:t>
            </a:r>
          </a:p>
        </p:txBody>
      </p:sp>
      <p:sp>
        <p:nvSpPr>
          <p:cNvPr id="827" name="The receiver accepts no  out-of—order segments…"/>
          <p:cNvSpPr txBox="1">
            <a:spLocks noGrp="1"/>
          </p:cNvSpPr>
          <p:nvPr>
            <p:ph type="body" idx="1"/>
          </p:nvPr>
        </p:nvSpPr>
        <p:spPr>
          <a:xfrm>
            <a:off x="558800" y="2336948"/>
            <a:ext cx="12324904" cy="6439447"/>
          </a:xfrm>
          <a:prstGeom prst="rect">
            <a:avLst/>
          </a:prstGeom>
        </p:spPr>
        <p:txBody>
          <a:bodyPr anchor="t"/>
          <a:lstStyle/>
          <a:p>
            <a:pPr>
              <a:spcBef>
                <a:spcPts val="3000"/>
              </a:spcBef>
            </a:pPr>
            <a:r>
              <a:rPr dirty="0"/>
              <a:t>The receiver accepts no </a:t>
            </a:r>
            <a:r>
              <a:rPr dirty="0" err="1"/>
              <a:t>out-of</a:t>
            </a:r>
            <a:r>
              <a:rPr lang="fr-CH" dirty="0"/>
              <a:t>-</a:t>
            </a:r>
            <a:r>
              <a:rPr dirty="0"/>
              <a:t>order segments</a:t>
            </a:r>
          </a:p>
          <a:p>
            <a:pPr>
              <a:spcBef>
                <a:spcPts val="500"/>
              </a:spcBef>
            </a:pPr>
            <a:r>
              <a:rPr dirty="0"/>
              <a:t>ACKs are </a:t>
            </a:r>
            <a:r>
              <a:rPr dirty="0">
                <a:solidFill>
                  <a:srgbClr val="942193"/>
                </a:solidFill>
              </a:rPr>
              <a:t>cumulative</a:t>
            </a:r>
          </a:p>
          <a:p>
            <a:pPr lvl="1">
              <a:spcBef>
                <a:spcPts val="3000"/>
              </a:spcBef>
            </a:pPr>
            <a:r>
              <a:rPr dirty="0"/>
              <a:t>an ACK for segment 10 indicates that </a:t>
            </a:r>
            <a:r>
              <a:rPr dirty="0">
                <a:solidFill>
                  <a:srgbClr val="942193"/>
                </a:solidFill>
              </a:rPr>
              <a:t>all </a:t>
            </a:r>
            <a:r>
              <a:rPr dirty="0"/>
              <a:t>segments until and including 10 have been received</a:t>
            </a:r>
          </a:p>
          <a:p>
            <a:pPr>
              <a:spcBef>
                <a:spcPts val="1000"/>
              </a:spcBef>
            </a:pPr>
            <a:r>
              <a:rPr dirty="0"/>
              <a:t>When the sender retransmits, it retransmits </a:t>
            </a:r>
            <a:r>
              <a:rPr dirty="0">
                <a:solidFill>
                  <a:srgbClr val="942193"/>
                </a:solidFill>
              </a:rPr>
              <a:t>all</a:t>
            </a:r>
            <a:r>
              <a:rPr dirty="0"/>
              <a:t> the un-ACK-ed segments</a:t>
            </a:r>
          </a:p>
        </p:txBody>
      </p:sp>
      <p:sp>
        <p:nvSpPr>
          <p:cNvPr id="828"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48</a:t>
            </a:fld>
            <a:endParaRP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827">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827">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827">
                                            <p:txEl>
                                              <p:pRg st="1" end="1"/>
                                            </p:txEl>
                                          </p:spTgt>
                                        </p:tgtEl>
                                        <p:attrNameLst>
                                          <p:attrName>style.visibility</p:attrName>
                                        </p:attrNameLst>
                                      </p:cBhvr>
                                      <p:to>
                                        <p:strVal val="visible"/>
                                      </p:to>
                                    </p:set>
                                  </p:childTnLst>
                                </p:cTn>
                              </p:par>
                              <p:par>
                                <p:cTn id="13" presetID="1" presetClass="entr" presetSubtype="0" fill="hold" grpId="1" nodeType="withEffect">
                                  <p:stCondLst>
                                    <p:cond delay="0"/>
                                  </p:stCondLst>
                                  <p:iterate>
                                    <p:tmAbs val="0"/>
                                  </p:iterate>
                                  <p:childTnLst>
                                    <p:set>
                                      <p:cBhvr>
                                        <p:cTn id="14" fill="hold"/>
                                        <p:tgtEl>
                                          <p:spTgt spid="82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1" nodeType="clickEffect">
                                  <p:stCondLst>
                                    <p:cond delay="0"/>
                                  </p:stCondLst>
                                  <p:iterate>
                                    <p:tmAbs val="0"/>
                                  </p:iterate>
                                  <p:childTnLst>
                                    <p:set>
                                      <p:cBhvr>
                                        <p:cTn id="18" fill="hold"/>
                                        <p:tgtEl>
                                          <p:spTgt spid="82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7" grpId="1" build="p" animBg="1" advAuto="0"/>
    </p:bldLst>
  </p:timing>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30" name="Rectangle"/>
          <p:cNvSpPr/>
          <p:nvPr/>
        </p:nvSpPr>
        <p:spPr>
          <a:xfrm>
            <a:off x="9831978" y="-187354"/>
            <a:ext cx="3754843" cy="10128308"/>
          </a:xfrm>
          <a:prstGeom prst="rect">
            <a:avLst/>
          </a:prstGeom>
          <a:solidFill>
            <a:srgbClr val="FFD479"/>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831" name="Rectangle"/>
          <p:cNvSpPr/>
          <p:nvPr/>
        </p:nvSpPr>
        <p:spPr>
          <a:xfrm>
            <a:off x="-609280" y="-187354"/>
            <a:ext cx="3754843" cy="10128308"/>
          </a:xfrm>
          <a:prstGeom prst="rect">
            <a:avLst/>
          </a:prstGeom>
          <a:solidFill>
            <a:srgbClr val="FFD479"/>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832"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49</a:t>
            </a:fld>
            <a:endParaRPr/>
          </a:p>
        </p:txBody>
      </p:sp>
      <p:sp>
        <p:nvSpPr>
          <p:cNvPr id="833" name="X"/>
          <p:cNvSpPr/>
          <p:nvPr/>
        </p:nvSpPr>
        <p:spPr>
          <a:xfrm>
            <a:off x="5640660" y="2417515"/>
            <a:ext cx="558801" cy="1270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l">
              <a:defRPr sz="5000">
                <a:solidFill>
                  <a:srgbClr val="942193"/>
                </a:solidFill>
                <a:latin typeface="Chalkboard SE Bold"/>
                <a:ea typeface="Chalkboard SE Bold"/>
                <a:cs typeface="Chalkboard SE Bold"/>
                <a:sym typeface="Chalkboard SE Bold"/>
              </a:defRPr>
            </a:lvl1pPr>
          </a:lstStyle>
          <a:p>
            <a:r>
              <a:t>X</a:t>
            </a:r>
          </a:p>
        </p:txBody>
      </p:sp>
      <p:sp>
        <p:nvSpPr>
          <p:cNvPr id="834" name="timeout for packet 2"/>
          <p:cNvSpPr/>
          <p:nvPr/>
        </p:nvSpPr>
        <p:spPr>
          <a:xfrm>
            <a:off x="406632" y="8340612"/>
            <a:ext cx="2694389" cy="1270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lstStyle>
            <a:lvl1pPr algn="l">
              <a:defRPr sz="2800">
                <a:solidFill>
                  <a:srgbClr val="942193"/>
                </a:solidFill>
                <a:latin typeface="Courier"/>
                <a:ea typeface="Courier"/>
                <a:cs typeface="Courier"/>
                <a:sym typeface="Courier"/>
              </a:defRPr>
            </a:lvl1pPr>
          </a:lstStyle>
          <a:p>
            <a:r>
              <a:t>timeout for packet 2</a:t>
            </a:r>
          </a:p>
        </p:txBody>
      </p:sp>
      <p:grpSp>
        <p:nvGrpSpPr>
          <p:cNvPr id="843" name="Group"/>
          <p:cNvGrpSpPr/>
          <p:nvPr/>
        </p:nvGrpSpPr>
        <p:grpSpPr>
          <a:xfrm>
            <a:off x="1308100" y="1676400"/>
            <a:ext cx="482600" cy="5486400"/>
            <a:chOff x="0" y="0"/>
            <a:chExt cx="482600" cy="5486400"/>
          </a:xfrm>
        </p:grpSpPr>
        <p:sp>
          <p:nvSpPr>
            <p:cNvPr id="835" name="0"/>
            <p:cNvSpPr/>
            <p:nvPr/>
          </p:nvSpPr>
          <p:spPr>
            <a:xfrm>
              <a:off x="0" y="0"/>
              <a:ext cx="469900" cy="685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r">
                <a:defRPr sz="3200">
                  <a:solidFill>
                    <a:srgbClr val="424242"/>
                  </a:solidFill>
                  <a:latin typeface="+mn-lt"/>
                  <a:ea typeface="+mn-ea"/>
                  <a:cs typeface="+mn-cs"/>
                  <a:sym typeface="Chalkboard SE Regular"/>
                </a:defRPr>
              </a:lvl1pPr>
            </a:lstStyle>
            <a:p>
              <a:r>
                <a:t>0</a:t>
              </a:r>
            </a:p>
          </p:txBody>
        </p:sp>
        <p:sp>
          <p:nvSpPr>
            <p:cNvPr id="836" name="1"/>
            <p:cNvSpPr/>
            <p:nvPr/>
          </p:nvSpPr>
          <p:spPr>
            <a:xfrm>
              <a:off x="0" y="685800"/>
              <a:ext cx="469900" cy="685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r">
                <a:defRPr sz="3200">
                  <a:solidFill>
                    <a:srgbClr val="424242"/>
                  </a:solidFill>
                  <a:latin typeface="+mn-lt"/>
                  <a:ea typeface="+mn-ea"/>
                  <a:cs typeface="+mn-cs"/>
                  <a:sym typeface="Chalkboard SE Regular"/>
                </a:defRPr>
              </a:lvl1pPr>
            </a:lstStyle>
            <a:p>
              <a:r>
                <a:t>1</a:t>
              </a:r>
            </a:p>
          </p:txBody>
        </p:sp>
        <p:sp>
          <p:nvSpPr>
            <p:cNvPr id="837" name="2"/>
            <p:cNvSpPr/>
            <p:nvPr/>
          </p:nvSpPr>
          <p:spPr>
            <a:xfrm>
              <a:off x="0" y="1371600"/>
              <a:ext cx="469900" cy="685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r">
                <a:defRPr sz="3200">
                  <a:solidFill>
                    <a:srgbClr val="424242"/>
                  </a:solidFill>
                  <a:latin typeface="+mn-lt"/>
                  <a:ea typeface="+mn-ea"/>
                  <a:cs typeface="+mn-cs"/>
                  <a:sym typeface="Chalkboard SE Regular"/>
                </a:defRPr>
              </a:lvl1pPr>
            </a:lstStyle>
            <a:p>
              <a:r>
                <a:t>2</a:t>
              </a:r>
            </a:p>
          </p:txBody>
        </p:sp>
        <p:sp>
          <p:nvSpPr>
            <p:cNvPr id="838" name="3"/>
            <p:cNvSpPr/>
            <p:nvPr/>
          </p:nvSpPr>
          <p:spPr>
            <a:xfrm>
              <a:off x="0" y="2057400"/>
              <a:ext cx="469900" cy="685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r">
                <a:defRPr sz="3200">
                  <a:solidFill>
                    <a:srgbClr val="424242"/>
                  </a:solidFill>
                  <a:latin typeface="+mn-lt"/>
                  <a:ea typeface="+mn-ea"/>
                  <a:cs typeface="+mn-cs"/>
                  <a:sym typeface="Chalkboard SE Regular"/>
                </a:defRPr>
              </a:lvl1pPr>
            </a:lstStyle>
            <a:p>
              <a:r>
                <a:t>3</a:t>
              </a:r>
            </a:p>
          </p:txBody>
        </p:sp>
        <p:sp>
          <p:nvSpPr>
            <p:cNvPr id="839" name="4"/>
            <p:cNvSpPr/>
            <p:nvPr/>
          </p:nvSpPr>
          <p:spPr>
            <a:xfrm>
              <a:off x="12700" y="2743200"/>
              <a:ext cx="469900" cy="685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r">
                <a:defRPr sz="3200">
                  <a:solidFill>
                    <a:srgbClr val="424242"/>
                  </a:solidFill>
                  <a:latin typeface="+mn-lt"/>
                  <a:ea typeface="+mn-ea"/>
                  <a:cs typeface="+mn-cs"/>
                  <a:sym typeface="Chalkboard SE Regular"/>
                </a:defRPr>
              </a:lvl1pPr>
            </a:lstStyle>
            <a:p>
              <a:r>
                <a:t>4</a:t>
              </a:r>
            </a:p>
          </p:txBody>
        </p:sp>
        <p:sp>
          <p:nvSpPr>
            <p:cNvPr id="840" name="5"/>
            <p:cNvSpPr/>
            <p:nvPr/>
          </p:nvSpPr>
          <p:spPr>
            <a:xfrm>
              <a:off x="12700" y="3429000"/>
              <a:ext cx="469900" cy="685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r">
                <a:defRPr sz="3200">
                  <a:solidFill>
                    <a:srgbClr val="424242"/>
                  </a:solidFill>
                  <a:latin typeface="+mn-lt"/>
                  <a:ea typeface="+mn-ea"/>
                  <a:cs typeface="+mn-cs"/>
                  <a:sym typeface="Chalkboard SE Regular"/>
                </a:defRPr>
              </a:lvl1pPr>
            </a:lstStyle>
            <a:p>
              <a:r>
                <a:t>5</a:t>
              </a:r>
            </a:p>
          </p:txBody>
        </p:sp>
        <p:sp>
          <p:nvSpPr>
            <p:cNvPr id="841" name="6"/>
            <p:cNvSpPr/>
            <p:nvPr/>
          </p:nvSpPr>
          <p:spPr>
            <a:xfrm>
              <a:off x="12700" y="4114800"/>
              <a:ext cx="469900" cy="685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r">
                <a:defRPr sz="3200">
                  <a:solidFill>
                    <a:srgbClr val="424242"/>
                  </a:solidFill>
                  <a:latin typeface="+mn-lt"/>
                  <a:ea typeface="+mn-ea"/>
                  <a:cs typeface="+mn-cs"/>
                  <a:sym typeface="Chalkboard SE Regular"/>
                </a:defRPr>
              </a:lvl1pPr>
            </a:lstStyle>
            <a:p>
              <a:r>
                <a:t>6</a:t>
              </a:r>
            </a:p>
          </p:txBody>
        </p:sp>
        <p:sp>
          <p:nvSpPr>
            <p:cNvPr id="842" name="7"/>
            <p:cNvSpPr/>
            <p:nvPr/>
          </p:nvSpPr>
          <p:spPr>
            <a:xfrm>
              <a:off x="12700" y="4800600"/>
              <a:ext cx="469900" cy="685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r">
                <a:defRPr sz="3200">
                  <a:solidFill>
                    <a:srgbClr val="424242"/>
                  </a:solidFill>
                  <a:latin typeface="+mn-lt"/>
                  <a:ea typeface="+mn-ea"/>
                  <a:cs typeface="+mn-cs"/>
                  <a:sym typeface="Chalkboard SE Regular"/>
                </a:defRPr>
              </a:lvl1pPr>
            </a:lstStyle>
            <a:p>
              <a:r>
                <a:t>7</a:t>
              </a:r>
            </a:p>
          </p:txBody>
        </p:sp>
      </p:grpSp>
      <p:sp>
        <p:nvSpPr>
          <p:cNvPr id="844" name="Rounded Rectangle"/>
          <p:cNvSpPr/>
          <p:nvPr/>
        </p:nvSpPr>
        <p:spPr>
          <a:xfrm>
            <a:off x="1244600" y="1765300"/>
            <a:ext cx="736600" cy="2628900"/>
          </a:xfrm>
          <a:prstGeom prst="roundRect">
            <a:avLst>
              <a:gd name="adj" fmla="val 25862"/>
            </a:avLst>
          </a:prstGeom>
          <a:ln w="50800">
            <a:solidFill>
              <a:srgbClr val="942193"/>
            </a:solidFill>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grpSp>
        <p:nvGrpSpPr>
          <p:cNvPr id="853" name="Group"/>
          <p:cNvGrpSpPr/>
          <p:nvPr/>
        </p:nvGrpSpPr>
        <p:grpSpPr>
          <a:xfrm>
            <a:off x="10972800" y="1727200"/>
            <a:ext cx="482600" cy="5486400"/>
            <a:chOff x="0" y="0"/>
            <a:chExt cx="482600" cy="5486400"/>
          </a:xfrm>
        </p:grpSpPr>
        <p:sp>
          <p:nvSpPr>
            <p:cNvPr id="845" name="0"/>
            <p:cNvSpPr/>
            <p:nvPr/>
          </p:nvSpPr>
          <p:spPr>
            <a:xfrm>
              <a:off x="0" y="0"/>
              <a:ext cx="469900" cy="685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r">
                <a:defRPr sz="3200">
                  <a:solidFill>
                    <a:srgbClr val="424242"/>
                  </a:solidFill>
                  <a:latin typeface="+mn-lt"/>
                  <a:ea typeface="+mn-ea"/>
                  <a:cs typeface="+mn-cs"/>
                  <a:sym typeface="Chalkboard SE Regular"/>
                </a:defRPr>
              </a:lvl1pPr>
            </a:lstStyle>
            <a:p>
              <a:r>
                <a:t>0</a:t>
              </a:r>
            </a:p>
          </p:txBody>
        </p:sp>
        <p:sp>
          <p:nvSpPr>
            <p:cNvPr id="846" name="1"/>
            <p:cNvSpPr/>
            <p:nvPr/>
          </p:nvSpPr>
          <p:spPr>
            <a:xfrm>
              <a:off x="0" y="685800"/>
              <a:ext cx="469900" cy="685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r">
                <a:defRPr sz="3200">
                  <a:solidFill>
                    <a:srgbClr val="424242"/>
                  </a:solidFill>
                  <a:latin typeface="+mn-lt"/>
                  <a:ea typeface="+mn-ea"/>
                  <a:cs typeface="+mn-cs"/>
                  <a:sym typeface="Chalkboard SE Regular"/>
                </a:defRPr>
              </a:lvl1pPr>
            </a:lstStyle>
            <a:p>
              <a:r>
                <a:t>1</a:t>
              </a:r>
            </a:p>
          </p:txBody>
        </p:sp>
        <p:sp>
          <p:nvSpPr>
            <p:cNvPr id="847" name="2"/>
            <p:cNvSpPr/>
            <p:nvPr/>
          </p:nvSpPr>
          <p:spPr>
            <a:xfrm>
              <a:off x="0" y="1371600"/>
              <a:ext cx="469900" cy="685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r">
                <a:defRPr sz="3200">
                  <a:solidFill>
                    <a:srgbClr val="424242"/>
                  </a:solidFill>
                  <a:latin typeface="+mn-lt"/>
                  <a:ea typeface="+mn-ea"/>
                  <a:cs typeface="+mn-cs"/>
                  <a:sym typeface="Chalkboard SE Regular"/>
                </a:defRPr>
              </a:lvl1pPr>
            </a:lstStyle>
            <a:p>
              <a:r>
                <a:t>2</a:t>
              </a:r>
            </a:p>
          </p:txBody>
        </p:sp>
        <p:sp>
          <p:nvSpPr>
            <p:cNvPr id="848" name="3"/>
            <p:cNvSpPr/>
            <p:nvPr/>
          </p:nvSpPr>
          <p:spPr>
            <a:xfrm>
              <a:off x="0" y="2057400"/>
              <a:ext cx="469900" cy="685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r">
                <a:defRPr sz="3200">
                  <a:solidFill>
                    <a:srgbClr val="424242"/>
                  </a:solidFill>
                  <a:latin typeface="+mn-lt"/>
                  <a:ea typeface="+mn-ea"/>
                  <a:cs typeface="+mn-cs"/>
                  <a:sym typeface="Chalkboard SE Regular"/>
                </a:defRPr>
              </a:lvl1pPr>
            </a:lstStyle>
            <a:p>
              <a:r>
                <a:t>3</a:t>
              </a:r>
            </a:p>
          </p:txBody>
        </p:sp>
        <p:sp>
          <p:nvSpPr>
            <p:cNvPr id="849" name="4"/>
            <p:cNvSpPr/>
            <p:nvPr/>
          </p:nvSpPr>
          <p:spPr>
            <a:xfrm>
              <a:off x="12700" y="2743200"/>
              <a:ext cx="469900" cy="685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r">
                <a:defRPr sz="3200">
                  <a:solidFill>
                    <a:srgbClr val="424242"/>
                  </a:solidFill>
                  <a:latin typeface="+mn-lt"/>
                  <a:ea typeface="+mn-ea"/>
                  <a:cs typeface="+mn-cs"/>
                  <a:sym typeface="Chalkboard SE Regular"/>
                </a:defRPr>
              </a:lvl1pPr>
            </a:lstStyle>
            <a:p>
              <a:r>
                <a:t>4</a:t>
              </a:r>
            </a:p>
          </p:txBody>
        </p:sp>
        <p:sp>
          <p:nvSpPr>
            <p:cNvPr id="850" name="5"/>
            <p:cNvSpPr/>
            <p:nvPr/>
          </p:nvSpPr>
          <p:spPr>
            <a:xfrm>
              <a:off x="12700" y="3429000"/>
              <a:ext cx="469900" cy="685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r">
                <a:defRPr sz="3200">
                  <a:solidFill>
                    <a:srgbClr val="424242"/>
                  </a:solidFill>
                  <a:latin typeface="+mn-lt"/>
                  <a:ea typeface="+mn-ea"/>
                  <a:cs typeface="+mn-cs"/>
                  <a:sym typeface="Chalkboard SE Regular"/>
                </a:defRPr>
              </a:lvl1pPr>
            </a:lstStyle>
            <a:p>
              <a:r>
                <a:t>5</a:t>
              </a:r>
            </a:p>
          </p:txBody>
        </p:sp>
        <p:sp>
          <p:nvSpPr>
            <p:cNvPr id="851" name="6"/>
            <p:cNvSpPr/>
            <p:nvPr/>
          </p:nvSpPr>
          <p:spPr>
            <a:xfrm>
              <a:off x="12700" y="4114800"/>
              <a:ext cx="469900" cy="685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r">
                <a:defRPr sz="3200">
                  <a:solidFill>
                    <a:srgbClr val="424242"/>
                  </a:solidFill>
                  <a:latin typeface="+mn-lt"/>
                  <a:ea typeface="+mn-ea"/>
                  <a:cs typeface="+mn-cs"/>
                  <a:sym typeface="Chalkboard SE Regular"/>
                </a:defRPr>
              </a:lvl1pPr>
            </a:lstStyle>
            <a:p>
              <a:r>
                <a:t>6</a:t>
              </a:r>
            </a:p>
          </p:txBody>
        </p:sp>
        <p:sp>
          <p:nvSpPr>
            <p:cNvPr id="852" name="7"/>
            <p:cNvSpPr/>
            <p:nvPr/>
          </p:nvSpPr>
          <p:spPr>
            <a:xfrm>
              <a:off x="12700" y="4800600"/>
              <a:ext cx="469900" cy="685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r">
                <a:defRPr sz="3200">
                  <a:solidFill>
                    <a:srgbClr val="424242"/>
                  </a:solidFill>
                  <a:latin typeface="+mn-lt"/>
                  <a:ea typeface="+mn-ea"/>
                  <a:cs typeface="+mn-cs"/>
                  <a:sym typeface="Chalkboard SE Regular"/>
                </a:defRPr>
              </a:lvl1pPr>
            </a:lstStyle>
            <a:p>
              <a:r>
                <a:t>7</a:t>
              </a:r>
            </a:p>
          </p:txBody>
        </p:sp>
      </p:grpSp>
      <p:sp>
        <p:nvSpPr>
          <p:cNvPr id="854" name="Rounded Rectangle"/>
          <p:cNvSpPr/>
          <p:nvPr/>
        </p:nvSpPr>
        <p:spPr>
          <a:xfrm>
            <a:off x="10947400" y="1727200"/>
            <a:ext cx="736600" cy="2717800"/>
          </a:xfrm>
          <a:prstGeom prst="roundRect">
            <a:avLst>
              <a:gd name="adj" fmla="val 25862"/>
            </a:avLst>
          </a:prstGeom>
          <a:ln w="50800">
            <a:solidFill>
              <a:srgbClr val="942193"/>
            </a:solidFill>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855" name="0"/>
          <p:cNvSpPr/>
          <p:nvPr/>
        </p:nvSpPr>
        <p:spPr>
          <a:xfrm>
            <a:off x="1451308" y="1691794"/>
            <a:ext cx="363529" cy="6677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3200">
                <a:solidFill>
                  <a:srgbClr val="942193"/>
                </a:solidFill>
                <a:latin typeface="Chalkboard SE Bold"/>
                <a:ea typeface="Chalkboard SE Bold"/>
                <a:cs typeface="Chalkboard SE Bold"/>
                <a:sym typeface="Chalkboard SE Bold"/>
              </a:defRPr>
            </a:lvl1pPr>
          </a:lstStyle>
          <a:p>
            <a:r>
              <a:t>0</a:t>
            </a:r>
          </a:p>
        </p:txBody>
      </p:sp>
      <p:sp>
        <p:nvSpPr>
          <p:cNvPr id="856" name="1"/>
          <p:cNvSpPr/>
          <p:nvPr/>
        </p:nvSpPr>
        <p:spPr>
          <a:xfrm>
            <a:off x="1438874" y="2377594"/>
            <a:ext cx="363530" cy="6677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3200">
                <a:solidFill>
                  <a:srgbClr val="942193"/>
                </a:solidFill>
                <a:latin typeface="Chalkboard SE Bold"/>
                <a:ea typeface="Chalkboard SE Bold"/>
                <a:cs typeface="Chalkboard SE Bold"/>
                <a:sym typeface="Chalkboard SE Bold"/>
              </a:defRPr>
            </a:lvl1pPr>
          </a:lstStyle>
          <a:p>
            <a:r>
              <a:t>1</a:t>
            </a:r>
          </a:p>
        </p:txBody>
      </p:sp>
      <p:sp>
        <p:nvSpPr>
          <p:cNvPr id="857" name="0"/>
          <p:cNvSpPr/>
          <p:nvPr/>
        </p:nvSpPr>
        <p:spPr>
          <a:xfrm>
            <a:off x="11116274" y="1742594"/>
            <a:ext cx="363530" cy="6677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3200">
                <a:solidFill>
                  <a:srgbClr val="942193"/>
                </a:solidFill>
                <a:latin typeface="Chalkboard SE Bold"/>
                <a:ea typeface="Chalkboard SE Bold"/>
                <a:cs typeface="Chalkboard SE Bold"/>
                <a:sym typeface="Chalkboard SE Bold"/>
              </a:defRPr>
            </a:lvl1pPr>
          </a:lstStyle>
          <a:p>
            <a:r>
              <a:t>0</a:t>
            </a:r>
          </a:p>
        </p:txBody>
      </p:sp>
      <p:sp>
        <p:nvSpPr>
          <p:cNvPr id="858" name="1"/>
          <p:cNvSpPr/>
          <p:nvPr/>
        </p:nvSpPr>
        <p:spPr>
          <a:xfrm>
            <a:off x="11103574" y="2428394"/>
            <a:ext cx="363530" cy="6677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3200">
                <a:solidFill>
                  <a:srgbClr val="942193"/>
                </a:solidFill>
                <a:latin typeface="Chalkboard SE Bold"/>
                <a:ea typeface="Chalkboard SE Bold"/>
                <a:cs typeface="Chalkboard SE Bold"/>
                <a:sym typeface="Chalkboard SE Bold"/>
              </a:defRPr>
            </a:lvl1pPr>
          </a:lstStyle>
          <a:p>
            <a:r>
              <a:t>1</a:t>
            </a:r>
          </a:p>
        </p:txBody>
      </p:sp>
      <p:sp>
        <p:nvSpPr>
          <p:cNvPr id="859" name="3"/>
          <p:cNvSpPr/>
          <p:nvPr/>
        </p:nvSpPr>
        <p:spPr>
          <a:xfrm>
            <a:off x="11116274" y="3799994"/>
            <a:ext cx="363530" cy="6677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3200">
                <a:solidFill>
                  <a:srgbClr val="942193"/>
                </a:solidFill>
                <a:latin typeface="Chalkboard SE Bold"/>
                <a:ea typeface="Chalkboard SE Bold"/>
                <a:cs typeface="Chalkboard SE Bold"/>
                <a:sym typeface="Chalkboard SE Bold"/>
              </a:defRPr>
            </a:lvl1pPr>
          </a:lstStyle>
          <a:p>
            <a:r>
              <a:t>3</a:t>
            </a:r>
          </a:p>
        </p:txBody>
      </p:sp>
      <p:sp>
        <p:nvSpPr>
          <p:cNvPr id="860" name="4"/>
          <p:cNvSpPr/>
          <p:nvPr/>
        </p:nvSpPr>
        <p:spPr>
          <a:xfrm>
            <a:off x="11128974" y="4485794"/>
            <a:ext cx="363530" cy="6677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3200">
                <a:solidFill>
                  <a:srgbClr val="942193"/>
                </a:solidFill>
                <a:latin typeface="Chalkboard SE Bold"/>
                <a:ea typeface="Chalkboard SE Bold"/>
                <a:cs typeface="Chalkboard SE Bold"/>
                <a:sym typeface="Chalkboard SE Bold"/>
              </a:defRPr>
            </a:lvl1pPr>
          </a:lstStyle>
          <a:p>
            <a:r>
              <a:t>4</a:t>
            </a:r>
          </a:p>
        </p:txBody>
      </p:sp>
      <p:sp>
        <p:nvSpPr>
          <p:cNvPr id="861" name="5"/>
          <p:cNvSpPr/>
          <p:nvPr/>
        </p:nvSpPr>
        <p:spPr>
          <a:xfrm>
            <a:off x="11128974" y="5171594"/>
            <a:ext cx="363530" cy="6677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3200">
                <a:solidFill>
                  <a:srgbClr val="942193"/>
                </a:solidFill>
                <a:latin typeface="Chalkboard SE Bold"/>
                <a:ea typeface="Chalkboard SE Bold"/>
                <a:cs typeface="Chalkboard SE Bold"/>
                <a:sym typeface="Chalkboard SE Bold"/>
              </a:defRPr>
            </a:lvl1pPr>
          </a:lstStyle>
          <a:p>
            <a:r>
              <a:t>5</a:t>
            </a:r>
          </a:p>
        </p:txBody>
      </p:sp>
      <p:sp>
        <p:nvSpPr>
          <p:cNvPr id="862" name="3"/>
          <p:cNvSpPr/>
          <p:nvPr/>
        </p:nvSpPr>
        <p:spPr>
          <a:xfrm>
            <a:off x="1438874" y="3749194"/>
            <a:ext cx="363530" cy="6677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3200">
                <a:solidFill>
                  <a:srgbClr val="942193"/>
                </a:solidFill>
                <a:latin typeface="Chalkboard SE Bold"/>
                <a:ea typeface="Chalkboard SE Bold"/>
                <a:cs typeface="Chalkboard SE Bold"/>
                <a:sym typeface="Chalkboard SE Bold"/>
              </a:defRPr>
            </a:lvl1pPr>
          </a:lstStyle>
          <a:p>
            <a:r>
              <a:t>3</a:t>
            </a:r>
          </a:p>
        </p:txBody>
      </p:sp>
      <p:sp>
        <p:nvSpPr>
          <p:cNvPr id="863" name="Alice’s computer"/>
          <p:cNvSpPr/>
          <p:nvPr/>
        </p:nvSpPr>
        <p:spPr>
          <a:xfrm>
            <a:off x="-308527" y="155768"/>
            <a:ext cx="4419601" cy="81876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lvl1pPr>
              <a:defRPr sz="4000">
                <a:solidFill>
                  <a:srgbClr val="0096FF"/>
                </a:solidFill>
                <a:latin typeface="+mn-lt"/>
                <a:ea typeface="+mn-ea"/>
                <a:cs typeface="+mn-cs"/>
                <a:sym typeface="Chalkboard SE Regular"/>
              </a:defRPr>
            </a:lvl1pPr>
          </a:lstStyle>
          <a:p>
            <a:r>
              <a:t>Alice’s computer</a:t>
            </a:r>
          </a:p>
        </p:txBody>
      </p:sp>
      <p:sp>
        <p:nvSpPr>
          <p:cNvPr id="864" name="Bob’s computer"/>
          <p:cNvSpPr/>
          <p:nvPr/>
        </p:nvSpPr>
        <p:spPr>
          <a:xfrm>
            <a:off x="8788400" y="155768"/>
            <a:ext cx="4419600" cy="81876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lvl1pPr>
              <a:defRPr sz="4000">
                <a:solidFill>
                  <a:srgbClr val="0096FF"/>
                </a:solidFill>
                <a:latin typeface="+mn-lt"/>
                <a:ea typeface="+mn-ea"/>
                <a:cs typeface="+mn-cs"/>
                <a:sym typeface="Chalkboard SE Regular"/>
              </a:defRPr>
            </a:lvl1pPr>
          </a:lstStyle>
          <a:p>
            <a:r>
              <a:t>Bob’s computer</a:t>
            </a:r>
          </a:p>
        </p:txBody>
      </p:sp>
      <p:sp>
        <p:nvSpPr>
          <p:cNvPr id="865" name="Rounded Rectangle"/>
          <p:cNvSpPr/>
          <p:nvPr/>
        </p:nvSpPr>
        <p:spPr>
          <a:xfrm>
            <a:off x="-241300" y="1054100"/>
            <a:ext cx="4013200" cy="8394700"/>
          </a:xfrm>
          <a:prstGeom prst="roundRect">
            <a:avLst>
              <a:gd name="adj" fmla="val 4747"/>
            </a:avLst>
          </a:prstGeom>
          <a:ln w="25400">
            <a:solidFill>
              <a:srgbClr val="0096FF"/>
            </a:solidFill>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866" name="Rounded Rectangle"/>
          <p:cNvSpPr/>
          <p:nvPr/>
        </p:nvSpPr>
        <p:spPr>
          <a:xfrm>
            <a:off x="9194800" y="1028700"/>
            <a:ext cx="5029200" cy="8394700"/>
          </a:xfrm>
          <a:prstGeom prst="roundRect">
            <a:avLst>
              <a:gd name="adj" fmla="val 3788"/>
            </a:avLst>
          </a:prstGeom>
          <a:ln w="25400">
            <a:solidFill>
              <a:srgbClr val="0096FF"/>
            </a:solidFill>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grpSp>
        <p:nvGrpSpPr>
          <p:cNvPr id="869" name="Group"/>
          <p:cNvGrpSpPr/>
          <p:nvPr/>
        </p:nvGrpSpPr>
        <p:grpSpPr>
          <a:xfrm>
            <a:off x="3454399" y="1778000"/>
            <a:ext cx="6312611" cy="1246297"/>
            <a:chOff x="0" y="152400"/>
            <a:chExt cx="6312610" cy="1246296"/>
          </a:xfrm>
        </p:grpSpPr>
        <p:sp>
          <p:nvSpPr>
            <p:cNvPr id="867" name="Line"/>
            <p:cNvSpPr/>
            <p:nvPr/>
          </p:nvSpPr>
          <p:spPr>
            <a:xfrm flipH="1" flipV="1">
              <a:off x="0" y="581769"/>
              <a:ext cx="6312610" cy="816928"/>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868" name="SEQ 1"/>
            <p:cNvSpPr/>
            <p:nvPr/>
          </p:nvSpPr>
          <p:spPr>
            <a:xfrm rot="440413">
              <a:off x="926876" y="242075"/>
              <a:ext cx="1447801" cy="6858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l">
                <a:defRPr sz="2800">
                  <a:solidFill>
                    <a:srgbClr val="0433FF"/>
                  </a:solidFill>
                  <a:latin typeface="Courier"/>
                  <a:ea typeface="Courier"/>
                  <a:cs typeface="Courier"/>
                  <a:sym typeface="Courier"/>
                </a:defRPr>
              </a:lvl1pPr>
            </a:lstStyle>
            <a:p>
              <a:r>
                <a:t>SEQ 1</a:t>
              </a:r>
            </a:p>
          </p:txBody>
        </p:sp>
      </p:grpSp>
      <p:grpSp>
        <p:nvGrpSpPr>
          <p:cNvPr id="872" name="Group"/>
          <p:cNvGrpSpPr/>
          <p:nvPr/>
        </p:nvGrpSpPr>
        <p:grpSpPr>
          <a:xfrm>
            <a:off x="3429000" y="2349499"/>
            <a:ext cx="2412554" cy="865153"/>
            <a:chOff x="0" y="0"/>
            <a:chExt cx="2412553" cy="865151"/>
          </a:xfrm>
        </p:grpSpPr>
        <p:sp>
          <p:nvSpPr>
            <p:cNvPr id="870" name="Line"/>
            <p:cNvSpPr/>
            <p:nvPr/>
          </p:nvSpPr>
          <p:spPr>
            <a:xfrm flipH="1" flipV="1">
              <a:off x="0" y="416669"/>
              <a:ext cx="2379740" cy="325271"/>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871" name="SEQ 2"/>
            <p:cNvSpPr/>
            <p:nvPr/>
          </p:nvSpPr>
          <p:spPr>
            <a:xfrm rot="440413">
              <a:off x="926876" y="89675"/>
              <a:ext cx="1447801" cy="6858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l">
                <a:defRPr sz="2800">
                  <a:solidFill>
                    <a:srgbClr val="0433FF"/>
                  </a:solidFill>
                  <a:latin typeface="Courier"/>
                  <a:ea typeface="Courier"/>
                  <a:cs typeface="Courier"/>
                  <a:sym typeface="Courier"/>
                </a:defRPr>
              </a:lvl1pPr>
            </a:lstStyle>
            <a:p>
              <a:r>
                <a:t>SEQ 2</a:t>
              </a:r>
            </a:p>
          </p:txBody>
        </p:sp>
      </p:grpSp>
      <p:grpSp>
        <p:nvGrpSpPr>
          <p:cNvPr id="875" name="Group"/>
          <p:cNvGrpSpPr/>
          <p:nvPr/>
        </p:nvGrpSpPr>
        <p:grpSpPr>
          <a:xfrm>
            <a:off x="3378199" y="2933700"/>
            <a:ext cx="6312611" cy="1246297"/>
            <a:chOff x="0" y="152400"/>
            <a:chExt cx="6312610" cy="1246296"/>
          </a:xfrm>
        </p:grpSpPr>
        <p:sp>
          <p:nvSpPr>
            <p:cNvPr id="873" name="Line"/>
            <p:cNvSpPr/>
            <p:nvPr/>
          </p:nvSpPr>
          <p:spPr>
            <a:xfrm flipH="1" flipV="1">
              <a:off x="0" y="581769"/>
              <a:ext cx="6312610" cy="816928"/>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874" name="SEQ 3"/>
            <p:cNvSpPr/>
            <p:nvPr/>
          </p:nvSpPr>
          <p:spPr>
            <a:xfrm rot="440413">
              <a:off x="901476" y="242075"/>
              <a:ext cx="1447801" cy="6858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l">
                <a:defRPr sz="2800">
                  <a:solidFill>
                    <a:srgbClr val="0433FF"/>
                  </a:solidFill>
                  <a:latin typeface="Courier"/>
                  <a:ea typeface="Courier"/>
                  <a:cs typeface="Courier"/>
                  <a:sym typeface="Courier"/>
                </a:defRPr>
              </a:lvl1pPr>
            </a:lstStyle>
            <a:p>
              <a:r>
                <a:t>SEQ 3</a:t>
              </a:r>
            </a:p>
          </p:txBody>
        </p:sp>
      </p:grpSp>
      <p:grpSp>
        <p:nvGrpSpPr>
          <p:cNvPr id="878" name="Group"/>
          <p:cNvGrpSpPr/>
          <p:nvPr/>
        </p:nvGrpSpPr>
        <p:grpSpPr>
          <a:xfrm>
            <a:off x="3492499" y="1242032"/>
            <a:ext cx="6312611" cy="1261565"/>
            <a:chOff x="0" y="137132"/>
            <a:chExt cx="6312610" cy="1261564"/>
          </a:xfrm>
        </p:grpSpPr>
        <p:sp>
          <p:nvSpPr>
            <p:cNvPr id="876" name="SEQ 0"/>
            <p:cNvSpPr/>
            <p:nvPr/>
          </p:nvSpPr>
          <p:spPr>
            <a:xfrm rot="440413">
              <a:off x="978424" y="226808"/>
              <a:ext cx="1447801" cy="6858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l">
                <a:defRPr sz="2800">
                  <a:solidFill>
                    <a:srgbClr val="0433FF"/>
                  </a:solidFill>
                  <a:latin typeface="Courier"/>
                  <a:ea typeface="Courier"/>
                  <a:cs typeface="Courier"/>
                  <a:sym typeface="Courier"/>
                </a:defRPr>
              </a:lvl1pPr>
            </a:lstStyle>
            <a:p>
              <a:r>
                <a:t>SEQ 0</a:t>
              </a:r>
            </a:p>
          </p:txBody>
        </p:sp>
        <p:sp>
          <p:nvSpPr>
            <p:cNvPr id="877" name="Line"/>
            <p:cNvSpPr/>
            <p:nvPr/>
          </p:nvSpPr>
          <p:spPr>
            <a:xfrm flipH="1" flipV="1">
              <a:off x="0" y="581769"/>
              <a:ext cx="6312610" cy="816928"/>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grpSp>
      <p:grpSp>
        <p:nvGrpSpPr>
          <p:cNvPr id="881" name="Group"/>
          <p:cNvGrpSpPr/>
          <p:nvPr/>
        </p:nvGrpSpPr>
        <p:grpSpPr>
          <a:xfrm>
            <a:off x="3370725" y="2592093"/>
            <a:ext cx="6321954" cy="2518715"/>
            <a:chOff x="0" y="512019"/>
            <a:chExt cx="6321952" cy="2518713"/>
          </a:xfrm>
        </p:grpSpPr>
        <p:sp>
          <p:nvSpPr>
            <p:cNvPr id="879" name="ACK 0"/>
            <p:cNvSpPr/>
            <p:nvPr/>
          </p:nvSpPr>
          <p:spPr>
            <a:xfrm rot="20261404">
              <a:off x="999045" y="1831630"/>
              <a:ext cx="1257301" cy="6858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l">
                <a:defRPr sz="2800">
                  <a:solidFill>
                    <a:srgbClr val="0433FF"/>
                  </a:solidFill>
                  <a:latin typeface="Courier"/>
                  <a:ea typeface="Courier"/>
                  <a:cs typeface="Courier"/>
                  <a:sym typeface="Courier"/>
                </a:defRPr>
              </a:lvl1pPr>
            </a:lstStyle>
            <a:p>
              <a:r>
                <a:t>ACK 0</a:t>
              </a:r>
            </a:p>
          </p:txBody>
        </p:sp>
        <p:sp>
          <p:nvSpPr>
            <p:cNvPr id="880" name="Line"/>
            <p:cNvSpPr/>
            <p:nvPr/>
          </p:nvSpPr>
          <p:spPr>
            <a:xfrm flipV="1">
              <a:off x="0" y="512019"/>
              <a:ext cx="6321953" cy="2518714"/>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grpSp>
      <p:grpSp>
        <p:nvGrpSpPr>
          <p:cNvPr id="884" name="Group"/>
          <p:cNvGrpSpPr/>
          <p:nvPr/>
        </p:nvGrpSpPr>
        <p:grpSpPr>
          <a:xfrm>
            <a:off x="3388173" y="3205909"/>
            <a:ext cx="6329001" cy="2533037"/>
            <a:chOff x="0" y="512508"/>
            <a:chExt cx="6328999" cy="2533035"/>
          </a:xfrm>
        </p:grpSpPr>
        <p:sp>
          <p:nvSpPr>
            <p:cNvPr id="882" name="ACK 1"/>
            <p:cNvSpPr/>
            <p:nvPr/>
          </p:nvSpPr>
          <p:spPr>
            <a:xfrm rot="20256627">
              <a:off x="1804546" y="1509667"/>
              <a:ext cx="1257301" cy="6858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l">
                <a:defRPr sz="2800">
                  <a:solidFill>
                    <a:srgbClr val="0433FF"/>
                  </a:solidFill>
                  <a:latin typeface="Courier"/>
                  <a:ea typeface="Courier"/>
                  <a:cs typeface="Courier"/>
                  <a:sym typeface="Courier"/>
                </a:defRPr>
              </a:lvl1pPr>
            </a:lstStyle>
            <a:p>
              <a:r>
                <a:t>ACK 1</a:t>
              </a:r>
            </a:p>
          </p:txBody>
        </p:sp>
        <p:sp>
          <p:nvSpPr>
            <p:cNvPr id="883" name="Line"/>
            <p:cNvSpPr/>
            <p:nvPr/>
          </p:nvSpPr>
          <p:spPr>
            <a:xfrm flipV="1">
              <a:off x="0" y="512508"/>
              <a:ext cx="6329000" cy="2533037"/>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grpSp>
      <p:grpSp>
        <p:nvGrpSpPr>
          <p:cNvPr id="887" name="Group"/>
          <p:cNvGrpSpPr/>
          <p:nvPr/>
        </p:nvGrpSpPr>
        <p:grpSpPr>
          <a:xfrm>
            <a:off x="3302000" y="4322508"/>
            <a:ext cx="6329000" cy="2533037"/>
            <a:chOff x="0" y="512508"/>
            <a:chExt cx="6328999" cy="2533035"/>
          </a:xfrm>
        </p:grpSpPr>
        <p:sp>
          <p:nvSpPr>
            <p:cNvPr id="885" name="ACK 3"/>
            <p:cNvSpPr/>
            <p:nvPr/>
          </p:nvSpPr>
          <p:spPr>
            <a:xfrm rot="20256627">
              <a:off x="3138046" y="976267"/>
              <a:ext cx="1257301" cy="6858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l">
                <a:defRPr sz="2800">
                  <a:solidFill>
                    <a:srgbClr val="0433FF"/>
                  </a:solidFill>
                  <a:latin typeface="Courier"/>
                  <a:ea typeface="Courier"/>
                  <a:cs typeface="Courier"/>
                  <a:sym typeface="Courier"/>
                </a:defRPr>
              </a:lvl1pPr>
            </a:lstStyle>
            <a:p>
              <a:r>
                <a:t>ACK 3</a:t>
              </a:r>
            </a:p>
          </p:txBody>
        </p:sp>
        <p:sp>
          <p:nvSpPr>
            <p:cNvPr id="886" name="Line"/>
            <p:cNvSpPr/>
            <p:nvPr/>
          </p:nvSpPr>
          <p:spPr>
            <a:xfrm flipV="1">
              <a:off x="0" y="512508"/>
              <a:ext cx="6329000" cy="2533037"/>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grpSp>
      <p:grpSp>
        <p:nvGrpSpPr>
          <p:cNvPr id="890" name="Group"/>
          <p:cNvGrpSpPr/>
          <p:nvPr/>
        </p:nvGrpSpPr>
        <p:grpSpPr>
          <a:xfrm>
            <a:off x="3362696" y="5177443"/>
            <a:ext cx="6312611" cy="880283"/>
            <a:chOff x="0" y="581769"/>
            <a:chExt cx="6312610" cy="880282"/>
          </a:xfrm>
        </p:grpSpPr>
        <p:sp>
          <p:nvSpPr>
            <p:cNvPr id="888" name="SEQ 4"/>
            <p:cNvSpPr/>
            <p:nvPr/>
          </p:nvSpPr>
          <p:spPr>
            <a:xfrm rot="440413">
              <a:off x="4432076" y="686575"/>
              <a:ext cx="1447801" cy="6858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l">
                <a:defRPr sz="2800">
                  <a:solidFill>
                    <a:srgbClr val="0433FF"/>
                  </a:solidFill>
                  <a:latin typeface="Courier"/>
                  <a:ea typeface="Courier"/>
                  <a:cs typeface="Courier"/>
                  <a:sym typeface="Courier"/>
                </a:defRPr>
              </a:lvl1pPr>
            </a:lstStyle>
            <a:p>
              <a:r>
                <a:t>SEQ 4</a:t>
              </a:r>
            </a:p>
          </p:txBody>
        </p:sp>
        <p:sp>
          <p:nvSpPr>
            <p:cNvPr id="889" name="Line"/>
            <p:cNvSpPr/>
            <p:nvPr/>
          </p:nvSpPr>
          <p:spPr>
            <a:xfrm flipH="1" flipV="1">
              <a:off x="0" y="581769"/>
              <a:ext cx="6312610" cy="816928"/>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grpSp>
      <p:grpSp>
        <p:nvGrpSpPr>
          <p:cNvPr id="893" name="Group"/>
          <p:cNvGrpSpPr/>
          <p:nvPr/>
        </p:nvGrpSpPr>
        <p:grpSpPr>
          <a:xfrm>
            <a:off x="3388096" y="5812443"/>
            <a:ext cx="6312611" cy="867655"/>
            <a:chOff x="0" y="581769"/>
            <a:chExt cx="6312610" cy="867653"/>
          </a:xfrm>
        </p:grpSpPr>
        <p:sp>
          <p:nvSpPr>
            <p:cNvPr id="891" name="SEQ 5"/>
            <p:cNvSpPr/>
            <p:nvPr/>
          </p:nvSpPr>
          <p:spPr>
            <a:xfrm rot="440413">
              <a:off x="4227504" y="673947"/>
              <a:ext cx="1447801" cy="6858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l">
                <a:defRPr sz="2800">
                  <a:solidFill>
                    <a:srgbClr val="0433FF"/>
                  </a:solidFill>
                  <a:latin typeface="Courier"/>
                  <a:ea typeface="Courier"/>
                  <a:cs typeface="Courier"/>
                  <a:sym typeface="Courier"/>
                </a:defRPr>
              </a:lvl1pPr>
            </a:lstStyle>
            <a:p>
              <a:r>
                <a:t>SEQ 5</a:t>
              </a:r>
            </a:p>
          </p:txBody>
        </p:sp>
        <p:sp>
          <p:nvSpPr>
            <p:cNvPr id="892" name="Line"/>
            <p:cNvSpPr/>
            <p:nvPr/>
          </p:nvSpPr>
          <p:spPr>
            <a:xfrm flipH="1" flipV="1">
              <a:off x="0" y="581769"/>
              <a:ext cx="6312610" cy="816928"/>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grpSp>
      <p:grpSp>
        <p:nvGrpSpPr>
          <p:cNvPr id="896" name="Group"/>
          <p:cNvGrpSpPr/>
          <p:nvPr/>
        </p:nvGrpSpPr>
        <p:grpSpPr>
          <a:xfrm>
            <a:off x="3302000" y="6069444"/>
            <a:ext cx="6329000" cy="2533037"/>
            <a:chOff x="0" y="512508"/>
            <a:chExt cx="6328999" cy="2533035"/>
          </a:xfrm>
        </p:grpSpPr>
        <p:sp>
          <p:nvSpPr>
            <p:cNvPr id="894" name="ACK 4"/>
            <p:cNvSpPr/>
            <p:nvPr/>
          </p:nvSpPr>
          <p:spPr>
            <a:xfrm rot="20256627">
              <a:off x="3138046" y="976267"/>
              <a:ext cx="1257301" cy="6858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l">
                <a:defRPr sz="2800">
                  <a:solidFill>
                    <a:srgbClr val="0433FF"/>
                  </a:solidFill>
                  <a:latin typeface="Courier"/>
                  <a:ea typeface="Courier"/>
                  <a:cs typeface="Courier"/>
                  <a:sym typeface="Courier"/>
                </a:defRPr>
              </a:lvl1pPr>
            </a:lstStyle>
            <a:p>
              <a:r>
                <a:t>ACK 4</a:t>
              </a:r>
            </a:p>
          </p:txBody>
        </p:sp>
        <p:sp>
          <p:nvSpPr>
            <p:cNvPr id="895" name="Line"/>
            <p:cNvSpPr/>
            <p:nvPr/>
          </p:nvSpPr>
          <p:spPr>
            <a:xfrm flipV="1">
              <a:off x="0" y="512508"/>
              <a:ext cx="6329000" cy="2533037"/>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grpSp>
      <p:grpSp>
        <p:nvGrpSpPr>
          <p:cNvPr id="899" name="Group"/>
          <p:cNvGrpSpPr/>
          <p:nvPr/>
        </p:nvGrpSpPr>
        <p:grpSpPr>
          <a:xfrm>
            <a:off x="3337900" y="6706214"/>
            <a:ext cx="6329000" cy="2533037"/>
            <a:chOff x="0" y="512508"/>
            <a:chExt cx="6328999" cy="2533035"/>
          </a:xfrm>
        </p:grpSpPr>
        <p:sp>
          <p:nvSpPr>
            <p:cNvPr id="897" name="ACK 5"/>
            <p:cNvSpPr/>
            <p:nvPr/>
          </p:nvSpPr>
          <p:spPr>
            <a:xfrm rot="20256627">
              <a:off x="3138046" y="976267"/>
              <a:ext cx="1257301" cy="6858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l">
                <a:defRPr sz="2800">
                  <a:solidFill>
                    <a:srgbClr val="0433FF"/>
                  </a:solidFill>
                  <a:latin typeface="Courier"/>
                  <a:ea typeface="Courier"/>
                  <a:cs typeface="Courier"/>
                  <a:sym typeface="Courier"/>
                </a:defRPr>
              </a:lvl1pPr>
            </a:lstStyle>
            <a:p>
              <a:r>
                <a:t>ACK 5</a:t>
              </a:r>
            </a:p>
          </p:txBody>
        </p:sp>
        <p:sp>
          <p:nvSpPr>
            <p:cNvPr id="898" name="Line"/>
            <p:cNvSpPr/>
            <p:nvPr/>
          </p:nvSpPr>
          <p:spPr>
            <a:xfrm flipV="1">
              <a:off x="0" y="512508"/>
              <a:ext cx="6329000" cy="2533037"/>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grpSp>
      <p:sp>
        <p:nvSpPr>
          <p:cNvPr id="900" name="4"/>
          <p:cNvSpPr/>
          <p:nvPr/>
        </p:nvSpPr>
        <p:spPr>
          <a:xfrm>
            <a:off x="1431135" y="4448368"/>
            <a:ext cx="363530" cy="6677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3200">
                <a:solidFill>
                  <a:srgbClr val="942193"/>
                </a:solidFill>
                <a:latin typeface="Chalkboard SE Bold"/>
                <a:ea typeface="Chalkboard SE Bold"/>
                <a:cs typeface="Chalkboard SE Bold"/>
                <a:sym typeface="Chalkboard SE Bold"/>
              </a:defRPr>
            </a:lvl1pPr>
          </a:lstStyle>
          <a:p>
            <a:r>
              <a:t>4</a:t>
            </a:r>
          </a:p>
        </p:txBody>
      </p:sp>
      <p:sp>
        <p:nvSpPr>
          <p:cNvPr id="901" name="5"/>
          <p:cNvSpPr/>
          <p:nvPr/>
        </p:nvSpPr>
        <p:spPr>
          <a:xfrm>
            <a:off x="1451308" y="5118099"/>
            <a:ext cx="363529" cy="66771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3200">
                <a:solidFill>
                  <a:srgbClr val="942193"/>
                </a:solidFill>
                <a:latin typeface="Chalkboard SE Bold"/>
                <a:ea typeface="Chalkboard SE Bold"/>
                <a:cs typeface="Chalkboard SE Bold"/>
                <a:sym typeface="Chalkboard SE Bold"/>
              </a:defRPr>
            </a:lvl1pPr>
          </a:lstStyle>
          <a:p>
            <a:r>
              <a:t>5</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87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2" nodeType="clickEffect">
                                  <p:stCondLst>
                                    <p:cond delay="0"/>
                                  </p:stCondLst>
                                  <p:iterate>
                                    <p:tmAbs val="0"/>
                                  </p:iterate>
                                  <p:childTnLst>
                                    <p:set>
                                      <p:cBhvr>
                                        <p:cTn id="10" fill="hold"/>
                                        <p:tgtEl>
                                          <p:spTgt spid="85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path" presetSubtype="0" accel="50000" decel="50000" fill="hold" nodeType="clickEffect">
                                  <p:stCondLst>
                                    <p:cond delay="0"/>
                                  </p:stCondLst>
                                  <p:childTnLst>
                                    <p:animMotion origin="layout" path="M 0.000000 0.000000 L 0.000000 0.067057" pathEditMode="relative">
                                      <p:cBhvr>
                                        <p:cTn id="14" dur="1000" fill="hold"/>
                                        <p:tgtEl>
                                          <p:spTgt spid="854"/>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4" nodeType="clickEffect">
                                  <p:stCondLst>
                                    <p:cond delay="0"/>
                                  </p:stCondLst>
                                  <p:iterate>
                                    <p:tmAbs val="0"/>
                                  </p:iterate>
                                  <p:childTnLst>
                                    <p:set>
                                      <p:cBhvr>
                                        <p:cTn id="18" fill="hold"/>
                                        <p:tgtEl>
                                          <p:spTgt spid="86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5" nodeType="clickEffect">
                                  <p:stCondLst>
                                    <p:cond delay="0"/>
                                  </p:stCondLst>
                                  <p:iterate>
                                    <p:tmAbs val="0"/>
                                  </p:iterate>
                                  <p:childTnLst>
                                    <p:set>
                                      <p:cBhvr>
                                        <p:cTn id="22" fill="hold"/>
                                        <p:tgtEl>
                                          <p:spTgt spid="85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path" presetSubtype="0" accel="50000" decel="50000" fill="hold" nodeType="clickEffect">
                                  <p:stCondLst>
                                    <p:cond delay="0"/>
                                  </p:stCondLst>
                                  <p:childTnLst>
                                    <p:animMotion origin="layout" path="M 0.000000 0.067057 L 0.000000 0.137370" pathEditMode="relative">
                                      <p:cBhvr>
                                        <p:cTn id="26" dur="1000" fill="hold"/>
                                        <p:tgtEl>
                                          <p:spTgt spid="854"/>
                                        </p:tgtEl>
                                        <p:attrNameLst>
                                          <p:attrName>ppt_x</p:attrName>
                                          <p:attrName>ppt_y</p:attrName>
                                        </p:attrNameLst>
                                      </p:cBhvr>
                                    </p:animMotion>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7" nodeType="clickEffect">
                                  <p:stCondLst>
                                    <p:cond delay="0"/>
                                  </p:stCondLst>
                                  <p:iterate>
                                    <p:tmAbs val="0"/>
                                  </p:iterate>
                                  <p:childTnLst>
                                    <p:set>
                                      <p:cBhvr>
                                        <p:cTn id="30" fill="hold"/>
                                        <p:tgtEl>
                                          <p:spTgt spid="872"/>
                                        </p:tgtEl>
                                        <p:attrNameLst>
                                          <p:attrName>style.visibility</p:attrName>
                                        </p:attrNameLst>
                                      </p:cBhvr>
                                      <p:to>
                                        <p:strVal val="visible"/>
                                      </p:to>
                                    </p:set>
                                  </p:childTnLst>
                                </p:cTn>
                              </p:par>
                            </p:childTnLst>
                          </p:cTn>
                        </p:par>
                        <p:par>
                          <p:cTn id="31" fill="hold">
                            <p:stCondLst>
                              <p:cond delay="0"/>
                            </p:stCondLst>
                            <p:childTnLst>
                              <p:par>
                                <p:cTn id="32" presetID="1" presetClass="entr" presetSubtype="0" fill="hold" grpId="8" nodeType="afterEffect">
                                  <p:stCondLst>
                                    <p:cond delay="0"/>
                                  </p:stCondLst>
                                  <p:iterate>
                                    <p:tmAbs val="0"/>
                                  </p:iterate>
                                  <p:childTnLst>
                                    <p:set>
                                      <p:cBhvr>
                                        <p:cTn id="33" fill="hold"/>
                                        <p:tgtEl>
                                          <p:spTgt spid="833"/>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9" nodeType="clickEffect">
                                  <p:stCondLst>
                                    <p:cond delay="0"/>
                                  </p:stCondLst>
                                  <p:iterate>
                                    <p:tmAbs val="0"/>
                                  </p:iterate>
                                  <p:childTnLst>
                                    <p:set>
                                      <p:cBhvr>
                                        <p:cTn id="37" fill="hold"/>
                                        <p:tgtEl>
                                          <p:spTgt spid="875"/>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10" nodeType="clickEffect">
                                  <p:stCondLst>
                                    <p:cond delay="0"/>
                                  </p:stCondLst>
                                  <p:iterate>
                                    <p:tmAbs val="0"/>
                                  </p:iterate>
                                  <p:childTnLst>
                                    <p:set>
                                      <p:cBhvr>
                                        <p:cTn id="41" fill="hold"/>
                                        <p:tgtEl>
                                          <p:spTgt spid="859"/>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11" nodeType="clickEffect">
                                  <p:stCondLst>
                                    <p:cond delay="0"/>
                                  </p:stCondLst>
                                  <p:iterate>
                                    <p:tmAbs val="0"/>
                                  </p:iterate>
                                  <p:childTnLst>
                                    <p:set>
                                      <p:cBhvr>
                                        <p:cTn id="45" fill="hold"/>
                                        <p:tgtEl>
                                          <p:spTgt spid="881"/>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12" nodeType="clickEffect">
                                  <p:stCondLst>
                                    <p:cond delay="0"/>
                                  </p:stCondLst>
                                  <p:iterate>
                                    <p:tmAbs val="0"/>
                                  </p:iterate>
                                  <p:childTnLst>
                                    <p:set>
                                      <p:cBhvr>
                                        <p:cTn id="49" fill="hold"/>
                                        <p:tgtEl>
                                          <p:spTgt spid="855"/>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path" presetSubtype="0" accel="50000" decel="50000" fill="hold" nodeType="clickEffect">
                                  <p:stCondLst>
                                    <p:cond delay="0"/>
                                  </p:stCondLst>
                                  <p:childTnLst>
                                    <p:animMotion origin="layout" path="M 0.000000 0.000000 L 0.000000 0.061849" pathEditMode="relative">
                                      <p:cBhvr>
                                        <p:cTn id="53" dur="1000" fill="hold"/>
                                        <p:tgtEl>
                                          <p:spTgt spid="844"/>
                                        </p:tgtEl>
                                        <p:attrNameLst>
                                          <p:attrName>ppt_x</p:attrName>
                                          <p:attrName>ppt_y</p:attrName>
                                        </p:attrNameLst>
                                      </p:cBhvr>
                                    </p:animMotion>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14" nodeType="clickEffect">
                                  <p:stCondLst>
                                    <p:cond delay="0"/>
                                  </p:stCondLst>
                                  <p:iterate>
                                    <p:tmAbs val="0"/>
                                  </p:iterate>
                                  <p:childTnLst>
                                    <p:set>
                                      <p:cBhvr>
                                        <p:cTn id="57" fill="hold"/>
                                        <p:tgtEl>
                                          <p:spTgt spid="890"/>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15" nodeType="clickEffect">
                                  <p:stCondLst>
                                    <p:cond delay="0"/>
                                  </p:stCondLst>
                                  <p:iterate>
                                    <p:tmAbs val="0"/>
                                  </p:iterate>
                                  <p:childTnLst>
                                    <p:set>
                                      <p:cBhvr>
                                        <p:cTn id="61" fill="hold"/>
                                        <p:tgtEl>
                                          <p:spTgt spid="860"/>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grpId="16" nodeType="clickEffect">
                                  <p:stCondLst>
                                    <p:cond delay="0"/>
                                  </p:stCondLst>
                                  <p:iterate>
                                    <p:tmAbs val="0"/>
                                  </p:iterate>
                                  <p:childTnLst>
                                    <p:set>
                                      <p:cBhvr>
                                        <p:cTn id="65" fill="hold"/>
                                        <p:tgtEl>
                                          <p:spTgt spid="884"/>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grpId="17" nodeType="clickEffect">
                                  <p:stCondLst>
                                    <p:cond delay="0"/>
                                  </p:stCondLst>
                                  <p:iterate>
                                    <p:tmAbs val="0"/>
                                  </p:iterate>
                                  <p:childTnLst>
                                    <p:set>
                                      <p:cBhvr>
                                        <p:cTn id="69" fill="hold"/>
                                        <p:tgtEl>
                                          <p:spTgt spid="856"/>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1" presetClass="path" presetSubtype="0" accel="50000" decel="50000" fill="hold" nodeType="clickEffect">
                                  <p:stCondLst>
                                    <p:cond delay="0"/>
                                  </p:stCondLst>
                                  <p:childTnLst>
                                    <p:animMotion origin="layout" path="M 0.000000 0.061849 L 0.000000 0.137370" pathEditMode="relative">
                                      <p:cBhvr>
                                        <p:cTn id="73" dur="1000" fill="hold"/>
                                        <p:tgtEl>
                                          <p:spTgt spid="844"/>
                                        </p:tgtEl>
                                        <p:attrNameLst>
                                          <p:attrName>ppt_x</p:attrName>
                                          <p:attrName>ppt_y</p:attrName>
                                        </p:attrNameLst>
                                      </p:cBhvr>
                                    </p:animMotion>
                                  </p:childTnLst>
                                </p:cTn>
                              </p:par>
                            </p:childTnLst>
                          </p:cTn>
                        </p:par>
                      </p:childTnLst>
                    </p:cTn>
                  </p:par>
                  <p:par>
                    <p:cTn id="74" fill="hold">
                      <p:stCondLst>
                        <p:cond delay="indefinite"/>
                      </p:stCondLst>
                      <p:childTnLst>
                        <p:par>
                          <p:cTn id="75" fill="hold">
                            <p:stCondLst>
                              <p:cond delay="0"/>
                            </p:stCondLst>
                            <p:childTnLst>
                              <p:par>
                                <p:cTn id="76" presetID="1" presetClass="entr" presetSubtype="0" fill="hold" grpId="19" nodeType="clickEffect">
                                  <p:stCondLst>
                                    <p:cond delay="0"/>
                                  </p:stCondLst>
                                  <p:iterate>
                                    <p:tmAbs val="0"/>
                                  </p:iterate>
                                  <p:childTnLst>
                                    <p:set>
                                      <p:cBhvr>
                                        <p:cTn id="77" fill="hold"/>
                                        <p:tgtEl>
                                          <p:spTgt spid="893"/>
                                        </p:tgtEl>
                                        <p:attrNameLst>
                                          <p:attrName>style.visibility</p:attrName>
                                        </p:attrNameLst>
                                      </p:cBhvr>
                                      <p:to>
                                        <p:strVal val="visible"/>
                                      </p:to>
                                    </p:set>
                                  </p:childTnLst>
                                </p:cTn>
                              </p:par>
                            </p:childTnLst>
                          </p:cTn>
                        </p:par>
                      </p:childTnLst>
                    </p:cTn>
                  </p:par>
                  <p:par>
                    <p:cTn id="78" fill="hold">
                      <p:stCondLst>
                        <p:cond delay="indefinite"/>
                      </p:stCondLst>
                      <p:childTnLst>
                        <p:par>
                          <p:cTn id="79" fill="hold">
                            <p:stCondLst>
                              <p:cond delay="0"/>
                            </p:stCondLst>
                            <p:childTnLst>
                              <p:par>
                                <p:cTn id="80" presetID="1" presetClass="entr" presetSubtype="0" fill="hold" grpId="20" nodeType="clickEffect">
                                  <p:stCondLst>
                                    <p:cond delay="0"/>
                                  </p:stCondLst>
                                  <p:iterate>
                                    <p:tmAbs val="0"/>
                                  </p:iterate>
                                  <p:childTnLst>
                                    <p:set>
                                      <p:cBhvr>
                                        <p:cTn id="81" fill="hold"/>
                                        <p:tgtEl>
                                          <p:spTgt spid="861"/>
                                        </p:tgtEl>
                                        <p:attrNameLst>
                                          <p:attrName>style.visibility</p:attrName>
                                        </p:attrNameLst>
                                      </p:cBhvr>
                                      <p:to>
                                        <p:strVal val="visible"/>
                                      </p:to>
                                    </p:se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grpId="21" nodeType="clickEffect">
                                  <p:stCondLst>
                                    <p:cond delay="0"/>
                                  </p:stCondLst>
                                  <p:iterate>
                                    <p:tmAbs val="0"/>
                                  </p:iterate>
                                  <p:childTnLst>
                                    <p:set>
                                      <p:cBhvr>
                                        <p:cTn id="85" fill="hold"/>
                                        <p:tgtEl>
                                          <p:spTgt spid="887"/>
                                        </p:tgtEl>
                                        <p:attrNameLst>
                                          <p:attrName>style.visibility</p:attrName>
                                        </p:attrNameLst>
                                      </p:cBhvr>
                                      <p:to>
                                        <p:strVal val="visible"/>
                                      </p:to>
                                    </p:set>
                                  </p:childTnLst>
                                </p:cTn>
                              </p:par>
                            </p:childTnLst>
                          </p:cTn>
                        </p:par>
                      </p:childTnLst>
                    </p:cTn>
                  </p:par>
                  <p:par>
                    <p:cTn id="86" fill="hold">
                      <p:stCondLst>
                        <p:cond delay="indefinite"/>
                      </p:stCondLst>
                      <p:childTnLst>
                        <p:par>
                          <p:cTn id="87" fill="hold">
                            <p:stCondLst>
                              <p:cond delay="0"/>
                            </p:stCondLst>
                            <p:childTnLst>
                              <p:par>
                                <p:cTn id="88" presetID="1" presetClass="entr" presetSubtype="0" fill="hold" grpId="22" nodeType="clickEffect">
                                  <p:stCondLst>
                                    <p:cond delay="0"/>
                                  </p:stCondLst>
                                  <p:iterate>
                                    <p:tmAbs val="0"/>
                                  </p:iterate>
                                  <p:childTnLst>
                                    <p:set>
                                      <p:cBhvr>
                                        <p:cTn id="89" fill="hold"/>
                                        <p:tgtEl>
                                          <p:spTgt spid="862"/>
                                        </p:tgtEl>
                                        <p:attrNameLst>
                                          <p:attrName>style.visibility</p:attrName>
                                        </p:attrNameLst>
                                      </p:cBhvr>
                                      <p:to>
                                        <p:strVal val="visible"/>
                                      </p:to>
                                    </p:se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grpId="23" nodeType="clickEffect">
                                  <p:stCondLst>
                                    <p:cond delay="0"/>
                                  </p:stCondLst>
                                  <p:iterate>
                                    <p:tmAbs val="0"/>
                                  </p:iterate>
                                  <p:childTnLst>
                                    <p:set>
                                      <p:cBhvr>
                                        <p:cTn id="93" fill="hold"/>
                                        <p:tgtEl>
                                          <p:spTgt spid="896"/>
                                        </p:tgtEl>
                                        <p:attrNameLst>
                                          <p:attrName>style.visibility</p:attrName>
                                        </p:attrNameLst>
                                      </p:cBhvr>
                                      <p:to>
                                        <p:strVal val="visible"/>
                                      </p:to>
                                    </p:set>
                                  </p:childTnLst>
                                </p:cTn>
                              </p:par>
                            </p:childTnLst>
                          </p:cTn>
                        </p:par>
                      </p:childTnLst>
                    </p:cTn>
                  </p:par>
                  <p:par>
                    <p:cTn id="94" fill="hold">
                      <p:stCondLst>
                        <p:cond delay="indefinite"/>
                      </p:stCondLst>
                      <p:childTnLst>
                        <p:par>
                          <p:cTn id="95" fill="hold">
                            <p:stCondLst>
                              <p:cond delay="0"/>
                            </p:stCondLst>
                            <p:childTnLst>
                              <p:par>
                                <p:cTn id="96" presetID="1" presetClass="entr" presetSubtype="0" fill="hold" grpId="24" nodeType="clickEffect">
                                  <p:stCondLst>
                                    <p:cond delay="0"/>
                                  </p:stCondLst>
                                  <p:iterate>
                                    <p:tmAbs val="0"/>
                                  </p:iterate>
                                  <p:childTnLst>
                                    <p:set>
                                      <p:cBhvr>
                                        <p:cTn id="97" fill="hold"/>
                                        <p:tgtEl>
                                          <p:spTgt spid="900"/>
                                        </p:tgtEl>
                                        <p:attrNameLst>
                                          <p:attrName>style.visibility</p:attrName>
                                        </p:attrNameLst>
                                      </p:cBhvr>
                                      <p:to>
                                        <p:strVal val="visible"/>
                                      </p:to>
                                    </p:set>
                                  </p:childTnLst>
                                </p:cTn>
                              </p:par>
                            </p:childTnLst>
                          </p:cTn>
                        </p:par>
                      </p:childTnLst>
                    </p:cTn>
                  </p:par>
                  <p:par>
                    <p:cTn id="98" fill="hold">
                      <p:stCondLst>
                        <p:cond delay="indefinite"/>
                      </p:stCondLst>
                      <p:childTnLst>
                        <p:par>
                          <p:cTn id="99" fill="hold">
                            <p:stCondLst>
                              <p:cond delay="0"/>
                            </p:stCondLst>
                            <p:childTnLst>
                              <p:par>
                                <p:cTn id="100" presetID="1" presetClass="entr" presetSubtype="0" fill="hold" grpId="25" nodeType="clickEffect">
                                  <p:stCondLst>
                                    <p:cond delay="0"/>
                                  </p:stCondLst>
                                  <p:iterate>
                                    <p:tmAbs val="0"/>
                                  </p:iterate>
                                  <p:childTnLst>
                                    <p:set>
                                      <p:cBhvr>
                                        <p:cTn id="101" fill="hold"/>
                                        <p:tgtEl>
                                          <p:spTgt spid="899"/>
                                        </p:tgtEl>
                                        <p:attrNameLst>
                                          <p:attrName>style.visibility</p:attrName>
                                        </p:attrNameLst>
                                      </p:cBhvr>
                                      <p:to>
                                        <p:strVal val="visible"/>
                                      </p:to>
                                    </p:set>
                                  </p:childTnLst>
                                </p:cTn>
                              </p:par>
                            </p:childTnLst>
                          </p:cTn>
                        </p:par>
                      </p:childTnLst>
                    </p:cTn>
                  </p:par>
                  <p:par>
                    <p:cTn id="102" fill="hold">
                      <p:stCondLst>
                        <p:cond delay="indefinite"/>
                      </p:stCondLst>
                      <p:childTnLst>
                        <p:par>
                          <p:cTn id="103" fill="hold">
                            <p:stCondLst>
                              <p:cond delay="0"/>
                            </p:stCondLst>
                            <p:childTnLst>
                              <p:par>
                                <p:cTn id="104" presetID="1" presetClass="entr" presetSubtype="0" fill="hold" grpId="26" nodeType="clickEffect">
                                  <p:stCondLst>
                                    <p:cond delay="0"/>
                                  </p:stCondLst>
                                  <p:iterate>
                                    <p:tmAbs val="0"/>
                                  </p:iterate>
                                  <p:childTnLst>
                                    <p:set>
                                      <p:cBhvr>
                                        <p:cTn id="105" fill="hold"/>
                                        <p:tgtEl>
                                          <p:spTgt spid="901"/>
                                        </p:tgtEl>
                                        <p:attrNameLst>
                                          <p:attrName>style.visibility</p:attrName>
                                        </p:attrNameLst>
                                      </p:cBhvr>
                                      <p:to>
                                        <p:strVal val="visible"/>
                                      </p:to>
                                    </p:set>
                                  </p:childTnLst>
                                </p:cTn>
                              </p:par>
                            </p:childTnLst>
                          </p:cTn>
                        </p:par>
                      </p:childTnLst>
                    </p:cTn>
                  </p:par>
                  <p:par>
                    <p:cTn id="106" fill="hold">
                      <p:stCondLst>
                        <p:cond delay="indefinite"/>
                      </p:stCondLst>
                      <p:childTnLst>
                        <p:par>
                          <p:cTn id="107" fill="hold">
                            <p:stCondLst>
                              <p:cond delay="0"/>
                            </p:stCondLst>
                            <p:childTnLst>
                              <p:par>
                                <p:cTn id="108" presetID="1" presetClass="entr" presetSubtype="0" fill="hold" grpId="27" nodeType="clickEffect">
                                  <p:stCondLst>
                                    <p:cond delay="0"/>
                                  </p:stCondLst>
                                  <p:iterate>
                                    <p:tmAbs val="0"/>
                                  </p:iterate>
                                  <p:childTnLst>
                                    <p:set>
                                      <p:cBhvr>
                                        <p:cTn id="109" fill="hold"/>
                                        <p:tgtEl>
                                          <p:spTgt spid="8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3" grpId="8" animBg="1" advAuto="0"/>
      <p:bldP spid="834" grpId="27" animBg="1" advAuto="0"/>
      <p:bldP spid="855" grpId="12" animBg="1" advAuto="0"/>
      <p:bldP spid="856" grpId="17" animBg="1" advAuto="0"/>
      <p:bldP spid="857" grpId="2" animBg="1" advAuto="0"/>
      <p:bldP spid="858" grpId="5" animBg="1" advAuto="0"/>
      <p:bldP spid="859" grpId="10" animBg="1" advAuto="0"/>
      <p:bldP spid="860" grpId="15" animBg="1" advAuto="0"/>
      <p:bldP spid="861" grpId="20" animBg="1" advAuto="0"/>
      <p:bldP spid="862" grpId="22" animBg="1" advAuto="0"/>
      <p:bldP spid="869" grpId="4" animBg="1" advAuto="0"/>
      <p:bldP spid="872" grpId="7" animBg="1" advAuto="0"/>
      <p:bldP spid="875" grpId="9" animBg="1" advAuto="0"/>
      <p:bldP spid="878" grpId="1" animBg="1" advAuto="0"/>
      <p:bldP spid="881" grpId="11" animBg="1" advAuto="0"/>
      <p:bldP spid="884" grpId="16" animBg="1" advAuto="0"/>
      <p:bldP spid="887" grpId="21" animBg="1" advAuto="0"/>
      <p:bldP spid="890" grpId="14" animBg="1" advAuto="0"/>
      <p:bldP spid="893" grpId="19" animBg="1" advAuto="0"/>
      <p:bldP spid="896" grpId="23" animBg="1" advAuto="0"/>
      <p:bldP spid="899" grpId="25" animBg="1" advAuto="0"/>
      <p:bldP spid="900" grpId="24" animBg="1" advAuto="0"/>
      <p:bldP spid="901" grpId="26" animBg="1" advAuto="0"/>
    </p:bldLst>
  </p:timing>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05" name="Rectangle"/>
          <p:cNvSpPr/>
          <p:nvPr/>
        </p:nvSpPr>
        <p:spPr>
          <a:xfrm>
            <a:off x="9831978" y="-187354"/>
            <a:ext cx="3754843" cy="10128308"/>
          </a:xfrm>
          <a:prstGeom prst="rect">
            <a:avLst/>
          </a:prstGeom>
          <a:solidFill>
            <a:srgbClr val="FFD479"/>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906" name="Rectangle"/>
          <p:cNvSpPr/>
          <p:nvPr/>
        </p:nvSpPr>
        <p:spPr>
          <a:xfrm>
            <a:off x="-609280" y="-187354"/>
            <a:ext cx="3754843" cy="10128308"/>
          </a:xfrm>
          <a:prstGeom prst="rect">
            <a:avLst/>
          </a:prstGeom>
          <a:solidFill>
            <a:srgbClr val="FFD479"/>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907"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50</a:t>
            </a:fld>
            <a:endParaRPr/>
          </a:p>
        </p:txBody>
      </p:sp>
      <p:grpSp>
        <p:nvGrpSpPr>
          <p:cNvPr id="916" name="Group"/>
          <p:cNvGrpSpPr/>
          <p:nvPr/>
        </p:nvGrpSpPr>
        <p:grpSpPr>
          <a:xfrm>
            <a:off x="1308100" y="1676400"/>
            <a:ext cx="482600" cy="5486400"/>
            <a:chOff x="0" y="0"/>
            <a:chExt cx="482600" cy="5486400"/>
          </a:xfrm>
        </p:grpSpPr>
        <p:sp>
          <p:nvSpPr>
            <p:cNvPr id="908" name="0"/>
            <p:cNvSpPr/>
            <p:nvPr/>
          </p:nvSpPr>
          <p:spPr>
            <a:xfrm>
              <a:off x="0" y="0"/>
              <a:ext cx="469900" cy="685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r">
                <a:defRPr sz="3200">
                  <a:solidFill>
                    <a:srgbClr val="424242"/>
                  </a:solidFill>
                  <a:latin typeface="+mn-lt"/>
                  <a:ea typeface="+mn-ea"/>
                  <a:cs typeface="+mn-cs"/>
                  <a:sym typeface="Chalkboard SE Regular"/>
                </a:defRPr>
              </a:lvl1pPr>
            </a:lstStyle>
            <a:p>
              <a:r>
                <a:t>0</a:t>
              </a:r>
            </a:p>
          </p:txBody>
        </p:sp>
        <p:sp>
          <p:nvSpPr>
            <p:cNvPr id="909" name="1"/>
            <p:cNvSpPr/>
            <p:nvPr/>
          </p:nvSpPr>
          <p:spPr>
            <a:xfrm>
              <a:off x="0" y="685800"/>
              <a:ext cx="469900" cy="685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r">
                <a:defRPr sz="3200">
                  <a:solidFill>
                    <a:srgbClr val="424242"/>
                  </a:solidFill>
                  <a:latin typeface="+mn-lt"/>
                  <a:ea typeface="+mn-ea"/>
                  <a:cs typeface="+mn-cs"/>
                  <a:sym typeface="Chalkboard SE Regular"/>
                </a:defRPr>
              </a:lvl1pPr>
            </a:lstStyle>
            <a:p>
              <a:r>
                <a:t>1</a:t>
              </a:r>
            </a:p>
          </p:txBody>
        </p:sp>
        <p:sp>
          <p:nvSpPr>
            <p:cNvPr id="910" name="2"/>
            <p:cNvSpPr/>
            <p:nvPr/>
          </p:nvSpPr>
          <p:spPr>
            <a:xfrm>
              <a:off x="0" y="1371600"/>
              <a:ext cx="469900" cy="685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r">
                <a:defRPr sz="3200">
                  <a:solidFill>
                    <a:srgbClr val="424242"/>
                  </a:solidFill>
                  <a:latin typeface="+mn-lt"/>
                  <a:ea typeface="+mn-ea"/>
                  <a:cs typeface="+mn-cs"/>
                  <a:sym typeface="Chalkboard SE Regular"/>
                </a:defRPr>
              </a:lvl1pPr>
            </a:lstStyle>
            <a:p>
              <a:r>
                <a:t>2</a:t>
              </a:r>
            </a:p>
          </p:txBody>
        </p:sp>
        <p:sp>
          <p:nvSpPr>
            <p:cNvPr id="911" name="3"/>
            <p:cNvSpPr/>
            <p:nvPr/>
          </p:nvSpPr>
          <p:spPr>
            <a:xfrm>
              <a:off x="0" y="2057400"/>
              <a:ext cx="469900" cy="685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r">
                <a:defRPr sz="3200">
                  <a:solidFill>
                    <a:srgbClr val="424242"/>
                  </a:solidFill>
                  <a:latin typeface="+mn-lt"/>
                  <a:ea typeface="+mn-ea"/>
                  <a:cs typeface="+mn-cs"/>
                  <a:sym typeface="Chalkboard SE Regular"/>
                </a:defRPr>
              </a:lvl1pPr>
            </a:lstStyle>
            <a:p>
              <a:r>
                <a:t>3</a:t>
              </a:r>
            </a:p>
          </p:txBody>
        </p:sp>
        <p:sp>
          <p:nvSpPr>
            <p:cNvPr id="912" name="4"/>
            <p:cNvSpPr/>
            <p:nvPr/>
          </p:nvSpPr>
          <p:spPr>
            <a:xfrm>
              <a:off x="12700" y="2743200"/>
              <a:ext cx="469900" cy="685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r">
                <a:defRPr sz="3200">
                  <a:solidFill>
                    <a:srgbClr val="424242"/>
                  </a:solidFill>
                  <a:latin typeface="+mn-lt"/>
                  <a:ea typeface="+mn-ea"/>
                  <a:cs typeface="+mn-cs"/>
                  <a:sym typeface="Chalkboard SE Regular"/>
                </a:defRPr>
              </a:lvl1pPr>
            </a:lstStyle>
            <a:p>
              <a:r>
                <a:t>4</a:t>
              </a:r>
            </a:p>
          </p:txBody>
        </p:sp>
        <p:sp>
          <p:nvSpPr>
            <p:cNvPr id="913" name="5"/>
            <p:cNvSpPr/>
            <p:nvPr/>
          </p:nvSpPr>
          <p:spPr>
            <a:xfrm>
              <a:off x="12700" y="3429000"/>
              <a:ext cx="469900" cy="685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r">
                <a:defRPr sz="3200">
                  <a:solidFill>
                    <a:srgbClr val="424242"/>
                  </a:solidFill>
                  <a:latin typeface="+mn-lt"/>
                  <a:ea typeface="+mn-ea"/>
                  <a:cs typeface="+mn-cs"/>
                  <a:sym typeface="Chalkboard SE Regular"/>
                </a:defRPr>
              </a:lvl1pPr>
            </a:lstStyle>
            <a:p>
              <a:r>
                <a:t>5</a:t>
              </a:r>
            </a:p>
          </p:txBody>
        </p:sp>
        <p:sp>
          <p:nvSpPr>
            <p:cNvPr id="914" name="6"/>
            <p:cNvSpPr/>
            <p:nvPr/>
          </p:nvSpPr>
          <p:spPr>
            <a:xfrm>
              <a:off x="12700" y="4114800"/>
              <a:ext cx="469900" cy="685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r">
                <a:defRPr sz="3200">
                  <a:solidFill>
                    <a:srgbClr val="424242"/>
                  </a:solidFill>
                  <a:latin typeface="+mn-lt"/>
                  <a:ea typeface="+mn-ea"/>
                  <a:cs typeface="+mn-cs"/>
                  <a:sym typeface="Chalkboard SE Regular"/>
                </a:defRPr>
              </a:lvl1pPr>
            </a:lstStyle>
            <a:p>
              <a:r>
                <a:t>6</a:t>
              </a:r>
            </a:p>
          </p:txBody>
        </p:sp>
        <p:sp>
          <p:nvSpPr>
            <p:cNvPr id="915" name="7"/>
            <p:cNvSpPr/>
            <p:nvPr/>
          </p:nvSpPr>
          <p:spPr>
            <a:xfrm>
              <a:off x="12700" y="4800600"/>
              <a:ext cx="469900" cy="685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r">
                <a:defRPr sz="3200">
                  <a:solidFill>
                    <a:srgbClr val="424242"/>
                  </a:solidFill>
                  <a:latin typeface="+mn-lt"/>
                  <a:ea typeface="+mn-ea"/>
                  <a:cs typeface="+mn-cs"/>
                  <a:sym typeface="Chalkboard SE Regular"/>
                </a:defRPr>
              </a:lvl1pPr>
            </a:lstStyle>
            <a:p>
              <a:r>
                <a:t>7</a:t>
              </a:r>
            </a:p>
          </p:txBody>
        </p:sp>
      </p:grpSp>
      <p:sp>
        <p:nvSpPr>
          <p:cNvPr id="917" name="Rounded Rectangle"/>
          <p:cNvSpPr/>
          <p:nvPr/>
        </p:nvSpPr>
        <p:spPr>
          <a:xfrm>
            <a:off x="1252339" y="3098463"/>
            <a:ext cx="736601" cy="2628901"/>
          </a:xfrm>
          <a:prstGeom prst="roundRect">
            <a:avLst>
              <a:gd name="adj" fmla="val 25862"/>
            </a:avLst>
          </a:prstGeom>
          <a:ln w="50800">
            <a:solidFill>
              <a:srgbClr val="942193"/>
            </a:solidFill>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grpSp>
        <p:nvGrpSpPr>
          <p:cNvPr id="926" name="Group"/>
          <p:cNvGrpSpPr/>
          <p:nvPr/>
        </p:nvGrpSpPr>
        <p:grpSpPr>
          <a:xfrm>
            <a:off x="10972800" y="1727200"/>
            <a:ext cx="482600" cy="5486400"/>
            <a:chOff x="0" y="0"/>
            <a:chExt cx="482600" cy="5486400"/>
          </a:xfrm>
        </p:grpSpPr>
        <p:sp>
          <p:nvSpPr>
            <p:cNvPr id="918" name="0"/>
            <p:cNvSpPr/>
            <p:nvPr/>
          </p:nvSpPr>
          <p:spPr>
            <a:xfrm>
              <a:off x="0" y="0"/>
              <a:ext cx="469900" cy="685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r">
                <a:defRPr sz="3200">
                  <a:solidFill>
                    <a:srgbClr val="424242"/>
                  </a:solidFill>
                  <a:latin typeface="+mn-lt"/>
                  <a:ea typeface="+mn-ea"/>
                  <a:cs typeface="+mn-cs"/>
                  <a:sym typeface="Chalkboard SE Regular"/>
                </a:defRPr>
              </a:lvl1pPr>
            </a:lstStyle>
            <a:p>
              <a:r>
                <a:t>0</a:t>
              </a:r>
            </a:p>
          </p:txBody>
        </p:sp>
        <p:sp>
          <p:nvSpPr>
            <p:cNvPr id="919" name="1"/>
            <p:cNvSpPr/>
            <p:nvPr/>
          </p:nvSpPr>
          <p:spPr>
            <a:xfrm>
              <a:off x="0" y="685800"/>
              <a:ext cx="469900" cy="685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r">
                <a:defRPr sz="3200">
                  <a:solidFill>
                    <a:srgbClr val="424242"/>
                  </a:solidFill>
                  <a:latin typeface="+mn-lt"/>
                  <a:ea typeface="+mn-ea"/>
                  <a:cs typeface="+mn-cs"/>
                  <a:sym typeface="Chalkboard SE Regular"/>
                </a:defRPr>
              </a:lvl1pPr>
            </a:lstStyle>
            <a:p>
              <a:r>
                <a:t>1</a:t>
              </a:r>
            </a:p>
          </p:txBody>
        </p:sp>
        <p:sp>
          <p:nvSpPr>
            <p:cNvPr id="920" name="2"/>
            <p:cNvSpPr/>
            <p:nvPr/>
          </p:nvSpPr>
          <p:spPr>
            <a:xfrm>
              <a:off x="0" y="1371600"/>
              <a:ext cx="469900" cy="685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r">
                <a:defRPr sz="3200">
                  <a:solidFill>
                    <a:srgbClr val="424242"/>
                  </a:solidFill>
                  <a:latin typeface="+mn-lt"/>
                  <a:ea typeface="+mn-ea"/>
                  <a:cs typeface="+mn-cs"/>
                  <a:sym typeface="Chalkboard SE Regular"/>
                </a:defRPr>
              </a:lvl1pPr>
            </a:lstStyle>
            <a:p>
              <a:r>
                <a:t>2</a:t>
              </a:r>
            </a:p>
          </p:txBody>
        </p:sp>
        <p:sp>
          <p:nvSpPr>
            <p:cNvPr id="921" name="3"/>
            <p:cNvSpPr/>
            <p:nvPr/>
          </p:nvSpPr>
          <p:spPr>
            <a:xfrm>
              <a:off x="0" y="2057400"/>
              <a:ext cx="469900" cy="685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r">
                <a:defRPr sz="3200">
                  <a:solidFill>
                    <a:srgbClr val="424242"/>
                  </a:solidFill>
                  <a:latin typeface="+mn-lt"/>
                  <a:ea typeface="+mn-ea"/>
                  <a:cs typeface="+mn-cs"/>
                  <a:sym typeface="Chalkboard SE Regular"/>
                </a:defRPr>
              </a:lvl1pPr>
            </a:lstStyle>
            <a:p>
              <a:r>
                <a:t>3</a:t>
              </a:r>
            </a:p>
          </p:txBody>
        </p:sp>
        <p:sp>
          <p:nvSpPr>
            <p:cNvPr id="922" name="4"/>
            <p:cNvSpPr/>
            <p:nvPr/>
          </p:nvSpPr>
          <p:spPr>
            <a:xfrm>
              <a:off x="12700" y="2743200"/>
              <a:ext cx="469900" cy="685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r">
                <a:defRPr sz="3200">
                  <a:solidFill>
                    <a:srgbClr val="424242"/>
                  </a:solidFill>
                  <a:latin typeface="+mn-lt"/>
                  <a:ea typeface="+mn-ea"/>
                  <a:cs typeface="+mn-cs"/>
                  <a:sym typeface="Chalkboard SE Regular"/>
                </a:defRPr>
              </a:lvl1pPr>
            </a:lstStyle>
            <a:p>
              <a:r>
                <a:t>4</a:t>
              </a:r>
            </a:p>
          </p:txBody>
        </p:sp>
        <p:sp>
          <p:nvSpPr>
            <p:cNvPr id="923" name="5"/>
            <p:cNvSpPr/>
            <p:nvPr/>
          </p:nvSpPr>
          <p:spPr>
            <a:xfrm>
              <a:off x="12700" y="3429000"/>
              <a:ext cx="469900" cy="685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r">
                <a:defRPr sz="3200">
                  <a:solidFill>
                    <a:srgbClr val="424242"/>
                  </a:solidFill>
                  <a:latin typeface="+mn-lt"/>
                  <a:ea typeface="+mn-ea"/>
                  <a:cs typeface="+mn-cs"/>
                  <a:sym typeface="Chalkboard SE Regular"/>
                </a:defRPr>
              </a:lvl1pPr>
            </a:lstStyle>
            <a:p>
              <a:r>
                <a:t>5</a:t>
              </a:r>
            </a:p>
          </p:txBody>
        </p:sp>
        <p:sp>
          <p:nvSpPr>
            <p:cNvPr id="924" name="6"/>
            <p:cNvSpPr/>
            <p:nvPr/>
          </p:nvSpPr>
          <p:spPr>
            <a:xfrm>
              <a:off x="12700" y="4114800"/>
              <a:ext cx="469900" cy="685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r">
                <a:defRPr sz="3200">
                  <a:solidFill>
                    <a:srgbClr val="424242"/>
                  </a:solidFill>
                  <a:latin typeface="+mn-lt"/>
                  <a:ea typeface="+mn-ea"/>
                  <a:cs typeface="+mn-cs"/>
                  <a:sym typeface="Chalkboard SE Regular"/>
                </a:defRPr>
              </a:lvl1pPr>
            </a:lstStyle>
            <a:p>
              <a:r>
                <a:t>6</a:t>
              </a:r>
            </a:p>
          </p:txBody>
        </p:sp>
        <p:sp>
          <p:nvSpPr>
            <p:cNvPr id="925" name="7"/>
            <p:cNvSpPr/>
            <p:nvPr/>
          </p:nvSpPr>
          <p:spPr>
            <a:xfrm>
              <a:off x="12700" y="4800600"/>
              <a:ext cx="469900" cy="685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r">
                <a:defRPr sz="3200">
                  <a:solidFill>
                    <a:srgbClr val="424242"/>
                  </a:solidFill>
                  <a:latin typeface="+mn-lt"/>
                  <a:ea typeface="+mn-ea"/>
                  <a:cs typeface="+mn-cs"/>
                  <a:sym typeface="Chalkboard SE Regular"/>
                </a:defRPr>
              </a:lvl1pPr>
            </a:lstStyle>
            <a:p>
              <a:r>
                <a:t>7</a:t>
              </a:r>
            </a:p>
          </p:txBody>
        </p:sp>
      </p:grpSp>
      <p:sp>
        <p:nvSpPr>
          <p:cNvPr id="927" name="Rounded Rectangle"/>
          <p:cNvSpPr/>
          <p:nvPr/>
        </p:nvSpPr>
        <p:spPr>
          <a:xfrm>
            <a:off x="10944060" y="3111500"/>
            <a:ext cx="736601" cy="2717800"/>
          </a:xfrm>
          <a:prstGeom prst="roundRect">
            <a:avLst>
              <a:gd name="adj" fmla="val 25862"/>
            </a:avLst>
          </a:prstGeom>
          <a:ln w="50800">
            <a:solidFill>
              <a:srgbClr val="942193"/>
            </a:solidFill>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928" name="0"/>
          <p:cNvSpPr/>
          <p:nvPr/>
        </p:nvSpPr>
        <p:spPr>
          <a:xfrm>
            <a:off x="1451308" y="1691794"/>
            <a:ext cx="363529" cy="6677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3200">
                <a:solidFill>
                  <a:srgbClr val="942193"/>
                </a:solidFill>
                <a:latin typeface="Chalkboard SE Bold"/>
                <a:ea typeface="Chalkboard SE Bold"/>
                <a:cs typeface="Chalkboard SE Bold"/>
                <a:sym typeface="Chalkboard SE Bold"/>
              </a:defRPr>
            </a:lvl1pPr>
          </a:lstStyle>
          <a:p>
            <a:r>
              <a:t>0</a:t>
            </a:r>
          </a:p>
        </p:txBody>
      </p:sp>
      <p:sp>
        <p:nvSpPr>
          <p:cNvPr id="929" name="1"/>
          <p:cNvSpPr/>
          <p:nvPr/>
        </p:nvSpPr>
        <p:spPr>
          <a:xfrm>
            <a:off x="1438874" y="2377594"/>
            <a:ext cx="363530" cy="6677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3200">
                <a:solidFill>
                  <a:srgbClr val="942193"/>
                </a:solidFill>
                <a:latin typeface="Chalkboard SE Bold"/>
                <a:ea typeface="Chalkboard SE Bold"/>
                <a:cs typeface="Chalkboard SE Bold"/>
                <a:sym typeface="Chalkboard SE Bold"/>
              </a:defRPr>
            </a:lvl1pPr>
          </a:lstStyle>
          <a:p>
            <a:r>
              <a:t>1</a:t>
            </a:r>
          </a:p>
        </p:txBody>
      </p:sp>
      <p:sp>
        <p:nvSpPr>
          <p:cNvPr id="930" name="0"/>
          <p:cNvSpPr/>
          <p:nvPr/>
        </p:nvSpPr>
        <p:spPr>
          <a:xfrm>
            <a:off x="11116274" y="1742594"/>
            <a:ext cx="363530" cy="6677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3200">
                <a:solidFill>
                  <a:srgbClr val="942193"/>
                </a:solidFill>
                <a:latin typeface="Chalkboard SE Bold"/>
                <a:ea typeface="Chalkboard SE Bold"/>
                <a:cs typeface="Chalkboard SE Bold"/>
                <a:sym typeface="Chalkboard SE Bold"/>
              </a:defRPr>
            </a:lvl1pPr>
          </a:lstStyle>
          <a:p>
            <a:r>
              <a:t>0</a:t>
            </a:r>
          </a:p>
        </p:txBody>
      </p:sp>
      <p:sp>
        <p:nvSpPr>
          <p:cNvPr id="931" name="1"/>
          <p:cNvSpPr/>
          <p:nvPr/>
        </p:nvSpPr>
        <p:spPr>
          <a:xfrm>
            <a:off x="11103574" y="2428394"/>
            <a:ext cx="363530" cy="6677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3200">
                <a:solidFill>
                  <a:srgbClr val="942193"/>
                </a:solidFill>
                <a:latin typeface="Chalkboard SE Bold"/>
                <a:ea typeface="Chalkboard SE Bold"/>
                <a:cs typeface="Chalkboard SE Bold"/>
                <a:sym typeface="Chalkboard SE Bold"/>
              </a:defRPr>
            </a:lvl1pPr>
          </a:lstStyle>
          <a:p>
            <a:r>
              <a:t>1</a:t>
            </a:r>
          </a:p>
        </p:txBody>
      </p:sp>
      <p:sp>
        <p:nvSpPr>
          <p:cNvPr id="932" name="3"/>
          <p:cNvSpPr/>
          <p:nvPr/>
        </p:nvSpPr>
        <p:spPr>
          <a:xfrm>
            <a:off x="11116274" y="3799994"/>
            <a:ext cx="363530" cy="6677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3200">
                <a:solidFill>
                  <a:srgbClr val="942193"/>
                </a:solidFill>
                <a:latin typeface="Chalkboard SE Bold"/>
                <a:ea typeface="Chalkboard SE Bold"/>
                <a:cs typeface="Chalkboard SE Bold"/>
                <a:sym typeface="Chalkboard SE Bold"/>
              </a:defRPr>
            </a:lvl1pPr>
          </a:lstStyle>
          <a:p>
            <a:r>
              <a:t>3</a:t>
            </a:r>
          </a:p>
        </p:txBody>
      </p:sp>
      <p:sp>
        <p:nvSpPr>
          <p:cNvPr id="933" name="4"/>
          <p:cNvSpPr/>
          <p:nvPr/>
        </p:nvSpPr>
        <p:spPr>
          <a:xfrm>
            <a:off x="11128974" y="4485794"/>
            <a:ext cx="363530" cy="6677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3200">
                <a:solidFill>
                  <a:srgbClr val="942193"/>
                </a:solidFill>
                <a:latin typeface="Chalkboard SE Bold"/>
                <a:ea typeface="Chalkboard SE Bold"/>
                <a:cs typeface="Chalkboard SE Bold"/>
                <a:sym typeface="Chalkboard SE Bold"/>
              </a:defRPr>
            </a:lvl1pPr>
          </a:lstStyle>
          <a:p>
            <a:r>
              <a:t>4</a:t>
            </a:r>
          </a:p>
        </p:txBody>
      </p:sp>
      <p:sp>
        <p:nvSpPr>
          <p:cNvPr id="934" name="5"/>
          <p:cNvSpPr/>
          <p:nvPr/>
        </p:nvSpPr>
        <p:spPr>
          <a:xfrm>
            <a:off x="11128974" y="5171594"/>
            <a:ext cx="363530" cy="6677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3200">
                <a:solidFill>
                  <a:srgbClr val="942193"/>
                </a:solidFill>
                <a:latin typeface="Chalkboard SE Bold"/>
                <a:ea typeface="Chalkboard SE Bold"/>
                <a:cs typeface="Chalkboard SE Bold"/>
                <a:sym typeface="Chalkboard SE Bold"/>
              </a:defRPr>
            </a:lvl1pPr>
          </a:lstStyle>
          <a:p>
            <a:r>
              <a:t>5</a:t>
            </a:r>
          </a:p>
        </p:txBody>
      </p:sp>
      <p:sp>
        <p:nvSpPr>
          <p:cNvPr id="935" name="3"/>
          <p:cNvSpPr/>
          <p:nvPr/>
        </p:nvSpPr>
        <p:spPr>
          <a:xfrm>
            <a:off x="1438874" y="3749194"/>
            <a:ext cx="363530" cy="6677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3200">
                <a:solidFill>
                  <a:srgbClr val="942193"/>
                </a:solidFill>
                <a:latin typeface="Chalkboard SE Bold"/>
                <a:ea typeface="Chalkboard SE Bold"/>
                <a:cs typeface="Chalkboard SE Bold"/>
                <a:sym typeface="Chalkboard SE Bold"/>
              </a:defRPr>
            </a:lvl1pPr>
          </a:lstStyle>
          <a:p>
            <a:r>
              <a:t>3</a:t>
            </a:r>
          </a:p>
        </p:txBody>
      </p:sp>
      <p:sp>
        <p:nvSpPr>
          <p:cNvPr id="936" name="2"/>
          <p:cNvSpPr/>
          <p:nvPr/>
        </p:nvSpPr>
        <p:spPr>
          <a:xfrm>
            <a:off x="11116274" y="3114194"/>
            <a:ext cx="363530" cy="6677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3200">
                <a:solidFill>
                  <a:srgbClr val="942193"/>
                </a:solidFill>
                <a:latin typeface="Chalkboard SE Bold"/>
                <a:ea typeface="Chalkboard SE Bold"/>
                <a:cs typeface="Chalkboard SE Bold"/>
                <a:sym typeface="Chalkboard SE Bold"/>
              </a:defRPr>
            </a:lvl1pPr>
          </a:lstStyle>
          <a:p>
            <a:r>
              <a:t>2</a:t>
            </a:r>
          </a:p>
        </p:txBody>
      </p:sp>
      <p:sp>
        <p:nvSpPr>
          <p:cNvPr id="937" name="Alice’s computer"/>
          <p:cNvSpPr/>
          <p:nvPr/>
        </p:nvSpPr>
        <p:spPr>
          <a:xfrm>
            <a:off x="-308527" y="155768"/>
            <a:ext cx="4419601" cy="81876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lvl1pPr>
              <a:defRPr sz="4000">
                <a:solidFill>
                  <a:srgbClr val="0096FF"/>
                </a:solidFill>
                <a:latin typeface="+mn-lt"/>
                <a:ea typeface="+mn-ea"/>
                <a:cs typeface="+mn-cs"/>
                <a:sym typeface="Chalkboard SE Regular"/>
              </a:defRPr>
            </a:lvl1pPr>
          </a:lstStyle>
          <a:p>
            <a:r>
              <a:t>Alice’s computer</a:t>
            </a:r>
          </a:p>
        </p:txBody>
      </p:sp>
      <p:sp>
        <p:nvSpPr>
          <p:cNvPr id="938" name="Bob’s computer"/>
          <p:cNvSpPr/>
          <p:nvPr/>
        </p:nvSpPr>
        <p:spPr>
          <a:xfrm>
            <a:off x="8788400" y="155768"/>
            <a:ext cx="4419600" cy="81876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lvl1pPr>
              <a:defRPr sz="4000">
                <a:solidFill>
                  <a:srgbClr val="0096FF"/>
                </a:solidFill>
                <a:latin typeface="+mn-lt"/>
                <a:ea typeface="+mn-ea"/>
                <a:cs typeface="+mn-cs"/>
                <a:sym typeface="Chalkboard SE Regular"/>
              </a:defRPr>
            </a:lvl1pPr>
          </a:lstStyle>
          <a:p>
            <a:r>
              <a:t>Bob’s computer</a:t>
            </a:r>
          </a:p>
        </p:txBody>
      </p:sp>
      <p:sp>
        <p:nvSpPr>
          <p:cNvPr id="939" name="Rounded Rectangle"/>
          <p:cNvSpPr/>
          <p:nvPr/>
        </p:nvSpPr>
        <p:spPr>
          <a:xfrm>
            <a:off x="-241300" y="1054100"/>
            <a:ext cx="4013200" cy="8394700"/>
          </a:xfrm>
          <a:prstGeom prst="roundRect">
            <a:avLst>
              <a:gd name="adj" fmla="val 4747"/>
            </a:avLst>
          </a:prstGeom>
          <a:ln w="25400">
            <a:solidFill>
              <a:srgbClr val="0096FF"/>
            </a:solidFill>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940" name="Rounded Rectangle"/>
          <p:cNvSpPr/>
          <p:nvPr/>
        </p:nvSpPr>
        <p:spPr>
          <a:xfrm>
            <a:off x="9194800" y="1028700"/>
            <a:ext cx="5029200" cy="8394700"/>
          </a:xfrm>
          <a:prstGeom prst="roundRect">
            <a:avLst>
              <a:gd name="adj" fmla="val 3788"/>
            </a:avLst>
          </a:prstGeom>
          <a:ln w="25400">
            <a:solidFill>
              <a:srgbClr val="0096FF"/>
            </a:solidFill>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grpSp>
        <p:nvGrpSpPr>
          <p:cNvPr id="943" name="Group"/>
          <p:cNvGrpSpPr/>
          <p:nvPr/>
        </p:nvGrpSpPr>
        <p:grpSpPr>
          <a:xfrm>
            <a:off x="3469889" y="1593207"/>
            <a:ext cx="6312611" cy="1261565"/>
            <a:chOff x="0" y="137132"/>
            <a:chExt cx="6312610" cy="1261564"/>
          </a:xfrm>
        </p:grpSpPr>
        <p:sp>
          <p:nvSpPr>
            <p:cNvPr id="941" name="SEQ 2"/>
            <p:cNvSpPr/>
            <p:nvPr/>
          </p:nvSpPr>
          <p:spPr>
            <a:xfrm rot="440413">
              <a:off x="978424" y="226808"/>
              <a:ext cx="1447801" cy="6858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l">
                <a:defRPr sz="2800">
                  <a:solidFill>
                    <a:srgbClr val="0433FF"/>
                  </a:solidFill>
                  <a:latin typeface="Courier"/>
                  <a:ea typeface="Courier"/>
                  <a:cs typeface="Courier"/>
                  <a:sym typeface="Courier"/>
                </a:defRPr>
              </a:lvl1pPr>
            </a:lstStyle>
            <a:p>
              <a:r>
                <a:t>SEQ 2</a:t>
              </a:r>
            </a:p>
          </p:txBody>
        </p:sp>
        <p:sp>
          <p:nvSpPr>
            <p:cNvPr id="942" name="Line"/>
            <p:cNvSpPr/>
            <p:nvPr/>
          </p:nvSpPr>
          <p:spPr>
            <a:xfrm flipH="1" flipV="1">
              <a:off x="0" y="581769"/>
              <a:ext cx="6312610" cy="816928"/>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grpSp>
      <p:grpSp>
        <p:nvGrpSpPr>
          <p:cNvPr id="946" name="Group"/>
          <p:cNvGrpSpPr/>
          <p:nvPr/>
        </p:nvGrpSpPr>
        <p:grpSpPr>
          <a:xfrm>
            <a:off x="3348114" y="2943268"/>
            <a:ext cx="6321954" cy="2518715"/>
            <a:chOff x="0" y="512019"/>
            <a:chExt cx="6321952" cy="2518713"/>
          </a:xfrm>
        </p:grpSpPr>
        <p:sp>
          <p:nvSpPr>
            <p:cNvPr id="944" name="ACK 2"/>
            <p:cNvSpPr/>
            <p:nvPr/>
          </p:nvSpPr>
          <p:spPr>
            <a:xfrm rot="20261404">
              <a:off x="999045" y="1831630"/>
              <a:ext cx="1257301" cy="6858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l">
                <a:defRPr sz="2800">
                  <a:solidFill>
                    <a:srgbClr val="0433FF"/>
                  </a:solidFill>
                  <a:latin typeface="Courier"/>
                  <a:ea typeface="Courier"/>
                  <a:cs typeface="Courier"/>
                  <a:sym typeface="Courier"/>
                </a:defRPr>
              </a:lvl1pPr>
            </a:lstStyle>
            <a:p>
              <a:r>
                <a:t>ACK 2</a:t>
              </a:r>
            </a:p>
          </p:txBody>
        </p:sp>
        <p:sp>
          <p:nvSpPr>
            <p:cNvPr id="945" name="Line"/>
            <p:cNvSpPr/>
            <p:nvPr/>
          </p:nvSpPr>
          <p:spPr>
            <a:xfrm flipV="1">
              <a:off x="0" y="512019"/>
              <a:ext cx="6321953" cy="2518714"/>
            </a:xfrm>
            <a:prstGeom prst="line">
              <a:avLst/>
            </a:prstGeom>
            <a:noFill/>
            <a:ln w="25400" cap="flat">
              <a:solidFill>
                <a:srgbClr val="0433FF"/>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grpSp>
      <p:sp>
        <p:nvSpPr>
          <p:cNvPr id="947" name="2"/>
          <p:cNvSpPr/>
          <p:nvPr/>
        </p:nvSpPr>
        <p:spPr>
          <a:xfrm>
            <a:off x="1451308" y="3073063"/>
            <a:ext cx="363529" cy="6677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3200">
                <a:solidFill>
                  <a:srgbClr val="942193"/>
                </a:solidFill>
                <a:latin typeface="Chalkboard SE Bold"/>
                <a:ea typeface="Chalkboard SE Bold"/>
                <a:cs typeface="Chalkboard SE Bold"/>
                <a:sym typeface="Chalkboard SE Bold"/>
              </a:defRPr>
            </a:lvl1pPr>
          </a:lstStyle>
          <a:p>
            <a:r>
              <a:t>2</a:t>
            </a:r>
          </a:p>
        </p:txBody>
      </p:sp>
      <p:sp>
        <p:nvSpPr>
          <p:cNvPr id="948" name="4"/>
          <p:cNvSpPr/>
          <p:nvPr/>
        </p:nvSpPr>
        <p:spPr>
          <a:xfrm>
            <a:off x="1431135" y="4448368"/>
            <a:ext cx="363530" cy="6677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3200">
                <a:solidFill>
                  <a:srgbClr val="942193"/>
                </a:solidFill>
                <a:latin typeface="Chalkboard SE Bold"/>
                <a:ea typeface="Chalkboard SE Bold"/>
                <a:cs typeface="Chalkboard SE Bold"/>
                <a:sym typeface="Chalkboard SE Bold"/>
              </a:defRPr>
            </a:lvl1pPr>
          </a:lstStyle>
          <a:p>
            <a:r>
              <a:t>4</a:t>
            </a:r>
          </a:p>
        </p:txBody>
      </p:sp>
      <p:sp>
        <p:nvSpPr>
          <p:cNvPr id="949" name="5"/>
          <p:cNvSpPr/>
          <p:nvPr/>
        </p:nvSpPr>
        <p:spPr>
          <a:xfrm>
            <a:off x="1451308" y="5118099"/>
            <a:ext cx="363529" cy="66771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3200">
                <a:solidFill>
                  <a:srgbClr val="942193"/>
                </a:solidFill>
                <a:latin typeface="Chalkboard SE Bold"/>
                <a:ea typeface="Chalkboard SE Bold"/>
                <a:cs typeface="Chalkboard SE Bold"/>
                <a:sym typeface="Chalkboard SE Bold"/>
              </a:defRPr>
            </a:lvl1pPr>
          </a:lstStyle>
          <a:p>
            <a:r>
              <a:t>5</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94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2" nodeType="clickEffect">
                                  <p:stCondLst>
                                    <p:cond delay="0"/>
                                  </p:stCondLst>
                                  <p:iterate>
                                    <p:tmAbs val="0"/>
                                  </p:iterate>
                                  <p:childTnLst>
                                    <p:set>
                                      <p:cBhvr>
                                        <p:cTn id="10" fill="hold"/>
                                        <p:tgtEl>
                                          <p:spTgt spid="93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path" presetSubtype="0" accel="50000" decel="50000" fill="hold" nodeType="clickEffect">
                                  <p:stCondLst>
                                    <p:cond delay="0"/>
                                  </p:stCondLst>
                                  <p:childTnLst>
                                    <p:animMotion origin="layout" path="M 0.000000 0.000000 L 0.001439 0.279052" pathEditMode="relative">
                                      <p:cBhvr>
                                        <p:cTn id="14" dur="1000" fill="hold"/>
                                        <p:tgtEl>
                                          <p:spTgt spid="927"/>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4" nodeType="clickEffect">
                                  <p:stCondLst>
                                    <p:cond delay="0"/>
                                  </p:stCondLst>
                                  <p:iterate>
                                    <p:tmAbs val="0"/>
                                  </p:iterate>
                                  <p:childTnLst>
                                    <p:set>
                                      <p:cBhvr>
                                        <p:cTn id="18" fill="hold"/>
                                        <p:tgtEl>
                                          <p:spTgt spid="94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5" nodeType="clickEffect">
                                  <p:stCondLst>
                                    <p:cond delay="0"/>
                                  </p:stCondLst>
                                  <p:iterate>
                                    <p:tmAbs val="0"/>
                                  </p:iterate>
                                  <p:childTnLst>
                                    <p:set>
                                      <p:cBhvr>
                                        <p:cTn id="22" fill="hold"/>
                                        <p:tgtEl>
                                          <p:spTgt spid="94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path" presetSubtype="0" accel="50000" decel="50000" fill="hold" nodeType="clickEffect">
                                  <p:stCondLst>
                                    <p:cond delay="0"/>
                                  </p:stCondLst>
                                  <p:childTnLst>
                                    <p:animMotion origin="layout" path="M 0.000000 0.000000 L 0.000214 0.269475" pathEditMode="relative">
                                      <p:cBhvr>
                                        <p:cTn id="26" dur="1000" fill="hold"/>
                                        <p:tgtEl>
                                          <p:spTgt spid="917"/>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6" grpId="2" animBg="1" advAuto="0"/>
      <p:bldP spid="943" grpId="1" animBg="1" advAuto="0"/>
      <p:bldP spid="946" grpId="4" animBg="1" advAuto="0"/>
      <p:bldP spid="947" grpId="5" animBg="1" advAuto="0"/>
    </p:bldLst>
  </p:timing>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53" name="Selective Repeat"/>
          <p:cNvSpPr txBox="1">
            <a:spLocks noGrp="1"/>
          </p:cNvSpPr>
          <p:nvPr>
            <p:ph type="title"/>
          </p:nvPr>
        </p:nvSpPr>
        <p:spPr>
          <a:prstGeom prst="rect">
            <a:avLst/>
          </a:prstGeom>
        </p:spPr>
        <p:txBody>
          <a:bodyPr/>
          <a:lstStyle/>
          <a:p>
            <a:r>
              <a:t>Selective Repeat</a:t>
            </a:r>
          </a:p>
        </p:txBody>
      </p:sp>
      <p:sp>
        <p:nvSpPr>
          <p:cNvPr id="954" name="The receiver accepts N-1  out-of-order segments…"/>
          <p:cNvSpPr txBox="1">
            <a:spLocks noGrp="1"/>
          </p:cNvSpPr>
          <p:nvPr>
            <p:ph type="body" idx="1"/>
          </p:nvPr>
        </p:nvSpPr>
        <p:spPr>
          <a:xfrm>
            <a:off x="1117600" y="2118667"/>
            <a:ext cx="10267950" cy="6710066"/>
          </a:xfrm>
          <a:prstGeom prst="rect">
            <a:avLst/>
          </a:prstGeom>
        </p:spPr>
        <p:txBody>
          <a:bodyPr/>
          <a:lstStyle/>
          <a:p>
            <a:pPr>
              <a:spcBef>
                <a:spcPts val="3000"/>
              </a:spcBef>
            </a:pPr>
            <a:r>
              <a:t>The receiver accepts N-1 </a:t>
            </a:r>
            <a:br/>
            <a:r>
              <a:t>out-of-order segments</a:t>
            </a:r>
          </a:p>
          <a:p>
            <a:pPr>
              <a:spcBef>
                <a:spcPts val="500"/>
              </a:spcBef>
            </a:pPr>
            <a:r>
              <a:t>ACKs are </a:t>
            </a:r>
            <a:r>
              <a:rPr>
                <a:solidFill>
                  <a:srgbClr val="942193"/>
                </a:solidFill>
              </a:rPr>
              <a:t>selective</a:t>
            </a:r>
          </a:p>
          <a:p>
            <a:pPr lvl="1">
              <a:spcBef>
                <a:spcPts val="3000"/>
              </a:spcBef>
            </a:pPr>
            <a:r>
              <a:t>an ACK for segment 10 indicates                                  that segment 10 has been received</a:t>
            </a:r>
          </a:p>
          <a:p>
            <a:pPr>
              <a:spcBef>
                <a:spcPts val="1000"/>
              </a:spcBef>
            </a:pPr>
            <a:r>
              <a:t>When the sender retransmits,                               it retransmits only </a:t>
            </a:r>
            <a:r>
              <a:rPr>
                <a:solidFill>
                  <a:srgbClr val="942193"/>
                </a:solidFill>
              </a:rPr>
              <a:t>one</a:t>
            </a:r>
            <a:r>
              <a:t> segment</a:t>
            </a:r>
          </a:p>
        </p:txBody>
      </p:sp>
      <p:sp>
        <p:nvSpPr>
          <p:cNvPr id="955"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51</a:t>
            </a:fld>
            <a:endParaRP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954">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954">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954">
                                            <p:txEl>
                                              <p:pRg st="1" end="1"/>
                                            </p:txEl>
                                          </p:spTgt>
                                        </p:tgtEl>
                                        <p:attrNameLst>
                                          <p:attrName>style.visibility</p:attrName>
                                        </p:attrNameLst>
                                      </p:cBhvr>
                                      <p:to>
                                        <p:strVal val="visible"/>
                                      </p:to>
                                    </p:set>
                                  </p:childTnLst>
                                </p:cTn>
                              </p:par>
                              <p:par>
                                <p:cTn id="13" presetID="1" presetClass="entr" presetSubtype="0" fill="hold" grpId="1" nodeType="withEffect">
                                  <p:stCondLst>
                                    <p:cond delay="0"/>
                                  </p:stCondLst>
                                  <p:iterate>
                                    <p:tmAbs val="0"/>
                                  </p:iterate>
                                  <p:childTnLst>
                                    <p:set>
                                      <p:cBhvr>
                                        <p:cTn id="14" fill="hold"/>
                                        <p:tgtEl>
                                          <p:spTgt spid="95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1" nodeType="clickEffect">
                                  <p:stCondLst>
                                    <p:cond delay="0"/>
                                  </p:stCondLst>
                                  <p:iterate>
                                    <p:tmAbs val="0"/>
                                  </p:iterate>
                                  <p:childTnLst>
                                    <p:set>
                                      <p:cBhvr>
                                        <p:cTn id="18" fill="hold"/>
                                        <p:tgtEl>
                                          <p:spTgt spid="95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4" grpId="1" build="p" animBg="1" advAuto="0"/>
    </p:bldLst>
  </p:timing>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3F526C-032D-4D3C-9C10-A91C5B5D716E}"/>
              </a:ext>
            </a:extLst>
          </p:cNvPr>
          <p:cNvSpPr>
            <a:spLocks noGrp="1"/>
          </p:cNvSpPr>
          <p:nvPr>
            <p:ph type="title"/>
          </p:nvPr>
        </p:nvSpPr>
        <p:spPr/>
        <p:txBody>
          <a:bodyPr/>
          <a:lstStyle/>
          <a:p>
            <a:r>
              <a:rPr lang="fr-CH" dirty="0"/>
              <a:t>Question</a:t>
            </a:r>
          </a:p>
        </p:txBody>
      </p:sp>
      <p:sp>
        <p:nvSpPr>
          <p:cNvPr id="3" name="Text Placeholder 2">
            <a:extLst>
              <a:ext uri="{FF2B5EF4-FFF2-40B4-BE49-F238E27FC236}">
                <a16:creationId xmlns:a16="http://schemas.microsoft.com/office/drawing/2014/main" id="{32B1256A-BF87-426E-B0E1-91AF3CF66A7D}"/>
              </a:ext>
            </a:extLst>
          </p:cNvPr>
          <p:cNvSpPr>
            <a:spLocks noGrp="1"/>
          </p:cNvSpPr>
          <p:nvPr>
            <p:ph type="body" idx="1"/>
          </p:nvPr>
        </p:nvSpPr>
        <p:spPr/>
        <p:txBody>
          <a:bodyPr/>
          <a:lstStyle/>
          <a:p>
            <a:r>
              <a:rPr lang="en-US" dirty="0">
                <a:solidFill>
                  <a:schemeClr val="accent5"/>
                </a:solidFill>
              </a:rPr>
              <a:t>When would you prefer a </a:t>
            </a:r>
            <a:r>
              <a:rPr lang="en-US" dirty="0" err="1">
                <a:solidFill>
                  <a:schemeClr val="accent5"/>
                </a:solidFill>
              </a:rPr>
              <a:t>GoBackN</a:t>
            </a:r>
            <a:r>
              <a:rPr lang="en-US" dirty="0">
                <a:solidFill>
                  <a:schemeClr val="accent5"/>
                </a:solidFill>
              </a:rPr>
              <a:t> protocol, and when would you prefer a Selective Repeat protocol?</a:t>
            </a:r>
          </a:p>
          <a:p>
            <a:pPr marL="317500" indent="0">
              <a:buNone/>
            </a:pPr>
            <a:endParaRPr lang="fr-CH" dirty="0"/>
          </a:p>
        </p:txBody>
      </p:sp>
    </p:spTree>
    <p:extLst>
      <p:ext uri="{BB962C8B-B14F-4D97-AF65-F5344CB8AC3E}">
        <p14:creationId xmlns:p14="http://schemas.microsoft.com/office/powerpoint/2010/main" val="100862509"/>
      </p:ext>
    </p:extLst>
  </p:cSld>
  <p:clrMapOvr>
    <a:masterClrMapping/>
  </p:clrMapOvr>
  <p:transition spd="med"/>
</p:sld>
</file>

<file path=ppt/theme/theme1.xml><?xml version="1.0" encoding="utf-8"?>
<a:theme xmlns:a="http://schemas.openxmlformats.org/drawingml/2006/main"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Chalkboard SE Regular"/>
        <a:ea typeface="Chalkboard SE Regular"/>
        <a:cs typeface="Chalkboard SE Regular"/>
      </a:majorFont>
      <a:minorFont>
        <a:latin typeface="Chalkboard SE Regular"/>
        <a:ea typeface="Chalkboard SE Regular"/>
        <a:cs typeface="Chalkboard SE Regular"/>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4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Gill Sans"/>
            <a:ea typeface="Gill Sans"/>
            <a:cs typeface="Gill Sans"/>
            <a:sym typeface="Gill San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4200" b="0" i="0" u="none" strike="noStrike" cap="none" spc="0" normalizeH="0" baseline="0">
            <a:ln>
              <a:noFill/>
            </a:ln>
            <a:solidFill>
              <a:srgbClr val="000000"/>
            </a:solidFill>
            <a:effectLst/>
            <a:uFillTx/>
            <a:latin typeface="Gill Sans"/>
            <a:ea typeface="Gill Sans"/>
            <a:cs typeface="Gill Sans"/>
            <a:sym typeface="Gill San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Chalkboard SE Regular"/>
        <a:ea typeface="Chalkboard SE Regular"/>
        <a:cs typeface="Chalkboard SE Regular"/>
      </a:majorFont>
      <a:minorFont>
        <a:latin typeface="Chalkboard SE Regular"/>
        <a:ea typeface="Chalkboard SE Regular"/>
        <a:cs typeface="Chalkboard SE Regular"/>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4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Gill Sans"/>
            <a:ea typeface="Gill Sans"/>
            <a:cs typeface="Gill Sans"/>
            <a:sym typeface="Gill San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4200" b="0" i="0" u="none" strike="noStrike" cap="none" spc="0" normalizeH="0" baseline="0">
            <a:ln>
              <a:noFill/>
            </a:ln>
            <a:solidFill>
              <a:srgbClr val="000000"/>
            </a:solidFill>
            <a:effectLst/>
            <a:uFillTx/>
            <a:latin typeface="Gill Sans"/>
            <a:ea typeface="Gill Sans"/>
            <a:cs typeface="Gill Sans"/>
            <a:sym typeface="Gill San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137</TotalTime>
  <Words>6380</Words>
  <Application>Microsoft Office PowerPoint</Application>
  <PresentationFormat>Custom</PresentationFormat>
  <Paragraphs>902</Paragraphs>
  <Slides>52</Slides>
  <Notes>38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52</vt:i4>
      </vt:variant>
    </vt:vector>
  </HeadingPairs>
  <TitlesOfParts>
    <vt:vector size="57" baseType="lpstr">
      <vt:lpstr>Chalkboard SE Regular</vt:lpstr>
      <vt:lpstr>Gill Sans</vt:lpstr>
      <vt:lpstr>Lucida Grande</vt:lpstr>
      <vt:lpstr>Times New Roman</vt:lpstr>
      <vt:lpstr>White</vt:lpstr>
      <vt:lpstr>The Transport Layer</vt:lpstr>
      <vt:lpstr>PowerPoint Presentation</vt:lpstr>
      <vt:lpstr>But wait…why do we need another layer?</vt:lpstr>
      <vt:lpstr>PowerPoint Presentation</vt:lpstr>
      <vt:lpstr>First problem: many applications in a same end system, and many processes for each application…. </vt:lpstr>
      <vt:lpstr>There are still many things which can go wrong….</vt:lpstr>
      <vt:lpstr>Yeah, but I can still program my app to take care of all this!</vt:lpstr>
      <vt:lpstr>The transport layer protocols are two: UDP and TCP</vt:lpstr>
      <vt:lpstr>Then, what are the functions of the transport layer?</vt:lpstr>
      <vt:lpstr>Who invented them?</vt:lpstr>
      <vt:lpstr>Process-to-process communications</vt:lpstr>
      <vt:lpstr>PowerPoint Presentation</vt:lpstr>
      <vt:lpstr>What are the main steps of process-to-process communication with UDP?</vt:lpstr>
      <vt:lpstr>First, a definition…</vt:lpstr>
      <vt:lpstr>PowerPoint Presentation</vt:lpstr>
      <vt:lpstr>PowerPoint Presentation</vt:lpstr>
      <vt:lpstr>UDP sockets</vt:lpstr>
      <vt:lpstr>PowerPoint Presentation</vt:lpstr>
      <vt:lpstr>PowerPoint Presentation</vt:lpstr>
      <vt:lpstr>PowerPoint Presentation</vt:lpstr>
      <vt:lpstr>TCP sockets</vt:lpstr>
      <vt:lpstr>The Transport layer implements process-to-process communication via connection multiplexing/demultiplexing</vt:lpstr>
      <vt:lpstr>Reliable data delivery service at the Transport Layer</vt:lpstr>
      <vt:lpstr>PowerPoint Presentation</vt:lpstr>
      <vt:lpstr>PowerPoint Presentation</vt:lpstr>
      <vt:lpstr>Checksum</vt:lpstr>
      <vt:lpstr>PowerPoint Presentation</vt:lpstr>
      <vt:lpstr>Acknowledgment + retransmission</vt:lpstr>
      <vt:lpstr>PowerPoint Presentation</vt:lpstr>
      <vt:lpstr>PowerPoint Presentation</vt:lpstr>
      <vt:lpstr>Sequence number</vt:lpstr>
      <vt:lpstr>PowerPoint Presentation</vt:lpstr>
      <vt:lpstr>PowerPoint Presentation</vt:lpstr>
      <vt:lpstr>PowerPoint Presentation</vt:lpstr>
      <vt:lpstr>PowerPoint Presentation</vt:lpstr>
      <vt:lpstr>PowerPoint Presentation</vt:lpstr>
      <vt:lpstr>Timers and timeouts</vt:lpstr>
      <vt:lpstr>Basic elements</vt:lpstr>
      <vt:lpstr>PowerPoint Presentation</vt:lpstr>
      <vt:lpstr>PowerPoint Presentation</vt:lpstr>
      <vt:lpstr>PowerPoint Presentation</vt:lpstr>
      <vt:lpstr>PowerPoint Presentation</vt:lpstr>
      <vt:lpstr>PowerPoint Presentation</vt:lpstr>
      <vt:lpstr>Improving sender utilization through Pipelining</vt:lpstr>
      <vt:lpstr>What happens in Pipelining when a segment gets corrupted/lost?</vt:lpstr>
      <vt:lpstr>PowerPoint Presentation</vt:lpstr>
      <vt:lpstr>PowerPoint Presentation</vt:lpstr>
      <vt:lpstr>Main features of Go-back-N</vt:lpstr>
      <vt:lpstr>PowerPoint Presentation</vt:lpstr>
      <vt:lpstr>PowerPoint Presentation</vt:lpstr>
      <vt:lpstr>Selective Repeat</vt:lpstr>
      <vt:lpstr>Question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Transport Layer</dc:title>
  <dc:creator>Gianluca Rizzo</dc:creator>
  <cp:lastModifiedBy>Rizzo Gianluca</cp:lastModifiedBy>
  <cp:revision>37</cp:revision>
  <dcterms:modified xsi:type="dcterms:W3CDTF">2026-04-27T14:37:16Z</dcterms:modified>
</cp:coreProperties>
</file>